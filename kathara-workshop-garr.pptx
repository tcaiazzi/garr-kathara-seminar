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59" r:id="rId1"/>
  </p:sldMasterIdLst>
  <p:notesMasterIdLst>
    <p:notesMasterId r:id="rId90"/>
  </p:notesMasterIdLst>
  <p:sldIdLst>
    <p:sldId id="658" r:id="rId2"/>
    <p:sldId id="606" r:id="rId3"/>
    <p:sldId id="517" r:id="rId4"/>
    <p:sldId id="608" r:id="rId5"/>
    <p:sldId id="519" r:id="rId6"/>
    <p:sldId id="520" r:id="rId7"/>
    <p:sldId id="521" r:id="rId8"/>
    <p:sldId id="522" r:id="rId9"/>
    <p:sldId id="523" r:id="rId10"/>
    <p:sldId id="524" r:id="rId11"/>
    <p:sldId id="525" r:id="rId12"/>
    <p:sldId id="526" r:id="rId13"/>
    <p:sldId id="527" r:id="rId14"/>
    <p:sldId id="528" r:id="rId15"/>
    <p:sldId id="529" r:id="rId16"/>
    <p:sldId id="530" r:id="rId17"/>
    <p:sldId id="531" r:id="rId18"/>
    <p:sldId id="532" r:id="rId19"/>
    <p:sldId id="533" r:id="rId20"/>
    <p:sldId id="662" r:id="rId21"/>
    <p:sldId id="683" r:id="rId22"/>
    <p:sldId id="535" r:id="rId23"/>
    <p:sldId id="611" r:id="rId24"/>
    <p:sldId id="538" r:id="rId25"/>
    <p:sldId id="539" r:id="rId26"/>
    <p:sldId id="620" r:id="rId27"/>
    <p:sldId id="634" r:id="rId28"/>
    <p:sldId id="629" r:id="rId29"/>
    <p:sldId id="625" r:id="rId30"/>
    <p:sldId id="543" r:id="rId31"/>
    <p:sldId id="622" r:id="rId32"/>
    <p:sldId id="545" r:id="rId33"/>
    <p:sldId id="604" r:id="rId34"/>
    <p:sldId id="641" r:id="rId35"/>
    <p:sldId id="642" r:id="rId36"/>
    <p:sldId id="548" r:id="rId37"/>
    <p:sldId id="638" r:id="rId38"/>
    <p:sldId id="550" r:id="rId39"/>
    <p:sldId id="551" r:id="rId40"/>
    <p:sldId id="552" r:id="rId41"/>
    <p:sldId id="643" r:id="rId42"/>
    <p:sldId id="555" r:id="rId43"/>
    <p:sldId id="644" r:id="rId44"/>
    <p:sldId id="557" r:id="rId45"/>
    <p:sldId id="645" r:id="rId46"/>
    <p:sldId id="646" r:id="rId47"/>
    <p:sldId id="561" r:id="rId48"/>
    <p:sldId id="563" r:id="rId49"/>
    <p:sldId id="564" r:id="rId50"/>
    <p:sldId id="647" r:id="rId51"/>
    <p:sldId id="639" r:id="rId52"/>
    <p:sldId id="567" r:id="rId53"/>
    <p:sldId id="568" r:id="rId54"/>
    <p:sldId id="569" r:id="rId55"/>
    <p:sldId id="570" r:id="rId56"/>
    <p:sldId id="571" r:id="rId57"/>
    <p:sldId id="648" r:id="rId58"/>
    <p:sldId id="573" r:id="rId59"/>
    <p:sldId id="574" r:id="rId60"/>
    <p:sldId id="575" r:id="rId61"/>
    <p:sldId id="576" r:id="rId62"/>
    <p:sldId id="577" r:id="rId63"/>
    <p:sldId id="578" r:id="rId64"/>
    <p:sldId id="649" r:id="rId65"/>
    <p:sldId id="580" r:id="rId66"/>
    <p:sldId id="581" r:id="rId67"/>
    <p:sldId id="582" r:id="rId68"/>
    <p:sldId id="650" r:id="rId69"/>
    <p:sldId id="651" r:id="rId70"/>
    <p:sldId id="652" r:id="rId71"/>
    <p:sldId id="586" r:id="rId72"/>
    <p:sldId id="587" r:id="rId73"/>
    <p:sldId id="653" r:id="rId74"/>
    <p:sldId id="589" r:id="rId75"/>
    <p:sldId id="655" r:id="rId76"/>
    <p:sldId id="591" r:id="rId77"/>
    <p:sldId id="656" r:id="rId78"/>
    <p:sldId id="593" r:id="rId79"/>
    <p:sldId id="594" r:id="rId80"/>
    <p:sldId id="595" r:id="rId81"/>
    <p:sldId id="596" r:id="rId82"/>
    <p:sldId id="597" r:id="rId83"/>
    <p:sldId id="598" r:id="rId84"/>
    <p:sldId id="654" r:id="rId85"/>
    <p:sldId id="635" r:id="rId86"/>
    <p:sldId id="657" r:id="rId87"/>
    <p:sldId id="602" r:id="rId88"/>
    <p:sldId id="628" r:id="rId89"/>
  </p:sldIdLst>
  <p:sldSz cx="12192000" cy="6858000"/>
  <p:notesSz cx="6858000" cy="12192000"/>
  <p:embeddedFontLst>
    <p:embeddedFont>
      <p:font typeface="IBM Plex Sans" panose="020B0503050203000203" pitchFamily="34" charset="0"/>
      <p:regular r:id="rId91"/>
      <p:bold r:id="rId92"/>
      <p:boldItalic r:id="rId93"/>
    </p:embeddedFont>
    <p:embeddedFont>
      <p:font typeface="JetBrains Mono" panose="020B0604020202020204" charset="0"/>
      <p:regular r:id="rId94"/>
      <p:bold r:id="rId95"/>
    </p:embeddedFont>
    <p:embeddedFont>
      <p:font typeface="Roboto Light" panose="02000000000000000000" pitchFamily="2" charset="0"/>
      <p:regular r:id="rId9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D368"/>
    <a:srgbClr val="0F1B29"/>
    <a:srgbClr val="0F1A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2" autoAdjust="0"/>
  </p:normalViewPr>
  <p:slideViewPr>
    <p:cSldViewPr snapToGrid="0" snapToObjects="1">
      <p:cViewPr varScale="1">
        <p:scale>
          <a:sx n="101" d="100"/>
          <a:sy n="101" d="100"/>
        </p:scale>
        <p:origin x="9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font" Target="fonts/font5.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1.fntdata"/><Relationship Id="rId9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4.fntdata"/><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3.fntdata"/><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8541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40E79-EC06-018D-11E9-25741E9FD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5FECD-4394-6E4F-C36A-F5DAC379D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C45DF-6332-28A0-4F7B-405339ADDAC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DC5137C9-CC0D-E155-AA87-6DEFB0A824C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75257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61B9A-4EA6-9700-D7DF-7059F1DEE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2564-5407-5AE9-0590-4584E0244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60526-F13C-4F7D-7124-8BD47E87717E}"/>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62B8F3D1-E54E-2324-3045-281E199A67C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55353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B14A-16E9-5C35-24EB-823A002EC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B532E-3F63-6AB6-0838-6419CB20D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1768C-E300-07CE-97F9-73A0AD58A71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6B7171CD-D64A-6258-2330-9EF1670758D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16002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3F28-F261-22E5-AFCC-2FAF05B31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2D853-C765-D607-FBBB-EA6F9A76E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09563-CC06-01B0-1DE6-BDE889EF83FC}"/>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6910473-A080-6D92-D2D8-E1A5C9D43163}"/>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568417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3F28-F261-22E5-AFCC-2FAF05B31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2D853-C765-D607-FBBB-EA6F9A76E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09563-CC06-01B0-1DE6-BDE889EF83FC}"/>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6910473-A080-6D92-D2D8-E1A5C9D43163}"/>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568417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33C5B-48D2-2612-FF4A-09C2DC9CF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5429F-7C8D-230D-096C-84695B456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DDE75-D3B6-4254-1E94-F316B662FD96}"/>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6E6EDBE-A24C-86D2-A5D5-3498C85CC4A4}"/>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2110861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6F50B-54D0-5092-1D33-34AC452CA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22E02-F9F6-2287-6455-747020043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D76E0-AC1C-3BC6-B187-4768F0968F7E}"/>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01FF066D-A37D-D0F0-AD91-ABB1D7ED95BC}"/>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909472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759E1-B63F-A8A4-360B-06FC443D9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62E61-60CC-6B64-F2ED-612E48C58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C447B-516C-CE67-43A1-09D0C91E2E6A}"/>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A1E5928C-09CB-CB76-CD5A-B4534A1F72DF}"/>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41854590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0E345-84C4-1DAF-4E1B-B9153BC08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D0C6B-AEDC-BBB3-3111-C69101C3F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513A9-D8EC-7D67-5100-77DE15408C3C}"/>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BF889A2-4C13-6812-0216-4DAA15BF1161}"/>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42057331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72137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1B1D20"/>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889770"/>
            <a:ext cx="10566400" cy="4155430"/>
          </a:xfrm>
          <a:prstGeom prst="rect">
            <a:avLst/>
          </a:prstGeom>
          <a:noFill/>
          <a:ln/>
        </p:spPr>
        <p:txBody>
          <a:bodyPr wrap="square" lIns="0" tIns="0" rIns="0" bIns="0" rtlCol="0" anchor="t"/>
          <a:lstStyle>
            <a:lvl1pPr marL="0" indent="0" algn="l">
              <a:lnSpc>
                <a:spcPct val="140000"/>
              </a:lnSpc>
              <a:buNone/>
              <a:defRPr lang="en-US" sz="1600" dirty="0">
                <a:solidFill>
                  <a:srgbClr val="1B1D20"/>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pic>
        <p:nvPicPr>
          <p:cNvPr id="4" name="Logo Kathará" descr="Logo Kathará"/>
          <p:cNvPicPr>
            <a:picLocks noChangeAspect="1"/>
          </p:cNvPicPr>
          <p:nvPr userDrawn="1"/>
        </p:nvPicPr>
        <p:blipFill>
          <a:blip r:embed="rId2"/>
          <a:srcRect l="-4408" r="-4408"/>
          <a:stretch/>
        </p:blipFill>
        <p:spPr>
          <a:xfrm>
            <a:off x="10807700" y="6172200"/>
            <a:ext cx="571500" cy="355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olo e contenuto">
    <p:spTree>
      <p:nvGrpSpPr>
        <p:cNvPr id="1" name=""/>
        <p:cNvGrpSpPr/>
        <p:nvPr/>
      </p:nvGrpSpPr>
      <p:grpSpPr>
        <a:xfrm>
          <a:off x="0" y="0"/>
          <a:ext cx="0" cy="0"/>
          <a:chOff x="0" y="0"/>
          <a:chExt cx="0" cy="0"/>
        </a:xfrm>
      </p:grpSpPr>
      <p:sp>
        <p:nvSpPr>
          <p:cNvPr id="7" name="Titolo 1">
            <a:extLst>
              <a:ext uri="{FF2B5EF4-FFF2-40B4-BE49-F238E27FC236}">
                <a16:creationId xmlns:a16="http://schemas.microsoft.com/office/drawing/2014/main" id="{AEECB6A0-6610-404E-8AE0-E0A60C03F939}"/>
              </a:ext>
            </a:extLst>
          </p:cNvPr>
          <p:cNvSpPr>
            <a:spLocks noGrp="1"/>
          </p:cNvSpPr>
          <p:nvPr>
            <p:ph type="title"/>
          </p:nvPr>
        </p:nvSpPr>
        <p:spPr>
          <a:xfrm>
            <a:off x="1125499" y="224443"/>
            <a:ext cx="9842902" cy="726695"/>
          </a:xfrm>
        </p:spPr>
        <p:txBody>
          <a:bodyPr>
            <a:noAutofit/>
          </a:bodyPr>
          <a:lstStyle>
            <a:lvl1pPr algn="ctr">
              <a:defRPr sz="3600" b="1">
                <a:solidFill>
                  <a:srgbClr val="C00000"/>
                </a:solidFill>
                <a:latin typeface="Roboto Light" panose="02000000000000000000" pitchFamily="2" charset="0"/>
                <a:ea typeface="Roboto Light" panose="02000000000000000000" pitchFamily="2" charset="0"/>
              </a:defRPr>
            </a:lvl1pPr>
          </a:lstStyle>
          <a:p>
            <a:r>
              <a:rPr lang="it-IT"/>
              <a:t>Fare clic per modificare lo stile del titolo dello schema</a:t>
            </a:r>
          </a:p>
        </p:txBody>
      </p:sp>
      <p:sp>
        <p:nvSpPr>
          <p:cNvPr id="8" name="Segnaposto contenuto 2">
            <a:extLst>
              <a:ext uri="{FF2B5EF4-FFF2-40B4-BE49-F238E27FC236}">
                <a16:creationId xmlns:a16="http://schemas.microsoft.com/office/drawing/2014/main" id="{D5EE8958-6267-4153-A833-0FCB94B03276}"/>
              </a:ext>
            </a:extLst>
          </p:cNvPr>
          <p:cNvSpPr>
            <a:spLocks noGrp="1"/>
          </p:cNvSpPr>
          <p:nvPr>
            <p:ph idx="1"/>
          </p:nvPr>
        </p:nvSpPr>
        <p:spPr>
          <a:xfrm>
            <a:off x="838200" y="1562804"/>
            <a:ext cx="10515600" cy="4950137"/>
          </a:xfrm>
        </p:spPr>
        <p:txBody>
          <a:bodyPr/>
          <a:lstStyle>
            <a:lvl1pPr>
              <a:defRPr>
                <a:latin typeface="Roboto Light" panose="02000000000000000000" pitchFamily="2" charset="0"/>
                <a:ea typeface="Roboto Light" panose="02000000000000000000" pitchFamily="2" charset="0"/>
              </a:defRPr>
            </a:lvl1pPr>
            <a:lvl2pPr>
              <a:defRPr>
                <a:latin typeface="Roboto Light" panose="02000000000000000000" pitchFamily="2" charset="0"/>
                <a:ea typeface="Roboto Light" panose="02000000000000000000" pitchFamily="2" charset="0"/>
              </a:defRPr>
            </a:lvl2pPr>
            <a:lvl3pPr>
              <a:defRPr>
                <a:latin typeface="Roboto Light" panose="02000000000000000000" pitchFamily="2" charset="0"/>
                <a:ea typeface="Roboto Light" panose="02000000000000000000" pitchFamily="2" charset="0"/>
              </a:defRPr>
            </a:lvl3pPr>
            <a:lvl4pPr>
              <a:defRPr>
                <a:latin typeface="Roboto Light" panose="02000000000000000000" pitchFamily="2" charset="0"/>
                <a:ea typeface="Roboto Light" panose="02000000000000000000" pitchFamily="2" charset="0"/>
              </a:defRPr>
            </a:lvl4pPr>
            <a:lvl5pPr>
              <a:defRPr>
                <a:latin typeface="Roboto Light" panose="02000000000000000000" pitchFamily="2" charset="0"/>
                <a:ea typeface="Roboto Light" panose="02000000000000000000" pitchFamily="2" charset="0"/>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cxnSp>
        <p:nvCxnSpPr>
          <p:cNvPr id="10" name="Connettore diritto 9">
            <a:extLst>
              <a:ext uri="{FF2B5EF4-FFF2-40B4-BE49-F238E27FC236}">
                <a16:creationId xmlns:a16="http://schemas.microsoft.com/office/drawing/2014/main" id="{BEB167EC-2980-4E3B-84A5-A6FED559B3DA}"/>
              </a:ext>
            </a:extLst>
          </p:cNvPr>
          <p:cNvCxnSpPr>
            <a:cxnSpLocks/>
          </p:cNvCxnSpPr>
          <p:nvPr userDrawn="1"/>
        </p:nvCxnSpPr>
        <p:spPr>
          <a:xfrm>
            <a:off x="0" y="1172091"/>
            <a:ext cx="12192000" cy="0"/>
          </a:xfrm>
          <a:prstGeom prst="line">
            <a:avLst/>
          </a:prstGeom>
        </p:spPr>
        <p:style>
          <a:lnRef idx="3">
            <a:schemeClr val="dk1"/>
          </a:lnRef>
          <a:fillRef idx="0">
            <a:schemeClr val="dk1"/>
          </a:fillRef>
          <a:effectRef idx="2">
            <a:schemeClr val="dk1"/>
          </a:effectRef>
          <a:fontRef idx="minor">
            <a:schemeClr val="tx1"/>
          </a:fontRef>
        </p:style>
      </p:cxnSp>
      <p:sp>
        <p:nvSpPr>
          <p:cNvPr id="5" name="Segnaposto numero diapositiva 5">
            <a:extLst>
              <a:ext uri="{FF2B5EF4-FFF2-40B4-BE49-F238E27FC236}">
                <a16:creationId xmlns:a16="http://schemas.microsoft.com/office/drawing/2014/main" id="{7D14946E-544B-4A3C-9DB7-EC326B6CB6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FA4375-E801-4E66-914E-095C96E65A4E}" type="slidenum">
              <a:rPr lang="it-IT" smtClean="0"/>
              <a:t>‹N›</a:t>
            </a:fld>
            <a:endParaRPr lang="it-IT"/>
          </a:p>
        </p:txBody>
      </p:sp>
      <p:pic>
        <p:nvPicPr>
          <p:cNvPr id="9" name="Immagine 8">
            <a:extLst>
              <a:ext uri="{FF2B5EF4-FFF2-40B4-BE49-F238E27FC236}">
                <a16:creationId xmlns:a16="http://schemas.microsoft.com/office/drawing/2014/main" id="{A3723311-DBCD-A69D-C5CE-FD48EE476B6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094" r="63451"/>
          <a:stretch/>
        </p:blipFill>
        <p:spPr>
          <a:xfrm>
            <a:off x="10977366" y="100665"/>
            <a:ext cx="1099187" cy="1001082"/>
          </a:xfrm>
          <a:prstGeom prst="rect">
            <a:avLst/>
          </a:prstGeom>
        </p:spPr>
      </p:pic>
      <p:pic>
        <p:nvPicPr>
          <p:cNvPr id="4" name="Immagine 3">
            <a:extLst>
              <a:ext uri="{FF2B5EF4-FFF2-40B4-BE49-F238E27FC236}">
                <a16:creationId xmlns:a16="http://schemas.microsoft.com/office/drawing/2014/main" id="{68B04D32-8504-88AA-C2E8-E21AB9C209B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447" y="224443"/>
            <a:ext cx="722753" cy="722753"/>
          </a:xfrm>
          <a:prstGeom prst="rect">
            <a:avLst/>
          </a:prstGeom>
        </p:spPr>
      </p:pic>
    </p:spTree>
    <p:extLst>
      <p:ext uri="{BB962C8B-B14F-4D97-AF65-F5344CB8AC3E}">
        <p14:creationId xmlns:p14="http://schemas.microsoft.com/office/powerpoint/2010/main" val="6690032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72137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1B1D20"/>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889770"/>
            <a:ext cx="10566400" cy="4155430"/>
          </a:xfrm>
          <a:prstGeom prst="rect">
            <a:avLst/>
          </a:prstGeom>
          <a:noFill/>
          <a:ln/>
        </p:spPr>
        <p:txBody>
          <a:bodyPr wrap="square" lIns="0" tIns="0" rIns="0" bIns="0" rtlCol="0" anchor="t"/>
          <a:lstStyle>
            <a:lvl1pPr marL="0" indent="0" algn="l">
              <a:lnSpc>
                <a:spcPct val="140000"/>
              </a:lnSpc>
              <a:buNone/>
              <a:defRPr lang="en-US" sz="1600" dirty="0">
                <a:solidFill>
                  <a:srgbClr val="1B1D20"/>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mailto:lorenzo.ariemma@uniroma3.it" TargetMode="External"/><Relationship Id="rId13" Type="http://schemas.openxmlformats.org/officeDocument/2006/relationships/image" Target="../media/image10.svg"/><Relationship Id="rId3" Type="http://schemas.openxmlformats.org/officeDocument/2006/relationships/image" Target="../media/image5.jpeg"/><Relationship Id="rId7" Type="http://schemas.openxmlformats.org/officeDocument/2006/relationships/image" Target="../media/image7.jpeg"/><Relationship Id="rId12" Type="http://schemas.openxmlformats.org/officeDocument/2006/relationships/hyperlink" Target="https://linkedin.com/company/kathar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mailto:tommaso.caiazzi@uniroma3.it" TargetMode="External"/><Relationship Id="rId11" Type="http://schemas.openxmlformats.org/officeDocument/2006/relationships/image" Target="../media/image9.png"/><Relationship Id="rId5" Type="http://schemas.openxmlformats.org/officeDocument/2006/relationships/image" Target="../media/image6.jpeg"/><Relationship Id="rId15" Type="http://schemas.openxmlformats.org/officeDocument/2006/relationships/image" Target="../media/image11.svg"/><Relationship Id="rId10" Type="http://schemas.openxmlformats.org/officeDocument/2006/relationships/hyperlink" Target="https://github.com/KatharaFramework/Kathara" TargetMode="External"/><Relationship Id="rId4" Type="http://schemas.openxmlformats.org/officeDocument/2006/relationships/hyperlink" Target="mailto:mariano.scazzariello@uniroma3.it" TargetMode="External"/><Relationship Id="rId9" Type="http://schemas.openxmlformats.org/officeDocument/2006/relationships/image" Target="../media/image8.png"/><Relationship Id="rId14" Type="http://schemas.openxmlformats.org/officeDocument/2006/relationships/hyperlink" Target="mailto:contact@kathara.or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3" Type="http://schemas.openxmlformats.org/officeDocument/2006/relationships/image" Target="../media/image12.png"/><Relationship Id="rId7" Type="http://schemas.openxmlformats.org/officeDocument/2006/relationships/image" Target="../media/image15.svg"/><Relationship Id="rId12" Type="http://schemas.openxmlformats.org/officeDocument/2006/relationships/image" Target="../media/image20.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svg"/><Relationship Id="rId4" Type="http://schemas.openxmlformats.org/officeDocument/2006/relationships/image" Target="../media/image4.png"/><Relationship Id="rId9"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github.com/KatharaFramework/kathara-lab-checker" TargetMode="External"/><Relationship Id="rId3" Type="http://schemas.openxmlformats.org/officeDocument/2006/relationships/hyperlink" Target="https://www.kathara.org" TargetMode="External"/><Relationship Id="rId7" Type="http://schemas.openxmlformats.org/officeDocument/2006/relationships/hyperlink" Target="https://github.com/KatharaFramework/Kathara-Labs" TargetMode="External"/><Relationship Id="rId12" Type="http://schemas.openxmlformats.org/officeDocument/2006/relationships/hyperlink" Target="https://www.linkedin.com/company/kathara"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s://github.com/KatharaFramework/Kathara" TargetMode="External"/><Relationship Id="rId11" Type="http://schemas.openxmlformats.org/officeDocument/2006/relationships/hyperlink" Target="https://github.com/KatharaFramework/Megalos-CNI" TargetMode="External"/><Relationship Id="rId5" Type="http://schemas.openxmlformats.org/officeDocument/2006/relationships/hyperlink" Target="https://github.com/KatharaFramework/Kathara/wiki" TargetMode="External"/><Relationship Id="rId10" Type="http://schemas.openxmlformats.org/officeDocument/2006/relationships/hyperlink" Target="https://github.com/KatharaFramework/NetworkPlugin" TargetMode="External"/><Relationship Id="rId4" Type="http://schemas.openxmlformats.org/officeDocument/2006/relationships/hyperlink" Target="https://www.kathara.org/man-pages/kathara.1.html" TargetMode="External"/><Relationship Id="rId9" Type="http://schemas.openxmlformats.org/officeDocument/2006/relationships/hyperlink" Target="https://github.com/KatharaFramework/Docker-Images"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8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3048000" cy="101600"/>
          </a:xfrm>
          <a:prstGeom prst="rect">
            <a:avLst/>
          </a:prstGeom>
          <a:solidFill>
            <a:srgbClr val="60A5E3"/>
          </a:solidFill>
          <a:ln/>
        </p:spPr>
        <p:txBody>
          <a:bodyPr/>
          <a:lstStyle/>
          <a:p>
            <a:endParaRPr lang="it-IT" noProof="0" dirty="0"/>
          </a:p>
        </p:txBody>
      </p:sp>
      <p:sp>
        <p:nvSpPr>
          <p:cNvPr id="3" name="Shape 1"/>
          <p:cNvSpPr/>
          <p:nvPr/>
        </p:nvSpPr>
        <p:spPr>
          <a:xfrm>
            <a:off x="3048000" y="0"/>
            <a:ext cx="3048000" cy="101600"/>
          </a:xfrm>
          <a:prstGeom prst="rect">
            <a:avLst/>
          </a:prstGeom>
          <a:solidFill>
            <a:srgbClr val="E37E5F"/>
          </a:solidFill>
          <a:ln/>
        </p:spPr>
        <p:txBody>
          <a:bodyPr/>
          <a:lstStyle/>
          <a:p>
            <a:endParaRPr lang="it-IT" noProof="0" dirty="0"/>
          </a:p>
        </p:txBody>
      </p:sp>
      <p:sp>
        <p:nvSpPr>
          <p:cNvPr id="4" name="Shape 2"/>
          <p:cNvSpPr/>
          <p:nvPr/>
        </p:nvSpPr>
        <p:spPr>
          <a:xfrm>
            <a:off x="6096000" y="0"/>
            <a:ext cx="3048000" cy="101600"/>
          </a:xfrm>
          <a:prstGeom prst="rect">
            <a:avLst/>
          </a:prstGeom>
          <a:solidFill>
            <a:srgbClr val="A8DC6E"/>
          </a:solidFill>
          <a:ln/>
        </p:spPr>
        <p:txBody>
          <a:bodyPr/>
          <a:lstStyle/>
          <a:p>
            <a:endParaRPr lang="it-IT" noProof="0" dirty="0"/>
          </a:p>
        </p:txBody>
      </p:sp>
      <p:sp>
        <p:nvSpPr>
          <p:cNvPr id="5" name="Shape 3"/>
          <p:cNvSpPr/>
          <p:nvPr/>
        </p:nvSpPr>
        <p:spPr>
          <a:xfrm>
            <a:off x="9144000" y="0"/>
            <a:ext cx="3048000" cy="101600"/>
          </a:xfrm>
          <a:prstGeom prst="rect">
            <a:avLst/>
          </a:prstGeom>
          <a:solidFill>
            <a:srgbClr val="E1D368"/>
          </a:solidFill>
          <a:ln/>
        </p:spPr>
        <p:txBody>
          <a:bodyPr/>
          <a:lstStyle/>
          <a:p>
            <a:endParaRPr lang="it-IT" noProof="0" dirty="0"/>
          </a:p>
        </p:txBody>
      </p:sp>
      <p:pic>
        <p:nvPicPr>
          <p:cNvPr id="6" name="Image 0" descr="Logo Kathará"/>
          <p:cNvPicPr>
            <a:picLocks noChangeAspect="1"/>
          </p:cNvPicPr>
          <p:nvPr/>
        </p:nvPicPr>
        <p:blipFill>
          <a:blip r:embed="rId3"/>
          <a:srcRect l="-120" r="-120"/>
          <a:stretch/>
        </p:blipFill>
        <p:spPr>
          <a:xfrm>
            <a:off x="812800" y="711200"/>
            <a:ext cx="3556000" cy="793750"/>
          </a:xfrm>
          <a:prstGeom prst="rect">
            <a:avLst/>
          </a:prstGeom>
        </p:spPr>
      </p:pic>
      <p:sp>
        <p:nvSpPr>
          <p:cNvPr id="8" name="Text 5"/>
          <p:cNvSpPr>
            <a:spLocks noGrp="1"/>
          </p:cNvSpPr>
          <p:nvPr>
            <p:ph type="title"/>
          </p:nvPr>
        </p:nvSpPr>
        <p:spPr>
          <a:xfrm>
            <a:off x="812800" y="2294573"/>
            <a:ext cx="9591964" cy="2000567"/>
          </a:xfrm>
          <a:prstGeom prst="rect">
            <a:avLst/>
          </a:prstGeom>
          <a:noFill/>
          <a:ln/>
        </p:spPr>
        <p:txBody>
          <a:bodyPr wrap="square" lIns="0" tIns="0" rIns="0" bIns="0" rtlCol="0" anchor="t">
            <a:normAutofit fontScale="90000"/>
          </a:bodyPr>
          <a:lstStyle/>
          <a:p>
            <a:pPr marL="0" indent="0" algn="l">
              <a:lnSpc>
                <a:spcPts val="6000"/>
              </a:lnSpc>
              <a:buNone/>
            </a:pPr>
            <a:r>
              <a:rPr lang="it-IT" sz="4800" b="1" i="0" noProof="0" dirty="0">
                <a:solidFill>
                  <a:srgbClr val="1B1D20"/>
                </a:solidFill>
                <a:latin typeface="IBM Plex Sans" pitchFamily="34" charset="0"/>
                <a:ea typeface="IBM Plex Sans" pitchFamily="34" charset="-122"/>
                <a:cs typeface="IBM Plex Sans" pitchFamily="34" charset="-120"/>
              </a:rPr>
              <a:t>Emulazione di scenari di rete complessi e Digital Twin con Kathará</a:t>
            </a:r>
            <a:endParaRPr lang="it-IT" sz="4800" noProof="0" dirty="0"/>
          </a:p>
        </p:txBody>
      </p:sp>
      <p:sp>
        <p:nvSpPr>
          <p:cNvPr id="9" name="Text 6"/>
          <p:cNvSpPr/>
          <p:nvPr/>
        </p:nvSpPr>
        <p:spPr>
          <a:xfrm>
            <a:off x="812800" y="4523740"/>
            <a:ext cx="8502650" cy="711200"/>
          </a:xfrm>
          <a:prstGeom prst="rect">
            <a:avLst/>
          </a:prstGeom>
          <a:noFill/>
          <a:ln/>
        </p:spPr>
        <p:txBody>
          <a:bodyPr wrap="square" lIns="0" tIns="0" rIns="0" bIns="0" rtlCol="0" anchor="t">
            <a:normAutofit/>
          </a:bodyPr>
          <a:lstStyle/>
          <a:p>
            <a:pPr marL="0" indent="0" algn="l">
              <a:lnSpc>
                <a:spcPts val="2700"/>
              </a:lnSpc>
              <a:buNone/>
            </a:pPr>
            <a:r>
              <a:rPr lang="it-IT" sz="2000" noProof="0" dirty="0">
                <a:solidFill>
                  <a:srgbClr val="5B5F66"/>
                </a:solidFill>
                <a:latin typeface="IBM Plex Sans" pitchFamily="34" charset="0"/>
                <a:ea typeface="IBM Plex Sans" pitchFamily="34" charset="-122"/>
                <a:cs typeface="IBM Plex Sans" pitchFamily="34" charset="-120"/>
              </a:rPr>
              <a:t>Tommaso Caiazzi – Università degli Studi Roma Tre </a:t>
            </a:r>
            <a:endParaRPr lang="it-IT" sz="2000" noProof="0" dirty="0"/>
          </a:p>
        </p:txBody>
      </p:sp>
      <p:sp>
        <p:nvSpPr>
          <p:cNvPr id="10" name="Shape 7"/>
          <p:cNvSpPr/>
          <p:nvPr/>
        </p:nvSpPr>
        <p:spPr>
          <a:xfrm>
            <a:off x="812800" y="5469890"/>
            <a:ext cx="10566400" cy="0"/>
          </a:xfrm>
          <a:prstGeom prst="line">
            <a:avLst/>
          </a:prstGeom>
          <a:noFill/>
          <a:ln w="12700">
            <a:solidFill>
              <a:srgbClr val="1B1D20"/>
            </a:solidFill>
            <a:prstDash val="solid"/>
          </a:ln>
        </p:spPr>
        <p:txBody>
          <a:bodyPr/>
          <a:lstStyle/>
          <a:p>
            <a:endParaRPr lang="it-IT" noProof="0" dirty="0"/>
          </a:p>
        </p:txBody>
      </p:sp>
      <p:sp>
        <p:nvSpPr>
          <p:cNvPr id="12" name="Text 9"/>
          <p:cNvSpPr/>
          <p:nvPr/>
        </p:nvSpPr>
        <p:spPr>
          <a:xfrm>
            <a:off x="6096000" y="5628640"/>
            <a:ext cx="5441696" cy="238760"/>
          </a:xfrm>
          <a:prstGeom prst="rect">
            <a:avLst/>
          </a:prstGeom>
          <a:noFill/>
          <a:ln/>
        </p:spPr>
        <p:txBody>
          <a:bodyPr wrap="square" lIns="0" tIns="0" rIns="0" bIns="0" rtlCol="0" anchor="t">
            <a:normAutofit fontScale="77500" lnSpcReduction="20000"/>
          </a:bodyPr>
          <a:lstStyle/>
          <a:p>
            <a:pPr marL="0" indent="0" algn="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2/11/2026</a:t>
            </a:r>
            <a:endParaRPr lang="it-IT" sz="1600" noProof="0" dirty="0"/>
          </a:p>
        </p:txBody>
      </p:sp>
    </p:spTree>
    <p:extLst>
      <p:ext uri="{BB962C8B-B14F-4D97-AF65-F5344CB8AC3E}">
        <p14:creationId xmlns:p14="http://schemas.microsoft.com/office/powerpoint/2010/main" val="279837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62723-1353-2898-30D7-AC1EC27365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D30BAFE-C48C-2B31-2909-A75239EE6F4A}"/>
              </a:ext>
            </a:extLst>
          </p:cNvPr>
          <p:cNvSpPr/>
          <p:nvPr/>
        </p:nvSpPr>
        <p:spPr>
          <a:xfrm>
            <a:off x="0" y="0"/>
            <a:ext cx="3048000" cy="101600"/>
          </a:xfrm>
          <a:prstGeom prst="rect">
            <a:avLst/>
          </a:prstGeom>
          <a:solidFill>
            <a:srgbClr val="60A5E3"/>
          </a:solidFill>
          <a:ln/>
        </p:spPr>
        <p:txBody>
          <a:bodyPr/>
          <a:lstStyle/>
          <a:p>
            <a:endParaRPr lang="it-IT" noProof="0" dirty="0"/>
          </a:p>
        </p:txBody>
      </p:sp>
      <p:sp>
        <p:nvSpPr>
          <p:cNvPr id="3" name="Shape 1">
            <a:extLst>
              <a:ext uri="{FF2B5EF4-FFF2-40B4-BE49-F238E27FC236}">
                <a16:creationId xmlns:a16="http://schemas.microsoft.com/office/drawing/2014/main" id="{9ACDC1D2-7460-C57F-9AEB-804B7168866D}"/>
              </a:ext>
            </a:extLst>
          </p:cNvPr>
          <p:cNvSpPr/>
          <p:nvPr/>
        </p:nvSpPr>
        <p:spPr>
          <a:xfrm>
            <a:off x="3048000" y="0"/>
            <a:ext cx="3048000" cy="101600"/>
          </a:xfrm>
          <a:prstGeom prst="rect">
            <a:avLst/>
          </a:prstGeom>
          <a:solidFill>
            <a:srgbClr val="E37E5F"/>
          </a:solidFill>
          <a:ln/>
        </p:spPr>
        <p:txBody>
          <a:bodyPr/>
          <a:lstStyle/>
          <a:p>
            <a:endParaRPr lang="it-IT" noProof="0" dirty="0"/>
          </a:p>
        </p:txBody>
      </p:sp>
      <p:sp>
        <p:nvSpPr>
          <p:cNvPr id="4" name="Shape 2">
            <a:extLst>
              <a:ext uri="{FF2B5EF4-FFF2-40B4-BE49-F238E27FC236}">
                <a16:creationId xmlns:a16="http://schemas.microsoft.com/office/drawing/2014/main" id="{322613BD-94EC-A690-5B9C-7537E2131872}"/>
              </a:ext>
            </a:extLst>
          </p:cNvPr>
          <p:cNvSpPr/>
          <p:nvPr/>
        </p:nvSpPr>
        <p:spPr>
          <a:xfrm>
            <a:off x="6096000" y="0"/>
            <a:ext cx="3048000" cy="101600"/>
          </a:xfrm>
          <a:prstGeom prst="rect">
            <a:avLst/>
          </a:prstGeom>
          <a:solidFill>
            <a:srgbClr val="A8DC6E"/>
          </a:solidFill>
          <a:ln/>
        </p:spPr>
        <p:txBody>
          <a:bodyPr/>
          <a:lstStyle/>
          <a:p>
            <a:endParaRPr lang="it-IT" noProof="0" dirty="0"/>
          </a:p>
        </p:txBody>
      </p:sp>
      <p:sp>
        <p:nvSpPr>
          <p:cNvPr id="5" name="Shape 3">
            <a:extLst>
              <a:ext uri="{FF2B5EF4-FFF2-40B4-BE49-F238E27FC236}">
                <a16:creationId xmlns:a16="http://schemas.microsoft.com/office/drawing/2014/main" id="{5DA8CDFD-1928-AECC-5ABE-BECDBE6631B4}"/>
              </a:ext>
            </a:extLst>
          </p:cNvPr>
          <p:cNvSpPr/>
          <p:nvPr/>
        </p:nvSpPr>
        <p:spPr>
          <a:xfrm>
            <a:off x="9144000" y="0"/>
            <a:ext cx="3048000" cy="101600"/>
          </a:xfrm>
          <a:prstGeom prst="rect">
            <a:avLst/>
          </a:prstGeom>
          <a:solidFill>
            <a:srgbClr val="E1D368"/>
          </a:solidFill>
          <a:ln/>
        </p:spPr>
        <p:txBody>
          <a:bodyPr/>
          <a:lstStyle/>
          <a:p>
            <a:endParaRPr lang="it-IT" noProof="0" dirty="0"/>
          </a:p>
        </p:txBody>
      </p:sp>
      <p:sp>
        <p:nvSpPr>
          <p:cNvPr id="42" name="Title">
            <a:extLst>
              <a:ext uri="{FF2B5EF4-FFF2-40B4-BE49-F238E27FC236}">
                <a16:creationId xmlns:a16="http://schemas.microsoft.com/office/drawing/2014/main" id="{D192ABB9-C6DF-8B32-AF6B-71A40ECEF7FB}"/>
              </a:ext>
            </a:extLst>
          </p:cNvPr>
          <p:cNvSpPr>
            <a:spLocks noGrp="1"/>
          </p:cNvSpPr>
          <p:nvPr>
            <p:ph type="title"/>
          </p:nvPr>
        </p:nvSpPr>
        <p:spPr>
          <a:prstGeom prst="rect">
            <a:avLst/>
          </a:prstGeom>
          <a:noFill/>
        </p:spPr>
        <p:txBody>
          <a:bodyPr wrap="square" lIns="0" tIns="0" rIns="0" bIns="0" rtlCol="0" anchor="t">
            <a:normAutofit fontScale="90000"/>
          </a:bodyPr>
          <a:lstStyle/>
          <a:p>
            <a:pPr marL="0" indent="0" algn="l">
              <a:lnSpc>
                <a:spcPts val="5000"/>
              </a:lnSpc>
              <a:buNone/>
            </a:pPr>
            <a:r>
              <a:rPr lang="it-IT" sz="4000" b="1" i="0" dirty="0">
                <a:solidFill>
                  <a:srgbClr val="1B1D20"/>
                </a:solidFill>
                <a:latin typeface="IBM Plex Sans" pitchFamily="34" charset="0"/>
                <a:ea typeface="IBM Plex Sans" pitchFamily="34" charset="-122"/>
                <a:cs typeface="IBM Plex Sans" pitchFamily="34" charset="-120"/>
              </a:rPr>
              <a:t>Chi siamo</a:t>
            </a:r>
          </a:p>
        </p:txBody>
      </p:sp>
      <p:grpSp>
        <p:nvGrpSpPr>
          <p:cNvPr id="67" name="Gruppo 66">
            <a:extLst>
              <a:ext uri="{FF2B5EF4-FFF2-40B4-BE49-F238E27FC236}">
                <a16:creationId xmlns:a16="http://schemas.microsoft.com/office/drawing/2014/main" id="{73645361-27A3-78F3-9D5D-34C91DE18EE3}"/>
              </a:ext>
            </a:extLst>
          </p:cNvPr>
          <p:cNvGrpSpPr/>
          <p:nvPr/>
        </p:nvGrpSpPr>
        <p:grpSpPr>
          <a:xfrm>
            <a:off x="922866" y="2057400"/>
            <a:ext cx="3302000" cy="2108200"/>
            <a:chOff x="990243" y="3187700"/>
            <a:chExt cx="3302000" cy="2108200"/>
          </a:xfrm>
        </p:grpSpPr>
        <p:pic>
          <p:nvPicPr>
            <p:cNvPr id="45" name="Foto Mariano Scazzariello" descr="Foto Mariano Scazzariello">
              <a:extLst>
                <a:ext uri="{FF2B5EF4-FFF2-40B4-BE49-F238E27FC236}">
                  <a16:creationId xmlns:a16="http://schemas.microsoft.com/office/drawing/2014/main" id="{FCC65426-8C19-81B9-F7A8-DB4C4BF300C5}"/>
                </a:ext>
              </a:extLst>
            </p:cNvPr>
            <p:cNvPicPr>
              <a:picLocks noChangeAspect="1"/>
            </p:cNvPicPr>
            <p:nvPr/>
          </p:nvPicPr>
          <p:blipFill>
            <a:blip r:embed="rId3"/>
            <a:stretch>
              <a:fillRect/>
            </a:stretch>
          </p:blipFill>
          <p:spPr>
            <a:xfrm>
              <a:off x="1980843" y="3187700"/>
              <a:ext cx="1320800" cy="1320800"/>
            </a:xfrm>
            <a:prstGeom prst="ellipse">
              <a:avLst/>
            </a:prstGeom>
            <a:ln w="9525">
              <a:solidFill>
                <a:srgbClr val="CFCCC4"/>
              </a:solidFill>
            </a:ln>
          </p:spPr>
        </p:pic>
        <p:sp>
          <p:nvSpPr>
            <p:cNvPr id="46" name="Nome 0">
              <a:extLst>
                <a:ext uri="{FF2B5EF4-FFF2-40B4-BE49-F238E27FC236}">
                  <a16:creationId xmlns:a16="http://schemas.microsoft.com/office/drawing/2014/main" id="{4AC72D45-54CF-7CE5-AAF7-711A42932DBA}"/>
                </a:ext>
              </a:extLst>
            </p:cNvPr>
            <p:cNvSpPr/>
            <p:nvPr/>
          </p:nvSpPr>
          <p:spPr>
            <a:xfrm>
              <a:off x="990243" y="4711700"/>
              <a:ext cx="3302000" cy="279400"/>
            </a:xfrm>
            <a:prstGeom prst="rect">
              <a:avLst/>
            </a:prstGeom>
            <a:noFill/>
            <a:ln>
              <a:noFill/>
            </a:ln>
          </p:spPr>
          <p:txBody>
            <a:bodyPr wrap="square" lIns="0" tIns="0" rIns="0" bIns="0" rtlCol="0" anchor="t">
              <a:noAutofit/>
            </a:bodyPr>
            <a:lstStyle/>
            <a:p>
              <a:pPr marL="0" indent="0" algn="ctr">
                <a:lnSpc>
                  <a:spcPts val="2200"/>
                </a:lnSpc>
                <a:buNone/>
              </a:pPr>
              <a:r>
                <a:rPr lang="it-IT" sz="1600" b="1" dirty="0">
                  <a:solidFill>
                    <a:srgbClr val="1B1D20"/>
                  </a:solidFill>
                  <a:latin typeface="IBM Plex Sans" pitchFamily="34" charset="0"/>
                  <a:ea typeface="IBM Plex Sans" pitchFamily="34" charset="-122"/>
                  <a:cs typeface="IBM Plex Sans" pitchFamily="34" charset="-120"/>
                </a:rPr>
                <a:t>Mariano Scazzariello</a:t>
              </a:r>
            </a:p>
          </p:txBody>
        </p:sp>
        <p:sp>
          <p:nvSpPr>
            <p:cNvPr id="47" name="Email 0">
              <a:extLst>
                <a:ext uri="{FF2B5EF4-FFF2-40B4-BE49-F238E27FC236}">
                  <a16:creationId xmlns:a16="http://schemas.microsoft.com/office/drawing/2014/main" id="{154FE379-E683-1334-6752-17E648B36A7A}"/>
                </a:ext>
              </a:extLst>
            </p:cNvPr>
            <p:cNvSpPr/>
            <p:nvPr/>
          </p:nvSpPr>
          <p:spPr>
            <a:xfrm>
              <a:off x="990243" y="5041900"/>
              <a:ext cx="3302000" cy="254000"/>
            </a:xfrm>
            <a:prstGeom prst="rect">
              <a:avLst/>
            </a:prstGeom>
            <a:noFill/>
            <a:ln>
              <a:noFill/>
            </a:ln>
          </p:spPr>
          <p:txBody>
            <a:bodyPr wrap="square" lIns="0" tIns="0" rIns="0" bIns="0" rtlCol="0" anchor="t">
              <a:noAutofit/>
            </a:bodyPr>
            <a:lstStyle/>
            <a:p>
              <a:pPr marL="0" indent="0" algn="ctr">
                <a:lnSpc>
                  <a:spcPts val="2000"/>
                </a:lnSpc>
                <a:buNone/>
              </a:pPr>
              <a:r>
                <a:rPr lang="it-IT" sz="1300" dirty="0">
                  <a:solidFill>
                    <a:srgbClr val="2B6CA3"/>
                  </a:solidFill>
                  <a:latin typeface="JetBrains Mono" pitchFamily="49" charset="0"/>
                  <a:ea typeface="JetBrains Mono" pitchFamily="49" charset="-122"/>
                  <a:cs typeface="JetBrains Mono" pitchFamily="49" charset="-120"/>
                  <a:hlinkClick r:id="rId4"/>
                </a:rPr>
                <a:t>mariano@kathara.org</a:t>
              </a:r>
            </a:p>
          </p:txBody>
        </p:sp>
      </p:grpSp>
      <p:grpSp>
        <p:nvGrpSpPr>
          <p:cNvPr id="68" name="Gruppo 67">
            <a:extLst>
              <a:ext uri="{FF2B5EF4-FFF2-40B4-BE49-F238E27FC236}">
                <a16:creationId xmlns:a16="http://schemas.microsoft.com/office/drawing/2014/main" id="{9360FF83-7527-D2D4-DEA4-1617A3F30A41}"/>
              </a:ext>
            </a:extLst>
          </p:cNvPr>
          <p:cNvGrpSpPr/>
          <p:nvPr/>
        </p:nvGrpSpPr>
        <p:grpSpPr>
          <a:xfrm>
            <a:off x="4445000" y="2057400"/>
            <a:ext cx="3302000" cy="2108200"/>
            <a:chOff x="4512377" y="3199932"/>
            <a:chExt cx="3302000" cy="2108200"/>
          </a:xfrm>
        </p:grpSpPr>
        <p:pic>
          <p:nvPicPr>
            <p:cNvPr id="48" name="Foto Tommaso Caiazzi" descr="Foto Tommaso Caiazzi">
              <a:extLst>
                <a:ext uri="{FF2B5EF4-FFF2-40B4-BE49-F238E27FC236}">
                  <a16:creationId xmlns:a16="http://schemas.microsoft.com/office/drawing/2014/main" id="{369A453B-F3DA-121E-F39B-6DB9D468C524}"/>
                </a:ext>
              </a:extLst>
            </p:cNvPr>
            <p:cNvPicPr>
              <a:picLocks noChangeAspect="1"/>
            </p:cNvPicPr>
            <p:nvPr/>
          </p:nvPicPr>
          <p:blipFill>
            <a:blip r:embed="rId5"/>
            <a:stretch>
              <a:fillRect/>
            </a:stretch>
          </p:blipFill>
          <p:spPr>
            <a:xfrm>
              <a:off x="5502977" y="3199932"/>
              <a:ext cx="1320800" cy="1320800"/>
            </a:xfrm>
            <a:prstGeom prst="ellipse">
              <a:avLst/>
            </a:prstGeom>
            <a:ln w="9525">
              <a:solidFill>
                <a:srgbClr val="CFCCC4"/>
              </a:solidFill>
            </a:ln>
          </p:spPr>
        </p:pic>
        <p:sp>
          <p:nvSpPr>
            <p:cNvPr id="49" name="Nome 1">
              <a:extLst>
                <a:ext uri="{FF2B5EF4-FFF2-40B4-BE49-F238E27FC236}">
                  <a16:creationId xmlns:a16="http://schemas.microsoft.com/office/drawing/2014/main" id="{F8804DA9-A2AC-FA17-D5E4-DE77F1198B2E}"/>
                </a:ext>
              </a:extLst>
            </p:cNvPr>
            <p:cNvSpPr/>
            <p:nvPr/>
          </p:nvSpPr>
          <p:spPr>
            <a:xfrm>
              <a:off x="4512377" y="4723932"/>
              <a:ext cx="3302000" cy="279400"/>
            </a:xfrm>
            <a:prstGeom prst="rect">
              <a:avLst/>
            </a:prstGeom>
            <a:noFill/>
            <a:ln>
              <a:noFill/>
            </a:ln>
          </p:spPr>
          <p:txBody>
            <a:bodyPr wrap="square" lIns="0" tIns="0" rIns="0" bIns="0" rtlCol="0" anchor="t">
              <a:noAutofit/>
            </a:bodyPr>
            <a:lstStyle/>
            <a:p>
              <a:pPr marL="0" indent="0" algn="ctr">
                <a:lnSpc>
                  <a:spcPts val="2200"/>
                </a:lnSpc>
                <a:buNone/>
              </a:pPr>
              <a:r>
                <a:rPr lang="it-IT" sz="1600" b="1" dirty="0">
                  <a:solidFill>
                    <a:srgbClr val="1B1D20"/>
                  </a:solidFill>
                  <a:latin typeface="IBM Plex Sans" pitchFamily="34" charset="0"/>
                  <a:ea typeface="IBM Plex Sans" pitchFamily="34" charset="-122"/>
                  <a:cs typeface="IBM Plex Sans" pitchFamily="34" charset="-120"/>
                </a:rPr>
                <a:t>Tommaso Caiazzi</a:t>
              </a:r>
            </a:p>
          </p:txBody>
        </p:sp>
        <p:sp>
          <p:nvSpPr>
            <p:cNvPr id="50" name="Email 1">
              <a:extLst>
                <a:ext uri="{FF2B5EF4-FFF2-40B4-BE49-F238E27FC236}">
                  <a16:creationId xmlns:a16="http://schemas.microsoft.com/office/drawing/2014/main" id="{A8ACEC04-9819-F7D2-BE4E-4DDE57B2D24F}"/>
                </a:ext>
              </a:extLst>
            </p:cNvPr>
            <p:cNvSpPr/>
            <p:nvPr/>
          </p:nvSpPr>
          <p:spPr>
            <a:xfrm>
              <a:off x="4512377" y="5054132"/>
              <a:ext cx="3302000" cy="254000"/>
            </a:xfrm>
            <a:prstGeom prst="rect">
              <a:avLst/>
            </a:prstGeom>
            <a:noFill/>
            <a:ln>
              <a:noFill/>
            </a:ln>
          </p:spPr>
          <p:txBody>
            <a:bodyPr wrap="square" lIns="0" tIns="0" rIns="0" bIns="0" rtlCol="0" anchor="t">
              <a:noAutofit/>
            </a:bodyPr>
            <a:lstStyle/>
            <a:p>
              <a:pPr marL="0" indent="0" algn="ctr">
                <a:lnSpc>
                  <a:spcPts val="2000"/>
                </a:lnSpc>
                <a:buNone/>
              </a:pPr>
              <a:r>
                <a:rPr lang="it-IT" sz="1300" dirty="0">
                  <a:solidFill>
                    <a:srgbClr val="2B6CA3"/>
                  </a:solidFill>
                  <a:latin typeface="JetBrains Mono" pitchFamily="49" charset="0"/>
                  <a:ea typeface="JetBrains Mono" pitchFamily="49" charset="-122"/>
                  <a:cs typeface="JetBrains Mono" pitchFamily="49" charset="-120"/>
                  <a:hlinkClick r:id="rId6"/>
                </a:rPr>
                <a:t>tommaso@kathara.org</a:t>
              </a:r>
            </a:p>
          </p:txBody>
        </p:sp>
      </p:grpSp>
      <p:grpSp>
        <p:nvGrpSpPr>
          <p:cNvPr id="71" name="Gruppo 70">
            <a:extLst>
              <a:ext uri="{FF2B5EF4-FFF2-40B4-BE49-F238E27FC236}">
                <a16:creationId xmlns:a16="http://schemas.microsoft.com/office/drawing/2014/main" id="{471A6EAD-16D8-EBF8-0B20-3887670EC820}"/>
              </a:ext>
            </a:extLst>
          </p:cNvPr>
          <p:cNvGrpSpPr/>
          <p:nvPr/>
        </p:nvGrpSpPr>
        <p:grpSpPr>
          <a:xfrm>
            <a:off x="7967133" y="2057400"/>
            <a:ext cx="3302000" cy="2108200"/>
            <a:chOff x="8034510" y="3149599"/>
            <a:chExt cx="3302000" cy="2108200"/>
          </a:xfrm>
        </p:grpSpPr>
        <p:grpSp>
          <p:nvGrpSpPr>
            <p:cNvPr id="70" name="Gruppo 69">
              <a:extLst>
                <a:ext uri="{FF2B5EF4-FFF2-40B4-BE49-F238E27FC236}">
                  <a16:creationId xmlns:a16="http://schemas.microsoft.com/office/drawing/2014/main" id="{4F077587-1ECE-CB6F-1D64-5C999C4E76AC}"/>
                </a:ext>
              </a:extLst>
            </p:cNvPr>
            <p:cNvGrpSpPr/>
            <p:nvPr/>
          </p:nvGrpSpPr>
          <p:grpSpPr>
            <a:xfrm>
              <a:off x="8034510" y="3149599"/>
              <a:ext cx="3302000" cy="1803400"/>
              <a:chOff x="8034510" y="3149599"/>
              <a:chExt cx="3302000" cy="1803400"/>
            </a:xfrm>
          </p:grpSpPr>
          <p:pic>
            <p:nvPicPr>
              <p:cNvPr id="51" name="Foto Lorenzo Ariemma" descr="Foto Lorenzo Ariemma">
                <a:extLst>
                  <a:ext uri="{FF2B5EF4-FFF2-40B4-BE49-F238E27FC236}">
                    <a16:creationId xmlns:a16="http://schemas.microsoft.com/office/drawing/2014/main" id="{F9E4404C-0C2A-1602-3D40-3760F3B8FF0E}"/>
                  </a:ext>
                </a:extLst>
              </p:cNvPr>
              <p:cNvPicPr>
                <a:picLocks noChangeAspect="1"/>
              </p:cNvPicPr>
              <p:nvPr/>
            </p:nvPicPr>
            <p:blipFill>
              <a:blip r:embed="rId7"/>
              <a:srcRect t="2140" b="2140"/>
              <a:stretch/>
            </p:blipFill>
            <p:spPr>
              <a:xfrm>
                <a:off x="9025110" y="3149599"/>
                <a:ext cx="1320800" cy="1320800"/>
              </a:xfrm>
              <a:prstGeom prst="ellipse">
                <a:avLst/>
              </a:prstGeom>
              <a:ln w="9525">
                <a:solidFill>
                  <a:srgbClr val="CFCCC4"/>
                </a:solidFill>
              </a:ln>
            </p:spPr>
          </p:pic>
          <p:sp>
            <p:nvSpPr>
              <p:cNvPr id="52" name="Nome 2">
                <a:extLst>
                  <a:ext uri="{FF2B5EF4-FFF2-40B4-BE49-F238E27FC236}">
                    <a16:creationId xmlns:a16="http://schemas.microsoft.com/office/drawing/2014/main" id="{A00B3BC0-8796-36AD-60E9-0591846F30F1}"/>
                  </a:ext>
                </a:extLst>
              </p:cNvPr>
              <p:cNvSpPr/>
              <p:nvPr/>
            </p:nvSpPr>
            <p:spPr>
              <a:xfrm>
                <a:off x="8034510" y="4673599"/>
                <a:ext cx="3302000" cy="279400"/>
              </a:xfrm>
              <a:prstGeom prst="rect">
                <a:avLst/>
              </a:prstGeom>
              <a:noFill/>
              <a:ln>
                <a:noFill/>
              </a:ln>
            </p:spPr>
            <p:txBody>
              <a:bodyPr wrap="square" lIns="0" tIns="0" rIns="0" bIns="0" rtlCol="0" anchor="t">
                <a:noAutofit/>
              </a:bodyPr>
              <a:lstStyle/>
              <a:p>
                <a:pPr marL="0" indent="0" algn="ctr">
                  <a:lnSpc>
                    <a:spcPts val="2200"/>
                  </a:lnSpc>
                  <a:buNone/>
                </a:pPr>
                <a:r>
                  <a:rPr lang="it-IT" sz="1600" b="1" dirty="0">
                    <a:solidFill>
                      <a:srgbClr val="1B1D20"/>
                    </a:solidFill>
                    <a:latin typeface="IBM Plex Sans" pitchFamily="34" charset="0"/>
                    <a:ea typeface="IBM Plex Sans" pitchFamily="34" charset="-122"/>
                    <a:cs typeface="IBM Plex Sans" pitchFamily="34" charset="-120"/>
                  </a:rPr>
                  <a:t>Lorenzo Ariemma</a:t>
                </a:r>
              </a:p>
            </p:txBody>
          </p:sp>
        </p:grpSp>
        <p:sp>
          <p:nvSpPr>
            <p:cNvPr id="53" name="Email 2">
              <a:extLst>
                <a:ext uri="{FF2B5EF4-FFF2-40B4-BE49-F238E27FC236}">
                  <a16:creationId xmlns:a16="http://schemas.microsoft.com/office/drawing/2014/main" id="{8CF82195-F29C-1FED-8B06-7DB8AA2707CC}"/>
                </a:ext>
              </a:extLst>
            </p:cNvPr>
            <p:cNvSpPr/>
            <p:nvPr/>
          </p:nvSpPr>
          <p:spPr>
            <a:xfrm>
              <a:off x="8034510" y="5003799"/>
              <a:ext cx="3302000" cy="254000"/>
            </a:xfrm>
            <a:prstGeom prst="rect">
              <a:avLst/>
            </a:prstGeom>
            <a:noFill/>
            <a:ln>
              <a:noFill/>
            </a:ln>
          </p:spPr>
          <p:txBody>
            <a:bodyPr wrap="square" lIns="0" tIns="0" rIns="0" bIns="0" rtlCol="0" anchor="t">
              <a:noAutofit/>
            </a:bodyPr>
            <a:lstStyle/>
            <a:p>
              <a:pPr marL="0" indent="0" algn="ctr">
                <a:lnSpc>
                  <a:spcPts val="2000"/>
                </a:lnSpc>
                <a:buNone/>
              </a:pPr>
              <a:r>
                <a:rPr lang="it-IT" sz="1300" dirty="0">
                  <a:solidFill>
                    <a:srgbClr val="2B6CA3"/>
                  </a:solidFill>
                  <a:latin typeface="JetBrains Mono" pitchFamily="49" charset="0"/>
                  <a:ea typeface="JetBrains Mono" pitchFamily="49" charset="-122"/>
                  <a:cs typeface="JetBrains Mono" pitchFamily="49" charset="-120"/>
                  <a:hlinkClick r:id="rId8"/>
                </a:rPr>
                <a:t>lorenzo@kathara.org</a:t>
              </a:r>
            </a:p>
          </p:txBody>
        </p:sp>
      </p:grpSp>
      <p:pic>
        <p:nvPicPr>
          <p:cNvPr id="74" name="Icona 0" descr="Icona 0">
            <a:extLst>
              <a:ext uri="{FF2B5EF4-FFF2-40B4-BE49-F238E27FC236}">
                <a16:creationId xmlns:a16="http://schemas.microsoft.com/office/drawing/2014/main" id="{53F21B3A-9997-6C6A-A15F-E65652F33367}"/>
              </a:ext>
            </a:extLst>
          </p:cNvPr>
          <p:cNvPicPr>
            <a:picLocks noChangeAspect="1"/>
          </p:cNvPicPr>
          <p:nvPr/>
        </p:nvPicPr>
        <p:blipFill>
          <a:blip r:embed="rId9"/>
          <a:stretch>
            <a:fillRect/>
          </a:stretch>
        </p:blipFill>
        <p:spPr>
          <a:xfrm>
            <a:off x="6375400" y="4737100"/>
            <a:ext cx="330200" cy="330200"/>
          </a:xfrm>
          <a:prstGeom prst="rect">
            <a:avLst/>
          </a:prstGeom>
        </p:spPr>
      </p:pic>
      <p:sp>
        <p:nvSpPr>
          <p:cNvPr id="75" name="Link 0">
            <a:extLst>
              <a:ext uri="{FF2B5EF4-FFF2-40B4-BE49-F238E27FC236}">
                <a16:creationId xmlns:a16="http://schemas.microsoft.com/office/drawing/2014/main" id="{E88A197A-183B-9CC0-72C0-73961ED6DA3C}"/>
              </a:ext>
            </a:extLst>
          </p:cNvPr>
          <p:cNvSpPr/>
          <p:nvPr/>
        </p:nvSpPr>
        <p:spPr>
          <a:xfrm>
            <a:off x="6883400" y="4775200"/>
            <a:ext cx="4318000" cy="279400"/>
          </a:xfrm>
          <a:prstGeom prst="rect">
            <a:avLst/>
          </a:prstGeom>
          <a:noFill/>
          <a:ln>
            <a:noFill/>
          </a:ln>
        </p:spPr>
        <p:txBody>
          <a:bodyPr wrap="square" lIns="0" tIns="0" rIns="0" bIns="0" rtlCol="0" anchor="t">
            <a:noAutofit/>
          </a:bodyPr>
          <a:lstStyle/>
          <a:p>
            <a:pPr marL="0" indent="0" algn="l">
              <a:lnSpc>
                <a:spcPts val="2000"/>
              </a:lnSpc>
              <a:buNone/>
            </a:pPr>
            <a:r>
              <a:rPr lang="it-IT" sz="1400" u="none" dirty="0">
                <a:solidFill>
                  <a:srgbClr val="1B1D20"/>
                </a:solidFill>
                <a:latin typeface="IBM Plex Sans" pitchFamily="34" charset="0"/>
                <a:ea typeface="IBM Plex Sans" pitchFamily="34" charset="-122"/>
                <a:cs typeface="IBM Plex Sans" pitchFamily="34" charset="-120"/>
                <a:hlinkClick r:id="rId10"/>
              </a:rPr>
              <a:t>github.com/KatharaFramework/Kathara</a:t>
            </a:r>
          </a:p>
        </p:txBody>
      </p:sp>
      <p:pic>
        <p:nvPicPr>
          <p:cNvPr id="76" name="Icona 1" descr="Icona 1">
            <a:extLst>
              <a:ext uri="{FF2B5EF4-FFF2-40B4-BE49-F238E27FC236}">
                <a16:creationId xmlns:a16="http://schemas.microsoft.com/office/drawing/2014/main" id="{29171B91-408E-8707-1E40-75B6B74CFAA8}"/>
              </a:ext>
            </a:extLst>
          </p:cNvPr>
          <p:cNvPicPr>
            <a:picLocks noChangeAspect="1"/>
          </p:cNvPicPr>
          <p:nvPr/>
        </p:nvPicPr>
        <p:blipFill>
          <a:blip r:embed="rId11"/>
          <a:stretch>
            <a:fillRect/>
          </a:stretch>
        </p:blipFill>
        <p:spPr>
          <a:xfrm>
            <a:off x="2260600" y="5219700"/>
            <a:ext cx="330200" cy="330200"/>
          </a:xfrm>
          <a:prstGeom prst="rect">
            <a:avLst/>
          </a:prstGeom>
        </p:spPr>
      </p:pic>
      <p:sp>
        <p:nvSpPr>
          <p:cNvPr id="77" name="Link 1">
            <a:extLst>
              <a:ext uri="{FF2B5EF4-FFF2-40B4-BE49-F238E27FC236}">
                <a16:creationId xmlns:a16="http://schemas.microsoft.com/office/drawing/2014/main" id="{34FCE27C-A8B7-28B9-97A2-A4DBF5F91C84}"/>
              </a:ext>
            </a:extLst>
          </p:cNvPr>
          <p:cNvSpPr/>
          <p:nvPr/>
        </p:nvSpPr>
        <p:spPr>
          <a:xfrm>
            <a:off x="2768600" y="5257800"/>
            <a:ext cx="4318000" cy="279400"/>
          </a:xfrm>
          <a:prstGeom prst="rect">
            <a:avLst/>
          </a:prstGeom>
          <a:noFill/>
          <a:ln>
            <a:noFill/>
          </a:ln>
        </p:spPr>
        <p:txBody>
          <a:bodyPr wrap="square" lIns="0" tIns="0" rIns="0" bIns="0" rtlCol="0" anchor="t">
            <a:noAutofit/>
          </a:bodyPr>
          <a:lstStyle/>
          <a:p>
            <a:pPr marL="0" indent="0" algn="l">
              <a:lnSpc>
                <a:spcPts val="2000"/>
              </a:lnSpc>
              <a:buNone/>
            </a:pPr>
            <a:r>
              <a:rPr lang="it-IT" sz="1400" u="none" dirty="0">
                <a:solidFill>
                  <a:srgbClr val="1B1D20"/>
                </a:solidFill>
                <a:latin typeface="IBM Plex Sans" pitchFamily="34" charset="0"/>
                <a:ea typeface="IBM Plex Sans" pitchFamily="34" charset="-122"/>
                <a:cs typeface="IBM Plex Sans" pitchFamily="34" charset="-120"/>
                <a:hlinkClick r:id="rId12"/>
              </a:rPr>
              <a:t>linkedin.com/company/kathara</a:t>
            </a:r>
          </a:p>
        </p:txBody>
      </p:sp>
      <p:pic>
        <p:nvPicPr>
          <p:cNvPr id="78" name="Icona 2" descr="Icona 2">
            <a:extLst>
              <a:ext uri="{FF2B5EF4-FFF2-40B4-BE49-F238E27FC236}">
                <a16:creationId xmlns:a16="http://schemas.microsoft.com/office/drawing/2014/main" id="{85152EC0-7C8D-29CF-FF23-F599C6CB453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350000" y="5194300"/>
            <a:ext cx="381000" cy="381000"/>
          </a:xfrm>
          <a:prstGeom prst="rect">
            <a:avLst/>
          </a:prstGeom>
        </p:spPr>
      </p:pic>
      <p:sp>
        <p:nvSpPr>
          <p:cNvPr id="79" name="Link 2">
            <a:extLst>
              <a:ext uri="{FF2B5EF4-FFF2-40B4-BE49-F238E27FC236}">
                <a16:creationId xmlns:a16="http://schemas.microsoft.com/office/drawing/2014/main" id="{810E8B33-FFFE-BE30-2C9D-AC46C26DF5EA}"/>
              </a:ext>
            </a:extLst>
          </p:cNvPr>
          <p:cNvSpPr/>
          <p:nvPr/>
        </p:nvSpPr>
        <p:spPr>
          <a:xfrm>
            <a:off x="6883400" y="5257800"/>
            <a:ext cx="4318000" cy="279400"/>
          </a:xfrm>
          <a:prstGeom prst="rect">
            <a:avLst/>
          </a:prstGeom>
          <a:noFill/>
          <a:ln>
            <a:noFill/>
          </a:ln>
        </p:spPr>
        <p:txBody>
          <a:bodyPr wrap="square" lIns="0" tIns="0" rIns="0" bIns="0" rtlCol="0" anchor="t">
            <a:noAutofit/>
          </a:bodyPr>
          <a:lstStyle/>
          <a:p>
            <a:pPr marL="0" indent="0" algn="l">
              <a:lnSpc>
                <a:spcPts val="2000"/>
              </a:lnSpc>
              <a:buNone/>
            </a:pPr>
            <a:r>
              <a:rPr lang="it-IT" sz="1400" u="none" dirty="0">
                <a:solidFill>
                  <a:srgbClr val="1B1D20"/>
                </a:solidFill>
                <a:latin typeface="IBM Plex Sans" pitchFamily="34" charset="0"/>
                <a:ea typeface="IBM Plex Sans" pitchFamily="34" charset="-122"/>
                <a:cs typeface="IBM Plex Sans" pitchFamily="34" charset="-120"/>
                <a:hlinkClick r:id="rId14"/>
              </a:rPr>
              <a:t>contact@kathara.org</a:t>
            </a:r>
          </a:p>
        </p:txBody>
      </p:sp>
      <p:pic>
        <p:nvPicPr>
          <p:cNvPr id="7" name="Graphic 84" descr="Sito web">
            <a:extLst>
              <a:ext uri="{FF2B5EF4-FFF2-40B4-BE49-F238E27FC236}">
                <a16:creationId xmlns:a16="http://schemas.microsoft.com/office/drawing/2014/main" id="{6413A242-7FC4-636A-3BBC-D95F7F09579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235200" y="4711700"/>
            <a:ext cx="381000" cy="381000"/>
          </a:xfrm>
          <a:prstGeom prst="rect">
            <a:avLst/>
          </a:prstGeom>
        </p:spPr>
      </p:pic>
      <p:sp>
        <p:nvSpPr>
          <p:cNvPr id="9" name="Link 3">
            <a:extLst>
              <a:ext uri="{FF2B5EF4-FFF2-40B4-BE49-F238E27FC236}">
                <a16:creationId xmlns:a16="http://schemas.microsoft.com/office/drawing/2014/main" id="{14454130-C597-74F2-AEC6-3F884D2EC197}"/>
              </a:ext>
            </a:extLst>
          </p:cNvPr>
          <p:cNvSpPr/>
          <p:nvPr/>
        </p:nvSpPr>
        <p:spPr>
          <a:xfrm>
            <a:off x="2768600" y="4775200"/>
            <a:ext cx="4318000" cy="279400"/>
          </a:xfrm>
          <a:prstGeom prst="rect">
            <a:avLst/>
          </a:prstGeom>
          <a:noFill/>
          <a:ln>
            <a:noFill/>
          </a:ln>
        </p:spPr>
        <p:txBody>
          <a:bodyPr wrap="square" lIns="0" tIns="0" rIns="0" bIns="0" rtlCol="0" anchor="t">
            <a:noAutofit/>
          </a:bodyPr>
          <a:lstStyle/>
          <a:p>
            <a:pPr marL="0" indent="0" algn="l">
              <a:lnSpc>
                <a:spcPts val="2000"/>
              </a:lnSpc>
              <a:buNone/>
            </a:pPr>
            <a:r>
              <a:rPr lang="it-IT" sz="1400" u="sng" dirty="0">
                <a:solidFill>
                  <a:srgbClr val="2B6CA3"/>
                </a:solidFill>
                <a:latin typeface="IBM Plex Sans" pitchFamily="34" charset="0"/>
                <a:ea typeface="IBM Plex Sans" pitchFamily="34" charset="-122"/>
                <a:cs typeface="IBM Plex Sans" pitchFamily="34" charset="-120"/>
              </a:rPr>
              <a:t>kathara.org</a:t>
            </a:r>
          </a:p>
        </p:txBody>
      </p:sp>
    </p:spTree>
    <p:extLst>
      <p:ext uri="{BB962C8B-B14F-4D97-AF65-F5344CB8AC3E}">
        <p14:creationId xmlns:p14="http://schemas.microsoft.com/office/powerpoint/2010/main" val="3922216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p:nvPr/>
        </p:nvSpPr>
        <p:spPr>
          <a:xfrm>
            <a:off x="812800" y="1714500"/>
            <a:ext cx="10883900" cy="30480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2B6CA3"/>
                </a:solidFill>
                <a:latin typeface="JetBrains Mono" pitchFamily="49" charset="0"/>
                <a:ea typeface="JetBrains Mono" pitchFamily="49" charset="-122"/>
                <a:cs typeface="JetBrains Mono" pitchFamily="49" charset="-120"/>
              </a:rPr>
              <a:t>introduzione /</a:t>
            </a:r>
            <a:endParaRPr lang="it-IT" sz="1600" noProof="0" dirty="0"/>
          </a:p>
        </p:txBody>
      </p:sp>
      <p:sp>
        <p:nvSpPr>
          <p:cNvPr id="5" name="Text 3"/>
          <p:cNvSpPr>
            <a:spLocks noGrp="1"/>
          </p:cNvSpPr>
          <p:nvPr>
            <p:ph type="title"/>
          </p:nvPr>
        </p:nvSpPr>
        <p:spPr>
          <a:xfrm>
            <a:off x="812800" y="2425700"/>
            <a:ext cx="10566400" cy="558800"/>
          </a:xfrm>
          <a:prstGeom prst="rect">
            <a:avLst/>
          </a:prstGeom>
          <a:noFill/>
          <a:ln/>
        </p:spPr>
        <p:txBody>
          <a:bodyPr wrap="square" lIns="0" tIns="0" rIns="0" bIns="0" rtlCol="0" anchor="t">
            <a:normAutofit fontScale="90000"/>
          </a:bodyPr>
          <a:lstStyle/>
          <a:p>
            <a:pPr marL="0" indent="0" algn="l">
              <a:lnSpc>
                <a:spcPts val="6300"/>
              </a:lnSpc>
              <a:buNone/>
            </a:pPr>
            <a:r>
              <a:rPr lang="it-IT" sz="6000" b="1" i="0" noProof="0" dirty="0">
                <a:solidFill>
                  <a:srgbClr val="1B1D20"/>
                </a:solidFill>
                <a:latin typeface="IBM Plex Sans" pitchFamily="34" charset="0"/>
                <a:ea typeface="IBM Plex Sans" pitchFamily="34" charset="-122"/>
                <a:cs typeface="IBM Plex Sans" pitchFamily="34" charset="-120"/>
              </a:rPr>
              <a:t>Kathará: come funziona</a:t>
            </a:r>
            <a:endParaRPr lang="it-IT" sz="6000" noProof="0" dirty="0">
              <a:solidFill>
                <a:srgbClr val="1B1D20"/>
              </a:solidFill>
            </a:endParaRPr>
          </a:p>
        </p:txBody>
      </p:sp>
      <p:sp>
        <p:nvSpPr>
          <p:cNvPr id="6" name="Text 4"/>
          <p:cNvSpPr/>
          <p:nvPr/>
        </p:nvSpPr>
        <p:spPr>
          <a:xfrm>
            <a:off x="812800" y="3200400"/>
            <a:ext cx="9156700" cy="1155700"/>
          </a:xfrm>
          <a:prstGeom prst="rect">
            <a:avLst/>
          </a:prstGeom>
          <a:noFill/>
          <a:ln/>
        </p:spPr>
        <p:txBody>
          <a:bodyPr wrap="square" lIns="0" tIns="0" rIns="0" bIns="0" rtlCol="0" anchor="t">
            <a:normAutofit/>
          </a:bodyPr>
          <a:lstStyle/>
          <a:p>
            <a:pPr marL="0" indent="0" algn="l">
              <a:lnSpc>
                <a:spcPts val="2970"/>
              </a:lnSpc>
              <a:buNone/>
            </a:pPr>
            <a:r>
              <a:rPr lang="it-IT" sz="2200" noProof="0" dirty="0">
                <a:solidFill>
                  <a:srgbClr val="1B1D20"/>
                </a:solidFill>
                <a:latin typeface="IBM Plex Sans" pitchFamily="34" charset="0"/>
                <a:ea typeface="IBM Plex Sans" pitchFamily="34" charset="-122"/>
                <a:cs typeface="IBM Plex Sans" pitchFamily="34" charset="-120"/>
              </a:rPr>
              <a:t>Emulazione basata su container, integrazione con Docker, network plugin per i domini L2 e </a:t>
            </a:r>
            <a:r>
              <a:rPr lang="it-IT" sz="2200" noProof="0" dirty="0" err="1">
                <a:solidFill>
                  <a:srgbClr val="1B1D20"/>
                </a:solidFill>
                <a:latin typeface="IBM Plex Sans" pitchFamily="34" charset="0"/>
                <a:ea typeface="IBM Plex Sans" pitchFamily="34" charset="-122"/>
                <a:cs typeface="IBM Plex Sans" pitchFamily="34" charset="-120"/>
              </a:rPr>
              <a:t>backend</a:t>
            </a:r>
            <a:r>
              <a:rPr lang="it-IT" sz="2200" noProof="0" dirty="0">
                <a:solidFill>
                  <a:srgbClr val="1B1D20"/>
                </a:solidFill>
                <a:latin typeface="IBM Plex Sans" pitchFamily="34" charset="0"/>
                <a:ea typeface="IBM Plex Sans" pitchFamily="34" charset="-122"/>
                <a:cs typeface="IBM Plex Sans" pitchFamily="34" charset="-120"/>
              </a:rPr>
              <a:t> </a:t>
            </a:r>
            <a:r>
              <a:rPr lang="it-IT" sz="2200" noProof="0" dirty="0" err="1">
                <a:solidFill>
                  <a:srgbClr val="1B1D20"/>
                </a:solidFill>
                <a:latin typeface="IBM Plex Sans" pitchFamily="34" charset="0"/>
                <a:ea typeface="IBM Plex Sans" pitchFamily="34" charset="-122"/>
                <a:cs typeface="IBM Plex Sans" pitchFamily="34" charset="-120"/>
              </a:rPr>
              <a:t>Kubernetes</a:t>
            </a:r>
            <a:r>
              <a:rPr lang="it-IT" sz="2200" noProof="0" dirty="0">
                <a:solidFill>
                  <a:srgbClr val="1B1D20"/>
                </a:solidFill>
                <a:latin typeface="IBM Plex Sans" pitchFamily="34" charset="0"/>
                <a:ea typeface="IBM Plex Sans" pitchFamily="34" charset="-122"/>
                <a:cs typeface="IBM Plex Sans" pitchFamily="34" charset="-120"/>
              </a:rPr>
              <a:t>.</a:t>
            </a:r>
            <a:endParaRPr lang="it-IT" sz="2200" noProof="0" dirty="0">
              <a:solidFill>
                <a:srgbClr val="1B1D20"/>
              </a:solidFill>
            </a:endParaRPr>
          </a:p>
        </p:txBody>
      </p:sp>
    </p:spTree>
    <p:extLst>
      <p:ext uri="{BB962C8B-B14F-4D97-AF65-F5344CB8AC3E}">
        <p14:creationId xmlns:p14="http://schemas.microsoft.com/office/powerpoint/2010/main" val="2484641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Le reti di calcolatori sono complesse</a:t>
            </a:r>
            <a:endParaRPr lang="it-IT" sz="4000" noProof="0" dirty="0"/>
          </a:p>
        </p:txBody>
      </p:sp>
      <p:sp>
        <p:nvSpPr>
          <p:cNvPr id="5" name="Shape 3"/>
          <p:cNvSpPr/>
          <p:nvPr/>
        </p:nvSpPr>
        <p:spPr>
          <a:xfrm>
            <a:off x="812800" y="1842136"/>
            <a:ext cx="3810000" cy="0"/>
          </a:xfrm>
          <a:prstGeom prst="line">
            <a:avLst/>
          </a:prstGeom>
          <a:noFill/>
          <a:ln w="6350">
            <a:solidFill>
              <a:srgbClr val="CFCCC4"/>
            </a:solidFill>
            <a:prstDash val="solid"/>
          </a:ln>
        </p:spPr>
        <p:txBody>
          <a:bodyPr/>
          <a:lstStyle/>
          <a:p>
            <a:endParaRPr lang="it-IT" noProof="0" dirty="0"/>
          </a:p>
        </p:txBody>
      </p:sp>
      <p:sp>
        <p:nvSpPr>
          <p:cNvPr id="6" name="Text 4"/>
          <p:cNvSpPr/>
          <p:nvPr/>
        </p:nvSpPr>
        <p:spPr>
          <a:xfrm>
            <a:off x="812800" y="1946911"/>
            <a:ext cx="39243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dispositivi</a:t>
            </a:r>
            <a:endParaRPr lang="it-IT" sz="1600" noProof="0" dirty="0"/>
          </a:p>
        </p:txBody>
      </p:sp>
      <p:sp>
        <p:nvSpPr>
          <p:cNvPr id="7" name="Text 5"/>
          <p:cNvSpPr/>
          <p:nvPr/>
        </p:nvSpPr>
        <p:spPr>
          <a:xfrm>
            <a:off x="812800" y="2216150"/>
            <a:ext cx="3924300" cy="27305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Molti apparati: router, switch, </a:t>
            </a:r>
            <a:r>
              <a:rPr lang="it-IT" sz="1600" noProof="0" dirty="0" err="1">
                <a:solidFill>
                  <a:srgbClr val="1B1D20"/>
                </a:solidFill>
                <a:latin typeface="IBM Plex Sans" pitchFamily="34" charset="0"/>
                <a:ea typeface="IBM Plex Sans" pitchFamily="34" charset="-122"/>
                <a:cs typeface="IBM Plex Sans" pitchFamily="34" charset="-120"/>
              </a:rPr>
              <a:t>host</a:t>
            </a:r>
            <a:endParaRPr lang="it-IT" sz="1600" noProof="0" dirty="0"/>
          </a:p>
        </p:txBody>
      </p:sp>
      <p:sp>
        <p:nvSpPr>
          <p:cNvPr id="8" name="Shape 6"/>
          <p:cNvSpPr/>
          <p:nvPr/>
        </p:nvSpPr>
        <p:spPr>
          <a:xfrm>
            <a:off x="812800" y="2568575"/>
            <a:ext cx="3810000" cy="0"/>
          </a:xfrm>
          <a:prstGeom prst="line">
            <a:avLst/>
          </a:prstGeom>
          <a:noFill/>
          <a:ln w="6350">
            <a:solidFill>
              <a:srgbClr val="CFCCC4"/>
            </a:solidFill>
            <a:prstDash val="solid"/>
          </a:ln>
        </p:spPr>
        <p:txBody>
          <a:bodyPr/>
          <a:lstStyle/>
          <a:p>
            <a:endParaRPr lang="it-IT" noProof="0" dirty="0"/>
          </a:p>
        </p:txBody>
      </p:sp>
      <p:sp>
        <p:nvSpPr>
          <p:cNvPr id="9" name="Text 7"/>
          <p:cNvSpPr/>
          <p:nvPr/>
        </p:nvSpPr>
        <p:spPr>
          <a:xfrm>
            <a:off x="812800" y="2673350"/>
            <a:ext cx="39243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interfacce</a:t>
            </a:r>
            <a:endParaRPr lang="it-IT" sz="1600" noProof="0" dirty="0"/>
          </a:p>
        </p:txBody>
      </p:sp>
      <p:sp>
        <p:nvSpPr>
          <p:cNvPr id="10" name="Text 8"/>
          <p:cNvSpPr/>
          <p:nvPr/>
        </p:nvSpPr>
        <p:spPr>
          <a:xfrm>
            <a:off x="812800" y="2942589"/>
            <a:ext cx="3924300" cy="52070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Ogni apparato ha più interfacce: eth0, eth1, …</a:t>
            </a:r>
            <a:endParaRPr lang="it-IT" sz="1600" noProof="0" dirty="0"/>
          </a:p>
        </p:txBody>
      </p:sp>
      <p:sp>
        <p:nvSpPr>
          <p:cNvPr id="11" name="Shape 9"/>
          <p:cNvSpPr/>
          <p:nvPr/>
        </p:nvSpPr>
        <p:spPr>
          <a:xfrm>
            <a:off x="812800" y="3542664"/>
            <a:ext cx="3810000" cy="0"/>
          </a:xfrm>
          <a:prstGeom prst="line">
            <a:avLst/>
          </a:prstGeom>
          <a:noFill/>
          <a:ln w="6350">
            <a:solidFill>
              <a:srgbClr val="CFCCC4"/>
            </a:solidFill>
            <a:prstDash val="solid"/>
          </a:ln>
        </p:spPr>
        <p:txBody>
          <a:bodyPr/>
          <a:lstStyle/>
          <a:p>
            <a:endParaRPr lang="it-IT" noProof="0" dirty="0"/>
          </a:p>
        </p:txBody>
      </p:sp>
      <p:sp>
        <p:nvSpPr>
          <p:cNvPr id="12" name="Text 10"/>
          <p:cNvSpPr/>
          <p:nvPr/>
        </p:nvSpPr>
        <p:spPr>
          <a:xfrm>
            <a:off x="812800" y="3647439"/>
            <a:ext cx="39243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protocolli</a:t>
            </a:r>
            <a:endParaRPr lang="it-IT" sz="1600" noProof="0" dirty="0"/>
          </a:p>
        </p:txBody>
      </p:sp>
      <p:sp>
        <p:nvSpPr>
          <p:cNvPr id="13" name="Text 11"/>
          <p:cNvSpPr/>
          <p:nvPr/>
        </p:nvSpPr>
        <p:spPr>
          <a:xfrm>
            <a:off x="812800" y="3916680"/>
            <a:ext cx="3924300" cy="52070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Più protocolli attivi insieme: OSPF, BGP, VLAN, rotte statiche</a:t>
            </a:r>
            <a:endParaRPr lang="it-IT" sz="1600" noProof="0" dirty="0"/>
          </a:p>
        </p:txBody>
      </p:sp>
      <p:sp>
        <p:nvSpPr>
          <p:cNvPr id="14" name="Shape 12"/>
          <p:cNvSpPr/>
          <p:nvPr/>
        </p:nvSpPr>
        <p:spPr>
          <a:xfrm>
            <a:off x="812800" y="4516755"/>
            <a:ext cx="3810000" cy="0"/>
          </a:xfrm>
          <a:prstGeom prst="line">
            <a:avLst/>
          </a:prstGeom>
          <a:noFill/>
          <a:ln w="6350">
            <a:solidFill>
              <a:srgbClr val="CFCCC4"/>
            </a:solidFill>
            <a:prstDash val="solid"/>
          </a:ln>
        </p:spPr>
        <p:txBody>
          <a:bodyPr/>
          <a:lstStyle/>
          <a:p>
            <a:endParaRPr lang="it-IT" noProof="0" dirty="0"/>
          </a:p>
        </p:txBody>
      </p:sp>
      <p:sp>
        <p:nvSpPr>
          <p:cNvPr id="15" name="Text 13"/>
          <p:cNvSpPr/>
          <p:nvPr/>
        </p:nvSpPr>
        <p:spPr>
          <a:xfrm>
            <a:off x="812800" y="4621530"/>
            <a:ext cx="39243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topologie</a:t>
            </a:r>
            <a:endParaRPr lang="it-IT" sz="1600" noProof="0" dirty="0"/>
          </a:p>
        </p:txBody>
      </p:sp>
      <p:sp>
        <p:nvSpPr>
          <p:cNvPr id="16" name="Text 14"/>
          <p:cNvSpPr/>
          <p:nvPr/>
        </p:nvSpPr>
        <p:spPr>
          <a:xfrm>
            <a:off x="812800" y="4890770"/>
            <a:ext cx="3924300" cy="52070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Le interconnessioni fisiche creano topologie intricate</a:t>
            </a:r>
            <a:endParaRPr lang="it-IT" sz="1600" noProof="0" dirty="0"/>
          </a:p>
        </p:txBody>
      </p:sp>
      <p:cxnSp>
        <p:nvCxnSpPr>
          <p:cNvPr id="300" name="link"/>
          <p:cNvCxnSpPr/>
          <p:nvPr/>
        </p:nvCxnSpPr>
        <p:spPr>
          <a:xfrm>
            <a:off x="5791200" y="2463800"/>
            <a:ext cx="1168400" cy="0"/>
          </a:xfrm>
          <a:prstGeom prst="line">
            <a:avLst/>
          </a:prstGeom>
          <a:ln w="12700">
            <a:solidFill>
              <a:srgbClr val="1B1D20"/>
            </a:solidFill>
          </a:ln>
        </p:spPr>
      </p:cxnSp>
      <p:cxnSp>
        <p:nvCxnSpPr>
          <p:cNvPr id="301" name="link"/>
          <p:cNvCxnSpPr/>
          <p:nvPr/>
        </p:nvCxnSpPr>
        <p:spPr>
          <a:xfrm>
            <a:off x="7772400" y="2463800"/>
            <a:ext cx="1219200" cy="0"/>
          </a:xfrm>
          <a:prstGeom prst="line">
            <a:avLst/>
          </a:prstGeom>
          <a:ln w="12700">
            <a:solidFill>
              <a:srgbClr val="1B1D20"/>
            </a:solidFill>
          </a:ln>
        </p:spPr>
      </p:cxnSp>
      <p:cxnSp>
        <p:nvCxnSpPr>
          <p:cNvPr id="302" name="link"/>
          <p:cNvCxnSpPr/>
          <p:nvPr/>
        </p:nvCxnSpPr>
        <p:spPr>
          <a:xfrm>
            <a:off x="7366000" y="2692400"/>
            <a:ext cx="0" cy="1320800"/>
          </a:xfrm>
          <a:prstGeom prst="line">
            <a:avLst/>
          </a:prstGeom>
          <a:ln w="12700">
            <a:solidFill>
              <a:srgbClr val="1B1D20"/>
            </a:solidFill>
          </a:ln>
        </p:spPr>
      </p:cxnSp>
      <p:cxnSp>
        <p:nvCxnSpPr>
          <p:cNvPr id="303" name="link"/>
          <p:cNvCxnSpPr/>
          <p:nvPr/>
        </p:nvCxnSpPr>
        <p:spPr>
          <a:xfrm>
            <a:off x="9398000" y="2692400"/>
            <a:ext cx="0" cy="1320800"/>
          </a:xfrm>
          <a:prstGeom prst="line">
            <a:avLst/>
          </a:prstGeom>
          <a:ln w="12700">
            <a:solidFill>
              <a:srgbClr val="1B1D20"/>
            </a:solidFill>
          </a:ln>
        </p:spPr>
      </p:cxnSp>
      <p:cxnSp>
        <p:nvCxnSpPr>
          <p:cNvPr id="304" name="link"/>
          <p:cNvCxnSpPr/>
          <p:nvPr/>
        </p:nvCxnSpPr>
        <p:spPr>
          <a:xfrm>
            <a:off x="7772400" y="4241800"/>
            <a:ext cx="1219200" cy="0"/>
          </a:xfrm>
          <a:prstGeom prst="line">
            <a:avLst/>
          </a:prstGeom>
          <a:ln w="12700">
            <a:solidFill>
              <a:srgbClr val="1B1D20"/>
            </a:solidFill>
          </a:ln>
        </p:spPr>
      </p:cxnSp>
      <p:cxnSp>
        <p:nvCxnSpPr>
          <p:cNvPr id="305" name="link"/>
          <p:cNvCxnSpPr/>
          <p:nvPr/>
        </p:nvCxnSpPr>
        <p:spPr>
          <a:xfrm>
            <a:off x="9804400" y="2463800"/>
            <a:ext cx="1371600" cy="0"/>
          </a:xfrm>
          <a:prstGeom prst="line">
            <a:avLst/>
          </a:prstGeom>
          <a:ln w="19050">
            <a:solidFill>
              <a:srgbClr val="B4502E"/>
            </a:solidFill>
            <a:prstDash val="dash"/>
          </a:ln>
        </p:spPr>
      </p:cxnSp>
      <p:cxnSp>
        <p:nvCxnSpPr>
          <p:cNvPr id="306" name="link"/>
          <p:cNvCxnSpPr/>
          <p:nvPr/>
        </p:nvCxnSpPr>
        <p:spPr>
          <a:xfrm>
            <a:off x="11176000" y="2463800"/>
            <a:ext cx="0" cy="546100"/>
          </a:xfrm>
          <a:prstGeom prst="line">
            <a:avLst/>
          </a:prstGeom>
          <a:ln w="19050">
            <a:solidFill>
              <a:srgbClr val="B4502E"/>
            </a:solidFill>
            <a:prstDash val="dash"/>
          </a:ln>
        </p:spPr>
      </p:cxnSp>
      <p:cxnSp>
        <p:nvCxnSpPr>
          <p:cNvPr id="307" name="link"/>
          <p:cNvCxnSpPr/>
          <p:nvPr/>
        </p:nvCxnSpPr>
        <p:spPr>
          <a:xfrm>
            <a:off x="9804400" y="4241800"/>
            <a:ext cx="1371600" cy="0"/>
          </a:xfrm>
          <a:prstGeom prst="line">
            <a:avLst/>
          </a:prstGeom>
          <a:ln w="19050">
            <a:solidFill>
              <a:srgbClr val="B4502E"/>
            </a:solidFill>
            <a:prstDash val="dash"/>
          </a:ln>
        </p:spPr>
      </p:cxnSp>
      <p:cxnSp>
        <p:nvCxnSpPr>
          <p:cNvPr id="308" name="link"/>
          <p:cNvCxnSpPr/>
          <p:nvPr/>
        </p:nvCxnSpPr>
        <p:spPr>
          <a:xfrm>
            <a:off x="11176000" y="3467100"/>
            <a:ext cx="0" cy="774700"/>
          </a:xfrm>
          <a:prstGeom prst="line">
            <a:avLst/>
          </a:prstGeom>
          <a:ln w="19050">
            <a:solidFill>
              <a:srgbClr val="B4502E"/>
            </a:solidFill>
            <a:prstDash val="dash"/>
          </a:ln>
        </p:spPr>
      </p:cxnSp>
      <p:cxnSp>
        <p:nvCxnSpPr>
          <p:cNvPr id="309" name="link"/>
          <p:cNvCxnSpPr/>
          <p:nvPr/>
        </p:nvCxnSpPr>
        <p:spPr>
          <a:xfrm>
            <a:off x="5384800" y="2692400"/>
            <a:ext cx="0" cy="228600"/>
          </a:xfrm>
          <a:prstGeom prst="line">
            <a:avLst/>
          </a:prstGeom>
          <a:ln w="12700">
            <a:solidFill>
              <a:srgbClr val="8A8F96"/>
            </a:solidFill>
          </a:ln>
        </p:spPr>
      </p:cxnSp>
      <p:cxnSp>
        <p:nvCxnSpPr>
          <p:cNvPr id="310" name="link"/>
          <p:cNvCxnSpPr/>
          <p:nvPr/>
        </p:nvCxnSpPr>
        <p:spPr>
          <a:xfrm>
            <a:off x="5181600" y="2921000"/>
            <a:ext cx="812800" cy="0"/>
          </a:xfrm>
          <a:prstGeom prst="line">
            <a:avLst/>
          </a:prstGeom>
          <a:ln w="12700">
            <a:solidFill>
              <a:srgbClr val="8A8F96"/>
            </a:solidFill>
          </a:ln>
        </p:spPr>
      </p:cxnSp>
      <p:cxnSp>
        <p:nvCxnSpPr>
          <p:cNvPr id="311" name="link"/>
          <p:cNvCxnSpPr/>
          <p:nvPr/>
        </p:nvCxnSpPr>
        <p:spPr>
          <a:xfrm>
            <a:off x="5181600" y="2921000"/>
            <a:ext cx="0" cy="228600"/>
          </a:xfrm>
          <a:prstGeom prst="line">
            <a:avLst/>
          </a:prstGeom>
          <a:ln w="12700">
            <a:solidFill>
              <a:srgbClr val="8A8F96"/>
            </a:solidFill>
          </a:ln>
        </p:spPr>
      </p:cxnSp>
      <p:cxnSp>
        <p:nvCxnSpPr>
          <p:cNvPr id="312" name="link"/>
          <p:cNvCxnSpPr/>
          <p:nvPr/>
        </p:nvCxnSpPr>
        <p:spPr>
          <a:xfrm>
            <a:off x="5994400" y="2921000"/>
            <a:ext cx="0" cy="228600"/>
          </a:xfrm>
          <a:prstGeom prst="line">
            <a:avLst/>
          </a:prstGeom>
          <a:ln w="12700">
            <a:solidFill>
              <a:srgbClr val="8A8F96"/>
            </a:solidFill>
          </a:ln>
        </p:spPr>
      </p:cxnSp>
      <p:cxnSp>
        <p:nvCxnSpPr>
          <p:cNvPr id="313" name="link"/>
          <p:cNvCxnSpPr/>
          <p:nvPr/>
        </p:nvCxnSpPr>
        <p:spPr>
          <a:xfrm>
            <a:off x="7366000" y="4470400"/>
            <a:ext cx="0" cy="254000"/>
          </a:xfrm>
          <a:prstGeom prst="line">
            <a:avLst/>
          </a:prstGeom>
          <a:ln w="12700">
            <a:solidFill>
              <a:srgbClr val="1B1D20"/>
            </a:solidFill>
          </a:ln>
        </p:spPr>
      </p:cxnSp>
      <p:cxnSp>
        <p:nvCxnSpPr>
          <p:cNvPr id="314" name="link"/>
          <p:cNvCxnSpPr/>
          <p:nvPr/>
        </p:nvCxnSpPr>
        <p:spPr>
          <a:xfrm>
            <a:off x="7366000" y="5130800"/>
            <a:ext cx="0" cy="152400"/>
          </a:xfrm>
          <a:prstGeom prst="line">
            <a:avLst/>
          </a:prstGeom>
          <a:ln w="12700">
            <a:solidFill>
              <a:srgbClr val="8A8F96"/>
            </a:solidFill>
          </a:ln>
        </p:spPr>
      </p:cxnSp>
      <p:cxnSp>
        <p:nvCxnSpPr>
          <p:cNvPr id="315" name="link"/>
          <p:cNvCxnSpPr/>
          <p:nvPr/>
        </p:nvCxnSpPr>
        <p:spPr>
          <a:xfrm>
            <a:off x="6959600" y="5283200"/>
            <a:ext cx="812800" cy="0"/>
          </a:xfrm>
          <a:prstGeom prst="line">
            <a:avLst/>
          </a:prstGeom>
          <a:ln w="12700">
            <a:solidFill>
              <a:srgbClr val="8A8F96"/>
            </a:solidFill>
          </a:ln>
        </p:spPr>
      </p:cxnSp>
      <p:cxnSp>
        <p:nvCxnSpPr>
          <p:cNvPr id="316" name="link"/>
          <p:cNvCxnSpPr/>
          <p:nvPr/>
        </p:nvCxnSpPr>
        <p:spPr>
          <a:xfrm>
            <a:off x="6959600" y="5283200"/>
            <a:ext cx="0" cy="152400"/>
          </a:xfrm>
          <a:prstGeom prst="line">
            <a:avLst/>
          </a:prstGeom>
          <a:ln w="12700">
            <a:solidFill>
              <a:srgbClr val="8A8F96"/>
            </a:solidFill>
          </a:ln>
        </p:spPr>
      </p:cxnSp>
      <p:cxnSp>
        <p:nvCxnSpPr>
          <p:cNvPr id="317" name="link"/>
          <p:cNvCxnSpPr/>
          <p:nvPr/>
        </p:nvCxnSpPr>
        <p:spPr>
          <a:xfrm>
            <a:off x="7772400" y="5283200"/>
            <a:ext cx="0" cy="152400"/>
          </a:xfrm>
          <a:prstGeom prst="line">
            <a:avLst/>
          </a:prstGeom>
          <a:ln w="12700">
            <a:solidFill>
              <a:srgbClr val="8A8F96"/>
            </a:solidFill>
          </a:ln>
        </p:spPr>
      </p:cxnSp>
      <p:sp>
        <p:nvSpPr>
          <p:cNvPr id="318" name="sw1"/>
          <p:cNvSpPr/>
          <p:nvPr/>
        </p:nvSpPr>
        <p:spPr>
          <a:xfrm>
            <a:off x="4978400" y="2235200"/>
            <a:ext cx="812800" cy="457200"/>
          </a:xfrm>
          <a:prstGeom prst="rect">
            <a:avLst/>
          </a:prstGeom>
          <a:solidFill>
            <a:srgbClr val="F7F6F2"/>
          </a:solidFill>
          <a:ln w="12700">
            <a:solidFill>
              <a:srgbClr val="1B1D20"/>
            </a:solidFill>
          </a:ln>
        </p:spPr>
        <p:txBody>
          <a:bodyPr wrap="none" lIns="0" tIns="0" rIns="0" bIns="0" anchor="ctr">
            <a:noAutofit/>
          </a:bodyPr>
          <a:lstStyle/>
          <a:p>
            <a:pPr algn="ctr">
              <a:lnSpc>
                <a:spcPct val="90000"/>
              </a:lnSpc>
            </a:pPr>
            <a:r>
              <a:rPr lang="it-IT" sz="1400" b="1" dirty="0">
                <a:solidFill>
                  <a:srgbClr val="1B1D20"/>
                </a:solidFill>
                <a:latin typeface="IBM Plex Sans"/>
              </a:rPr>
              <a:t>sw1</a:t>
            </a:r>
          </a:p>
          <a:p>
            <a:pPr algn="ctr">
              <a:lnSpc>
                <a:spcPct val="90000"/>
              </a:lnSpc>
            </a:pPr>
            <a:r>
              <a:rPr lang="it-IT" sz="900" dirty="0">
                <a:solidFill>
                  <a:srgbClr val="5B5F66"/>
                </a:solidFill>
                <a:latin typeface="JetBrains Mono"/>
              </a:rPr>
              <a:t>switch</a:t>
            </a:r>
          </a:p>
        </p:txBody>
      </p:sp>
      <p:sp>
        <p:nvSpPr>
          <p:cNvPr id="319" name="r1"/>
          <p:cNvSpPr/>
          <p:nvPr/>
        </p:nvSpPr>
        <p:spPr>
          <a:xfrm>
            <a:off x="6959600" y="2235200"/>
            <a:ext cx="812800" cy="457200"/>
          </a:xfrm>
          <a:prstGeom prst="rect">
            <a:avLst/>
          </a:prstGeom>
          <a:solidFill>
            <a:srgbClr val="FFFFFF"/>
          </a:solidFill>
          <a:ln w="19050">
            <a:solidFill>
              <a:srgbClr val="2B6CA3"/>
            </a:solidFill>
          </a:ln>
        </p:spPr>
        <p:txBody>
          <a:bodyPr wrap="none" lIns="0" tIns="0" rIns="0" bIns="0" anchor="ctr">
            <a:noAutofit/>
          </a:bodyPr>
          <a:lstStyle/>
          <a:p>
            <a:pPr algn="ctr">
              <a:lnSpc>
                <a:spcPct val="90000"/>
              </a:lnSpc>
            </a:pPr>
            <a:r>
              <a:rPr lang="it-IT" sz="1400" b="1" dirty="0">
                <a:solidFill>
                  <a:srgbClr val="1B1D20"/>
                </a:solidFill>
                <a:latin typeface="IBM Plex Sans"/>
              </a:rPr>
              <a:t>r1</a:t>
            </a:r>
          </a:p>
          <a:p>
            <a:pPr algn="ctr">
              <a:lnSpc>
                <a:spcPct val="90000"/>
              </a:lnSpc>
            </a:pPr>
            <a:r>
              <a:rPr lang="it-IT" sz="900" dirty="0">
                <a:solidFill>
                  <a:srgbClr val="2B6CA3"/>
                </a:solidFill>
                <a:latin typeface="JetBrains Mono"/>
              </a:rPr>
              <a:t>router</a:t>
            </a:r>
          </a:p>
        </p:txBody>
      </p:sp>
      <p:sp>
        <p:nvSpPr>
          <p:cNvPr id="320" name="r2"/>
          <p:cNvSpPr/>
          <p:nvPr/>
        </p:nvSpPr>
        <p:spPr>
          <a:xfrm>
            <a:off x="8991600" y="2235200"/>
            <a:ext cx="812800" cy="457200"/>
          </a:xfrm>
          <a:prstGeom prst="rect">
            <a:avLst/>
          </a:prstGeom>
          <a:solidFill>
            <a:srgbClr val="FFFFFF"/>
          </a:solidFill>
          <a:ln w="19050">
            <a:solidFill>
              <a:srgbClr val="2B6CA3"/>
            </a:solidFill>
          </a:ln>
        </p:spPr>
        <p:txBody>
          <a:bodyPr wrap="none" lIns="0" tIns="0" rIns="0" bIns="0" anchor="ctr">
            <a:noAutofit/>
          </a:bodyPr>
          <a:lstStyle/>
          <a:p>
            <a:pPr algn="ctr">
              <a:lnSpc>
                <a:spcPct val="90000"/>
              </a:lnSpc>
            </a:pPr>
            <a:r>
              <a:rPr lang="it-IT" sz="1400" b="1" dirty="0">
                <a:solidFill>
                  <a:srgbClr val="1B1D20"/>
                </a:solidFill>
                <a:latin typeface="IBM Plex Sans"/>
              </a:rPr>
              <a:t>r2</a:t>
            </a:r>
          </a:p>
          <a:p>
            <a:pPr algn="ctr">
              <a:lnSpc>
                <a:spcPct val="90000"/>
              </a:lnSpc>
            </a:pPr>
            <a:r>
              <a:rPr lang="it-IT" sz="900" dirty="0">
                <a:solidFill>
                  <a:srgbClr val="2B6CA3"/>
                </a:solidFill>
                <a:latin typeface="JetBrains Mono"/>
              </a:rPr>
              <a:t>router</a:t>
            </a:r>
          </a:p>
        </p:txBody>
      </p:sp>
      <p:sp>
        <p:nvSpPr>
          <p:cNvPr id="321" name="r4"/>
          <p:cNvSpPr/>
          <p:nvPr/>
        </p:nvSpPr>
        <p:spPr>
          <a:xfrm>
            <a:off x="6959600" y="4013200"/>
            <a:ext cx="812800" cy="457200"/>
          </a:xfrm>
          <a:prstGeom prst="rect">
            <a:avLst/>
          </a:prstGeom>
          <a:solidFill>
            <a:srgbClr val="FFFFFF"/>
          </a:solidFill>
          <a:ln w="19050">
            <a:solidFill>
              <a:srgbClr val="2B6CA3"/>
            </a:solidFill>
          </a:ln>
        </p:spPr>
        <p:txBody>
          <a:bodyPr wrap="none" lIns="0" tIns="0" rIns="0" bIns="0" anchor="ctr">
            <a:noAutofit/>
          </a:bodyPr>
          <a:lstStyle/>
          <a:p>
            <a:pPr algn="ctr">
              <a:lnSpc>
                <a:spcPct val="90000"/>
              </a:lnSpc>
            </a:pPr>
            <a:r>
              <a:rPr lang="it-IT" sz="1400" b="1" dirty="0">
                <a:solidFill>
                  <a:srgbClr val="1B1D20"/>
                </a:solidFill>
                <a:latin typeface="IBM Plex Sans"/>
              </a:rPr>
              <a:t>r4</a:t>
            </a:r>
          </a:p>
          <a:p>
            <a:pPr algn="ctr">
              <a:lnSpc>
                <a:spcPct val="90000"/>
              </a:lnSpc>
            </a:pPr>
            <a:r>
              <a:rPr lang="it-IT" sz="900" dirty="0">
                <a:solidFill>
                  <a:srgbClr val="2B6CA3"/>
                </a:solidFill>
                <a:latin typeface="JetBrains Mono"/>
              </a:rPr>
              <a:t>router</a:t>
            </a:r>
          </a:p>
        </p:txBody>
      </p:sp>
      <p:sp>
        <p:nvSpPr>
          <p:cNvPr id="322" name="r3"/>
          <p:cNvSpPr/>
          <p:nvPr/>
        </p:nvSpPr>
        <p:spPr>
          <a:xfrm>
            <a:off x="8991600" y="4013200"/>
            <a:ext cx="812800" cy="457200"/>
          </a:xfrm>
          <a:prstGeom prst="rect">
            <a:avLst/>
          </a:prstGeom>
          <a:solidFill>
            <a:srgbClr val="FFFFFF"/>
          </a:solidFill>
          <a:ln w="19050">
            <a:solidFill>
              <a:srgbClr val="2B6CA3"/>
            </a:solidFill>
          </a:ln>
        </p:spPr>
        <p:txBody>
          <a:bodyPr wrap="none" lIns="0" tIns="0" rIns="0" bIns="0" anchor="ctr">
            <a:noAutofit/>
          </a:bodyPr>
          <a:lstStyle/>
          <a:p>
            <a:pPr algn="ctr">
              <a:lnSpc>
                <a:spcPct val="90000"/>
              </a:lnSpc>
            </a:pPr>
            <a:r>
              <a:rPr lang="it-IT" sz="1400" b="1" dirty="0">
                <a:solidFill>
                  <a:srgbClr val="1B1D20"/>
                </a:solidFill>
                <a:latin typeface="IBM Plex Sans"/>
              </a:rPr>
              <a:t>r3</a:t>
            </a:r>
          </a:p>
          <a:p>
            <a:pPr algn="ctr">
              <a:lnSpc>
                <a:spcPct val="90000"/>
              </a:lnSpc>
            </a:pPr>
            <a:r>
              <a:rPr lang="it-IT" sz="900" dirty="0">
                <a:solidFill>
                  <a:srgbClr val="2B6CA3"/>
                </a:solidFill>
                <a:latin typeface="JetBrains Mono"/>
              </a:rPr>
              <a:t>router</a:t>
            </a:r>
          </a:p>
        </p:txBody>
      </p:sp>
      <p:sp>
        <p:nvSpPr>
          <p:cNvPr id="323" name="r5"/>
          <p:cNvSpPr/>
          <p:nvPr/>
        </p:nvSpPr>
        <p:spPr>
          <a:xfrm>
            <a:off x="10769600" y="3009900"/>
            <a:ext cx="812800" cy="457200"/>
          </a:xfrm>
          <a:prstGeom prst="rect">
            <a:avLst/>
          </a:prstGeom>
          <a:solidFill>
            <a:srgbClr val="FFFFFF"/>
          </a:solidFill>
          <a:ln w="19050">
            <a:solidFill>
              <a:srgbClr val="B4502E"/>
            </a:solidFill>
            <a:prstDash val="dash"/>
          </a:ln>
        </p:spPr>
        <p:txBody>
          <a:bodyPr wrap="none" lIns="0" tIns="0" rIns="0" bIns="0" anchor="ctr">
            <a:noAutofit/>
          </a:bodyPr>
          <a:lstStyle/>
          <a:p>
            <a:pPr algn="ctr">
              <a:lnSpc>
                <a:spcPct val="90000"/>
              </a:lnSpc>
            </a:pPr>
            <a:r>
              <a:rPr lang="it-IT" sz="1400" b="1" dirty="0">
                <a:solidFill>
                  <a:srgbClr val="1B1D20"/>
                </a:solidFill>
                <a:latin typeface="IBM Plex Sans"/>
              </a:rPr>
              <a:t>r5</a:t>
            </a:r>
          </a:p>
          <a:p>
            <a:pPr algn="ctr">
              <a:lnSpc>
                <a:spcPct val="90000"/>
              </a:lnSpc>
            </a:pPr>
            <a:r>
              <a:rPr lang="it-IT" sz="900" dirty="0">
                <a:solidFill>
                  <a:srgbClr val="B4502E"/>
                </a:solidFill>
                <a:latin typeface="JetBrains Mono"/>
              </a:rPr>
              <a:t>peer est.</a:t>
            </a:r>
          </a:p>
        </p:txBody>
      </p:sp>
      <p:sp>
        <p:nvSpPr>
          <p:cNvPr id="324" name="pc1"/>
          <p:cNvSpPr/>
          <p:nvPr/>
        </p:nvSpPr>
        <p:spPr>
          <a:xfrm>
            <a:off x="4826000" y="3149600"/>
            <a:ext cx="711200" cy="406400"/>
          </a:xfrm>
          <a:prstGeom prst="rect">
            <a:avLst/>
          </a:prstGeom>
          <a:solidFill>
            <a:srgbClr val="FFFFFF"/>
          </a:solidFill>
          <a:ln w="12700">
            <a:solidFill>
              <a:srgbClr val="8A8F96"/>
            </a:solidFill>
          </a:ln>
        </p:spPr>
        <p:txBody>
          <a:bodyPr wrap="none" lIns="0" tIns="0" rIns="0" bIns="0" anchor="ctr">
            <a:noAutofit/>
          </a:bodyPr>
          <a:lstStyle/>
          <a:p>
            <a:pPr algn="ctr">
              <a:lnSpc>
                <a:spcPct val="90000"/>
              </a:lnSpc>
            </a:pPr>
            <a:r>
              <a:rPr lang="it-IT" sz="1100" b="1" dirty="0">
                <a:solidFill>
                  <a:srgbClr val="1B1D20"/>
                </a:solidFill>
                <a:latin typeface="IBM Plex Sans"/>
              </a:rPr>
              <a:t>pc1</a:t>
            </a:r>
          </a:p>
          <a:p>
            <a:pPr algn="ctr">
              <a:lnSpc>
                <a:spcPct val="90000"/>
              </a:lnSpc>
            </a:pPr>
            <a:r>
              <a:rPr lang="it-IT" sz="900" dirty="0">
                <a:solidFill>
                  <a:srgbClr val="5B5F66"/>
                </a:solidFill>
                <a:latin typeface="JetBrains Mono"/>
              </a:rPr>
              <a:t>10.0.1.10</a:t>
            </a:r>
          </a:p>
        </p:txBody>
      </p:sp>
      <p:sp>
        <p:nvSpPr>
          <p:cNvPr id="325" name="pc2"/>
          <p:cNvSpPr/>
          <p:nvPr/>
        </p:nvSpPr>
        <p:spPr>
          <a:xfrm>
            <a:off x="5638800" y="3149600"/>
            <a:ext cx="711200" cy="406400"/>
          </a:xfrm>
          <a:prstGeom prst="rect">
            <a:avLst/>
          </a:prstGeom>
          <a:solidFill>
            <a:srgbClr val="FFFFFF"/>
          </a:solidFill>
          <a:ln w="12700">
            <a:solidFill>
              <a:srgbClr val="8A8F96"/>
            </a:solidFill>
          </a:ln>
        </p:spPr>
        <p:txBody>
          <a:bodyPr wrap="none" lIns="0" tIns="0" rIns="0" bIns="0" anchor="ctr">
            <a:noAutofit/>
          </a:bodyPr>
          <a:lstStyle/>
          <a:p>
            <a:pPr algn="ctr">
              <a:lnSpc>
                <a:spcPct val="90000"/>
              </a:lnSpc>
            </a:pPr>
            <a:r>
              <a:rPr lang="it-IT" sz="1100" b="1" dirty="0">
                <a:solidFill>
                  <a:srgbClr val="1B1D20"/>
                </a:solidFill>
                <a:latin typeface="IBM Plex Sans"/>
              </a:rPr>
              <a:t>pc2</a:t>
            </a:r>
          </a:p>
          <a:p>
            <a:pPr algn="ctr">
              <a:lnSpc>
                <a:spcPct val="90000"/>
              </a:lnSpc>
            </a:pPr>
            <a:r>
              <a:rPr lang="it-IT" sz="900" dirty="0">
                <a:solidFill>
                  <a:srgbClr val="5B5F66"/>
                </a:solidFill>
                <a:latin typeface="JetBrains Mono"/>
              </a:rPr>
              <a:t>10.0.1.11</a:t>
            </a:r>
          </a:p>
        </p:txBody>
      </p:sp>
      <p:sp>
        <p:nvSpPr>
          <p:cNvPr id="326" name="sw2"/>
          <p:cNvSpPr/>
          <p:nvPr/>
        </p:nvSpPr>
        <p:spPr>
          <a:xfrm>
            <a:off x="6959600" y="4724400"/>
            <a:ext cx="812800" cy="406400"/>
          </a:xfrm>
          <a:prstGeom prst="rect">
            <a:avLst/>
          </a:prstGeom>
          <a:solidFill>
            <a:srgbClr val="F7F6F2"/>
          </a:solidFill>
          <a:ln w="12700">
            <a:solidFill>
              <a:srgbClr val="1B1D20"/>
            </a:solidFill>
          </a:ln>
        </p:spPr>
        <p:txBody>
          <a:bodyPr wrap="none" lIns="0" tIns="0" rIns="0" bIns="0" anchor="ctr">
            <a:noAutofit/>
          </a:bodyPr>
          <a:lstStyle/>
          <a:p>
            <a:pPr algn="ctr">
              <a:lnSpc>
                <a:spcPct val="90000"/>
              </a:lnSpc>
            </a:pPr>
            <a:r>
              <a:rPr lang="it-IT" sz="1400" b="1" dirty="0">
                <a:solidFill>
                  <a:srgbClr val="1B1D20"/>
                </a:solidFill>
                <a:latin typeface="IBM Plex Sans"/>
              </a:rPr>
              <a:t>sw2</a:t>
            </a:r>
          </a:p>
          <a:p>
            <a:pPr algn="ctr">
              <a:lnSpc>
                <a:spcPct val="90000"/>
              </a:lnSpc>
            </a:pPr>
            <a:r>
              <a:rPr lang="it-IT" sz="900" dirty="0">
                <a:solidFill>
                  <a:srgbClr val="5B5F66"/>
                </a:solidFill>
                <a:latin typeface="JetBrains Mono"/>
              </a:rPr>
              <a:t>switch</a:t>
            </a:r>
          </a:p>
        </p:txBody>
      </p:sp>
      <p:sp>
        <p:nvSpPr>
          <p:cNvPr id="327" name="pc3"/>
          <p:cNvSpPr/>
          <p:nvPr/>
        </p:nvSpPr>
        <p:spPr>
          <a:xfrm>
            <a:off x="6604000" y="5435600"/>
            <a:ext cx="711200" cy="406400"/>
          </a:xfrm>
          <a:prstGeom prst="rect">
            <a:avLst/>
          </a:prstGeom>
          <a:solidFill>
            <a:srgbClr val="FFFFFF"/>
          </a:solidFill>
          <a:ln w="12700">
            <a:solidFill>
              <a:srgbClr val="8A8F96"/>
            </a:solidFill>
          </a:ln>
        </p:spPr>
        <p:txBody>
          <a:bodyPr wrap="none" lIns="0" tIns="0" rIns="0" bIns="0" anchor="ctr">
            <a:noAutofit/>
          </a:bodyPr>
          <a:lstStyle/>
          <a:p>
            <a:pPr algn="ctr">
              <a:lnSpc>
                <a:spcPct val="90000"/>
              </a:lnSpc>
            </a:pPr>
            <a:r>
              <a:rPr lang="it-IT" sz="1100" b="1" dirty="0">
                <a:solidFill>
                  <a:srgbClr val="1B1D20"/>
                </a:solidFill>
                <a:latin typeface="IBM Plex Sans"/>
              </a:rPr>
              <a:t>pc3</a:t>
            </a:r>
          </a:p>
          <a:p>
            <a:pPr algn="ctr">
              <a:lnSpc>
                <a:spcPct val="90000"/>
              </a:lnSpc>
            </a:pPr>
            <a:r>
              <a:rPr lang="it-IT" sz="900" dirty="0">
                <a:solidFill>
                  <a:srgbClr val="5B5F66"/>
                </a:solidFill>
                <a:latin typeface="JetBrains Mono"/>
              </a:rPr>
              <a:t>10.0.4.10</a:t>
            </a:r>
          </a:p>
        </p:txBody>
      </p:sp>
      <p:sp>
        <p:nvSpPr>
          <p:cNvPr id="328" name="pc4"/>
          <p:cNvSpPr/>
          <p:nvPr/>
        </p:nvSpPr>
        <p:spPr>
          <a:xfrm>
            <a:off x="7416800" y="5435600"/>
            <a:ext cx="711200" cy="406400"/>
          </a:xfrm>
          <a:prstGeom prst="rect">
            <a:avLst/>
          </a:prstGeom>
          <a:solidFill>
            <a:srgbClr val="FFFFFF"/>
          </a:solidFill>
          <a:ln w="12700">
            <a:solidFill>
              <a:srgbClr val="8A8F96"/>
            </a:solidFill>
          </a:ln>
        </p:spPr>
        <p:txBody>
          <a:bodyPr wrap="none" lIns="0" tIns="0" rIns="0" bIns="0" anchor="ctr">
            <a:noAutofit/>
          </a:bodyPr>
          <a:lstStyle/>
          <a:p>
            <a:pPr algn="ctr">
              <a:lnSpc>
                <a:spcPct val="90000"/>
              </a:lnSpc>
            </a:pPr>
            <a:r>
              <a:rPr lang="it-IT" sz="1100" b="1" dirty="0">
                <a:solidFill>
                  <a:srgbClr val="1B1D20"/>
                </a:solidFill>
                <a:latin typeface="IBM Plex Sans"/>
              </a:rPr>
              <a:t>pc4</a:t>
            </a:r>
          </a:p>
          <a:p>
            <a:pPr algn="ctr">
              <a:lnSpc>
                <a:spcPct val="90000"/>
              </a:lnSpc>
            </a:pPr>
            <a:r>
              <a:rPr lang="it-IT" sz="900" dirty="0">
                <a:solidFill>
                  <a:srgbClr val="5B5F66"/>
                </a:solidFill>
                <a:latin typeface="JetBrains Mono"/>
              </a:rPr>
              <a:t>10.0.4.11</a:t>
            </a:r>
          </a:p>
        </p:txBody>
      </p:sp>
      <p:sp>
        <p:nvSpPr>
          <p:cNvPr id="329" name="label eth0 .1"/>
          <p:cNvSpPr txBox="1"/>
          <p:nvPr/>
        </p:nvSpPr>
        <p:spPr>
          <a:xfrm>
            <a:off x="6398260" y="2286000"/>
            <a:ext cx="523240" cy="152400"/>
          </a:xfrm>
          <a:prstGeom prst="rect">
            <a:avLst/>
          </a:prstGeom>
          <a:noFill/>
        </p:spPr>
        <p:txBody>
          <a:bodyPr wrap="none" lIns="0" tIns="0" rIns="0" bIns="0" anchor="ctr">
            <a:noAutofit/>
          </a:bodyPr>
          <a:lstStyle/>
          <a:p>
            <a:pPr algn="r"/>
            <a:r>
              <a:rPr lang="it-IT" sz="900" dirty="0">
                <a:solidFill>
                  <a:srgbClr val="1B1D20"/>
                </a:solidFill>
                <a:latin typeface="JetBrains Mono"/>
              </a:rPr>
              <a:t>eth0 .1</a:t>
            </a:r>
          </a:p>
        </p:txBody>
      </p:sp>
      <p:sp>
        <p:nvSpPr>
          <p:cNvPr id="330" name="label 10.0.1.0/24"/>
          <p:cNvSpPr txBox="1"/>
          <p:nvPr/>
        </p:nvSpPr>
        <p:spPr>
          <a:xfrm>
            <a:off x="5971540" y="2501900"/>
            <a:ext cx="807720" cy="152400"/>
          </a:xfrm>
          <a:prstGeom prst="rect">
            <a:avLst/>
          </a:prstGeom>
          <a:noFill/>
        </p:spPr>
        <p:txBody>
          <a:bodyPr wrap="none" lIns="0" tIns="0" rIns="0" bIns="0" anchor="ctr">
            <a:noAutofit/>
          </a:bodyPr>
          <a:lstStyle/>
          <a:p>
            <a:pPr algn="ctr"/>
            <a:r>
              <a:rPr lang="it-IT" sz="900" dirty="0">
                <a:solidFill>
                  <a:srgbClr val="5B5F66"/>
                </a:solidFill>
                <a:latin typeface="JetBrains Mono"/>
              </a:rPr>
              <a:t>10.0.1.0/24</a:t>
            </a:r>
          </a:p>
        </p:txBody>
      </p:sp>
      <p:sp>
        <p:nvSpPr>
          <p:cNvPr id="331" name="label eth1 .1"/>
          <p:cNvSpPr txBox="1"/>
          <p:nvPr/>
        </p:nvSpPr>
        <p:spPr>
          <a:xfrm>
            <a:off x="7810500" y="22860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eth1 .1</a:t>
            </a:r>
          </a:p>
        </p:txBody>
      </p:sp>
      <p:sp>
        <p:nvSpPr>
          <p:cNvPr id="332" name="label eth0 .2"/>
          <p:cNvSpPr txBox="1"/>
          <p:nvPr/>
        </p:nvSpPr>
        <p:spPr>
          <a:xfrm>
            <a:off x="8430260" y="2286000"/>
            <a:ext cx="523240" cy="152400"/>
          </a:xfrm>
          <a:prstGeom prst="rect">
            <a:avLst/>
          </a:prstGeom>
          <a:noFill/>
        </p:spPr>
        <p:txBody>
          <a:bodyPr wrap="none" lIns="0" tIns="0" rIns="0" bIns="0" anchor="ctr">
            <a:noAutofit/>
          </a:bodyPr>
          <a:lstStyle/>
          <a:p>
            <a:pPr algn="r"/>
            <a:r>
              <a:rPr lang="it-IT" sz="900" dirty="0">
                <a:solidFill>
                  <a:srgbClr val="1B1D20"/>
                </a:solidFill>
                <a:latin typeface="JetBrains Mono"/>
              </a:rPr>
              <a:t>eth0 .2</a:t>
            </a:r>
          </a:p>
        </p:txBody>
      </p:sp>
      <p:sp>
        <p:nvSpPr>
          <p:cNvPr id="333" name="label 10.0.12.0/30"/>
          <p:cNvSpPr txBox="1"/>
          <p:nvPr/>
        </p:nvSpPr>
        <p:spPr>
          <a:xfrm>
            <a:off x="7942580" y="2501900"/>
            <a:ext cx="878840" cy="152400"/>
          </a:xfrm>
          <a:prstGeom prst="rect">
            <a:avLst/>
          </a:prstGeom>
          <a:noFill/>
        </p:spPr>
        <p:txBody>
          <a:bodyPr wrap="none" lIns="0" tIns="0" rIns="0" bIns="0" anchor="ctr">
            <a:noAutofit/>
          </a:bodyPr>
          <a:lstStyle/>
          <a:p>
            <a:pPr algn="ctr"/>
            <a:r>
              <a:rPr lang="it-IT" sz="900" dirty="0">
                <a:solidFill>
                  <a:srgbClr val="5B5F66"/>
                </a:solidFill>
                <a:latin typeface="JetBrains Mono"/>
              </a:rPr>
              <a:t>10.0.12.0/30</a:t>
            </a:r>
          </a:p>
        </p:txBody>
      </p:sp>
      <p:sp>
        <p:nvSpPr>
          <p:cNvPr id="334" name="label eth2 .1"/>
          <p:cNvSpPr txBox="1"/>
          <p:nvPr/>
        </p:nvSpPr>
        <p:spPr>
          <a:xfrm>
            <a:off x="7416800" y="27178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eth2 .1</a:t>
            </a:r>
          </a:p>
        </p:txBody>
      </p:sp>
      <p:sp>
        <p:nvSpPr>
          <p:cNvPr id="335" name="label eth0 .2"/>
          <p:cNvSpPr txBox="1"/>
          <p:nvPr/>
        </p:nvSpPr>
        <p:spPr>
          <a:xfrm>
            <a:off x="7416800" y="38354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eth0 .2</a:t>
            </a:r>
          </a:p>
        </p:txBody>
      </p:sp>
      <p:sp>
        <p:nvSpPr>
          <p:cNvPr id="336" name="label 10.0.14.0/30"/>
          <p:cNvSpPr txBox="1"/>
          <p:nvPr/>
        </p:nvSpPr>
        <p:spPr>
          <a:xfrm>
            <a:off x="6436360" y="3276600"/>
            <a:ext cx="878840" cy="152400"/>
          </a:xfrm>
          <a:prstGeom prst="rect">
            <a:avLst/>
          </a:prstGeom>
          <a:noFill/>
        </p:spPr>
        <p:txBody>
          <a:bodyPr wrap="none" lIns="0" tIns="0" rIns="0" bIns="0" anchor="ctr">
            <a:noAutofit/>
          </a:bodyPr>
          <a:lstStyle/>
          <a:p>
            <a:pPr algn="r"/>
            <a:r>
              <a:rPr lang="it-IT" sz="900" dirty="0">
                <a:solidFill>
                  <a:srgbClr val="5B5F66"/>
                </a:solidFill>
                <a:latin typeface="JetBrains Mono"/>
              </a:rPr>
              <a:t>10.0.14.0/30</a:t>
            </a:r>
          </a:p>
        </p:txBody>
      </p:sp>
      <p:sp>
        <p:nvSpPr>
          <p:cNvPr id="337" name="label eth1 .1"/>
          <p:cNvSpPr txBox="1"/>
          <p:nvPr/>
        </p:nvSpPr>
        <p:spPr>
          <a:xfrm>
            <a:off x="9448800" y="27178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eth1 .1</a:t>
            </a:r>
          </a:p>
        </p:txBody>
      </p:sp>
      <p:sp>
        <p:nvSpPr>
          <p:cNvPr id="338" name="label eth0 .2"/>
          <p:cNvSpPr txBox="1"/>
          <p:nvPr/>
        </p:nvSpPr>
        <p:spPr>
          <a:xfrm>
            <a:off x="9448800" y="38354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eth0 .2</a:t>
            </a:r>
          </a:p>
        </p:txBody>
      </p:sp>
      <p:sp>
        <p:nvSpPr>
          <p:cNvPr id="339" name="label 10.0.23.0/30"/>
          <p:cNvSpPr txBox="1"/>
          <p:nvPr/>
        </p:nvSpPr>
        <p:spPr>
          <a:xfrm>
            <a:off x="8468360" y="3276600"/>
            <a:ext cx="878840" cy="152400"/>
          </a:xfrm>
          <a:prstGeom prst="rect">
            <a:avLst/>
          </a:prstGeom>
          <a:noFill/>
        </p:spPr>
        <p:txBody>
          <a:bodyPr wrap="none" lIns="0" tIns="0" rIns="0" bIns="0" anchor="ctr">
            <a:noAutofit/>
          </a:bodyPr>
          <a:lstStyle/>
          <a:p>
            <a:pPr algn="r"/>
            <a:r>
              <a:rPr lang="it-IT" sz="900" dirty="0">
                <a:solidFill>
                  <a:srgbClr val="5B5F66"/>
                </a:solidFill>
                <a:latin typeface="JetBrains Mono"/>
              </a:rPr>
              <a:t>10.0.23.0/30</a:t>
            </a:r>
          </a:p>
        </p:txBody>
      </p:sp>
      <p:sp>
        <p:nvSpPr>
          <p:cNvPr id="340" name="label eth1 .1"/>
          <p:cNvSpPr txBox="1"/>
          <p:nvPr/>
        </p:nvSpPr>
        <p:spPr>
          <a:xfrm>
            <a:off x="7810500" y="40640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eth1 .1</a:t>
            </a:r>
          </a:p>
        </p:txBody>
      </p:sp>
      <p:sp>
        <p:nvSpPr>
          <p:cNvPr id="341" name="label eth1 .2"/>
          <p:cNvSpPr txBox="1"/>
          <p:nvPr/>
        </p:nvSpPr>
        <p:spPr>
          <a:xfrm>
            <a:off x="8430260" y="4064000"/>
            <a:ext cx="523240" cy="152400"/>
          </a:xfrm>
          <a:prstGeom prst="rect">
            <a:avLst/>
          </a:prstGeom>
          <a:noFill/>
        </p:spPr>
        <p:txBody>
          <a:bodyPr wrap="none" lIns="0" tIns="0" rIns="0" bIns="0" anchor="ctr">
            <a:noAutofit/>
          </a:bodyPr>
          <a:lstStyle/>
          <a:p>
            <a:pPr algn="r"/>
            <a:r>
              <a:rPr lang="it-IT" sz="900" dirty="0">
                <a:solidFill>
                  <a:srgbClr val="1B1D20"/>
                </a:solidFill>
                <a:latin typeface="JetBrains Mono"/>
              </a:rPr>
              <a:t>eth1 .2</a:t>
            </a:r>
          </a:p>
        </p:txBody>
      </p:sp>
      <p:sp>
        <p:nvSpPr>
          <p:cNvPr id="342" name="label 10.0.34.0/30"/>
          <p:cNvSpPr txBox="1"/>
          <p:nvPr/>
        </p:nvSpPr>
        <p:spPr>
          <a:xfrm>
            <a:off x="7942580" y="4279900"/>
            <a:ext cx="878840" cy="152400"/>
          </a:xfrm>
          <a:prstGeom prst="rect">
            <a:avLst/>
          </a:prstGeom>
          <a:noFill/>
        </p:spPr>
        <p:txBody>
          <a:bodyPr wrap="none" lIns="0" tIns="0" rIns="0" bIns="0" anchor="ctr">
            <a:noAutofit/>
          </a:bodyPr>
          <a:lstStyle/>
          <a:p>
            <a:pPr algn="ctr"/>
            <a:r>
              <a:rPr lang="it-IT" sz="900" dirty="0">
                <a:solidFill>
                  <a:srgbClr val="5B5F66"/>
                </a:solidFill>
                <a:latin typeface="JetBrains Mono"/>
              </a:rPr>
              <a:t>10.0.34.0/30</a:t>
            </a:r>
          </a:p>
        </p:txBody>
      </p:sp>
      <p:sp>
        <p:nvSpPr>
          <p:cNvPr id="343" name="label eth2 .1"/>
          <p:cNvSpPr txBox="1"/>
          <p:nvPr/>
        </p:nvSpPr>
        <p:spPr>
          <a:xfrm>
            <a:off x="9842500" y="22860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eth2 .1</a:t>
            </a:r>
          </a:p>
        </p:txBody>
      </p:sp>
      <p:sp>
        <p:nvSpPr>
          <p:cNvPr id="344" name="label 192.0.2.0/30"/>
          <p:cNvSpPr txBox="1"/>
          <p:nvPr/>
        </p:nvSpPr>
        <p:spPr>
          <a:xfrm>
            <a:off x="10050780" y="2501900"/>
            <a:ext cx="878840" cy="152400"/>
          </a:xfrm>
          <a:prstGeom prst="rect">
            <a:avLst/>
          </a:prstGeom>
          <a:noFill/>
        </p:spPr>
        <p:txBody>
          <a:bodyPr wrap="none" lIns="0" tIns="0" rIns="0" bIns="0" anchor="ctr">
            <a:noAutofit/>
          </a:bodyPr>
          <a:lstStyle/>
          <a:p>
            <a:pPr algn="ctr"/>
            <a:r>
              <a:rPr lang="it-IT" sz="900" dirty="0">
                <a:solidFill>
                  <a:srgbClr val="5B5F66"/>
                </a:solidFill>
                <a:latin typeface="JetBrains Mono"/>
              </a:rPr>
              <a:t>192.0.2.0/30</a:t>
            </a:r>
          </a:p>
        </p:txBody>
      </p:sp>
      <p:sp>
        <p:nvSpPr>
          <p:cNvPr id="345" name="label eth0 .2"/>
          <p:cNvSpPr txBox="1"/>
          <p:nvPr/>
        </p:nvSpPr>
        <p:spPr>
          <a:xfrm>
            <a:off x="10601960" y="2819400"/>
            <a:ext cx="523240" cy="152400"/>
          </a:xfrm>
          <a:prstGeom prst="rect">
            <a:avLst/>
          </a:prstGeom>
          <a:noFill/>
        </p:spPr>
        <p:txBody>
          <a:bodyPr wrap="none" lIns="0" tIns="0" rIns="0" bIns="0" anchor="ctr">
            <a:noAutofit/>
          </a:bodyPr>
          <a:lstStyle/>
          <a:p>
            <a:pPr algn="r"/>
            <a:r>
              <a:rPr lang="it-IT" sz="900" dirty="0">
                <a:solidFill>
                  <a:srgbClr val="1B1D20"/>
                </a:solidFill>
                <a:latin typeface="JetBrains Mono"/>
              </a:rPr>
              <a:t>eth0 .2</a:t>
            </a:r>
          </a:p>
        </p:txBody>
      </p:sp>
      <p:sp>
        <p:nvSpPr>
          <p:cNvPr id="346" name="label eth2 .1"/>
          <p:cNvSpPr txBox="1"/>
          <p:nvPr/>
        </p:nvSpPr>
        <p:spPr>
          <a:xfrm>
            <a:off x="9842500" y="42672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eth2 .1</a:t>
            </a:r>
          </a:p>
        </p:txBody>
      </p:sp>
      <p:sp>
        <p:nvSpPr>
          <p:cNvPr id="347" name="label 192.0.2.4/30"/>
          <p:cNvSpPr txBox="1"/>
          <p:nvPr/>
        </p:nvSpPr>
        <p:spPr>
          <a:xfrm>
            <a:off x="10050780" y="4051300"/>
            <a:ext cx="878840" cy="152400"/>
          </a:xfrm>
          <a:prstGeom prst="rect">
            <a:avLst/>
          </a:prstGeom>
          <a:noFill/>
        </p:spPr>
        <p:txBody>
          <a:bodyPr wrap="none" lIns="0" tIns="0" rIns="0" bIns="0" anchor="ctr">
            <a:noAutofit/>
          </a:bodyPr>
          <a:lstStyle/>
          <a:p>
            <a:pPr algn="ctr"/>
            <a:r>
              <a:rPr lang="it-IT" sz="900" dirty="0">
                <a:solidFill>
                  <a:srgbClr val="5B5F66"/>
                </a:solidFill>
                <a:latin typeface="JetBrains Mono"/>
              </a:rPr>
              <a:t>192.0.2.4/30</a:t>
            </a:r>
          </a:p>
        </p:txBody>
      </p:sp>
      <p:sp>
        <p:nvSpPr>
          <p:cNvPr id="348" name="label eth1 .2"/>
          <p:cNvSpPr txBox="1"/>
          <p:nvPr/>
        </p:nvSpPr>
        <p:spPr>
          <a:xfrm>
            <a:off x="10601960" y="3505200"/>
            <a:ext cx="523240" cy="152400"/>
          </a:xfrm>
          <a:prstGeom prst="rect">
            <a:avLst/>
          </a:prstGeom>
          <a:noFill/>
        </p:spPr>
        <p:txBody>
          <a:bodyPr wrap="none" lIns="0" tIns="0" rIns="0" bIns="0" anchor="ctr">
            <a:noAutofit/>
          </a:bodyPr>
          <a:lstStyle/>
          <a:p>
            <a:pPr algn="r"/>
            <a:r>
              <a:rPr lang="it-IT" sz="900" dirty="0">
                <a:solidFill>
                  <a:srgbClr val="1B1D20"/>
                </a:solidFill>
                <a:latin typeface="JetBrains Mono"/>
              </a:rPr>
              <a:t>eth1 .2</a:t>
            </a:r>
          </a:p>
        </p:txBody>
      </p:sp>
      <p:sp>
        <p:nvSpPr>
          <p:cNvPr id="349" name="label eth2 .1"/>
          <p:cNvSpPr txBox="1"/>
          <p:nvPr/>
        </p:nvSpPr>
        <p:spPr>
          <a:xfrm>
            <a:off x="7416800" y="4521200"/>
            <a:ext cx="523240" cy="152400"/>
          </a:xfrm>
          <a:prstGeom prst="rect">
            <a:avLst/>
          </a:prstGeom>
          <a:noFill/>
        </p:spPr>
        <p:txBody>
          <a:bodyPr wrap="none" lIns="0" tIns="0" rIns="0" bIns="0" anchor="ctr">
            <a:noAutofit/>
          </a:bodyPr>
          <a:lstStyle/>
          <a:p>
            <a:pPr algn="l"/>
            <a:r>
              <a:rPr lang="it-IT" sz="900" dirty="0">
                <a:solidFill>
                  <a:srgbClr val="1B1D20"/>
                </a:solidFill>
                <a:latin typeface="JetBrains Mono"/>
              </a:rPr>
              <a:t>eth2 .1</a:t>
            </a:r>
          </a:p>
        </p:txBody>
      </p:sp>
      <p:sp>
        <p:nvSpPr>
          <p:cNvPr id="350" name="label 10.0.4.0/24"/>
          <p:cNvSpPr txBox="1"/>
          <p:nvPr/>
        </p:nvSpPr>
        <p:spPr>
          <a:xfrm>
            <a:off x="7848600" y="4953000"/>
            <a:ext cx="807720" cy="152400"/>
          </a:xfrm>
          <a:prstGeom prst="rect">
            <a:avLst/>
          </a:prstGeom>
          <a:noFill/>
        </p:spPr>
        <p:txBody>
          <a:bodyPr wrap="none" lIns="0" tIns="0" rIns="0" bIns="0" anchor="ctr">
            <a:noAutofit/>
          </a:bodyPr>
          <a:lstStyle/>
          <a:p>
            <a:pPr algn="l"/>
            <a:r>
              <a:rPr lang="it-IT" sz="900" dirty="0">
                <a:solidFill>
                  <a:srgbClr val="5B5F66"/>
                </a:solidFill>
                <a:latin typeface="JetBrains Mono"/>
              </a:rPr>
              <a:t>10.0.4.0/24</a:t>
            </a:r>
          </a:p>
        </p:txBody>
      </p:sp>
      <p:sp>
        <p:nvSpPr>
          <p:cNvPr id="351" name="label OSPF"/>
          <p:cNvSpPr txBox="1"/>
          <p:nvPr/>
        </p:nvSpPr>
        <p:spPr>
          <a:xfrm>
            <a:off x="7744460" y="3276600"/>
            <a:ext cx="309880" cy="152400"/>
          </a:xfrm>
          <a:prstGeom prst="rect">
            <a:avLst/>
          </a:prstGeom>
          <a:noFill/>
        </p:spPr>
        <p:txBody>
          <a:bodyPr wrap="none" lIns="0" tIns="0" rIns="0" bIns="0" anchor="ctr">
            <a:noAutofit/>
          </a:bodyPr>
          <a:lstStyle/>
          <a:p>
            <a:pPr algn="ctr"/>
            <a:r>
              <a:rPr lang="it-IT" sz="900" b="1" dirty="0">
                <a:solidFill>
                  <a:srgbClr val="2B6CA3"/>
                </a:solidFill>
                <a:latin typeface="JetBrains Mono"/>
              </a:rPr>
              <a:t>OSPF</a:t>
            </a:r>
          </a:p>
        </p:txBody>
      </p:sp>
      <p:sp>
        <p:nvSpPr>
          <p:cNvPr id="352" name="label BGP"/>
          <p:cNvSpPr txBox="1"/>
          <p:nvPr/>
        </p:nvSpPr>
        <p:spPr>
          <a:xfrm>
            <a:off x="10454640" y="3162300"/>
            <a:ext cx="238760" cy="152400"/>
          </a:xfrm>
          <a:prstGeom prst="rect">
            <a:avLst/>
          </a:prstGeom>
          <a:noFill/>
        </p:spPr>
        <p:txBody>
          <a:bodyPr wrap="none" lIns="0" tIns="0" rIns="0" bIns="0" anchor="ctr">
            <a:noAutofit/>
          </a:bodyPr>
          <a:lstStyle/>
          <a:p>
            <a:pPr algn="r"/>
            <a:r>
              <a:rPr lang="it-IT" sz="900" b="1" dirty="0">
                <a:solidFill>
                  <a:srgbClr val="B4502E"/>
                </a:solidFill>
                <a:latin typeface="JetBrains Mono"/>
              </a:rPr>
              <a:t>BGP</a:t>
            </a:r>
          </a:p>
        </p:txBody>
      </p:sp>
      <p:sp>
        <p:nvSpPr>
          <p:cNvPr id="353" name="label VLAN 10"/>
          <p:cNvSpPr txBox="1"/>
          <p:nvPr/>
        </p:nvSpPr>
        <p:spPr>
          <a:xfrm>
            <a:off x="5435600" y="2730500"/>
            <a:ext cx="523240" cy="152400"/>
          </a:xfrm>
          <a:prstGeom prst="rect">
            <a:avLst/>
          </a:prstGeom>
          <a:noFill/>
        </p:spPr>
        <p:txBody>
          <a:bodyPr wrap="none" lIns="0" tIns="0" rIns="0" bIns="0" anchor="ctr">
            <a:noAutofit/>
          </a:bodyPr>
          <a:lstStyle/>
          <a:p>
            <a:pPr algn="l"/>
            <a:r>
              <a:rPr lang="it-IT" sz="900" b="1" dirty="0">
                <a:solidFill>
                  <a:srgbClr val="4A7F1C"/>
                </a:solidFill>
                <a:latin typeface="JetBrains Mono"/>
              </a:rPr>
              <a:t>VLAN 10</a:t>
            </a:r>
          </a:p>
        </p:txBody>
      </p:sp>
      <p:sp>
        <p:nvSpPr>
          <p:cNvPr id="354" name="label static"/>
          <p:cNvSpPr txBox="1"/>
          <p:nvPr/>
        </p:nvSpPr>
        <p:spPr>
          <a:xfrm>
            <a:off x="7848600" y="4775200"/>
            <a:ext cx="452120" cy="152400"/>
          </a:xfrm>
          <a:prstGeom prst="rect">
            <a:avLst/>
          </a:prstGeom>
          <a:noFill/>
        </p:spPr>
        <p:txBody>
          <a:bodyPr wrap="none" lIns="0" tIns="0" rIns="0" bIns="0" anchor="ctr">
            <a:noAutofit/>
          </a:bodyPr>
          <a:lstStyle/>
          <a:p>
            <a:pPr algn="l"/>
            <a:r>
              <a:rPr lang="it-IT" sz="900" b="1" dirty="0">
                <a:solidFill>
                  <a:srgbClr val="1B1D20"/>
                </a:solidFill>
                <a:latin typeface="JetBrains Mono"/>
              </a:rPr>
              <a:t>static</a:t>
            </a:r>
          </a:p>
        </p:txBody>
      </p:sp>
    </p:spTree>
    <p:extLst>
      <p:ext uri="{BB962C8B-B14F-4D97-AF65-F5344CB8AC3E}">
        <p14:creationId xmlns:p14="http://schemas.microsoft.com/office/powerpoint/2010/main" val="2738306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Testare in produzione non è un’opzione</a:t>
            </a:r>
            <a:endParaRPr lang="it-IT" sz="4000" noProof="0" dirty="0"/>
          </a:p>
        </p:txBody>
      </p:sp>
      <p:sp>
        <p:nvSpPr>
          <p:cNvPr id="5" name="Text 3"/>
          <p:cNvSpPr/>
          <p:nvPr/>
        </p:nvSpPr>
        <p:spPr>
          <a:xfrm>
            <a:off x="812800" y="2049145"/>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2B6CA3"/>
                </a:solidFill>
                <a:latin typeface="JetBrains Mono" pitchFamily="49" charset="0"/>
                <a:ea typeface="JetBrains Mono" pitchFamily="49" charset="-122"/>
                <a:cs typeface="JetBrains Mono" pitchFamily="49" charset="-120"/>
              </a:rPr>
              <a:t>01</a:t>
            </a:r>
            <a:endParaRPr lang="it-IT" sz="1600" noProof="0" dirty="0"/>
          </a:p>
        </p:txBody>
      </p:sp>
      <p:sp>
        <p:nvSpPr>
          <p:cNvPr id="6" name="Text 4"/>
          <p:cNvSpPr/>
          <p:nvPr/>
        </p:nvSpPr>
        <p:spPr>
          <a:xfrm>
            <a:off x="1473200" y="1991361"/>
            <a:ext cx="10203180" cy="736600"/>
          </a:xfrm>
          <a:prstGeom prst="rect">
            <a:avLst/>
          </a:prstGeom>
          <a:noFill/>
          <a:ln/>
        </p:spPr>
        <p:txBody>
          <a:bodyPr wrap="square" lIns="0" tIns="0" rIns="0" bIns="0" rtlCol="0" anchor="t">
            <a:normAutofit/>
          </a:bodyPr>
          <a:lstStyle/>
          <a:p>
            <a:pPr marL="0" indent="0" algn="l">
              <a:lnSpc>
                <a:spcPts val="2800"/>
              </a:lnSpc>
              <a:buNone/>
            </a:pPr>
            <a:r>
              <a:rPr lang="it-IT" sz="2000" b="1" noProof="0" dirty="0">
                <a:solidFill>
                  <a:srgbClr val="1B1D20"/>
                </a:solidFill>
                <a:latin typeface="IBM Plex Sans" pitchFamily="34" charset="0"/>
                <a:ea typeface="IBM Plex Sans" pitchFamily="34" charset="-122"/>
                <a:cs typeface="IBM Plex Sans" pitchFamily="34" charset="-120"/>
              </a:rPr>
              <a:t>Rischio operativo.</a:t>
            </a:r>
            <a:r>
              <a:rPr lang="it-IT" sz="2000" noProof="0" dirty="0">
                <a:solidFill>
                  <a:srgbClr val="1B1D20"/>
                </a:solidFill>
                <a:latin typeface="IBM Plex Sans" pitchFamily="34" charset="0"/>
                <a:ea typeface="IBM Plex Sans" pitchFamily="34" charset="-122"/>
                <a:cs typeface="IBM Plex Sans" pitchFamily="34" charset="-120"/>
              </a:rPr>
              <a:t> Effettuare test sulla rete di produzione potrebbe impattare sui servizi offerti agli utenti e richiede un coordinamento preciso tra i team. </a:t>
            </a:r>
            <a:endParaRPr lang="it-IT" sz="2000" noProof="0" dirty="0"/>
          </a:p>
        </p:txBody>
      </p:sp>
      <p:sp>
        <p:nvSpPr>
          <p:cNvPr id="7" name="Text 5"/>
          <p:cNvSpPr/>
          <p:nvPr/>
        </p:nvSpPr>
        <p:spPr>
          <a:xfrm>
            <a:off x="812800" y="2988945"/>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2B6CA3"/>
                </a:solidFill>
                <a:latin typeface="JetBrains Mono" pitchFamily="49" charset="0"/>
                <a:ea typeface="JetBrains Mono" pitchFamily="49" charset="-122"/>
                <a:cs typeface="JetBrains Mono" pitchFamily="49" charset="-120"/>
              </a:rPr>
              <a:t>02</a:t>
            </a:r>
            <a:endParaRPr lang="it-IT" sz="1600" noProof="0" dirty="0"/>
          </a:p>
        </p:txBody>
      </p:sp>
      <p:sp>
        <p:nvSpPr>
          <p:cNvPr id="8" name="Text 6"/>
          <p:cNvSpPr/>
          <p:nvPr/>
        </p:nvSpPr>
        <p:spPr>
          <a:xfrm>
            <a:off x="1473200" y="2931161"/>
            <a:ext cx="10203180" cy="736600"/>
          </a:xfrm>
          <a:prstGeom prst="rect">
            <a:avLst/>
          </a:prstGeom>
          <a:noFill/>
          <a:ln/>
        </p:spPr>
        <p:txBody>
          <a:bodyPr wrap="square" lIns="0" tIns="0" rIns="0" bIns="0" rtlCol="0" anchor="t">
            <a:normAutofit/>
          </a:bodyPr>
          <a:lstStyle/>
          <a:p>
            <a:pPr marL="0" indent="0" algn="l">
              <a:lnSpc>
                <a:spcPts val="2800"/>
              </a:lnSpc>
              <a:buNone/>
            </a:pPr>
            <a:r>
              <a:rPr lang="it-IT" sz="2000" b="1" noProof="0" dirty="0">
                <a:solidFill>
                  <a:srgbClr val="1B1D20"/>
                </a:solidFill>
                <a:latin typeface="IBM Plex Sans" pitchFamily="34" charset="0"/>
                <a:ea typeface="IBM Plex Sans" pitchFamily="34" charset="-122"/>
                <a:cs typeface="IBM Plex Sans" pitchFamily="34" charset="-120"/>
              </a:rPr>
              <a:t>Costo del </a:t>
            </a:r>
            <a:r>
              <a:rPr lang="it-IT" sz="2000" b="1" noProof="0" dirty="0" err="1">
                <a:solidFill>
                  <a:srgbClr val="1B1D20"/>
                </a:solidFill>
                <a:latin typeface="IBM Plex Sans" pitchFamily="34" charset="0"/>
                <a:ea typeface="IBM Plex Sans" pitchFamily="34" charset="-122"/>
                <a:cs typeface="IBM Plex Sans" pitchFamily="34" charset="-120"/>
              </a:rPr>
              <a:t>testbed</a:t>
            </a:r>
            <a:r>
              <a:rPr lang="it-IT" sz="2000" b="1" noProof="0" dirty="0">
                <a:solidFill>
                  <a:srgbClr val="1B1D20"/>
                </a:solidFill>
                <a:latin typeface="IBM Plex Sans" pitchFamily="34" charset="0"/>
                <a:ea typeface="IBM Plex Sans" pitchFamily="34" charset="-122"/>
                <a:cs typeface="IBM Plex Sans" pitchFamily="34" charset="-120"/>
              </a:rPr>
              <a:t>.</a:t>
            </a:r>
            <a:r>
              <a:rPr lang="it-IT" sz="2000" noProof="0" dirty="0">
                <a:solidFill>
                  <a:srgbClr val="1B1D20"/>
                </a:solidFill>
                <a:latin typeface="IBM Plex Sans" pitchFamily="34" charset="0"/>
                <a:ea typeface="IBM Plex Sans" pitchFamily="34" charset="-122"/>
                <a:cs typeface="IBM Plex Sans" pitchFamily="34" charset="-120"/>
              </a:rPr>
              <a:t> Creare un gemello fisico dell’ambiente di produzione può essere molto costoso, anche per ambienti semplici. </a:t>
            </a:r>
            <a:endParaRPr lang="it-IT" sz="2000" noProof="0" dirty="0"/>
          </a:p>
        </p:txBody>
      </p:sp>
      <p:sp>
        <p:nvSpPr>
          <p:cNvPr id="9" name="Text 7"/>
          <p:cNvSpPr/>
          <p:nvPr/>
        </p:nvSpPr>
        <p:spPr>
          <a:xfrm>
            <a:off x="812800" y="3928745"/>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2B6CA3"/>
                </a:solidFill>
                <a:latin typeface="JetBrains Mono" pitchFamily="49" charset="0"/>
                <a:ea typeface="JetBrains Mono" pitchFamily="49" charset="-122"/>
                <a:cs typeface="JetBrains Mono" pitchFamily="49" charset="-120"/>
              </a:rPr>
              <a:t>03</a:t>
            </a:r>
            <a:endParaRPr lang="it-IT" sz="1600" noProof="0" dirty="0"/>
          </a:p>
        </p:txBody>
      </p:sp>
      <p:sp>
        <p:nvSpPr>
          <p:cNvPr id="10" name="Text 8"/>
          <p:cNvSpPr/>
          <p:nvPr/>
        </p:nvSpPr>
        <p:spPr>
          <a:xfrm>
            <a:off x="1473200" y="3870961"/>
            <a:ext cx="10203180" cy="736600"/>
          </a:xfrm>
          <a:prstGeom prst="rect">
            <a:avLst/>
          </a:prstGeom>
          <a:noFill/>
          <a:ln/>
        </p:spPr>
        <p:txBody>
          <a:bodyPr wrap="square" lIns="0" tIns="0" rIns="0" bIns="0" rtlCol="0" anchor="t">
            <a:normAutofit/>
          </a:bodyPr>
          <a:lstStyle/>
          <a:p>
            <a:pPr marL="0" indent="0" algn="l">
              <a:lnSpc>
                <a:spcPts val="2800"/>
              </a:lnSpc>
              <a:buNone/>
            </a:pPr>
            <a:r>
              <a:rPr lang="it-IT" sz="2000" b="1" noProof="0" dirty="0">
                <a:solidFill>
                  <a:srgbClr val="1B1D20"/>
                </a:solidFill>
                <a:latin typeface="IBM Plex Sans" pitchFamily="34" charset="0"/>
                <a:ea typeface="IBM Plex Sans" pitchFamily="34" charset="-122"/>
                <a:cs typeface="IBM Plex Sans" pitchFamily="34" charset="-120"/>
              </a:rPr>
              <a:t>Ripetibilità.</a:t>
            </a:r>
            <a:r>
              <a:rPr lang="it-IT" sz="2000" noProof="0" dirty="0">
                <a:solidFill>
                  <a:srgbClr val="1B1D20"/>
                </a:solidFill>
                <a:latin typeface="IBM Plex Sans" pitchFamily="34" charset="0"/>
                <a:ea typeface="IBM Plex Sans" pitchFamily="34" charset="-122"/>
                <a:cs typeface="IBM Plex Sans" pitchFamily="34" charset="-120"/>
              </a:rPr>
              <a:t> Il </a:t>
            </a:r>
            <a:r>
              <a:rPr lang="it-IT" sz="2000" noProof="0" dirty="0" err="1">
                <a:solidFill>
                  <a:srgbClr val="1B1D20"/>
                </a:solidFill>
                <a:latin typeface="IBM Plex Sans" pitchFamily="34" charset="0"/>
                <a:ea typeface="IBM Plex Sans" pitchFamily="34" charset="-122"/>
                <a:cs typeface="IBM Plex Sans" pitchFamily="34" charset="-120"/>
              </a:rPr>
              <a:t>testbed</a:t>
            </a:r>
            <a:r>
              <a:rPr lang="it-IT" sz="2000" noProof="0" dirty="0">
                <a:solidFill>
                  <a:srgbClr val="1B1D20"/>
                </a:solidFill>
                <a:latin typeface="IBM Plex Sans" pitchFamily="34" charset="0"/>
                <a:ea typeface="IBM Plex Sans" pitchFamily="34" charset="-122"/>
                <a:cs typeface="IBM Plex Sans" pitchFamily="34" charset="-120"/>
              </a:rPr>
              <a:t> dovrebbe essere flessibile e permettere di ripetere i test in maniera deterministica e riproducibile.</a:t>
            </a:r>
            <a:endParaRPr lang="it-IT" sz="2000" noProof="0" dirty="0"/>
          </a:p>
        </p:txBody>
      </p:sp>
    </p:spTree>
    <p:extLst>
      <p:ext uri="{BB962C8B-B14F-4D97-AF65-F5344CB8AC3E}">
        <p14:creationId xmlns:p14="http://schemas.microsoft.com/office/powerpoint/2010/main" val="396480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b="1" dirty="0"/>
              <a:t>Ambienti Virtuali</a:t>
            </a:r>
            <a:endParaRPr lang="it-IT" sz="4000" noProof="0" dirty="0"/>
          </a:p>
        </p:txBody>
      </p:sp>
      <p:sp>
        <p:nvSpPr>
          <p:cNvPr id="5" name="Text 3"/>
          <p:cNvSpPr/>
          <p:nvPr/>
        </p:nvSpPr>
        <p:spPr>
          <a:xfrm>
            <a:off x="812800" y="1940561"/>
            <a:ext cx="510813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simulazione</a:t>
            </a:r>
            <a:endParaRPr lang="it-IT" sz="1600" noProof="0" dirty="0"/>
          </a:p>
        </p:txBody>
      </p:sp>
      <p:sp>
        <p:nvSpPr>
          <p:cNvPr id="6" name="Text 4"/>
          <p:cNvSpPr/>
          <p:nvPr/>
        </p:nvSpPr>
        <p:spPr>
          <a:xfrm>
            <a:off x="812800" y="2291079"/>
            <a:ext cx="5108131" cy="405130"/>
          </a:xfrm>
          <a:prstGeom prst="rect">
            <a:avLst/>
          </a:prstGeom>
          <a:noFill/>
          <a:ln/>
        </p:spPr>
        <p:txBody>
          <a:bodyPr wrap="square" lIns="0" tIns="0" rIns="0" bIns="0" rtlCol="0" anchor="t">
            <a:normAutofit/>
          </a:bodyPr>
          <a:lstStyle/>
          <a:p>
            <a:pPr marL="0" indent="0" algn="l">
              <a:lnSpc>
                <a:spcPts val="3250"/>
              </a:lnSpc>
              <a:buNone/>
            </a:pPr>
            <a:r>
              <a:rPr lang="it-IT" sz="2600" b="1" noProof="0" dirty="0">
                <a:solidFill>
                  <a:srgbClr val="1B1D20"/>
                </a:solidFill>
                <a:latin typeface="IBM Plex Sans" pitchFamily="34" charset="0"/>
                <a:ea typeface="IBM Plex Sans" pitchFamily="34" charset="-122"/>
                <a:cs typeface="IBM Plex Sans" pitchFamily="34" charset="-120"/>
              </a:rPr>
              <a:t>Modella le prestazioni</a:t>
            </a:r>
            <a:endParaRPr lang="it-IT" sz="2600" noProof="0" dirty="0"/>
          </a:p>
        </p:txBody>
      </p:sp>
      <p:sp>
        <p:nvSpPr>
          <p:cNvPr id="7" name="Text 5"/>
          <p:cNvSpPr/>
          <p:nvPr/>
        </p:nvSpPr>
        <p:spPr>
          <a:xfrm>
            <a:off x="812800" y="2772411"/>
            <a:ext cx="5108131" cy="985520"/>
          </a:xfrm>
          <a:prstGeom prst="rect">
            <a:avLst/>
          </a:prstGeom>
          <a:noFill/>
          <a:ln/>
        </p:spPr>
        <p:txBody>
          <a:bodyPr wrap="square" lIns="0" tIns="0" rIns="0" bIns="0" rtlCol="0" anchor="t">
            <a:normAutofit/>
          </a:bodyPr>
          <a:lstStyle/>
          <a:p>
            <a:pPr marL="0" indent="0" algn="l">
              <a:lnSpc>
                <a:spcPts val="2520"/>
              </a:lnSpc>
              <a:buNone/>
            </a:pPr>
            <a:r>
              <a:rPr lang="it-IT" sz="1800" noProof="0" dirty="0">
                <a:solidFill>
                  <a:srgbClr val="5B5F66"/>
                </a:solidFill>
                <a:latin typeface="IBM Plex Sans" pitchFamily="34" charset="0"/>
                <a:ea typeface="IBM Plex Sans" pitchFamily="34" charset="-122"/>
                <a:cs typeface="IBM Plex Sans" pitchFamily="34" charset="-120"/>
              </a:rPr>
              <a:t>Latenza, perdita, code, throughput. Il comportamento dei nodi è un modello implementato nel simulatore.</a:t>
            </a:r>
            <a:endParaRPr lang="it-IT" sz="1800" noProof="0" dirty="0"/>
          </a:p>
        </p:txBody>
      </p:sp>
      <p:sp>
        <p:nvSpPr>
          <p:cNvPr id="9" name="Shape 7"/>
          <p:cNvSpPr/>
          <p:nvPr/>
        </p:nvSpPr>
        <p:spPr>
          <a:xfrm>
            <a:off x="6096000" y="1940561"/>
            <a:ext cx="0" cy="4152900"/>
          </a:xfrm>
          <a:prstGeom prst="line">
            <a:avLst/>
          </a:prstGeom>
          <a:noFill/>
          <a:ln w="38100">
            <a:solidFill>
              <a:srgbClr val="60A5E3"/>
            </a:solidFill>
            <a:prstDash val="solid"/>
          </a:ln>
        </p:spPr>
        <p:txBody>
          <a:bodyPr/>
          <a:lstStyle/>
          <a:p>
            <a:endParaRPr lang="it-IT" noProof="0" dirty="0"/>
          </a:p>
        </p:txBody>
      </p:sp>
      <p:sp>
        <p:nvSpPr>
          <p:cNvPr id="10" name="Text 8"/>
          <p:cNvSpPr/>
          <p:nvPr/>
        </p:nvSpPr>
        <p:spPr>
          <a:xfrm>
            <a:off x="6419850" y="1940561"/>
            <a:ext cx="510813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emulazione</a:t>
            </a:r>
            <a:endParaRPr lang="it-IT" sz="1600" noProof="0" dirty="0"/>
          </a:p>
        </p:txBody>
      </p:sp>
      <p:sp>
        <p:nvSpPr>
          <p:cNvPr id="11" name="Text 9"/>
          <p:cNvSpPr/>
          <p:nvPr/>
        </p:nvSpPr>
        <p:spPr>
          <a:xfrm>
            <a:off x="6419850" y="2291079"/>
            <a:ext cx="5108131" cy="405130"/>
          </a:xfrm>
          <a:prstGeom prst="rect">
            <a:avLst/>
          </a:prstGeom>
          <a:noFill/>
          <a:ln/>
        </p:spPr>
        <p:txBody>
          <a:bodyPr wrap="square" lIns="0" tIns="0" rIns="0" bIns="0" rtlCol="0" anchor="t">
            <a:normAutofit/>
          </a:bodyPr>
          <a:lstStyle/>
          <a:p>
            <a:pPr marL="0" indent="0" algn="l">
              <a:lnSpc>
                <a:spcPts val="3250"/>
              </a:lnSpc>
              <a:buNone/>
            </a:pPr>
            <a:r>
              <a:rPr lang="it-IT" sz="2600" b="1" noProof="0" dirty="0">
                <a:solidFill>
                  <a:srgbClr val="1B1D20"/>
                </a:solidFill>
                <a:latin typeface="IBM Plex Sans" pitchFamily="34" charset="0"/>
                <a:ea typeface="IBM Plex Sans" pitchFamily="34" charset="-122"/>
                <a:cs typeface="IBM Plex Sans" pitchFamily="34" charset="-120"/>
              </a:rPr>
              <a:t>Esegue il software reale</a:t>
            </a:r>
            <a:endParaRPr lang="it-IT" sz="2600" noProof="0" dirty="0"/>
          </a:p>
        </p:txBody>
      </p:sp>
      <p:sp>
        <p:nvSpPr>
          <p:cNvPr id="12" name="Text 10"/>
          <p:cNvSpPr/>
          <p:nvPr/>
        </p:nvSpPr>
        <p:spPr>
          <a:xfrm>
            <a:off x="6419850" y="2772411"/>
            <a:ext cx="5108131" cy="665480"/>
          </a:xfrm>
          <a:prstGeom prst="rect">
            <a:avLst/>
          </a:prstGeom>
          <a:noFill/>
          <a:ln/>
        </p:spPr>
        <p:txBody>
          <a:bodyPr wrap="square" lIns="0" tIns="0" rIns="0" bIns="0" rtlCol="0" anchor="t">
            <a:normAutofit/>
          </a:bodyPr>
          <a:lstStyle/>
          <a:p>
            <a:pPr marL="0" indent="0" algn="l">
              <a:lnSpc>
                <a:spcPts val="2520"/>
              </a:lnSpc>
              <a:buNone/>
            </a:pPr>
            <a:r>
              <a:rPr lang="it-IT" sz="1800" noProof="0" dirty="0">
                <a:solidFill>
                  <a:schemeClr val="tx2"/>
                </a:solidFill>
                <a:latin typeface="IBM Plex Sans" pitchFamily="34" charset="0"/>
                <a:ea typeface="IBM Plex Sans" pitchFamily="34" charset="-122"/>
                <a:cs typeface="IBM Plex Sans" pitchFamily="34" charset="-120"/>
              </a:rPr>
              <a:t>Stessi demoni (FRR, </a:t>
            </a:r>
            <a:r>
              <a:rPr lang="it-IT" sz="1800" noProof="0" dirty="0" err="1">
                <a:solidFill>
                  <a:schemeClr val="tx2"/>
                </a:solidFill>
                <a:latin typeface="IBM Plex Sans" pitchFamily="34" charset="0"/>
                <a:ea typeface="IBM Plex Sans" pitchFamily="34" charset="-122"/>
                <a:cs typeface="IBM Plex Sans" pitchFamily="34" charset="-120"/>
              </a:rPr>
              <a:t>Bind</a:t>
            </a:r>
            <a:r>
              <a:rPr lang="it-IT" sz="1800" noProof="0" dirty="0">
                <a:solidFill>
                  <a:schemeClr val="tx2"/>
                </a:solidFill>
                <a:latin typeface="IBM Plex Sans" pitchFamily="34" charset="0"/>
                <a:ea typeface="IBM Plex Sans" pitchFamily="34" charset="-122"/>
                <a:cs typeface="IBM Plex Sans" pitchFamily="34" charset="-120"/>
              </a:rPr>
              <a:t>, Open </a:t>
            </a:r>
            <a:r>
              <a:rPr lang="it-IT" sz="1800" noProof="0" dirty="0" err="1">
                <a:solidFill>
                  <a:schemeClr val="tx2"/>
                </a:solidFill>
                <a:latin typeface="IBM Plex Sans" pitchFamily="34" charset="0"/>
                <a:ea typeface="IBM Plex Sans" pitchFamily="34" charset="-122"/>
                <a:cs typeface="IBM Plex Sans" pitchFamily="34" charset="-120"/>
              </a:rPr>
              <a:t>vSwitch</a:t>
            </a:r>
            <a:r>
              <a:rPr lang="it-IT" sz="1800" noProof="0" dirty="0">
                <a:solidFill>
                  <a:schemeClr val="tx2"/>
                </a:solidFill>
                <a:latin typeface="IBM Plex Sans" pitchFamily="34" charset="0"/>
                <a:ea typeface="IBM Plex Sans" pitchFamily="34" charset="-122"/>
                <a:cs typeface="IBM Plex Sans" pitchFamily="34" charset="-120"/>
              </a:rPr>
              <a:t>), stessi file di configurazione, stessa CLI degli apparati.</a:t>
            </a:r>
            <a:endParaRPr lang="it-IT" sz="1800" noProof="0" dirty="0">
              <a:solidFill>
                <a:schemeClr val="tx2"/>
              </a:solidFill>
            </a:endParaRPr>
          </a:p>
        </p:txBody>
      </p:sp>
      <p:sp>
        <p:nvSpPr>
          <p:cNvPr id="15" name="Text 13"/>
          <p:cNvSpPr/>
          <p:nvPr/>
        </p:nvSpPr>
        <p:spPr>
          <a:xfrm>
            <a:off x="1079500" y="5473700"/>
            <a:ext cx="10608691" cy="368300"/>
          </a:xfrm>
          <a:prstGeom prst="rect">
            <a:avLst/>
          </a:prstGeom>
          <a:noFill/>
          <a:ln/>
        </p:spPr>
        <p:txBody>
          <a:bodyPr wrap="square" lIns="0" tIns="0" rIns="0" bIns="0" rtlCol="0" anchor="t">
            <a:normAutofit/>
          </a:bodyPr>
          <a:lstStyle/>
          <a:p>
            <a:pPr marL="0" indent="0" algn="l">
              <a:lnSpc>
                <a:spcPts val="2700"/>
              </a:lnSpc>
              <a:buNone/>
            </a:pPr>
            <a:endParaRPr lang="it-IT" sz="2000" noProof="0" dirty="0"/>
          </a:p>
        </p:txBody>
      </p:sp>
      <p:sp>
        <p:nvSpPr>
          <p:cNvPr id="20" name="Sim Pro"/>
          <p:cNvSpPr txBox="1"/>
          <p:nvPr/>
        </p:nvSpPr>
        <p:spPr>
          <a:xfrm>
            <a:off x="812800" y="4318000"/>
            <a:ext cx="5108131" cy="850900"/>
          </a:xfrm>
          <a:prstGeom prst="rect">
            <a:avLst/>
          </a:prstGeom>
          <a:noFill/>
          <a:ln/>
        </p:spPr>
        <p:txBody>
          <a:bodyPr wrap="square" lIns="0" tIns="0" rIns="0" bIns="0" rtlCol="0" anchor="t">
            <a:noAutofit/>
          </a:bodyPr>
          <a:lstStyle/>
          <a:p>
            <a:pPr marL="0" indent="0" algn="l">
              <a:lnSpc>
                <a:spcPts val="2000"/>
              </a:lnSpc>
              <a:spcAft>
                <a:spcPts val="200"/>
              </a:spcAft>
              <a:buNone/>
            </a:pPr>
            <a:r>
              <a:rPr lang="it-IT" sz="1600" b="1" noProof="0" dirty="0">
                <a:solidFill>
                  <a:srgbClr val="4A7F1C"/>
                </a:solidFill>
                <a:latin typeface="JetBrains Mono" pitchFamily="49" charset="0"/>
                <a:ea typeface="JetBrains Mono" pitchFamily="49" charset="-122"/>
                <a:cs typeface="JetBrains Mono" pitchFamily="49" charset="-120"/>
              </a:rPr>
              <a:t>pro</a:t>
            </a:r>
          </a:p>
          <a:p>
            <a:pPr marL="228600" indent="-228600" algn="l">
              <a:lnSpc>
                <a:spcPts val="2100"/>
              </a:lnSpc>
              <a:buClr>
                <a:srgbClr val="4A7F1C"/>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Scala a migliaia di nodi su un solo host</a:t>
            </a:r>
          </a:p>
          <a:p>
            <a:pPr marL="228600" indent="-228600" algn="l">
              <a:lnSpc>
                <a:spcPts val="2100"/>
              </a:lnSpc>
              <a:buClr>
                <a:srgbClr val="4A7F1C"/>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Esperimenti riproducibili e misurabili</a:t>
            </a:r>
          </a:p>
        </p:txBody>
      </p:sp>
      <p:sp>
        <p:nvSpPr>
          <p:cNvPr id="21" name="Sim Contro"/>
          <p:cNvSpPr txBox="1"/>
          <p:nvPr/>
        </p:nvSpPr>
        <p:spPr>
          <a:xfrm>
            <a:off x="812800" y="5232400"/>
            <a:ext cx="5108131" cy="850900"/>
          </a:xfrm>
          <a:prstGeom prst="rect">
            <a:avLst/>
          </a:prstGeom>
          <a:noFill/>
          <a:ln/>
        </p:spPr>
        <p:txBody>
          <a:bodyPr wrap="square" lIns="0" tIns="0" rIns="0" bIns="0" rtlCol="0" anchor="t">
            <a:noAutofit/>
          </a:bodyPr>
          <a:lstStyle/>
          <a:p>
            <a:pPr marL="0" indent="0" algn="l">
              <a:lnSpc>
                <a:spcPts val="2000"/>
              </a:lnSpc>
              <a:spcAft>
                <a:spcPts val="200"/>
              </a:spcAft>
              <a:buNone/>
            </a:pPr>
            <a:r>
              <a:rPr lang="it-IT" sz="1600" b="1" noProof="0" dirty="0">
                <a:solidFill>
                  <a:srgbClr val="B4502E"/>
                </a:solidFill>
                <a:latin typeface="JetBrains Mono" pitchFamily="49" charset="0"/>
                <a:ea typeface="JetBrains Mono" pitchFamily="49" charset="-122"/>
                <a:cs typeface="JetBrains Mono" pitchFamily="49" charset="-120"/>
              </a:rPr>
              <a:t>contro</a:t>
            </a:r>
          </a:p>
          <a:p>
            <a:pPr marL="228600" indent="-228600" algn="l">
              <a:lnSpc>
                <a:spcPts val="2100"/>
              </a:lnSpc>
              <a:buClr>
                <a:srgbClr val="B4502E"/>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Protocolli semplificati: niente bug reali</a:t>
            </a:r>
          </a:p>
          <a:p>
            <a:pPr marL="228600" indent="-228600" algn="l">
              <a:lnSpc>
                <a:spcPts val="2100"/>
              </a:lnSpc>
              <a:buClr>
                <a:srgbClr val="B4502E"/>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Configurazioni non riusabili sugli apparati</a:t>
            </a:r>
          </a:p>
        </p:txBody>
      </p:sp>
      <p:sp>
        <p:nvSpPr>
          <p:cNvPr id="22" name="Emu Pro"/>
          <p:cNvSpPr txBox="1"/>
          <p:nvPr/>
        </p:nvSpPr>
        <p:spPr>
          <a:xfrm>
            <a:off x="6419850" y="4318000"/>
            <a:ext cx="5108131" cy="850900"/>
          </a:xfrm>
          <a:prstGeom prst="rect">
            <a:avLst/>
          </a:prstGeom>
          <a:noFill/>
          <a:ln/>
        </p:spPr>
        <p:txBody>
          <a:bodyPr wrap="square" lIns="0" tIns="0" rIns="0" bIns="0" rtlCol="0" anchor="t">
            <a:noAutofit/>
          </a:bodyPr>
          <a:lstStyle/>
          <a:p>
            <a:pPr marL="0" indent="0" algn="l">
              <a:lnSpc>
                <a:spcPts val="2000"/>
              </a:lnSpc>
              <a:spcAft>
                <a:spcPts val="200"/>
              </a:spcAft>
              <a:buNone/>
            </a:pPr>
            <a:r>
              <a:rPr lang="it-IT" sz="1600" b="1" noProof="0" dirty="0">
                <a:solidFill>
                  <a:srgbClr val="4A7F1C"/>
                </a:solidFill>
                <a:latin typeface="JetBrains Mono" pitchFamily="49" charset="0"/>
                <a:ea typeface="JetBrains Mono" pitchFamily="49" charset="-122"/>
                <a:cs typeface="JetBrains Mono" pitchFamily="49" charset="-120"/>
              </a:rPr>
              <a:t>pro</a:t>
            </a:r>
          </a:p>
          <a:p>
            <a:pPr marL="228600" indent="-228600" algn="l">
              <a:lnSpc>
                <a:spcPts val="2100"/>
              </a:lnSpc>
              <a:buClr>
                <a:srgbClr val="4A7F1C"/>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Configurazioni portabili in produzione</a:t>
            </a:r>
          </a:p>
          <a:p>
            <a:pPr marL="228600" indent="-228600" algn="l">
              <a:lnSpc>
                <a:spcPts val="2100"/>
              </a:lnSpc>
              <a:buClr>
                <a:srgbClr val="4A7F1C"/>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Riproduce bug e interazioni tra demoni</a:t>
            </a:r>
          </a:p>
        </p:txBody>
      </p:sp>
      <p:sp>
        <p:nvSpPr>
          <p:cNvPr id="23" name="Emu Contro"/>
          <p:cNvSpPr txBox="1"/>
          <p:nvPr/>
        </p:nvSpPr>
        <p:spPr>
          <a:xfrm>
            <a:off x="6419850" y="5232400"/>
            <a:ext cx="5108131" cy="850900"/>
          </a:xfrm>
          <a:prstGeom prst="rect">
            <a:avLst/>
          </a:prstGeom>
          <a:noFill/>
          <a:ln/>
        </p:spPr>
        <p:txBody>
          <a:bodyPr wrap="square" lIns="0" tIns="0" rIns="0" bIns="0" rtlCol="0" anchor="t">
            <a:noAutofit/>
          </a:bodyPr>
          <a:lstStyle/>
          <a:p>
            <a:pPr marL="0" indent="0" algn="l">
              <a:lnSpc>
                <a:spcPts val="2000"/>
              </a:lnSpc>
              <a:spcAft>
                <a:spcPts val="200"/>
              </a:spcAft>
              <a:buNone/>
            </a:pPr>
            <a:r>
              <a:rPr lang="it-IT" sz="1600" b="1" noProof="0" dirty="0">
                <a:solidFill>
                  <a:srgbClr val="B4502E"/>
                </a:solidFill>
                <a:latin typeface="JetBrains Mono" pitchFamily="49" charset="0"/>
                <a:ea typeface="JetBrains Mono" pitchFamily="49" charset="-122"/>
                <a:cs typeface="JetBrains Mono" pitchFamily="49" charset="-120"/>
              </a:rPr>
              <a:t>contro</a:t>
            </a:r>
          </a:p>
          <a:p>
            <a:pPr marL="228600" indent="-228600" algn="l">
              <a:lnSpc>
                <a:spcPts val="2100"/>
              </a:lnSpc>
              <a:buClr>
                <a:srgbClr val="B4502E"/>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Latenza e throughput non affidabili</a:t>
            </a:r>
          </a:p>
          <a:p>
            <a:pPr marL="228600" indent="-228600" algn="l">
              <a:lnSpc>
                <a:spcPts val="2100"/>
              </a:lnSpc>
              <a:buClr>
                <a:srgbClr val="B4502E"/>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Scala limitata da CPU e RAM dell’host</a:t>
            </a:r>
          </a:p>
        </p:txBody>
      </p:sp>
      <p:sp>
        <p:nvSpPr>
          <p:cNvPr id="24" name="Sim Es">
            <a:extLst>
              <a:ext uri="{FF2B5EF4-FFF2-40B4-BE49-F238E27FC236}">
                <a16:creationId xmlns:a16="http://schemas.microsoft.com/office/drawing/2014/main" id="{43C7FF82-2554-760D-4CF9-C7988EE1BF41}"/>
              </a:ext>
            </a:extLst>
          </p:cNvPr>
          <p:cNvSpPr txBox="1"/>
          <p:nvPr/>
        </p:nvSpPr>
        <p:spPr>
          <a:xfrm>
            <a:off x="812799" y="3821431"/>
            <a:ext cx="5108131" cy="2794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Es.: ns-3, OMNeT++, RouteNet</a:t>
            </a:r>
          </a:p>
        </p:txBody>
      </p:sp>
      <p:sp>
        <p:nvSpPr>
          <p:cNvPr id="26" name="Emu Es">
            <a:extLst>
              <a:ext uri="{FF2B5EF4-FFF2-40B4-BE49-F238E27FC236}">
                <a16:creationId xmlns:a16="http://schemas.microsoft.com/office/drawing/2014/main" id="{A9744B3A-521B-E0C9-5A2E-15BDCFA3132C}"/>
              </a:ext>
            </a:extLst>
          </p:cNvPr>
          <p:cNvSpPr txBox="1"/>
          <p:nvPr/>
        </p:nvSpPr>
        <p:spPr>
          <a:xfrm>
            <a:off x="6383845" y="3808281"/>
            <a:ext cx="5108131" cy="279400"/>
          </a:xfrm>
          <a:prstGeom prst="rect">
            <a:avLst/>
          </a:prstGeom>
          <a:noFill/>
          <a:ln/>
        </p:spPr>
        <p:txBody>
          <a:bodyPr wrap="square" lIns="0" tIns="0" rIns="0" bIns="0" rtlCol="0" anchor="t">
            <a:noAutofit/>
          </a:bodyPr>
          <a:lstStyle/>
          <a:p>
            <a:pPr>
              <a:lnSpc>
                <a:spcPts val="2000"/>
              </a:lnSpc>
            </a:pPr>
            <a:r>
              <a:rPr lang="it-IT" sz="1600" noProof="0" dirty="0">
                <a:solidFill>
                  <a:srgbClr val="8A8F96"/>
                </a:solidFill>
                <a:latin typeface="JetBrains Mono" pitchFamily="49" charset="0"/>
                <a:ea typeface="JetBrains Mono" pitchFamily="49" charset="-122"/>
                <a:cs typeface="JetBrains Mono" pitchFamily="49" charset="-120"/>
              </a:rPr>
              <a:t>Es.: </a:t>
            </a:r>
            <a:r>
              <a:rPr lang="it-IT" sz="1600" noProof="0" dirty="0" err="1">
                <a:solidFill>
                  <a:srgbClr val="8A8F96"/>
                </a:solidFill>
                <a:latin typeface="JetBrains Mono" pitchFamily="49" charset="0"/>
                <a:ea typeface="JetBrains Mono" pitchFamily="49" charset="-122"/>
                <a:cs typeface="JetBrains Mono" pitchFamily="49" charset="-120"/>
              </a:rPr>
              <a:t>Containerlab</a:t>
            </a:r>
            <a:r>
              <a:rPr lang="it-IT" sz="1600" noProof="0" dirty="0">
                <a:solidFill>
                  <a:srgbClr val="8A8F96"/>
                </a:solidFill>
                <a:latin typeface="JetBrains Mono" pitchFamily="49" charset="0"/>
                <a:ea typeface="JetBrains Mono" pitchFamily="49" charset="-122"/>
                <a:cs typeface="JetBrains Mono" pitchFamily="49" charset="-120"/>
              </a:rPr>
              <a:t>, GNS3, </a:t>
            </a:r>
            <a:r>
              <a:rPr lang="it-IT" sz="1600" noProof="0" dirty="0" err="1">
                <a:solidFill>
                  <a:srgbClr val="8A8F96"/>
                </a:solidFill>
                <a:latin typeface="JetBrains Mono" pitchFamily="49" charset="0"/>
                <a:ea typeface="JetBrains Mono" pitchFamily="49" charset="-122"/>
                <a:cs typeface="JetBrains Mono" pitchFamily="49" charset="-120"/>
              </a:rPr>
              <a:t>eve</a:t>
            </a:r>
            <a:r>
              <a:rPr lang="it-IT" sz="1600" dirty="0">
                <a:solidFill>
                  <a:srgbClr val="8A8F96"/>
                </a:solidFill>
                <a:latin typeface="JetBrains Mono" pitchFamily="49" charset="0"/>
                <a:ea typeface="JetBrains Mono" pitchFamily="49" charset="-122"/>
                <a:cs typeface="JetBrains Mono" pitchFamily="49" charset="-120"/>
              </a:rPr>
              <a:t>-ng, Kathará</a:t>
            </a:r>
            <a:endParaRPr lang="it-IT" sz="1600" noProof="0" dirty="0">
              <a:solidFill>
                <a:srgbClr val="8A8F96"/>
              </a:solidFill>
              <a:latin typeface="JetBrains Mono" pitchFamily="49" charset="0"/>
              <a:ea typeface="JetBrains Mono" pitchFamily="49" charset="-122"/>
              <a:cs typeface="JetBrains Mono" pitchFamily="49" charset="-120"/>
            </a:endParaRPr>
          </a:p>
        </p:txBody>
      </p:sp>
    </p:spTree>
    <p:extLst>
      <p:ext uri="{BB962C8B-B14F-4D97-AF65-F5344CB8AC3E}">
        <p14:creationId xmlns:p14="http://schemas.microsoft.com/office/powerpoint/2010/main" val="1278521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B6C177B2-B33B-E421-504F-773721AE2E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B3CB56C-E27C-74E3-2BF8-F3F365FA1F4A}"/>
              </a:ext>
            </a:extLst>
          </p:cNvPr>
          <p:cNvSpPr/>
          <p:nvPr/>
        </p:nvSpPr>
        <p:spPr>
          <a:xfrm>
            <a:off x="0" y="0"/>
            <a:ext cx="152400" cy="6858000"/>
          </a:xfrm>
          <a:prstGeom prst="rect">
            <a:avLst/>
          </a:prstGeom>
          <a:solidFill>
            <a:srgbClr val="60A5E3"/>
          </a:solidFill>
          <a:ln/>
        </p:spPr>
        <p:txBody>
          <a:bodyPr/>
          <a:lstStyle/>
          <a:p>
            <a:endParaRPr lang="it-IT" noProof="0" dirty="0"/>
          </a:p>
        </p:txBody>
      </p:sp>
      <p:sp>
        <p:nvSpPr>
          <p:cNvPr id="4" name="Text 2">
            <a:extLst>
              <a:ext uri="{FF2B5EF4-FFF2-40B4-BE49-F238E27FC236}">
                <a16:creationId xmlns:a16="http://schemas.microsoft.com/office/drawing/2014/main" id="{3C05B8DE-7ADF-ECE9-910B-3A7402A7428D}"/>
              </a:ext>
            </a:extLst>
          </p:cNvPr>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b="1" dirty="0"/>
              <a:t>Digital Twin della Rete</a:t>
            </a:r>
            <a:endParaRPr lang="it-IT" sz="4000" noProof="0" dirty="0"/>
          </a:p>
        </p:txBody>
      </p:sp>
      <p:sp>
        <p:nvSpPr>
          <p:cNvPr id="5" name="Text 3">
            <a:extLst>
              <a:ext uri="{FF2B5EF4-FFF2-40B4-BE49-F238E27FC236}">
                <a16:creationId xmlns:a16="http://schemas.microsoft.com/office/drawing/2014/main" id="{88EFCB47-4994-0C12-E0FE-F67C85357F5B}"/>
              </a:ext>
            </a:extLst>
          </p:cNvPr>
          <p:cNvSpPr/>
          <p:nvPr/>
        </p:nvSpPr>
        <p:spPr>
          <a:xfrm>
            <a:off x="812800" y="1940561"/>
            <a:ext cx="510813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Basati su simulazione</a:t>
            </a:r>
            <a:endParaRPr lang="it-IT" sz="1600" noProof="0" dirty="0"/>
          </a:p>
        </p:txBody>
      </p:sp>
      <p:sp>
        <p:nvSpPr>
          <p:cNvPr id="6" name="Text 4">
            <a:extLst>
              <a:ext uri="{FF2B5EF4-FFF2-40B4-BE49-F238E27FC236}">
                <a16:creationId xmlns:a16="http://schemas.microsoft.com/office/drawing/2014/main" id="{A03221E5-212E-1F72-67C8-9F2A4F794766}"/>
              </a:ext>
            </a:extLst>
          </p:cNvPr>
          <p:cNvSpPr/>
          <p:nvPr/>
        </p:nvSpPr>
        <p:spPr>
          <a:xfrm>
            <a:off x="812800" y="2291079"/>
            <a:ext cx="5108131" cy="405130"/>
          </a:xfrm>
          <a:prstGeom prst="rect">
            <a:avLst/>
          </a:prstGeom>
          <a:noFill/>
          <a:ln/>
        </p:spPr>
        <p:txBody>
          <a:bodyPr wrap="square" lIns="0" tIns="0" rIns="0" bIns="0" rtlCol="0" anchor="t">
            <a:normAutofit/>
          </a:bodyPr>
          <a:lstStyle/>
          <a:p>
            <a:pPr marL="0" indent="0" algn="l">
              <a:lnSpc>
                <a:spcPts val="3250"/>
              </a:lnSpc>
              <a:buNone/>
            </a:pPr>
            <a:r>
              <a:rPr lang="it-IT" sz="2600" b="1" noProof="0" dirty="0">
                <a:solidFill>
                  <a:srgbClr val="1B1D20"/>
                </a:solidFill>
                <a:latin typeface="IBM Plex Sans" pitchFamily="34" charset="0"/>
                <a:ea typeface="IBM Plex Sans" pitchFamily="34" charset="-122"/>
                <a:cs typeface="IBM Plex Sans" pitchFamily="34" charset="-120"/>
              </a:rPr>
              <a:t>Prevede il comportamento</a:t>
            </a:r>
          </a:p>
        </p:txBody>
      </p:sp>
      <p:sp>
        <p:nvSpPr>
          <p:cNvPr id="9" name="Shape 7">
            <a:extLst>
              <a:ext uri="{FF2B5EF4-FFF2-40B4-BE49-F238E27FC236}">
                <a16:creationId xmlns:a16="http://schemas.microsoft.com/office/drawing/2014/main" id="{A2948F45-CE08-6019-5E8B-399EF09F1979}"/>
              </a:ext>
            </a:extLst>
          </p:cNvPr>
          <p:cNvSpPr/>
          <p:nvPr/>
        </p:nvSpPr>
        <p:spPr>
          <a:xfrm>
            <a:off x="6096000" y="1940561"/>
            <a:ext cx="0" cy="4152900"/>
          </a:xfrm>
          <a:prstGeom prst="line">
            <a:avLst/>
          </a:prstGeom>
          <a:noFill/>
          <a:ln w="38100">
            <a:solidFill>
              <a:srgbClr val="60A5E3"/>
            </a:solidFill>
            <a:prstDash val="solid"/>
          </a:ln>
        </p:spPr>
        <p:txBody>
          <a:bodyPr/>
          <a:lstStyle/>
          <a:p>
            <a:endParaRPr lang="it-IT" noProof="0" dirty="0"/>
          </a:p>
        </p:txBody>
      </p:sp>
      <p:sp>
        <p:nvSpPr>
          <p:cNvPr id="10" name="Text 8">
            <a:extLst>
              <a:ext uri="{FF2B5EF4-FFF2-40B4-BE49-F238E27FC236}">
                <a16:creationId xmlns:a16="http://schemas.microsoft.com/office/drawing/2014/main" id="{BCE3114B-C779-B65B-1084-F4E3CE5E9682}"/>
              </a:ext>
            </a:extLst>
          </p:cNvPr>
          <p:cNvSpPr/>
          <p:nvPr/>
        </p:nvSpPr>
        <p:spPr>
          <a:xfrm>
            <a:off x="6419850" y="1940561"/>
            <a:ext cx="510813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Basati su emulazione</a:t>
            </a:r>
            <a:endParaRPr lang="it-IT" sz="1600" noProof="0" dirty="0"/>
          </a:p>
        </p:txBody>
      </p:sp>
      <p:sp>
        <p:nvSpPr>
          <p:cNvPr id="11" name="Text 9">
            <a:extLst>
              <a:ext uri="{FF2B5EF4-FFF2-40B4-BE49-F238E27FC236}">
                <a16:creationId xmlns:a16="http://schemas.microsoft.com/office/drawing/2014/main" id="{9019A3D8-7E4E-61A6-8380-6AD488DFA253}"/>
              </a:ext>
            </a:extLst>
          </p:cNvPr>
          <p:cNvSpPr/>
          <p:nvPr/>
        </p:nvSpPr>
        <p:spPr>
          <a:xfrm>
            <a:off x="6419850" y="2291079"/>
            <a:ext cx="5108131" cy="405130"/>
          </a:xfrm>
          <a:prstGeom prst="rect">
            <a:avLst/>
          </a:prstGeom>
          <a:noFill/>
          <a:ln/>
        </p:spPr>
        <p:txBody>
          <a:bodyPr wrap="square" lIns="0" tIns="0" rIns="0" bIns="0" rtlCol="0" anchor="t">
            <a:normAutofit/>
          </a:bodyPr>
          <a:lstStyle/>
          <a:p>
            <a:pPr marL="0" indent="0" algn="l">
              <a:lnSpc>
                <a:spcPts val="3250"/>
              </a:lnSpc>
              <a:buNone/>
            </a:pPr>
            <a:r>
              <a:rPr lang="it-IT" sz="2600" b="1" noProof="0" dirty="0">
                <a:solidFill>
                  <a:srgbClr val="1B1D20"/>
                </a:solidFill>
                <a:latin typeface="IBM Plex Sans" pitchFamily="34" charset="0"/>
                <a:ea typeface="IBM Plex Sans" pitchFamily="34" charset="-122"/>
                <a:cs typeface="IBM Plex Sans" pitchFamily="34" charset="-120"/>
              </a:rPr>
              <a:t>Replica il control plane</a:t>
            </a:r>
          </a:p>
        </p:txBody>
      </p:sp>
      <p:sp>
        <p:nvSpPr>
          <p:cNvPr id="15" name="Text 13">
            <a:extLst>
              <a:ext uri="{FF2B5EF4-FFF2-40B4-BE49-F238E27FC236}">
                <a16:creationId xmlns:a16="http://schemas.microsoft.com/office/drawing/2014/main" id="{FEB3A33F-CDF0-FD44-DF1A-4EDE70709433}"/>
              </a:ext>
            </a:extLst>
          </p:cNvPr>
          <p:cNvSpPr/>
          <p:nvPr/>
        </p:nvSpPr>
        <p:spPr>
          <a:xfrm>
            <a:off x="1079500" y="5473700"/>
            <a:ext cx="10608691" cy="368300"/>
          </a:xfrm>
          <a:prstGeom prst="rect">
            <a:avLst/>
          </a:prstGeom>
          <a:noFill/>
          <a:ln/>
        </p:spPr>
        <p:txBody>
          <a:bodyPr wrap="square" lIns="0" tIns="0" rIns="0" bIns="0" rtlCol="0" anchor="t">
            <a:normAutofit/>
          </a:bodyPr>
          <a:lstStyle/>
          <a:p>
            <a:pPr marL="0" indent="0" algn="l">
              <a:lnSpc>
                <a:spcPts val="2700"/>
              </a:lnSpc>
              <a:buNone/>
            </a:pPr>
            <a:endParaRPr lang="it-IT" sz="2000" noProof="0" dirty="0"/>
          </a:p>
        </p:txBody>
      </p:sp>
      <p:sp>
        <p:nvSpPr>
          <p:cNvPr id="30" name="Sim Desc"/>
          <p:cNvSpPr txBox="1"/>
          <p:nvPr/>
        </p:nvSpPr>
        <p:spPr>
          <a:xfrm>
            <a:off x="812800" y="2768600"/>
            <a:ext cx="5108131" cy="1016000"/>
          </a:xfrm>
          <a:prstGeom prst="rect">
            <a:avLst/>
          </a:prstGeom>
          <a:noFill/>
          <a:ln/>
        </p:spPr>
        <p:txBody>
          <a:bodyPr wrap="square" lIns="0" tIns="0" rIns="0" bIns="0" rtlCol="0" anchor="t">
            <a:noAutofit/>
          </a:bodyPr>
          <a:lstStyle/>
          <a:p>
            <a:pPr marL="0" indent="0" algn="l">
              <a:lnSpc>
                <a:spcPts val="2520"/>
              </a:lnSpc>
              <a:buNone/>
            </a:pPr>
            <a:r>
              <a:rPr lang="it-IT" sz="1800" noProof="0" dirty="0">
                <a:solidFill>
                  <a:srgbClr val="5B5F66"/>
                </a:solidFill>
                <a:latin typeface="IBM Plex Sans" pitchFamily="34" charset="0"/>
                <a:ea typeface="IBM Plex Sans" pitchFamily="34" charset="-122"/>
                <a:cs typeface="IBM Plex Sans" pitchFamily="34" charset="-120"/>
              </a:rPr>
              <a:t>Un modello della rete stima l’effetto di traffico e guasti su latenza, code e utilizzo dei link.</a:t>
            </a:r>
          </a:p>
        </p:txBody>
      </p:sp>
      <p:sp>
        <p:nvSpPr>
          <p:cNvPr id="31" name="Sim Uso"/>
          <p:cNvSpPr txBox="1"/>
          <p:nvPr/>
        </p:nvSpPr>
        <p:spPr>
          <a:xfrm>
            <a:off x="812800" y="3962400"/>
            <a:ext cx="5108131" cy="1016000"/>
          </a:xfrm>
          <a:prstGeom prst="rect">
            <a:avLst/>
          </a:prstGeom>
          <a:noFill/>
          <a:ln/>
        </p:spPr>
        <p:txBody>
          <a:bodyPr wrap="square" lIns="0" tIns="0" rIns="0" bIns="0" rtlCol="0" anchor="t">
            <a:noAutofit/>
          </a:bodyPr>
          <a:lstStyle/>
          <a:p>
            <a:pPr marL="0" indent="0" algn="l">
              <a:lnSpc>
                <a:spcPts val="2000"/>
              </a:lnSpc>
              <a:spcAft>
                <a:spcPts val="200"/>
              </a:spcAft>
              <a:buNone/>
            </a:pPr>
            <a:r>
              <a:rPr lang="it-IT" sz="1600" b="1" noProof="0" dirty="0">
                <a:solidFill>
                  <a:srgbClr val="5B5F66"/>
                </a:solidFill>
                <a:latin typeface="JetBrains Mono" pitchFamily="49" charset="0"/>
                <a:ea typeface="JetBrains Mono" pitchFamily="49" charset="-122"/>
                <a:cs typeface="JetBrains Mono" pitchFamily="49" charset="-120"/>
              </a:rPr>
              <a:t>usato per</a:t>
            </a:r>
          </a:p>
          <a:p>
            <a:pPr marL="228600" indent="-228600" algn="l">
              <a:lnSpc>
                <a:spcPts val="2300"/>
              </a:lnSpc>
              <a:buClr>
                <a:srgbClr val="5B5F66"/>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Capacity planning e analisi what-if</a:t>
            </a:r>
          </a:p>
          <a:p>
            <a:pPr marL="228600" indent="-228600" algn="l">
              <a:lnSpc>
                <a:spcPts val="2300"/>
              </a:lnSpc>
              <a:buClr>
                <a:srgbClr val="5B5F66"/>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Dimensionamento di link e buffer</a:t>
            </a:r>
          </a:p>
        </p:txBody>
      </p:sp>
      <p:sp>
        <p:nvSpPr>
          <p:cNvPr id="33" name="Emu Desc"/>
          <p:cNvSpPr txBox="1"/>
          <p:nvPr/>
        </p:nvSpPr>
        <p:spPr>
          <a:xfrm>
            <a:off x="6419850" y="2768600"/>
            <a:ext cx="5108131" cy="1016000"/>
          </a:xfrm>
          <a:prstGeom prst="rect">
            <a:avLst/>
          </a:prstGeom>
          <a:noFill/>
          <a:ln/>
        </p:spPr>
        <p:txBody>
          <a:bodyPr wrap="square" lIns="0" tIns="0" rIns="0" bIns="0" rtlCol="0" anchor="t">
            <a:noAutofit/>
          </a:bodyPr>
          <a:lstStyle/>
          <a:p>
            <a:pPr marL="0" indent="0" algn="l">
              <a:lnSpc>
                <a:spcPts val="2520"/>
              </a:lnSpc>
              <a:buNone/>
            </a:pPr>
            <a:r>
              <a:rPr lang="it-IT" sz="1800" noProof="0" dirty="0">
                <a:solidFill>
                  <a:srgbClr val="1B1D20"/>
                </a:solidFill>
                <a:latin typeface="IBM Plex Sans" pitchFamily="34" charset="0"/>
                <a:ea typeface="IBM Plex Sans" pitchFamily="34" charset="-122"/>
                <a:cs typeface="IBM Plex Sans" pitchFamily="34" charset="-120"/>
              </a:rPr>
              <a:t>Gli stessi demoni e le stesse configurazioni di produzione girano in container: rotte e convergenza sono quelle reali.</a:t>
            </a:r>
          </a:p>
        </p:txBody>
      </p:sp>
      <p:sp>
        <p:nvSpPr>
          <p:cNvPr id="34" name="Emu Uso"/>
          <p:cNvSpPr txBox="1"/>
          <p:nvPr/>
        </p:nvSpPr>
        <p:spPr>
          <a:xfrm>
            <a:off x="6419850" y="3962400"/>
            <a:ext cx="5108131" cy="1016000"/>
          </a:xfrm>
          <a:prstGeom prst="rect">
            <a:avLst/>
          </a:prstGeom>
          <a:noFill/>
          <a:ln/>
        </p:spPr>
        <p:txBody>
          <a:bodyPr wrap="square" lIns="0" tIns="0" rIns="0" bIns="0" rtlCol="0" anchor="t">
            <a:noAutofit/>
          </a:bodyPr>
          <a:lstStyle/>
          <a:p>
            <a:pPr marL="0" indent="0" algn="l">
              <a:lnSpc>
                <a:spcPts val="2000"/>
              </a:lnSpc>
              <a:spcAft>
                <a:spcPts val="200"/>
              </a:spcAft>
              <a:buNone/>
            </a:pPr>
            <a:r>
              <a:rPr lang="it-IT" sz="1600" b="1" noProof="0" dirty="0">
                <a:solidFill>
                  <a:srgbClr val="2B6CA3"/>
                </a:solidFill>
                <a:latin typeface="JetBrains Mono" pitchFamily="49" charset="0"/>
                <a:ea typeface="JetBrains Mono" pitchFamily="49" charset="-122"/>
                <a:cs typeface="JetBrains Mono" pitchFamily="49" charset="-120"/>
              </a:rPr>
              <a:t>usato per</a:t>
            </a:r>
          </a:p>
          <a:p>
            <a:pPr marL="228600" indent="-228600" algn="l">
              <a:lnSpc>
                <a:spcPts val="2300"/>
              </a:lnSpc>
              <a:buClr>
                <a:srgbClr val="2B6CA3"/>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Validare una modifica prima del deploy</a:t>
            </a:r>
          </a:p>
          <a:p>
            <a:pPr marL="228600" indent="-228600" algn="l">
              <a:lnSpc>
                <a:spcPts val="2300"/>
              </a:lnSpc>
              <a:buClr>
                <a:srgbClr val="2B6CA3"/>
              </a:buClr>
              <a:buFont typeface="JetBrains Mono"/>
              <a:buChar char="›"/>
            </a:pPr>
            <a:r>
              <a:rPr lang="it-IT" sz="1600" noProof="0" dirty="0">
                <a:solidFill>
                  <a:srgbClr val="1B1D20"/>
                </a:solidFill>
                <a:latin typeface="IBM Plex Sans" pitchFamily="34" charset="0"/>
                <a:ea typeface="IBM Plex Sans" pitchFamily="34" charset="-122"/>
                <a:cs typeface="IBM Plex Sans" pitchFamily="34" charset="-120"/>
              </a:rPr>
              <a:t>Riprodurre incidenti e testare il failover</a:t>
            </a:r>
          </a:p>
        </p:txBody>
      </p:sp>
    </p:spTree>
    <p:extLst>
      <p:ext uri="{BB962C8B-B14F-4D97-AF65-F5344CB8AC3E}">
        <p14:creationId xmlns:p14="http://schemas.microsoft.com/office/powerpoint/2010/main" val="4105470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F52BD220-13A7-0C34-8D96-0D5BE517FC1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ABDD55-0CF3-D364-C421-C04EDC833987}"/>
              </a:ext>
            </a:extLst>
          </p:cNvPr>
          <p:cNvSpPr/>
          <p:nvPr/>
        </p:nvSpPr>
        <p:spPr>
          <a:xfrm>
            <a:off x="0" y="0"/>
            <a:ext cx="152400" cy="6858000"/>
          </a:xfrm>
          <a:prstGeom prst="rect">
            <a:avLst/>
          </a:prstGeom>
          <a:solidFill>
            <a:srgbClr val="60A5E3"/>
          </a:solidFill>
          <a:ln/>
        </p:spPr>
        <p:txBody>
          <a:bodyPr/>
          <a:lstStyle/>
          <a:p>
            <a:endParaRPr lang="it-IT" noProof="0" dirty="0"/>
          </a:p>
        </p:txBody>
      </p:sp>
      <p:sp>
        <p:nvSpPr>
          <p:cNvPr id="4" name="Text 2">
            <a:extLst>
              <a:ext uri="{FF2B5EF4-FFF2-40B4-BE49-F238E27FC236}">
                <a16:creationId xmlns:a16="http://schemas.microsoft.com/office/drawing/2014/main" id="{EACF28C7-D2DF-009A-B8CA-C37B63E9CA48}"/>
              </a:ext>
            </a:extLst>
          </p:cNvPr>
          <p:cNvSpPr>
            <a:spLocks noGrp="1"/>
          </p:cNvSpPr>
          <p:nvPr>
            <p:ph type="title"/>
          </p:nvPr>
        </p:nvSpPr>
        <p:spPr>
          <a:prstGeom prst="rect">
            <a:avLst/>
          </a:prstGeom>
          <a:noFill/>
          <a:ln/>
        </p:spPr>
        <p:txBody>
          <a:bodyPr wrap="square" lIns="0" tIns="0" rIns="0" bIns="0" rtlCol="0" anchor="t">
            <a:normAutofit fontScale="90000"/>
          </a:bodyPr>
          <a:lstStyle/>
          <a:p>
            <a:r>
              <a:rPr lang="it-IT" b="1" dirty="0"/>
              <a:t>Come ci aiuta </a:t>
            </a:r>
            <a:r>
              <a:rPr lang="en-GB" b="1" dirty="0"/>
              <a:t>Kathará?</a:t>
            </a:r>
            <a:endParaRPr lang="it-IT" sz="4000" b="1" noProof="0" dirty="0"/>
          </a:p>
        </p:txBody>
      </p:sp>
      <p:sp>
        <p:nvSpPr>
          <p:cNvPr id="40" name="Text 41"/>
          <p:cNvSpPr txBox="1"/>
          <p:nvPr/>
        </p:nvSpPr>
        <p:spPr>
          <a:xfrm>
            <a:off x="1473200" y="2844800"/>
            <a:ext cx="2921000" cy="254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problema</a:t>
            </a:r>
          </a:p>
        </p:txBody>
      </p:sp>
      <p:sp>
        <p:nvSpPr>
          <p:cNvPr id="41" name="Text 42"/>
          <p:cNvSpPr txBox="1"/>
          <p:nvPr/>
        </p:nvSpPr>
        <p:spPr>
          <a:xfrm>
            <a:off x="5080000" y="2844800"/>
            <a:ext cx="6604000" cy="254000"/>
          </a:xfrm>
          <a:prstGeom prst="rect">
            <a:avLst/>
          </a:prstGeom>
          <a:noFill/>
          <a:ln/>
        </p:spPr>
        <p:txBody>
          <a:bodyPr wrap="square" lIns="0" tIns="0" rIns="0" bIns="0" rtlCol="0" anchor="t">
            <a:noAutofit/>
          </a:bodyPr>
          <a:lstStyle/>
          <a:p>
            <a:pPr marL="0" indent="0" algn="l">
              <a:lnSpc>
                <a:spcPts val="2000"/>
              </a:lnSpc>
              <a:buNone/>
            </a:pPr>
            <a:r>
              <a:rPr lang="it-IT" sz="1600" b="1" noProof="0" dirty="0">
                <a:solidFill>
                  <a:srgbClr val="2B6CA3"/>
                </a:solidFill>
                <a:latin typeface="JetBrains Mono" pitchFamily="49" charset="0"/>
                <a:ea typeface="JetBrains Mono" pitchFamily="49" charset="-122"/>
                <a:cs typeface="JetBrains Mono" pitchFamily="49" charset="-120"/>
              </a:rPr>
              <a:t>con Kathará</a:t>
            </a:r>
          </a:p>
        </p:txBody>
      </p:sp>
      <p:cxnSp>
        <p:nvCxnSpPr>
          <p:cNvPr id="42" name="Line 43"/>
          <p:cNvCxnSpPr/>
          <p:nvPr/>
        </p:nvCxnSpPr>
        <p:spPr>
          <a:xfrm>
            <a:off x="812800" y="3149600"/>
            <a:ext cx="10871200" cy="0"/>
          </a:xfrm>
          <a:prstGeom prst="line">
            <a:avLst/>
          </a:prstGeom>
          <a:ln w="12700">
            <a:solidFill>
              <a:srgbClr val="E1E0DD"/>
            </a:solidFill>
          </a:ln>
        </p:spPr>
      </p:cxnSp>
      <p:sp>
        <p:nvSpPr>
          <p:cNvPr id="43" name="Text 44"/>
          <p:cNvSpPr txBox="1"/>
          <p:nvPr/>
        </p:nvSpPr>
        <p:spPr>
          <a:xfrm>
            <a:off x="812800" y="3276600"/>
            <a:ext cx="558800" cy="330200"/>
          </a:xfrm>
          <a:prstGeom prst="rect">
            <a:avLst/>
          </a:prstGeom>
          <a:noFill/>
          <a:ln/>
        </p:spPr>
        <p:txBody>
          <a:bodyPr wrap="square" lIns="0" tIns="0" rIns="0" bIns="0" rtlCol="0" anchor="t">
            <a:noAutofit/>
          </a:bodyPr>
          <a:lstStyle/>
          <a:p>
            <a:pPr marL="0" indent="0" algn="l">
              <a:lnSpc>
                <a:spcPts val="2500"/>
              </a:lnSpc>
              <a:buNone/>
            </a:pPr>
            <a:r>
              <a:rPr lang="it-IT" sz="1600" noProof="0" dirty="0">
                <a:solidFill>
                  <a:srgbClr val="2B6CA3"/>
                </a:solidFill>
                <a:latin typeface="JetBrains Mono" pitchFamily="49" charset="0"/>
                <a:ea typeface="JetBrains Mono" pitchFamily="49" charset="-122"/>
                <a:cs typeface="JetBrains Mono" pitchFamily="49" charset="-120"/>
              </a:rPr>
              <a:t>01</a:t>
            </a:r>
          </a:p>
        </p:txBody>
      </p:sp>
      <p:sp>
        <p:nvSpPr>
          <p:cNvPr id="44" name="Text 45"/>
          <p:cNvSpPr txBox="1"/>
          <p:nvPr/>
        </p:nvSpPr>
        <p:spPr>
          <a:xfrm>
            <a:off x="1473200" y="3276600"/>
            <a:ext cx="2921000" cy="330200"/>
          </a:xfrm>
          <a:prstGeom prst="rect">
            <a:avLst/>
          </a:prstGeom>
          <a:noFill/>
          <a:ln/>
        </p:spPr>
        <p:txBody>
          <a:bodyPr wrap="square" lIns="0" tIns="0" rIns="0" bIns="0" rtlCol="0" anchor="t">
            <a:noAutofit/>
          </a:bodyPr>
          <a:lstStyle/>
          <a:p>
            <a:pPr marL="0" indent="0" algn="l">
              <a:lnSpc>
                <a:spcPts val="2500"/>
              </a:lnSpc>
              <a:buNone/>
            </a:pPr>
            <a:r>
              <a:rPr lang="it-IT" sz="1800" b="1" noProof="0" dirty="0">
                <a:solidFill>
                  <a:srgbClr val="1B1D20"/>
                </a:solidFill>
                <a:latin typeface="IBM Plex Sans" pitchFamily="34" charset="0"/>
                <a:ea typeface="IBM Plex Sans" pitchFamily="34" charset="-122"/>
                <a:cs typeface="IBM Plex Sans" pitchFamily="34" charset="-120"/>
              </a:rPr>
              <a:t>Rischio operativo</a:t>
            </a:r>
          </a:p>
        </p:txBody>
      </p:sp>
      <p:sp>
        <p:nvSpPr>
          <p:cNvPr id="45" name="Text 46"/>
          <p:cNvSpPr txBox="1"/>
          <p:nvPr/>
        </p:nvSpPr>
        <p:spPr>
          <a:xfrm>
            <a:off x="4521200" y="3276600"/>
            <a:ext cx="381000" cy="3302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2B6CA3"/>
                </a:solidFill>
                <a:latin typeface="JetBrains Mono" pitchFamily="49" charset="0"/>
                <a:ea typeface="JetBrains Mono" pitchFamily="49" charset="-122"/>
                <a:cs typeface="JetBrains Mono" pitchFamily="49" charset="-120"/>
              </a:rPr>
              <a:t>→</a:t>
            </a:r>
          </a:p>
        </p:txBody>
      </p:sp>
      <p:sp>
        <p:nvSpPr>
          <p:cNvPr id="46" name="Text 47"/>
          <p:cNvSpPr txBox="1"/>
          <p:nvPr/>
        </p:nvSpPr>
        <p:spPr>
          <a:xfrm>
            <a:off x="5080000" y="3276600"/>
            <a:ext cx="6604000" cy="6604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1B1D20"/>
                </a:solidFill>
                <a:latin typeface="IBM Plex Sans" pitchFamily="34" charset="0"/>
                <a:ea typeface="IBM Plex Sans" pitchFamily="34" charset="-122"/>
                <a:cs typeface="IBM Plex Sans" pitchFamily="34" charset="-120"/>
              </a:rPr>
              <a:t>Gli scenari di rete vengono eseguiti in ambienti isolati.</a:t>
            </a:r>
          </a:p>
        </p:txBody>
      </p:sp>
      <p:cxnSp>
        <p:nvCxnSpPr>
          <p:cNvPr id="47" name="Line 48"/>
          <p:cNvCxnSpPr/>
          <p:nvPr/>
        </p:nvCxnSpPr>
        <p:spPr>
          <a:xfrm>
            <a:off x="812800" y="4064000"/>
            <a:ext cx="10871200" cy="0"/>
          </a:xfrm>
          <a:prstGeom prst="line">
            <a:avLst/>
          </a:prstGeom>
          <a:ln w="12700">
            <a:solidFill>
              <a:srgbClr val="E1E0DD"/>
            </a:solidFill>
          </a:ln>
        </p:spPr>
      </p:cxnSp>
      <p:sp>
        <p:nvSpPr>
          <p:cNvPr id="48" name="Text 49"/>
          <p:cNvSpPr txBox="1"/>
          <p:nvPr/>
        </p:nvSpPr>
        <p:spPr>
          <a:xfrm>
            <a:off x="812800" y="4191000"/>
            <a:ext cx="558800" cy="330200"/>
          </a:xfrm>
          <a:prstGeom prst="rect">
            <a:avLst/>
          </a:prstGeom>
          <a:noFill/>
          <a:ln/>
        </p:spPr>
        <p:txBody>
          <a:bodyPr wrap="square" lIns="0" tIns="0" rIns="0" bIns="0" rtlCol="0" anchor="t">
            <a:noAutofit/>
          </a:bodyPr>
          <a:lstStyle/>
          <a:p>
            <a:pPr marL="0" indent="0" algn="l">
              <a:lnSpc>
                <a:spcPts val="2500"/>
              </a:lnSpc>
              <a:buNone/>
            </a:pPr>
            <a:r>
              <a:rPr lang="it-IT" sz="1600" noProof="0" dirty="0">
                <a:solidFill>
                  <a:srgbClr val="2B6CA3"/>
                </a:solidFill>
                <a:latin typeface="JetBrains Mono" pitchFamily="49" charset="0"/>
                <a:ea typeface="JetBrains Mono" pitchFamily="49" charset="-122"/>
                <a:cs typeface="JetBrains Mono" pitchFamily="49" charset="-120"/>
              </a:rPr>
              <a:t>02</a:t>
            </a:r>
          </a:p>
        </p:txBody>
      </p:sp>
      <p:sp>
        <p:nvSpPr>
          <p:cNvPr id="49" name="Text 50"/>
          <p:cNvSpPr txBox="1"/>
          <p:nvPr/>
        </p:nvSpPr>
        <p:spPr>
          <a:xfrm>
            <a:off x="1473200" y="4191000"/>
            <a:ext cx="2921000" cy="330200"/>
          </a:xfrm>
          <a:prstGeom prst="rect">
            <a:avLst/>
          </a:prstGeom>
          <a:noFill/>
          <a:ln/>
        </p:spPr>
        <p:txBody>
          <a:bodyPr wrap="square" lIns="0" tIns="0" rIns="0" bIns="0" rtlCol="0" anchor="t">
            <a:noAutofit/>
          </a:bodyPr>
          <a:lstStyle/>
          <a:p>
            <a:pPr marL="0" indent="0" algn="l">
              <a:lnSpc>
                <a:spcPts val="2500"/>
              </a:lnSpc>
              <a:buNone/>
            </a:pPr>
            <a:r>
              <a:rPr lang="it-IT" sz="1800" b="1" noProof="0" dirty="0">
                <a:solidFill>
                  <a:srgbClr val="1B1D20"/>
                </a:solidFill>
                <a:latin typeface="IBM Plex Sans" pitchFamily="34" charset="0"/>
                <a:ea typeface="IBM Plex Sans" pitchFamily="34" charset="-122"/>
                <a:cs typeface="IBM Plex Sans" pitchFamily="34" charset="-120"/>
              </a:rPr>
              <a:t>Costo del testbed</a:t>
            </a:r>
          </a:p>
        </p:txBody>
      </p:sp>
      <p:sp>
        <p:nvSpPr>
          <p:cNvPr id="50" name="Text 51"/>
          <p:cNvSpPr txBox="1"/>
          <p:nvPr/>
        </p:nvSpPr>
        <p:spPr>
          <a:xfrm>
            <a:off x="4521200" y="4191000"/>
            <a:ext cx="381000" cy="3302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2B6CA3"/>
                </a:solidFill>
                <a:latin typeface="JetBrains Mono" pitchFamily="49" charset="0"/>
                <a:ea typeface="JetBrains Mono" pitchFamily="49" charset="-122"/>
                <a:cs typeface="JetBrains Mono" pitchFamily="49" charset="-120"/>
              </a:rPr>
              <a:t>→</a:t>
            </a:r>
          </a:p>
        </p:txBody>
      </p:sp>
      <p:sp>
        <p:nvSpPr>
          <p:cNvPr id="51" name="Text 52"/>
          <p:cNvSpPr txBox="1"/>
          <p:nvPr/>
        </p:nvSpPr>
        <p:spPr>
          <a:xfrm>
            <a:off x="5080000" y="4191000"/>
            <a:ext cx="6604000" cy="660400"/>
          </a:xfrm>
          <a:prstGeom prst="rect">
            <a:avLst/>
          </a:prstGeom>
          <a:noFill/>
          <a:ln/>
        </p:spPr>
        <p:txBody>
          <a:bodyPr wrap="square" lIns="0" tIns="0" rIns="0" bIns="0" rtlCol="0" anchor="t">
            <a:noAutofit/>
          </a:bodyPr>
          <a:lstStyle/>
          <a:p>
            <a:pPr marL="0" indent="0" algn="l">
              <a:lnSpc>
                <a:spcPts val="2500"/>
              </a:lnSpc>
              <a:buNone/>
            </a:pPr>
            <a:r>
              <a:rPr lang="it-IT" dirty="0">
                <a:solidFill>
                  <a:srgbClr val="1B1D20"/>
                </a:solidFill>
                <a:latin typeface="IBM Plex Sans" pitchFamily="34" charset="0"/>
                <a:ea typeface="IBM Plex Sans" pitchFamily="34" charset="-122"/>
                <a:cs typeface="IBM Plex Sans" pitchFamily="34" charset="-120"/>
              </a:rPr>
              <a:t>Offre flessibilità di configurazione e scalabilità sia single-</a:t>
            </a:r>
            <a:r>
              <a:rPr lang="it-IT" dirty="0" err="1">
                <a:solidFill>
                  <a:srgbClr val="1B1D20"/>
                </a:solidFill>
                <a:latin typeface="IBM Plex Sans" pitchFamily="34" charset="0"/>
                <a:ea typeface="IBM Plex Sans" pitchFamily="34" charset="-122"/>
                <a:cs typeface="IBM Plex Sans" pitchFamily="34" charset="-120"/>
              </a:rPr>
              <a:t>host</a:t>
            </a:r>
            <a:r>
              <a:rPr lang="it-IT" dirty="0">
                <a:solidFill>
                  <a:srgbClr val="1B1D20"/>
                </a:solidFill>
                <a:latin typeface="IBM Plex Sans" pitchFamily="34" charset="0"/>
                <a:ea typeface="IBM Plex Sans" pitchFamily="34" charset="-122"/>
                <a:cs typeface="IBM Plex Sans" pitchFamily="34" charset="-120"/>
              </a:rPr>
              <a:t> che multi-</a:t>
            </a:r>
            <a:r>
              <a:rPr lang="it-IT" dirty="0" err="1">
                <a:solidFill>
                  <a:srgbClr val="1B1D20"/>
                </a:solidFill>
                <a:latin typeface="IBM Plex Sans" pitchFamily="34" charset="0"/>
                <a:ea typeface="IBM Plex Sans" pitchFamily="34" charset="-122"/>
                <a:cs typeface="IBM Plex Sans" pitchFamily="34" charset="-120"/>
              </a:rPr>
              <a:t>host</a:t>
            </a:r>
            <a:r>
              <a:rPr lang="it-IT" dirty="0">
                <a:solidFill>
                  <a:srgbClr val="1B1D20"/>
                </a:solidFill>
                <a:latin typeface="IBM Plex Sans" pitchFamily="34" charset="0"/>
                <a:ea typeface="IBM Plex Sans" pitchFamily="34" charset="-122"/>
                <a:cs typeface="IBM Plex Sans" pitchFamily="34" charset="-120"/>
              </a:rPr>
              <a:t>.</a:t>
            </a:r>
            <a:endParaRPr lang="it-IT" sz="1800" noProof="0" dirty="0">
              <a:solidFill>
                <a:srgbClr val="1B1D20"/>
              </a:solidFill>
              <a:latin typeface="IBM Plex Sans" pitchFamily="34" charset="0"/>
              <a:ea typeface="IBM Plex Sans" pitchFamily="34" charset="-122"/>
              <a:cs typeface="IBM Plex Sans" pitchFamily="34" charset="-120"/>
            </a:endParaRPr>
          </a:p>
        </p:txBody>
      </p:sp>
      <p:cxnSp>
        <p:nvCxnSpPr>
          <p:cNvPr id="52" name="Line 53"/>
          <p:cNvCxnSpPr/>
          <p:nvPr/>
        </p:nvCxnSpPr>
        <p:spPr>
          <a:xfrm>
            <a:off x="812800" y="4978400"/>
            <a:ext cx="10871200" cy="0"/>
          </a:xfrm>
          <a:prstGeom prst="line">
            <a:avLst/>
          </a:prstGeom>
          <a:ln w="12700">
            <a:solidFill>
              <a:srgbClr val="E1E0DD"/>
            </a:solidFill>
          </a:ln>
        </p:spPr>
      </p:cxnSp>
      <p:sp>
        <p:nvSpPr>
          <p:cNvPr id="53" name="Text 54"/>
          <p:cNvSpPr txBox="1"/>
          <p:nvPr/>
        </p:nvSpPr>
        <p:spPr>
          <a:xfrm>
            <a:off x="812800" y="5105400"/>
            <a:ext cx="558800" cy="330200"/>
          </a:xfrm>
          <a:prstGeom prst="rect">
            <a:avLst/>
          </a:prstGeom>
          <a:noFill/>
          <a:ln/>
        </p:spPr>
        <p:txBody>
          <a:bodyPr wrap="square" lIns="0" tIns="0" rIns="0" bIns="0" rtlCol="0" anchor="t">
            <a:noAutofit/>
          </a:bodyPr>
          <a:lstStyle/>
          <a:p>
            <a:pPr marL="0" indent="0" algn="l">
              <a:lnSpc>
                <a:spcPts val="2500"/>
              </a:lnSpc>
              <a:buNone/>
            </a:pPr>
            <a:r>
              <a:rPr lang="it-IT" sz="1600" noProof="0" dirty="0">
                <a:solidFill>
                  <a:srgbClr val="2B6CA3"/>
                </a:solidFill>
                <a:latin typeface="JetBrains Mono" pitchFamily="49" charset="0"/>
                <a:ea typeface="JetBrains Mono" pitchFamily="49" charset="-122"/>
                <a:cs typeface="JetBrains Mono" pitchFamily="49" charset="-120"/>
              </a:rPr>
              <a:t>03</a:t>
            </a:r>
          </a:p>
        </p:txBody>
      </p:sp>
      <p:sp>
        <p:nvSpPr>
          <p:cNvPr id="54" name="Text 55"/>
          <p:cNvSpPr txBox="1"/>
          <p:nvPr/>
        </p:nvSpPr>
        <p:spPr>
          <a:xfrm>
            <a:off x="1473200" y="5105400"/>
            <a:ext cx="2921000" cy="330200"/>
          </a:xfrm>
          <a:prstGeom prst="rect">
            <a:avLst/>
          </a:prstGeom>
          <a:noFill/>
          <a:ln/>
        </p:spPr>
        <p:txBody>
          <a:bodyPr wrap="square" lIns="0" tIns="0" rIns="0" bIns="0" rtlCol="0" anchor="t">
            <a:noAutofit/>
          </a:bodyPr>
          <a:lstStyle/>
          <a:p>
            <a:pPr marL="0" indent="0" algn="l">
              <a:lnSpc>
                <a:spcPts val="2500"/>
              </a:lnSpc>
              <a:buNone/>
            </a:pPr>
            <a:r>
              <a:rPr lang="it-IT" sz="1800" b="1" noProof="0" dirty="0">
                <a:solidFill>
                  <a:srgbClr val="1B1D20"/>
                </a:solidFill>
                <a:latin typeface="IBM Plex Sans" pitchFamily="34" charset="0"/>
                <a:ea typeface="IBM Plex Sans" pitchFamily="34" charset="-122"/>
                <a:cs typeface="IBM Plex Sans" pitchFamily="34" charset="-120"/>
              </a:rPr>
              <a:t>Ripetibilità</a:t>
            </a:r>
          </a:p>
        </p:txBody>
      </p:sp>
      <p:sp>
        <p:nvSpPr>
          <p:cNvPr id="55" name="Text 56"/>
          <p:cNvSpPr txBox="1"/>
          <p:nvPr/>
        </p:nvSpPr>
        <p:spPr>
          <a:xfrm>
            <a:off x="4521200" y="5105400"/>
            <a:ext cx="381000" cy="3302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2B6CA3"/>
                </a:solidFill>
                <a:latin typeface="JetBrains Mono" pitchFamily="49" charset="0"/>
                <a:ea typeface="JetBrains Mono" pitchFamily="49" charset="-122"/>
                <a:cs typeface="JetBrains Mono" pitchFamily="49" charset="-120"/>
              </a:rPr>
              <a:t>→</a:t>
            </a:r>
          </a:p>
        </p:txBody>
      </p:sp>
      <p:sp>
        <p:nvSpPr>
          <p:cNvPr id="56" name="Text 57"/>
          <p:cNvSpPr txBox="1"/>
          <p:nvPr/>
        </p:nvSpPr>
        <p:spPr>
          <a:xfrm>
            <a:off x="5080000" y="5105400"/>
            <a:ext cx="6604000" cy="6604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1B1D20"/>
                </a:solidFill>
                <a:latin typeface="IBM Plex Sans" pitchFamily="34" charset="0"/>
                <a:ea typeface="IBM Plex Sans" pitchFamily="34" charset="-122"/>
                <a:cs typeface="IBM Plex Sans" pitchFamily="34" charset="-120"/>
              </a:rPr>
              <a:t>Il lab </a:t>
            </a:r>
            <a:r>
              <a:rPr lang="it-IT" dirty="0">
                <a:solidFill>
                  <a:srgbClr val="1B1D20"/>
                </a:solidFill>
                <a:latin typeface="IBM Plex Sans" pitchFamily="34" charset="0"/>
                <a:ea typeface="IBM Plex Sans" pitchFamily="34" charset="-122"/>
                <a:cs typeface="IBM Plex Sans" pitchFamily="34" charset="-120"/>
              </a:rPr>
              <a:t>può essere definito tramite file o API Python</a:t>
            </a:r>
            <a:r>
              <a:rPr lang="it-IT" sz="1800" noProof="0" dirty="0">
                <a:solidFill>
                  <a:srgbClr val="1B1D20"/>
                </a:solidFill>
                <a:latin typeface="IBM Plex Sans" pitchFamily="34" charset="0"/>
                <a:ea typeface="IBM Plex Sans" pitchFamily="34" charset="-122"/>
                <a:cs typeface="IBM Plex Sans" pitchFamily="34" charset="-120"/>
              </a:rPr>
              <a:t>: si versiona con git e si esegue identico con un comando.</a:t>
            </a:r>
          </a:p>
        </p:txBody>
      </p:sp>
      <p:cxnSp>
        <p:nvCxnSpPr>
          <p:cNvPr id="57" name="Line 58"/>
          <p:cNvCxnSpPr/>
          <p:nvPr/>
        </p:nvCxnSpPr>
        <p:spPr>
          <a:xfrm>
            <a:off x="812800" y="5943600"/>
            <a:ext cx="10871200" cy="0"/>
          </a:xfrm>
          <a:prstGeom prst="line">
            <a:avLst/>
          </a:prstGeom>
          <a:ln w="12700">
            <a:solidFill>
              <a:srgbClr val="E1E0DD"/>
            </a:solidFill>
          </a:ln>
        </p:spPr>
      </p:cxnSp>
      <p:sp>
        <p:nvSpPr>
          <p:cNvPr id="60" name="Intro Kathara"/>
          <p:cNvSpPr txBox="1"/>
          <p:nvPr/>
        </p:nvSpPr>
        <p:spPr>
          <a:xfrm>
            <a:off x="812800" y="1803400"/>
            <a:ext cx="10871200" cy="762000"/>
          </a:xfrm>
          <a:prstGeom prst="rect">
            <a:avLst/>
          </a:prstGeom>
          <a:noFill/>
          <a:ln/>
        </p:spPr>
        <p:txBody>
          <a:bodyPr wrap="square" lIns="0" tIns="0" rIns="0" bIns="0" rtlCol="0" anchor="t">
            <a:noAutofit/>
          </a:bodyPr>
          <a:lstStyle/>
          <a:p>
            <a:pPr marL="0" indent="0" algn="l">
              <a:lnSpc>
                <a:spcPts val="2800"/>
              </a:lnSpc>
              <a:buNone/>
            </a:pPr>
            <a:r>
              <a:rPr lang="it-IT" sz="2000" noProof="0" dirty="0">
                <a:solidFill>
                  <a:srgbClr val="1B1D20"/>
                </a:solidFill>
                <a:latin typeface="IBM Plex Sans" pitchFamily="34" charset="0"/>
                <a:ea typeface="IBM Plex Sans" pitchFamily="34" charset="-122"/>
                <a:cs typeface="IBM Plex Sans" pitchFamily="34" charset="-120"/>
              </a:rPr>
              <a:t>Kathará è un </a:t>
            </a:r>
            <a:r>
              <a:rPr lang="it-IT" sz="2000" b="1" noProof="0" dirty="0">
                <a:solidFill>
                  <a:srgbClr val="1B1D20"/>
                </a:solidFill>
                <a:latin typeface="IBM Plex Sans" pitchFamily="34" charset="0"/>
                <a:ea typeface="IBM Plex Sans" pitchFamily="34" charset="-122"/>
                <a:cs typeface="IBM Plex Sans" pitchFamily="34" charset="-120"/>
              </a:rPr>
              <a:t>emulatore di rete open source</a:t>
            </a:r>
            <a:r>
              <a:rPr lang="it-IT" sz="2000" noProof="0" dirty="0">
                <a:solidFill>
                  <a:srgbClr val="1B1D20"/>
                </a:solidFill>
                <a:latin typeface="IBM Plex Sans" pitchFamily="34" charset="0"/>
                <a:ea typeface="IBM Plex Sans" pitchFamily="34" charset="-122"/>
                <a:cs typeface="IBM Plex Sans" pitchFamily="34" charset="-120"/>
              </a:rPr>
              <a:t> basato su container</a:t>
            </a:r>
            <a:r>
              <a:rPr lang="it-IT" sz="2000" dirty="0">
                <a:solidFill>
                  <a:srgbClr val="1B1D20"/>
                </a:solidFill>
                <a:latin typeface="IBM Plex Sans" pitchFamily="34" charset="0"/>
                <a:ea typeface="IBM Plex Sans" pitchFamily="34" charset="-122"/>
                <a:cs typeface="IBM Plex Sans" pitchFamily="34" charset="-120"/>
              </a:rPr>
              <a:t>.  Permette di eseguire scenari di rete complessi su un dispositivo e di interagire in maniera programmatica con l’emulazione.</a:t>
            </a:r>
            <a:endParaRPr lang="it-IT" sz="2000" noProof="0" dirty="0">
              <a:solidFill>
                <a:srgbClr val="1B1D20"/>
              </a:solidFill>
              <a:latin typeface="IBM Plex Sans" pitchFamily="34" charset="0"/>
              <a:ea typeface="IBM Plex Sans" pitchFamily="34" charset="-122"/>
              <a:cs typeface="IBM Plex Sans" pitchFamily="34" charset="-120"/>
            </a:endParaRPr>
          </a:p>
        </p:txBody>
      </p:sp>
    </p:spTree>
    <p:extLst>
      <p:ext uri="{BB962C8B-B14F-4D97-AF65-F5344CB8AC3E}">
        <p14:creationId xmlns:p14="http://schemas.microsoft.com/office/powerpoint/2010/main" val="3723077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3" name="Shape 1"/>
          <p:cNvSpPr/>
          <p:nvPr/>
        </p:nvSpPr>
        <p:spPr>
          <a:xfrm>
            <a:off x="5676900" y="1911350"/>
            <a:ext cx="5689600" cy="3403600"/>
          </a:xfrm>
          <a:prstGeom prst="rect">
            <a:avLst/>
          </a:prstGeom>
          <a:noFill/>
          <a:ln w="12700">
            <a:solidFill>
              <a:srgbClr val="8A8F96"/>
            </a:solidFill>
            <a:prstDash val="dash"/>
          </a:ln>
        </p:spPr>
        <p:txBody>
          <a:bodyPr/>
          <a:lstStyle/>
          <a:p>
            <a:endParaRPr lang="it-IT" noProof="0" dirty="0"/>
          </a:p>
        </p:txBody>
      </p:sp>
      <p:sp>
        <p:nvSpPr>
          <p:cNvPr id="4" name="Text 2"/>
          <p:cNvSpPr/>
          <p:nvPr/>
        </p:nvSpPr>
        <p:spPr>
          <a:xfrm>
            <a:off x="5867400" y="2044700"/>
            <a:ext cx="3368358"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macchina </a:t>
            </a:r>
            <a:r>
              <a:rPr lang="it-IT" sz="1600" noProof="0" dirty="0" err="1">
                <a:solidFill>
                  <a:srgbClr val="5B5F66"/>
                </a:solidFill>
                <a:latin typeface="JetBrains Mono" pitchFamily="49" charset="0"/>
                <a:ea typeface="JetBrains Mono" pitchFamily="49" charset="-122"/>
                <a:cs typeface="JetBrains Mono" pitchFamily="49" charset="-120"/>
              </a:rPr>
              <a:t>host</a:t>
            </a:r>
            <a:endParaRPr lang="it-IT" sz="1600" noProof="0" dirty="0"/>
          </a:p>
        </p:txBody>
      </p:sp>
      <p:sp>
        <p:nvSpPr>
          <p:cNvPr id="5" name="Shape 3"/>
          <p:cNvSpPr/>
          <p:nvPr/>
        </p:nvSpPr>
        <p:spPr>
          <a:xfrm>
            <a:off x="6731000" y="3359150"/>
            <a:ext cx="25400" cy="1117600"/>
          </a:xfrm>
          <a:prstGeom prst="rect">
            <a:avLst/>
          </a:prstGeom>
          <a:solidFill>
            <a:srgbClr val="1B1D20"/>
          </a:solidFill>
          <a:ln/>
        </p:spPr>
        <p:txBody>
          <a:bodyPr/>
          <a:lstStyle/>
          <a:p>
            <a:endParaRPr lang="it-IT" noProof="0" dirty="0"/>
          </a:p>
        </p:txBody>
      </p:sp>
      <p:sp>
        <p:nvSpPr>
          <p:cNvPr id="6" name="Shape 4"/>
          <p:cNvSpPr/>
          <p:nvPr/>
        </p:nvSpPr>
        <p:spPr>
          <a:xfrm>
            <a:off x="8191500" y="3359150"/>
            <a:ext cx="25400" cy="1117600"/>
          </a:xfrm>
          <a:prstGeom prst="rect">
            <a:avLst/>
          </a:prstGeom>
          <a:solidFill>
            <a:srgbClr val="1B1D20"/>
          </a:solidFill>
          <a:ln/>
        </p:spPr>
        <p:txBody>
          <a:bodyPr/>
          <a:lstStyle/>
          <a:p>
            <a:endParaRPr lang="it-IT" noProof="0" dirty="0"/>
          </a:p>
        </p:txBody>
      </p:sp>
      <p:sp>
        <p:nvSpPr>
          <p:cNvPr id="7" name="Shape 5"/>
          <p:cNvSpPr/>
          <p:nvPr/>
        </p:nvSpPr>
        <p:spPr>
          <a:xfrm>
            <a:off x="8826500" y="3359150"/>
            <a:ext cx="25400" cy="1117600"/>
          </a:xfrm>
          <a:prstGeom prst="rect">
            <a:avLst/>
          </a:prstGeom>
          <a:solidFill>
            <a:srgbClr val="1B1D20"/>
          </a:solidFill>
          <a:ln/>
        </p:spPr>
        <p:txBody>
          <a:bodyPr/>
          <a:lstStyle/>
          <a:p>
            <a:endParaRPr lang="it-IT" noProof="0" dirty="0"/>
          </a:p>
        </p:txBody>
      </p:sp>
      <p:sp>
        <p:nvSpPr>
          <p:cNvPr id="8" name="Shape 6"/>
          <p:cNvSpPr/>
          <p:nvPr/>
        </p:nvSpPr>
        <p:spPr>
          <a:xfrm>
            <a:off x="10287000" y="3359150"/>
            <a:ext cx="25400" cy="1117600"/>
          </a:xfrm>
          <a:prstGeom prst="rect">
            <a:avLst/>
          </a:prstGeom>
          <a:solidFill>
            <a:srgbClr val="1B1D20"/>
          </a:solidFill>
          <a:ln/>
        </p:spPr>
        <p:txBody>
          <a:bodyPr/>
          <a:lstStyle/>
          <a:p>
            <a:endParaRPr lang="it-IT" noProof="0" dirty="0"/>
          </a:p>
        </p:txBody>
      </p:sp>
      <p:sp>
        <p:nvSpPr>
          <p:cNvPr id="9" name="Text 7"/>
          <p:cNvSpPr/>
          <p:nvPr/>
        </p:nvSpPr>
        <p:spPr>
          <a:xfrm>
            <a:off x="6067425" y="2555875"/>
            <a:ext cx="1358900" cy="787400"/>
          </a:xfrm>
          <a:prstGeom prst="rect">
            <a:avLst/>
          </a:prstGeom>
          <a:solidFill>
            <a:srgbClr val="60A5E3"/>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pc1</a:t>
            </a:r>
            <a:endParaRPr lang="it-IT" sz="2200" noProof="0" dirty="0"/>
          </a:p>
        </p:txBody>
      </p:sp>
      <p:sp>
        <p:nvSpPr>
          <p:cNvPr id="10" name="Text 8"/>
          <p:cNvSpPr/>
          <p:nvPr/>
        </p:nvSpPr>
        <p:spPr>
          <a:xfrm>
            <a:off x="7845425" y="2555875"/>
            <a:ext cx="1358900" cy="787400"/>
          </a:xfrm>
          <a:prstGeom prst="rect">
            <a:avLst/>
          </a:prstGeom>
          <a:solidFill>
            <a:srgbClr val="E37E5F"/>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pc2</a:t>
            </a:r>
            <a:endParaRPr lang="it-IT" sz="2200" noProof="0" dirty="0"/>
          </a:p>
        </p:txBody>
      </p:sp>
      <p:sp>
        <p:nvSpPr>
          <p:cNvPr id="11" name="Text 9"/>
          <p:cNvSpPr/>
          <p:nvPr/>
        </p:nvSpPr>
        <p:spPr>
          <a:xfrm>
            <a:off x="9623425" y="2555875"/>
            <a:ext cx="1358900" cy="787400"/>
          </a:xfrm>
          <a:prstGeom prst="rect">
            <a:avLst/>
          </a:prstGeom>
          <a:solidFill>
            <a:srgbClr val="A8DC6E"/>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pc3</a:t>
            </a:r>
            <a:endParaRPr lang="it-IT" sz="2200" noProof="0" dirty="0"/>
          </a:p>
        </p:txBody>
      </p:sp>
      <p:sp>
        <p:nvSpPr>
          <p:cNvPr id="12" name="Shape 10"/>
          <p:cNvSpPr/>
          <p:nvPr/>
        </p:nvSpPr>
        <p:spPr>
          <a:xfrm>
            <a:off x="6299200" y="4438650"/>
            <a:ext cx="2095500" cy="88900"/>
          </a:xfrm>
          <a:prstGeom prst="rect">
            <a:avLst/>
          </a:prstGeom>
          <a:solidFill>
            <a:srgbClr val="1B1D20"/>
          </a:solidFill>
          <a:ln/>
        </p:spPr>
        <p:txBody>
          <a:bodyPr/>
          <a:lstStyle/>
          <a:p>
            <a:endParaRPr lang="it-IT" noProof="0" dirty="0"/>
          </a:p>
        </p:txBody>
      </p:sp>
      <p:sp>
        <p:nvSpPr>
          <p:cNvPr id="13" name="Shape 11"/>
          <p:cNvSpPr/>
          <p:nvPr/>
        </p:nvSpPr>
        <p:spPr>
          <a:xfrm>
            <a:off x="8648700" y="4438650"/>
            <a:ext cx="2095500" cy="88900"/>
          </a:xfrm>
          <a:prstGeom prst="rect">
            <a:avLst/>
          </a:prstGeom>
          <a:solidFill>
            <a:srgbClr val="1B1D20"/>
          </a:solidFill>
          <a:ln/>
        </p:spPr>
        <p:txBody>
          <a:bodyPr/>
          <a:lstStyle/>
          <a:p>
            <a:endParaRPr lang="it-IT" noProof="0" dirty="0"/>
          </a:p>
        </p:txBody>
      </p:sp>
      <p:sp>
        <p:nvSpPr>
          <p:cNvPr id="14" name="Text 12"/>
          <p:cNvSpPr/>
          <p:nvPr/>
        </p:nvSpPr>
        <p:spPr>
          <a:xfrm>
            <a:off x="6819900" y="3778250"/>
            <a:ext cx="7366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p:txBody>
      </p:sp>
      <p:sp>
        <p:nvSpPr>
          <p:cNvPr id="15" name="Text 13"/>
          <p:cNvSpPr/>
          <p:nvPr/>
        </p:nvSpPr>
        <p:spPr>
          <a:xfrm>
            <a:off x="7378700" y="3778250"/>
            <a:ext cx="736600" cy="274320"/>
          </a:xfrm>
          <a:prstGeom prst="rect">
            <a:avLst/>
          </a:prstGeom>
          <a:noFill/>
          <a:ln/>
        </p:spPr>
        <p:txBody>
          <a:bodyPr wrap="square" lIns="0" tIns="0" rIns="0" bIns="0" rtlCol="0" anchor="t">
            <a:normAutofit/>
          </a:bodyPr>
          <a:lstStyle/>
          <a:p>
            <a:pPr marL="0" indent="0" algn="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p:txBody>
      </p:sp>
      <p:sp>
        <p:nvSpPr>
          <p:cNvPr id="16" name="Text 14"/>
          <p:cNvSpPr/>
          <p:nvPr/>
        </p:nvSpPr>
        <p:spPr>
          <a:xfrm>
            <a:off x="8915400" y="3778250"/>
            <a:ext cx="7366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eth1</a:t>
            </a:r>
            <a:endParaRPr lang="it-IT" sz="1600" noProof="0" dirty="0"/>
          </a:p>
        </p:txBody>
      </p:sp>
      <p:sp>
        <p:nvSpPr>
          <p:cNvPr id="17" name="Text 15"/>
          <p:cNvSpPr/>
          <p:nvPr/>
        </p:nvSpPr>
        <p:spPr>
          <a:xfrm>
            <a:off x="10375900" y="3778250"/>
            <a:ext cx="7366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p:txBody>
      </p:sp>
      <p:sp>
        <p:nvSpPr>
          <p:cNvPr id="18" name="Text 16"/>
          <p:cNvSpPr/>
          <p:nvPr/>
        </p:nvSpPr>
        <p:spPr>
          <a:xfrm>
            <a:off x="6235065" y="4641850"/>
            <a:ext cx="2223770" cy="327660"/>
          </a:xfrm>
          <a:prstGeom prst="rect">
            <a:avLst/>
          </a:prstGeom>
          <a:noFill/>
          <a:ln/>
        </p:spPr>
        <p:txBody>
          <a:bodyPr wrap="square" lIns="0" tIns="0" rIns="0" bIns="0" rtlCol="0" anchor="t">
            <a:normAutofit/>
          </a:bodyPr>
          <a:lstStyle/>
          <a:p>
            <a:pPr marL="0" indent="0" algn="ctr">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dominio A</a:t>
            </a:r>
            <a:endParaRPr lang="it-IT" sz="1800" noProof="0" dirty="0"/>
          </a:p>
        </p:txBody>
      </p:sp>
      <p:sp>
        <p:nvSpPr>
          <p:cNvPr id="19" name="Text 17"/>
          <p:cNvSpPr/>
          <p:nvPr/>
        </p:nvSpPr>
        <p:spPr>
          <a:xfrm>
            <a:off x="8584565" y="4641850"/>
            <a:ext cx="2223770" cy="327660"/>
          </a:xfrm>
          <a:prstGeom prst="rect">
            <a:avLst/>
          </a:prstGeom>
          <a:noFill/>
          <a:ln/>
        </p:spPr>
        <p:txBody>
          <a:bodyPr wrap="square" lIns="0" tIns="0" rIns="0" bIns="0" rtlCol="0" anchor="t">
            <a:normAutofit/>
          </a:bodyPr>
          <a:lstStyle/>
          <a:p>
            <a:pPr marL="0" indent="0" algn="ctr">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dominio B</a:t>
            </a:r>
            <a:endParaRPr lang="it-IT" sz="1800" noProof="0" dirty="0"/>
          </a:p>
        </p:txBody>
      </p:sp>
      <p:sp>
        <p:nvSpPr>
          <p:cNvPr id="21" name="Text 19"/>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Ogni dispositivo è un container</a:t>
            </a:r>
            <a:endParaRPr lang="it-IT" sz="4000" noProof="0" dirty="0"/>
          </a:p>
        </p:txBody>
      </p:sp>
      <p:sp>
        <p:nvSpPr>
          <p:cNvPr id="22" name="Text 20"/>
          <p:cNvSpPr/>
          <p:nvPr/>
        </p:nvSpPr>
        <p:spPr>
          <a:xfrm>
            <a:off x="812800" y="1932304"/>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01</a:t>
            </a:r>
            <a:endParaRPr lang="it-IT" sz="1600" noProof="0" dirty="0"/>
          </a:p>
        </p:txBody>
      </p:sp>
      <p:sp>
        <p:nvSpPr>
          <p:cNvPr id="23" name="Text 21"/>
          <p:cNvSpPr/>
          <p:nvPr/>
        </p:nvSpPr>
        <p:spPr>
          <a:xfrm>
            <a:off x="1295400" y="1889761"/>
            <a:ext cx="4146677" cy="1234440"/>
          </a:xfrm>
          <a:prstGeom prst="rect">
            <a:avLst/>
          </a:prstGeom>
          <a:noFill/>
          <a:ln/>
        </p:spPr>
        <p:txBody>
          <a:bodyPr wrap="square" lIns="0" tIns="0" rIns="0" bIns="0" rtlCol="0" anchor="t">
            <a:normAutofit/>
          </a:bodyPr>
          <a:lstStyle/>
          <a:p>
            <a:pPr marL="0" indent="0" algn="l">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Dispositivo = container.</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Namespace</a:t>
            </a:r>
            <a:r>
              <a:rPr lang="it-IT" sz="1800" noProof="0" dirty="0">
                <a:solidFill>
                  <a:srgbClr val="1B1D20"/>
                </a:solidFill>
                <a:latin typeface="IBM Plex Sans" pitchFamily="34" charset="0"/>
                <a:ea typeface="IBM Plex Sans" pitchFamily="34" charset="-122"/>
                <a:cs typeface="IBM Plex Sans" pitchFamily="34" charset="-120"/>
              </a:rPr>
              <a:t> propri: interfacce, routing </a:t>
            </a:r>
            <a:r>
              <a:rPr lang="it-IT" sz="1800" noProof="0" dirty="0" err="1">
                <a:solidFill>
                  <a:srgbClr val="1B1D20"/>
                </a:solidFill>
                <a:latin typeface="IBM Plex Sans" pitchFamily="34" charset="0"/>
                <a:ea typeface="IBM Plex Sans" pitchFamily="34" charset="-122"/>
                <a:cs typeface="IBM Plex Sans" pitchFamily="34" charset="-120"/>
              </a:rPr>
              <a:t>table</a:t>
            </a:r>
            <a:r>
              <a:rPr lang="it-IT" sz="1800" noProof="0" dirty="0">
                <a:solidFill>
                  <a:srgbClr val="1B1D20"/>
                </a:solidFill>
                <a:latin typeface="IBM Plex Sans" pitchFamily="34" charset="0"/>
                <a:ea typeface="IBM Plex Sans" pitchFamily="34" charset="-122"/>
                <a:cs typeface="IBM Plex Sans" pitchFamily="34" charset="-120"/>
              </a:rPr>
              <a:t>, processi, filesystem. Ruolo: </a:t>
            </a:r>
            <a:r>
              <a:rPr lang="it-IT" sz="1800" noProof="0" dirty="0" err="1">
                <a:solidFill>
                  <a:srgbClr val="1B1D20"/>
                </a:solidFill>
                <a:latin typeface="IBM Plex Sans" pitchFamily="34" charset="0"/>
                <a:ea typeface="IBM Plex Sans" pitchFamily="34" charset="-122"/>
                <a:cs typeface="IBM Plex Sans" pitchFamily="34" charset="-120"/>
              </a:rPr>
              <a:t>host</a:t>
            </a:r>
            <a:r>
              <a:rPr lang="it-IT" sz="1800" noProof="0" dirty="0">
                <a:solidFill>
                  <a:srgbClr val="1B1D20"/>
                </a:solidFill>
                <a:latin typeface="IBM Plex Sans" pitchFamily="34" charset="0"/>
                <a:ea typeface="IBM Plex Sans" pitchFamily="34" charset="-122"/>
                <a:cs typeface="IBM Plex Sans" pitchFamily="34" charset="-120"/>
              </a:rPr>
              <a:t>, router, switch, server.</a:t>
            </a:r>
            <a:endParaRPr lang="it-IT" sz="1800" noProof="0" dirty="0"/>
          </a:p>
        </p:txBody>
      </p:sp>
      <p:sp>
        <p:nvSpPr>
          <p:cNvPr id="24" name="Text 22"/>
          <p:cNvSpPr/>
          <p:nvPr/>
        </p:nvSpPr>
        <p:spPr>
          <a:xfrm>
            <a:off x="812800" y="3395346"/>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02</a:t>
            </a:r>
            <a:endParaRPr lang="it-IT" sz="1600" noProof="0" dirty="0"/>
          </a:p>
        </p:txBody>
      </p:sp>
      <p:sp>
        <p:nvSpPr>
          <p:cNvPr id="25" name="Text 23"/>
          <p:cNvSpPr/>
          <p:nvPr/>
        </p:nvSpPr>
        <p:spPr>
          <a:xfrm>
            <a:off x="1295400" y="3352800"/>
            <a:ext cx="4146677" cy="932180"/>
          </a:xfrm>
          <a:prstGeom prst="rect">
            <a:avLst/>
          </a:prstGeom>
          <a:noFill/>
          <a:ln/>
        </p:spPr>
        <p:txBody>
          <a:bodyPr wrap="square" lIns="0" tIns="0" rIns="0" bIns="0" rtlCol="0" anchor="t">
            <a:normAutofit/>
          </a:bodyPr>
          <a:lstStyle/>
          <a:p>
            <a:pPr marL="0" indent="0" algn="l">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LAN = dominio di collisione.</a:t>
            </a:r>
            <a:r>
              <a:rPr lang="it-IT" sz="1800" noProof="0" dirty="0">
                <a:solidFill>
                  <a:srgbClr val="1B1D20"/>
                </a:solidFill>
                <a:latin typeface="IBM Plex Sans" pitchFamily="34" charset="0"/>
                <a:ea typeface="IBM Plex Sans" pitchFamily="34" charset="-122"/>
                <a:cs typeface="IBM Plex Sans" pitchFamily="34" charset="-120"/>
              </a:rPr>
              <a:t> Segmento L2 condiviso: ogni interfaccia su un solo dominio, ogni dominio su N interfacce.</a:t>
            </a:r>
            <a:endParaRPr lang="it-IT" sz="1800" noProof="0" dirty="0"/>
          </a:p>
        </p:txBody>
      </p:sp>
      <p:sp>
        <p:nvSpPr>
          <p:cNvPr id="26" name="Text 24"/>
          <p:cNvSpPr/>
          <p:nvPr/>
        </p:nvSpPr>
        <p:spPr>
          <a:xfrm>
            <a:off x="812800" y="4556125"/>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03</a:t>
            </a:r>
            <a:endParaRPr lang="it-IT" sz="1600" noProof="0" dirty="0"/>
          </a:p>
        </p:txBody>
      </p:sp>
      <p:sp>
        <p:nvSpPr>
          <p:cNvPr id="27" name="Text 25"/>
          <p:cNvSpPr/>
          <p:nvPr/>
        </p:nvSpPr>
        <p:spPr>
          <a:xfrm>
            <a:off x="1295400" y="4513579"/>
            <a:ext cx="4146677" cy="932180"/>
          </a:xfrm>
          <a:prstGeom prst="rect">
            <a:avLst/>
          </a:prstGeom>
          <a:noFill/>
          <a:ln/>
        </p:spPr>
        <p:txBody>
          <a:bodyPr wrap="square" lIns="0" tIns="0" rIns="0" bIns="0" rtlCol="0" anchor="t">
            <a:normAutofit/>
          </a:bodyPr>
          <a:lstStyle/>
          <a:p>
            <a:pPr marL="0" indent="0" algn="l">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Un solo </a:t>
            </a:r>
            <a:r>
              <a:rPr lang="it-IT" sz="1800" b="1" noProof="0" dirty="0" err="1">
                <a:solidFill>
                  <a:srgbClr val="1B1D20"/>
                </a:solidFill>
                <a:latin typeface="IBM Plex Sans" pitchFamily="34" charset="0"/>
                <a:ea typeface="IBM Plex Sans" pitchFamily="34" charset="-122"/>
                <a:cs typeface="IBM Plex Sans" pitchFamily="34" charset="-120"/>
              </a:rPr>
              <a:t>host</a:t>
            </a:r>
            <a:r>
              <a:rPr lang="it-IT" sz="1800" b="1" noProof="0" dirty="0">
                <a:solidFill>
                  <a:srgbClr val="1B1D20"/>
                </a:solidFill>
                <a:latin typeface="IBM Plex Sans" pitchFamily="34" charset="0"/>
                <a:ea typeface="IBM Plex Sans" pitchFamily="34" charset="-122"/>
                <a:cs typeface="IBM Plex Sans" pitchFamily="34" charset="-120"/>
              </a:rPr>
              <a:t>.</a:t>
            </a:r>
            <a:r>
              <a:rPr lang="it-IT" sz="1800" noProof="0" dirty="0">
                <a:solidFill>
                  <a:srgbClr val="1B1D20"/>
                </a:solidFill>
                <a:latin typeface="IBM Plex Sans" pitchFamily="34" charset="0"/>
                <a:ea typeface="IBM Plex Sans" pitchFamily="34" charset="-122"/>
                <a:cs typeface="IBM Plex Sans" pitchFamily="34" charset="-120"/>
              </a:rPr>
              <a:t> L’intera topologia gira sulla macchina locale ed è descritta da file di testo.</a:t>
            </a:r>
            <a:endParaRPr lang="it-IT" sz="1800" noProof="0" dirty="0"/>
          </a:p>
        </p:txBody>
      </p:sp>
    </p:spTree>
    <p:extLst>
      <p:ext uri="{BB962C8B-B14F-4D97-AF65-F5344CB8AC3E}">
        <p14:creationId xmlns:p14="http://schemas.microsoft.com/office/powerpoint/2010/main" val="841971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Container, non macchine virtuali</a:t>
            </a:r>
            <a:endParaRPr lang="it-IT" sz="4000" noProof="0" dirty="0"/>
          </a:p>
        </p:txBody>
      </p:sp>
      <p:sp>
        <p:nvSpPr>
          <p:cNvPr id="5" name="Text 3"/>
          <p:cNvSpPr/>
          <p:nvPr/>
        </p:nvSpPr>
        <p:spPr>
          <a:xfrm>
            <a:off x="812800" y="1889761"/>
            <a:ext cx="262928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VM</a:t>
            </a:r>
            <a:endParaRPr lang="it-IT" sz="1600" noProof="0" dirty="0"/>
          </a:p>
        </p:txBody>
      </p:sp>
      <p:sp>
        <p:nvSpPr>
          <p:cNvPr id="6" name="Text 4"/>
          <p:cNvSpPr/>
          <p:nvPr/>
        </p:nvSpPr>
        <p:spPr>
          <a:xfrm>
            <a:off x="819150" y="2259329"/>
            <a:ext cx="1231900" cy="558800"/>
          </a:xfrm>
          <a:prstGeom prst="rect">
            <a:avLst/>
          </a:prstGeom>
          <a:noFill/>
          <a:ln w="12700">
            <a:solidFill>
              <a:srgbClr val="1B1D20"/>
            </a:solidFill>
            <a:prstDash val="solid"/>
          </a:ln>
        </p:spPr>
        <p:txBody>
          <a:bodyPr wrap="square" lIns="0" tIns="146050" rIns="0" bIns="120650" rtlCol="0" anchor="t">
            <a:normAutofit/>
          </a:bodyPr>
          <a:lstStyle/>
          <a:p>
            <a:pPr marL="0" indent="0" algn="ctr">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router A</a:t>
            </a:r>
            <a:endParaRPr lang="it-IT" sz="1600" noProof="0" dirty="0"/>
          </a:p>
        </p:txBody>
      </p:sp>
      <p:sp>
        <p:nvSpPr>
          <p:cNvPr id="7" name="Text 5"/>
          <p:cNvSpPr/>
          <p:nvPr/>
        </p:nvSpPr>
        <p:spPr>
          <a:xfrm>
            <a:off x="2127250" y="2259329"/>
            <a:ext cx="1231900" cy="558800"/>
          </a:xfrm>
          <a:prstGeom prst="rect">
            <a:avLst/>
          </a:prstGeom>
          <a:noFill/>
          <a:ln w="12700">
            <a:solidFill>
              <a:srgbClr val="1B1D20"/>
            </a:solidFill>
            <a:prstDash val="solid"/>
          </a:ln>
        </p:spPr>
        <p:txBody>
          <a:bodyPr wrap="square" lIns="0" tIns="146050" rIns="0" bIns="120650" rtlCol="0" anchor="t">
            <a:normAutofit/>
          </a:bodyPr>
          <a:lstStyle/>
          <a:p>
            <a:pPr marL="0" indent="0" algn="ctr">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router B</a:t>
            </a:r>
            <a:endParaRPr lang="it-IT" sz="1600" noProof="0" dirty="0"/>
          </a:p>
        </p:txBody>
      </p:sp>
      <p:sp>
        <p:nvSpPr>
          <p:cNvPr id="8" name="Text 6"/>
          <p:cNvSpPr/>
          <p:nvPr/>
        </p:nvSpPr>
        <p:spPr>
          <a:xfrm>
            <a:off x="812800" y="2887979"/>
            <a:ext cx="1244600" cy="571500"/>
          </a:xfrm>
          <a:prstGeom prst="rect">
            <a:avLst/>
          </a:prstGeom>
          <a:solidFill>
            <a:srgbClr val="E4E2DB"/>
          </a:solidFill>
          <a:ln/>
        </p:spPr>
        <p:txBody>
          <a:bodyPr wrap="square" lIns="0" tIns="152400" rIns="0" bIns="127000" rtlCol="0" anchor="t">
            <a:normAutofit/>
          </a:bodyPr>
          <a:lstStyle/>
          <a:p>
            <a:pPr marL="0" indent="0" algn="ctr">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OS guest</a:t>
            </a:r>
            <a:endParaRPr lang="it-IT" sz="1600" noProof="0" dirty="0"/>
          </a:p>
        </p:txBody>
      </p:sp>
      <p:sp>
        <p:nvSpPr>
          <p:cNvPr id="9" name="Text 7"/>
          <p:cNvSpPr/>
          <p:nvPr/>
        </p:nvSpPr>
        <p:spPr>
          <a:xfrm>
            <a:off x="2120900" y="2887979"/>
            <a:ext cx="1244600" cy="571500"/>
          </a:xfrm>
          <a:prstGeom prst="rect">
            <a:avLst/>
          </a:prstGeom>
          <a:solidFill>
            <a:srgbClr val="E4E2DB"/>
          </a:solidFill>
          <a:ln/>
        </p:spPr>
        <p:txBody>
          <a:bodyPr wrap="square" lIns="0" tIns="152400" rIns="0" bIns="127000" rtlCol="0" anchor="t">
            <a:normAutofit/>
          </a:bodyPr>
          <a:lstStyle/>
          <a:p>
            <a:pPr marL="0" indent="0" algn="ctr">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OS guest</a:t>
            </a:r>
            <a:endParaRPr lang="it-IT" sz="1600" noProof="0" dirty="0"/>
          </a:p>
        </p:txBody>
      </p:sp>
      <p:sp>
        <p:nvSpPr>
          <p:cNvPr id="10" name="Text 8"/>
          <p:cNvSpPr/>
          <p:nvPr/>
        </p:nvSpPr>
        <p:spPr>
          <a:xfrm>
            <a:off x="812800" y="3522979"/>
            <a:ext cx="2552700" cy="571500"/>
          </a:xfrm>
          <a:prstGeom prst="rect">
            <a:avLst/>
          </a:prstGeom>
          <a:solidFill>
            <a:srgbClr val="B9BDC3"/>
          </a:solidFill>
          <a:ln/>
        </p:spPr>
        <p:txBody>
          <a:bodyPr wrap="square" lIns="0" tIns="152400" rIns="0" bIns="127000" rtlCol="0" anchor="t">
            <a:normAutofit/>
          </a:bodyPr>
          <a:lstStyle/>
          <a:p>
            <a:pPr marL="0" indent="0" algn="ctr">
              <a:lnSpc>
                <a:spcPts val="2100"/>
              </a:lnSpc>
              <a:buNone/>
            </a:pPr>
            <a:r>
              <a:rPr lang="it-IT" sz="1600" noProof="0" dirty="0" err="1">
                <a:solidFill>
                  <a:srgbClr val="1B1D20"/>
                </a:solidFill>
                <a:latin typeface="IBM Plex Sans" pitchFamily="34" charset="0"/>
                <a:ea typeface="IBM Plex Sans" pitchFamily="34" charset="-122"/>
                <a:cs typeface="IBM Plex Sans" pitchFamily="34" charset="-120"/>
              </a:rPr>
              <a:t>Hypervisor</a:t>
            </a:r>
            <a:endParaRPr lang="it-IT" sz="1600" noProof="0" dirty="0"/>
          </a:p>
        </p:txBody>
      </p:sp>
      <p:sp>
        <p:nvSpPr>
          <p:cNvPr id="11" name="Text 9"/>
          <p:cNvSpPr/>
          <p:nvPr/>
        </p:nvSpPr>
        <p:spPr>
          <a:xfrm>
            <a:off x="812800" y="4157979"/>
            <a:ext cx="2552700" cy="571500"/>
          </a:xfrm>
          <a:prstGeom prst="rect">
            <a:avLst/>
          </a:prstGeom>
          <a:solidFill>
            <a:srgbClr val="5B5F66"/>
          </a:solidFill>
          <a:ln/>
        </p:spPr>
        <p:txBody>
          <a:bodyPr wrap="square" lIns="0" tIns="152400" rIns="0" bIns="127000" rtlCol="0" anchor="t">
            <a:normAutofit/>
          </a:bodyPr>
          <a:lstStyle/>
          <a:p>
            <a:pPr marL="0" indent="0" algn="ctr">
              <a:lnSpc>
                <a:spcPts val="2100"/>
              </a:lnSpc>
              <a:buNone/>
            </a:pPr>
            <a:r>
              <a:rPr lang="it-IT" sz="1600" noProof="0" dirty="0">
                <a:solidFill>
                  <a:srgbClr val="F7F6F2"/>
                </a:solidFill>
                <a:latin typeface="IBM Plex Sans" pitchFamily="34" charset="0"/>
                <a:ea typeface="IBM Plex Sans" pitchFamily="34" charset="-122"/>
                <a:cs typeface="IBM Plex Sans" pitchFamily="34" charset="-120"/>
              </a:rPr>
              <a:t>Hardware</a:t>
            </a:r>
            <a:endParaRPr lang="it-IT" sz="1600" noProof="0" dirty="0"/>
          </a:p>
        </p:txBody>
      </p:sp>
      <p:sp>
        <p:nvSpPr>
          <p:cNvPr id="12" name="Text 10"/>
          <p:cNvSpPr/>
          <p:nvPr/>
        </p:nvSpPr>
        <p:spPr>
          <a:xfrm>
            <a:off x="812800" y="4869179"/>
            <a:ext cx="2629281"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Un kernel per apparato: GB di RAM, boot in minuti.</a:t>
            </a:r>
            <a:endParaRPr lang="it-IT" sz="1600" noProof="0" dirty="0"/>
          </a:p>
        </p:txBody>
      </p:sp>
      <p:sp>
        <p:nvSpPr>
          <p:cNvPr id="13" name="Text 11"/>
          <p:cNvSpPr/>
          <p:nvPr/>
        </p:nvSpPr>
        <p:spPr>
          <a:xfrm>
            <a:off x="3670300" y="1889761"/>
            <a:ext cx="262928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container</a:t>
            </a:r>
            <a:endParaRPr lang="it-IT" sz="1600" noProof="0" dirty="0"/>
          </a:p>
        </p:txBody>
      </p:sp>
      <p:sp>
        <p:nvSpPr>
          <p:cNvPr id="14" name="Text 12"/>
          <p:cNvSpPr/>
          <p:nvPr/>
        </p:nvSpPr>
        <p:spPr>
          <a:xfrm>
            <a:off x="3676650" y="2259329"/>
            <a:ext cx="795867" cy="558800"/>
          </a:xfrm>
          <a:prstGeom prst="rect">
            <a:avLst/>
          </a:prstGeom>
          <a:solidFill>
            <a:srgbClr val="60A5E3"/>
          </a:solidFill>
          <a:ln w="12700">
            <a:solidFill>
              <a:srgbClr val="1B1D20"/>
            </a:solidFill>
            <a:prstDash val="solid"/>
          </a:ln>
        </p:spPr>
        <p:txBody>
          <a:bodyPr wrap="square" lIns="0" tIns="146050" rIns="0" bIns="120650" rtlCol="0" anchor="t">
            <a:normAutofit/>
          </a:bodyPr>
          <a:lstStyle/>
          <a:p>
            <a:pPr marL="0" indent="0" algn="ctr">
              <a:lnSpc>
                <a:spcPts val="2100"/>
              </a:lnSpc>
              <a:buNone/>
            </a:pPr>
            <a:r>
              <a:rPr lang="it-IT" sz="1600" noProof="0" dirty="0">
                <a:solidFill>
                  <a:srgbClr val="1B1D20"/>
                </a:solidFill>
                <a:latin typeface="JetBrains Mono" pitchFamily="49" charset="0"/>
                <a:ea typeface="JetBrains Mono" pitchFamily="49" charset="-122"/>
                <a:cs typeface="JetBrains Mono" pitchFamily="49" charset="-120"/>
              </a:rPr>
              <a:t>pc1</a:t>
            </a:r>
            <a:endParaRPr lang="it-IT" sz="1600" noProof="0" dirty="0"/>
          </a:p>
        </p:txBody>
      </p:sp>
      <p:sp>
        <p:nvSpPr>
          <p:cNvPr id="15" name="Text 13"/>
          <p:cNvSpPr/>
          <p:nvPr/>
        </p:nvSpPr>
        <p:spPr>
          <a:xfrm>
            <a:off x="4548717" y="2259329"/>
            <a:ext cx="795867" cy="558800"/>
          </a:xfrm>
          <a:prstGeom prst="rect">
            <a:avLst/>
          </a:prstGeom>
          <a:solidFill>
            <a:srgbClr val="E37E5F"/>
          </a:solidFill>
          <a:ln w="12700">
            <a:solidFill>
              <a:srgbClr val="1B1D20"/>
            </a:solidFill>
            <a:prstDash val="solid"/>
          </a:ln>
        </p:spPr>
        <p:txBody>
          <a:bodyPr wrap="square" lIns="0" tIns="146050" rIns="0" bIns="120650" rtlCol="0" anchor="t">
            <a:normAutofit/>
          </a:bodyPr>
          <a:lstStyle/>
          <a:p>
            <a:pPr marL="0" indent="0" algn="ctr">
              <a:lnSpc>
                <a:spcPts val="2100"/>
              </a:lnSpc>
              <a:buNone/>
            </a:pPr>
            <a:r>
              <a:rPr lang="it-IT" sz="1600" noProof="0" dirty="0">
                <a:solidFill>
                  <a:srgbClr val="1B1D20"/>
                </a:solidFill>
                <a:latin typeface="JetBrains Mono" pitchFamily="49" charset="0"/>
                <a:ea typeface="JetBrains Mono" pitchFamily="49" charset="-122"/>
                <a:cs typeface="JetBrains Mono" pitchFamily="49" charset="-120"/>
              </a:rPr>
              <a:t>r1</a:t>
            </a:r>
            <a:endParaRPr lang="it-IT" sz="1600" noProof="0" dirty="0"/>
          </a:p>
        </p:txBody>
      </p:sp>
      <p:sp>
        <p:nvSpPr>
          <p:cNvPr id="16" name="Text 14"/>
          <p:cNvSpPr/>
          <p:nvPr/>
        </p:nvSpPr>
        <p:spPr>
          <a:xfrm>
            <a:off x="5420783" y="2259329"/>
            <a:ext cx="795867" cy="558800"/>
          </a:xfrm>
          <a:prstGeom prst="rect">
            <a:avLst/>
          </a:prstGeom>
          <a:solidFill>
            <a:srgbClr val="A8DC6E"/>
          </a:solidFill>
          <a:ln w="12700">
            <a:solidFill>
              <a:srgbClr val="1B1D20"/>
            </a:solidFill>
            <a:prstDash val="solid"/>
          </a:ln>
        </p:spPr>
        <p:txBody>
          <a:bodyPr wrap="square" lIns="0" tIns="146050" rIns="0" bIns="120650" rtlCol="0" anchor="t">
            <a:normAutofit/>
          </a:bodyPr>
          <a:lstStyle/>
          <a:p>
            <a:pPr marL="0" indent="0" algn="ctr">
              <a:lnSpc>
                <a:spcPts val="2100"/>
              </a:lnSpc>
              <a:buNone/>
            </a:pPr>
            <a:r>
              <a:rPr lang="it-IT" sz="1600" noProof="0" dirty="0">
                <a:solidFill>
                  <a:srgbClr val="1B1D20"/>
                </a:solidFill>
                <a:latin typeface="JetBrains Mono" pitchFamily="49" charset="0"/>
                <a:ea typeface="JetBrains Mono" pitchFamily="49" charset="-122"/>
                <a:cs typeface="JetBrains Mono" pitchFamily="49" charset="-120"/>
              </a:rPr>
              <a:t>r2</a:t>
            </a:r>
            <a:endParaRPr lang="it-IT" sz="1600" noProof="0" dirty="0"/>
          </a:p>
        </p:txBody>
      </p:sp>
      <p:sp>
        <p:nvSpPr>
          <p:cNvPr id="17" name="Text 15"/>
          <p:cNvSpPr/>
          <p:nvPr/>
        </p:nvSpPr>
        <p:spPr>
          <a:xfrm>
            <a:off x="3670300" y="2887979"/>
            <a:ext cx="2552700" cy="571500"/>
          </a:xfrm>
          <a:prstGeom prst="rect">
            <a:avLst/>
          </a:prstGeom>
          <a:solidFill>
            <a:srgbClr val="1B1D20"/>
          </a:solidFill>
          <a:ln/>
        </p:spPr>
        <p:txBody>
          <a:bodyPr wrap="square" lIns="0" tIns="152400" rIns="0" bIns="127000" rtlCol="0" anchor="t">
            <a:normAutofit/>
          </a:bodyPr>
          <a:lstStyle/>
          <a:p>
            <a:pPr marL="0" indent="0" algn="ctr">
              <a:lnSpc>
                <a:spcPts val="2100"/>
              </a:lnSpc>
              <a:buNone/>
            </a:pPr>
            <a:r>
              <a:rPr lang="it-IT" sz="1600" noProof="0" dirty="0">
                <a:solidFill>
                  <a:srgbClr val="F7F6F2"/>
                </a:solidFill>
                <a:latin typeface="IBM Plex Sans" pitchFamily="34" charset="0"/>
                <a:ea typeface="IBM Plex Sans" pitchFamily="34" charset="-122"/>
                <a:cs typeface="IBM Plex Sans" pitchFamily="34" charset="-120"/>
              </a:rPr>
              <a:t>Docker Engine</a:t>
            </a:r>
            <a:endParaRPr lang="it-IT" sz="1600" noProof="0" dirty="0"/>
          </a:p>
        </p:txBody>
      </p:sp>
      <p:sp>
        <p:nvSpPr>
          <p:cNvPr id="18" name="Text 16"/>
          <p:cNvSpPr/>
          <p:nvPr/>
        </p:nvSpPr>
        <p:spPr>
          <a:xfrm>
            <a:off x="3670300" y="3522979"/>
            <a:ext cx="2552700" cy="571500"/>
          </a:xfrm>
          <a:prstGeom prst="rect">
            <a:avLst/>
          </a:prstGeom>
          <a:solidFill>
            <a:srgbClr val="B9BDC3"/>
          </a:solidFill>
          <a:ln/>
        </p:spPr>
        <p:txBody>
          <a:bodyPr wrap="square" lIns="0" tIns="152400" rIns="0" bIns="127000" rtlCol="0" anchor="t">
            <a:normAutofit/>
          </a:bodyPr>
          <a:lstStyle/>
          <a:p>
            <a:pPr marL="0" indent="0" algn="ctr">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Kernel condiviso</a:t>
            </a:r>
            <a:endParaRPr lang="it-IT" sz="1600" noProof="0" dirty="0"/>
          </a:p>
        </p:txBody>
      </p:sp>
      <p:sp>
        <p:nvSpPr>
          <p:cNvPr id="19" name="Text 17"/>
          <p:cNvSpPr/>
          <p:nvPr/>
        </p:nvSpPr>
        <p:spPr>
          <a:xfrm>
            <a:off x="3670300" y="4157979"/>
            <a:ext cx="2552700" cy="571500"/>
          </a:xfrm>
          <a:prstGeom prst="rect">
            <a:avLst/>
          </a:prstGeom>
          <a:solidFill>
            <a:srgbClr val="5B5F66"/>
          </a:solidFill>
          <a:ln/>
        </p:spPr>
        <p:txBody>
          <a:bodyPr wrap="square" lIns="0" tIns="152400" rIns="0" bIns="127000" rtlCol="0" anchor="t">
            <a:normAutofit/>
          </a:bodyPr>
          <a:lstStyle/>
          <a:p>
            <a:pPr marL="0" indent="0" algn="ctr">
              <a:lnSpc>
                <a:spcPts val="2100"/>
              </a:lnSpc>
              <a:buNone/>
            </a:pPr>
            <a:r>
              <a:rPr lang="it-IT" sz="1600" noProof="0" dirty="0">
                <a:solidFill>
                  <a:srgbClr val="F7F6F2"/>
                </a:solidFill>
                <a:latin typeface="IBM Plex Sans" pitchFamily="34" charset="0"/>
                <a:ea typeface="IBM Plex Sans" pitchFamily="34" charset="-122"/>
                <a:cs typeface="IBM Plex Sans" pitchFamily="34" charset="-120"/>
              </a:rPr>
              <a:t>Hardware</a:t>
            </a:r>
            <a:endParaRPr lang="it-IT" sz="1600" noProof="0" dirty="0"/>
          </a:p>
        </p:txBody>
      </p:sp>
      <p:sp>
        <p:nvSpPr>
          <p:cNvPr id="20" name="Text 18"/>
          <p:cNvSpPr/>
          <p:nvPr/>
        </p:nvSpPr>
        <p:spPr>
          <a:xfrm>
            <a:off x="3670300" y="4869179"/>
            <a:ext cx="2629281"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Solo i processi dell'apparato: avvio in secondi.</a:t>
            </a:r>
            <a:endParaRPr lang="it-IT" sz="1600" noProof="0" dirty="0"/>
          </a:p>
        </p:txBody>
      </p:sp>
      <p:sp>
        <p:nvSpPr>
          <p:cNvPr id="21" name="Shape 19"/>
          <p:cNvSpPr/>
          <p:nvPr/>
        </p:nvSpPr>
        <p:spPr>
          <a:xfrm>
            <a:off x="6530975" y="1889761"/>
            <a:ext cx="0" cy="3512820"/>
          </a:xfrm>
          <a:prstGeom prst="line">
            <a:avLst/>
          </a:prstGeom>
          <a:noFill/>
          <a:ln w="6350">
            <a:solidFill>
              <a:srgbClr val="CFCCC4"/>
            </a:solidFill>
            <a:prstDash val="solid"/>
          </a:ln>
        </p:spPr>
        <p:txBody>
          <a:bodyPr/>
          <a:lstStyle/>
          <a:p>
            <a:endParaRPr lang="it-IT" noProof="0" dirty="0"/>
          </a:p>
        </p:txBody>
      </p:sp>
      <p:sp>
        <p:nvSpPr>
          <p:cNvPr id="22" name="Text 20"/>
          <p:cNvSpPr/>
          <p:nvPr/>
        </p:nvSpPr>
        <p:spPr>
          <a:xfrm>
            <a:off x="6838950" y="1889761"/>
            <a:ext cx="4676458" cy="314960"/>
          </a:xfrm>
          <a:prstGeom prst="rect">
            <a:avLst/>
          </a:prstGeom>
          <a:noFill/>
          <a:ln/>
        </p:spPr>
        <p:txBody>
          <a:bodyPr wrap="square" lIns="0" tIns="0" rIns="0" bIns="0" rtlCol="0" anchor="t">
            <a:normAutofit/>
          </a:bodyPr>
          <a:lstStyle/>
          <a:p>
            <a:pPr marL="0" indent="0" algn="l">
              <a:lnSpc>
                <a:spcPts val="2375"/>
              </a:lnSpc>
              <a:buNone/>
            </a:pPr>
            <a:r>
              <a:rPr lang="it-IT" sz="1900" b="1" noProof="0" dirty="0" err="1">
                <a:solidFill>
                  <a:srgbClr val="1B1D20"/>
                </a:solidFill>
                <a:latin typeface="IBM Plex Sans" pitchFamily="34" charset="0"/>
                <a:ea typeface="IBM Plex Sans" pitchFamily="34" charset="-122"/>
                <a:cs typeface="IBM Plex Sans" pitchFamily="34" charset="-120"/>
              </a:rPr>
              <a:t>Namespace</a:t>
            </a:r>
            <a:r>
              <a:rPr lang="it-IT" sz="1900" b="1" noProof="0" dirty="0">
                <a:solidFill>
                  <a:srgbClr val="1B1D20"/>
                </a:solidFill>
                <a:latin typeface="IBM Plex Sans" pitchFamily="34" charset="0"/>
                <a:ea typeface="IBM Plex Sans" pitchFamily="34" charset="-122"/>
                <a:cs typeface="IBM Plex Sans" pitchFamily="34" charset="-120"/>
              </a:rPr>
              <a:t> Linux</a:t>
            </a:r>
            <a:endParaRPr lang="it-IT" sz="1900" noProof="0" dirty="0"/>
          </a:p>
        </p:txBody>
      </p:sp>
      <p:sp>
        <p:nvSpPr>
          <p:cNvPr id="23" name="Text 21"/>
          <p:cNvSpPr/>
          <p:nvPr/>
        </p:nvSpPr>
        <p:spPr>
          <a:xfrm>
            <a:off x="6838950" y="2230121"/>
            <a:ext cx="4676458"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Il network </a:t>
            </a:r>
            <a:r>
              <a:rPr lang="it-IT" sz="1600" noProof="0" dirty="0" err="1">
                <a:solidFill>
                  <a:srgbClr val="5B5F66"/>
                </a:solidFill>
                <a:latin typeface="IBM Plex Sans" pitchFamily="34" charset="0"/>
                <a:ea typeface="IBM Plex Sans" pitchFamily="34" charset="-122"/>
                <a:cs typeface="IBM Plex Sans" pitchFamily="34" charset="-120"/>
              </a:rPr>
              <a:t>namespace</a:t>
            </a:r>
            <a:r>
              <a:rPr lang="it-IT" sz="1600" noProof="0" dirty="0">
                <a:solidFill>
                  <a:srgbClr val="5B5F66"/>
                </a:solidFill>
                <a:latin typeface="IBM Plex Sans" pitchFamily="34" charset="0"/>
                <a:ea typeface="IBM Plex Sans" pitchFamily="34" charset="-122"/>
                <a:cs typeface="IBM Plex Sans" pitchFamily="34" charset="-120"/>
              </a:rPr>
              <a:t> dà a ogni container interfacce, routing </a:t>
            </a:r>
            <a:r>
              <a:rPr lang="it-IT" sz="1600" noProof="0" dirty="0" err="1">
                <a:solidFill>
                  <a:srgbClr val="5B5F66"/>
                </a:solidFill>
                <a:latin typeface="IBM Plex Sans" pitchFamily="34" charset="0"/>
                <a:ea typeface="IBM Plex Sans" pitchFamily="34" charset="-122"/>
                <a:cs typeface="IBM Plex Sans" pitchFamily="34" charset="-120"/>
              </a:rPr>
              <a:t>table</a:t>
            </a:r>
            <a:r>
              <a:rPr lang="it-IT" sz="1600" noProof="0" dirty="0">
                <a:solidFill>
                  <a:srgbClr val="5B5F66"/>
                </a:solidFill>
                <a:latin typeface="IBM Plex Sans" pitchFamily="34" charset="0"/>
                <a:ea typeface="IBM Plex Sans" pitchFamily="34" charset="-122"/>
                <a:cs typeface="IBM Plex Sans" pitchFamily="34" charset="-120"/>
              </a:rPr>
              <a:t> e </a:t>
            </a:r>
            <a:r>
              <a:rPr lang="it-IT" sz="1600" noProof="0" dirty="0" err="1">
                <a:solidFill>
                  <a:srgbClr val="5B5F66"/>
                </a:solidFill>
                <a:latin typeface="IBM Plex Sans" pitchFamily="34" charset="0"/>
                <a:ea typeface="IBM Plex Sans" pitchFamily="34" charset="-122"/>
                <a:cs typeface="IBM Plex Sans" pitchFamily="34" charset="-120"/>
              </a:rPr>
              <a:t>netfilter</a:t>
            </a:r>
            <a:r>
              <a:rPr lang="it-IT" sz="1600" noProof="0" dirty="0">
                <a:solidFill>
                  <a:srgbClr val="5B5F66"/>
                </a:solidFill>
                <a:latin typeface="IBM Plex Sans" pitchFamily="34" charset="0"/>
                <a:ea typeface="IBM Plex Sans" pitchFamily="34" charset="-122"/>
                <a:cs typeface="IBM Plex Sans" pitchFamily="34" charset="-120"/>
              </a:rPr>
              <a:t> propri.</a:t>
            </a:r>
            <a:endParaRPr lang="it-IT" sz="1600" noProof="0" dirty="0"/>
          </a:p>
        </p:txBody>
      </p:sp>
      <p:sp>
        <p:nvSpPr>
          <p:cNvPr id="24" name="Text 22"/>
          <p:cNvSpPr/>
          <p:nvPr/>
        </p:nvSpPr>
        <p:spPr>
          <a:xfrm>
            <a:off x="6838950" y="3053079"/>
            <a:ext cx="4676458" cy="314960"/>
          </a:xfrm>
          <a:prstGeom prst="rect">
            <a:avLst/>
          </a:prstGeom>
          <a:noFill/>
          <a:ln/>
        </p:spPr>
        <p:txBody>
          <a:bodyPr wrap="square" lIns="0" tIns="0" rIns="0" bIns="0" rtlCol="0" anchor="t">
            <a:normAutofit/>
          </a:bodyPr>
          <a:lstStyle/>
          <a:p>
            <a:pPr marL="0" indent="0" algn="l">
              <a:lnSpc>
                <a:spcPts val="2375"/>
              </a:lnSpc>
              <a:buNone/>
            </a:pPr>
            <a:r>
              <a:rPr lang="it-IT" sz="1900" b="1" noProof="0" dirty="0">
                <a:solidFill>
                  <a:srgbClr val="1B1D20"/>
                </a:solidFill>
                <a:latin typeface="IBM Plex Sans" pitchFamily="34" charset="0"/>
                <a:ea typeface="IBM Plex Sans" pitchFamily="34" charset="-122"/>
                <a:cs typeface="IBM Plex Sans" pitchFamily="34" charset="-120"/>
              </a:rPr>
              <a:t>Immagini Docker</a:t>
            </a:r>
            <a:endParaRPr lang="it-IT" sz="1900" noProof="0" dirty="0"/>
          </a:p>
        </p:txBody>
      </p:sp>
      <p:sp>
        <p:nvSpPr>
          <p:cNvPr id="25" name="Text 23"/>
          <p:cNvSpPr/>
          <p:nvPr/>
        </p:nvSpPr>
        <p:spPr>
          <a:xfrm>
            <a:off x="6838950" y="3393439"/>
            <a:ext cx="4676458"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kathara/base, kathara/</a:t>
            </a:r>
            <a:r>
              <a:rPr lang="it-IT" sz="1600" noProof="0" dirty="0" err="1">
                <a:solidFill>
                  <a:srgbClr val="5B5F66"/>
                </a:solidFill>
                <a:latin typeface="IBM Plex Sans" pitchFamily="34" charset="0"/>
                <a:ea typeface="IBM Plex Sans" pitchFamily="34" charset="-122"/>
                <a:cs typeface="IBM Plex Sans" pitchFamily="34" charset="-120"/>
              </a:rPr>
              <a:t>frr</a:t>
            </a:r>
            <a:r>
              <a:rPr lang="it-IT" sz="1600" noProof="0" dirty="0">
                <a:solidFill>
                  <a:srgbClr val="5B5F66"/>
                </a:solidFill>
                <a:latin typeface="IBM Plex Sans" pitchFamily="34" charset="0"/>
                <a:ea typeface="IBM Plex Sans" pitchFamily="34" charset="-122"/>
                <a:cs typeface="IBM Plex Sans" pitchFamily="34" charset="-120"/>
              </a:rPr>
              <a:t>, kathara/</a:t>
            </a:r>
            <a:r>
              <a:rPr lang="it-IT" sz="1600" noProof="0" dirty="0" err="1">
                <a:solidFill>
                  <a:srgbClr val="5B5F66"/>
                </a:solidFill>
                <a:latin typeface="IBM Plex Sans" pitchFamily="34" charset="0"/>
                <a:ea typeface="IBM Plex Sans" pitchFamily="34" charset="-122"/>
                <a:cs typeface="IBM Plex Sans" pitchFamily="34" charset="-120"/>
              </a:rPr>
              <a:t>openvswitch</a:t>
            </a:r>
            <a:r>
              <a:rPr lang="it-IT" sz="1600" noProof="0" dirty="0">
                <a:solidFill>
                  <a:srgbClr val="5B5F66"/>
                </a:solidFill>
                <a:latin typeface="IBM Plex Sans" pitchFamily="34" charset="0"/>
                <a:ea typeface="IBM Plex Sans" pitchFamily="34" charset="-122"/>
                <a:cs typeface="IBM Plex Sans" pitchFamily="34" charset="-120"/>
              </a:rPr>
              <a:t>, kathara/p4… o un'immagine custom.</a:t>
            </a:r>
            <a:endParaRPr lang="it-IT" sz="1600" noProof="0" dirty="0"/>
          </a:p>
        </p:txBody>
      </p:sp>
      <p:sp>
        <p:nvSpPr>
          <p:cNvPr id="26" name="Text 24"/>
          <p:cNvSpPr/>
          <p:nvPr/>
        </p:nvSpPr>
        <p:spPr>
          <a:xfrm>
            <a:off x="6838950" y="4216400"/>
            <a:ext cx="4676458" cy="314960"/>
          </a:xfrm>
          <a:prstGeom prst="rect">
            <a:avLst/>
          </a:prstGeom>
          <a:noFill/>
          <a:ln/>
        </p:spPr>
        <p:txBody>
          <a:bodyPr wrap="square" lIns="0" tIns="0" rIns="0" bIns="0" rtlCol="0" anchor="t">
            <a:normAutofit/>
          </a:bodyPr>
          <a:lstStyle/>
          <a:p>
            <a:pPr marL="0" indent="0" algn="l">
              <a:lnSpc>
                <a:spcPts val="2375"/>
              </a:lnSpc>
              <a:buNone/>
            </a:pPr>
            <a:r>
              <a:rPr lang="it-IT" sz="1900" b="1" noProof="0" dirty="0">
                <a:solidFill>
                  <a:srgbClr val="1B1D20"/>
                </a:solidFill>
                <a:latin typeface="IBM Plex Sans" pitchFamily="34" charset="0"/>
                <a:ea typeface="IBM Plex Sans" pitchFamily="34" charset="-122"/>
                <a:cs typeface="IBM Plex Sans" pitchFamily="34" charset="-120"/>
              </a:rPr>
              <a:t>Windows e </a:t>
            </a:r>
            <a:r>
              <a:rPr lang="it-IT" sz="1900" b="1" noProof="0" dirty="0" err="1">
                <a:solidFill>
                  <a:srgbClr val="1B1D20"/>
                </a:solidFill>
                <a:latin typeface="IBM Plex Sans" pitchFamily="34" charset="0"/>
                <a:ea typeface="IBM Plex Sans" pitchFamily="34" charset="-122"/>
                <a:cs typeface="IBM Plex Sans" pitchFamily="34" charset="-120"/>
              </a:rPr>
              <a:t>macOS</a:t>
            </a:r>
            <a:endParaRPr lang="it-IT" sz="1900" noProof="0" dirty="0"/>
          </a:p>
        </p:txBody>
      </p:sp>
      <p:sp>
        <p:nvSpPr>
          <p:cNvPr id="27" name="Text 25"/>
          <p:cNvSpPr/>
          <p:nvPr/>
        </p:nvSpPr>
        <p:spPr>
          <a:xfrm>
            <a:off x="6838950" y="4556758"/>
            <a:ext cx="4676458"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Supporto per tutti gli OS grazie a Docker</a:t>
            </a:r>
            <a:endParaRPr lang="it-IT" sz="1600" noProof="0" dirty="0"/>
          </a:p>
        </p:txBody>
      </p:sp>
    </p:spTree>
    <p:extLst>
      <p:ext uri="{BB962C8B-B14F-4D97-AF65-F5344CB8AC3E}">
        <p14:creationId xmlns:p14="http://schemas.microsoft.com/office/powerpoint/2010/main" val="1320751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Kathará orchestra, Docker esegue</a:t>
            </a:r>
            <a:endParaRPr lang="it-IT" sz="4000" noProof="0" dirty="0"/>
          </a:p>
        </p:txBody>
      </p:sp>
      <p:sp>
        <p:nvSpPr>
          <p:cNvPr id="25" name="Shape 20"/>
          <p:cNvSpPr/>
          <p:nvPr/>
        </p:nvSpPr>
        <p:spPr>
          <a:xfrm>
            <a:off x="831850" y="4932679"/>
            <a:ext cx="0" cy="909320"/>
          </a:xfrm>
          <a:prstGeom prst="line">
            <a:avLst/>
          </a:prstGeom>
          <a:noFill/>
          <a:ln w="38100">
            <a:solidFill>
              <a:srgbClr val="60A5E3"/>
            </a:solidFill>
            <a:prstDash val="solid"/>
          </a:ln>
        </p:spPr>
        <p:txBody>
          <a:bodyPr/>
          <a:lstStyle/>
          <a:p>
            <a:endParaRPr lang="it-IT" noProof="0" dirty="0"/>
          </a:p>
        </p:txBody>
      </p:sp>
      <p:sp>
        <p:nvSpPr>
          <p:cNvPr id="26" name="Text 21"/>
          <p:cNvSpPr/>
          <p:nvPr/>
        </p:nvSpPr>
        <p:spPr>
          <a:xfrm>
            <a:off x="1054100" y="4932679"/>
            <a:ext cx="5036185" cy="314960"/>
          </a:xfrm>
          <a:prstGeom prst="rect">
            <a:avLst/>
          </a:prstGeom>
          <a:noFill/>
          <a:ln/>
        </p:spPr>
        <p:txBody>
          <a:bodyPr wrap="square" lIns="0" tIns="0" rIns="0" bIns="0" rtlCol="0" anchor="t">
            <a:normAutofit/>
          </a:bodyPr>
          <a:lstStyle/>
          <a:p>
            <a:pPr marL="0" indent="0" algn="l">
              <a:lnSpc>
                <a:spcPts val="2375"/>
              </a:lnSpc>
              <a:buNone/>
            </a:pPr>
            <a:r>
              <a:rPr lang="it-IT" sz="1900" b="1" noProof="0" dirty="0">
                <a:solidFill>
                  <a:srgbClr val="1B1D20"/>
                </a:solidFill>
                <a:latin typeface="IBM Plex Sans" pitchFamily="34" charset="0"/>
                <a:ea typeface="IBM Plex Sans" pitchFamily="34" charset="-122"/>
                <a:cs typeface="IBM Plex Sans" pitchFamily="34" charset="-120"/>
              </a:rPr>
              <a:t>Non sostituisce Docker</a:t>
            </a:r>
            <a:endParaRPr lang="it-IT" sz="1900" noProof="0" dirty="0"/>
          </a:p>
        </p:txBody>
      </p:sp>
      <p:sp>
        <p:nvSpPr>
          <p:cNvPr id="27" name="Text 22"/>
          <p:cNvSpPr/>
          <p:nvPr/>
        </p:nvSpPr>
        <p:spPr>
          <a:xfrm>
            <a:off x="1054100" y="5273042"/>
            <a:ext cx="5036185"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Traduce il lab in oggetti Docker e ne gestisce il ciclo di vita.</a:t>
            </a:r>
            <a:endParaRPr lang="it-IT" sz="1600" noProof="0" dirty="0"/>
          </a:p>
        </p:txBody>
      </p:sp>
      <p:sp>
        <p:nvSpPr>
          <p:cNvPr id="28" name="Shape 23"/>
          <p:cNvSpPr/>
          <p:nvPr/>
        </p:nvSpPr>
        <p:spPr>
          <a:xfrm>
            <a:off x="6267450" y="4932679"/>
            <a:ext cx="0" cy="909320"/>
          </a:xfrm>
          <a:prstGeom prst="line">
            <a:avLst/>
          </a:prstGeom>
          <a:noFill/>
          <a:ln w="38100">
            <a:solidFill>
              <a:srgbClr val="60A5E3"/>
            </a:solidFill>
            <a:prstDash val="solid"/>
          </a:ln>
        </p:spPr>
        <p:txBody>
          <a:bodyPr/>
          <a:lstStyle/>
          <a:p>
            <a:endParaRPr lang="it-IT" noProof="0" dirty="0"/>
          </a:p>
        </p:txBody>
      </p:sp>
      <p:sp>
        <p:nvSpPr>
          <p:cNvPr id="29" name="Text 24"/>
          <p:cNvSpPr/>
          <p:nvPr/>
        </p:nvSpPr>
        <p:spPr>
          <a:xfrm>
            <a:off x="6489700" y="4932679"/>
            <a:ext cx="5036185" cy="314960"/>
          </a:xfrm>
          <a:prstGeom prst="rect">
            <a:avLst/>
          </a:prstGeom>
          <a:noFill/>
          <a:ln/>
        </p:spPr>
        <p:txBody>
          <a:bodyPr wrap="square" lIns="0" tIns="0" rIns="0" bIns="0" rtlCol="0" anchor="t">
            <a:normAutofit/>
          </a:bodyPr>
          <a:lstStyle/>
          <a:p>
            <a:pPr marL="0" indent="0" algn="l">
              <a:lnSpc>
                <a:spcPts val="2375"/>
              </a:lnSpc>
              <a:buNone/>
            </a:pPr>
            <a:r>
              <a:rPr lang="it-IT" sz="1900" b="1" noProof="0" dirty="0">
                <a:solidFill>
                  <a:srgbClr val="1B1D20"/>
                </a:solidFill>
                <a:latin typeface="IBM Plex Sans" pitchFamily="34" charset="0"/>
                <a:ea typeface="IBM Plex Sans" pitchFamily="34" charset="-122"/>
                <a:cs typeface="IBM Plex Sans" pitchFamily="34" charset="-120"/>
              </a:rPr>
              <a:t>Oggetti Docker standard</a:t>
            </a:r>
            <a:endParaRPr lang="it-IT" sz="1900" noProof="0" dirty="0"/>
          </a:p>
        </p:txBody>
      </p:sp>
      <p:sp>
        <p:nvSpPr>
          <p:cNvPr id="30" name="Text 25"/>
          <p:cNvSpPr/>
          <p:nvPr/>
        </p:nvSpPr>
        <p:spPr>
          <a:xfrm>
            <a:off x="6489700" y="5273042"/>
            <a:ext cx="5036185"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Con il lab attivo: </a:t>
            </a:r>
            <a:r>
              <a:rPr lang="it-IT" sz="1600" noProof="0" dirty="0" err="1">
                <a:solidFill>
                  <a:srgbClr val="1B1D20"/>
                </a:solidFill>
                <a:latin typeface="IBM Plex Sans" pitchFamily="34" charset="0"/>
                <a:ea typeface="IBM Plex Sans" pitchFamily="34" charset="-122"/>
                <a:cs typeface="IBM Plex Sans" pitchFamily="34" charset="-120"/>
              </a:rPr>
              <a:t>docker</a:t>
            </a:r>
            <a:r>
              <a:rPr lang="it-IT" sz="1600" noProof="0" dirty="0">
                <a:solidFill>
                  <a:srgbClr val="1B1D20"/>
                </a:solidFill>
                <a:latin typeface="IBM Plex Sans" pitchFamily="34" charset="0"/>
                <a:ea typeface="IBM Plex Sans" pitchFamily="34" charset="-122"/>
                <a:cs typeface="IBM Plex Sans" pitchFamily="34" charset="-120"/>
              </a:rPr>
              <a:t> </a:t>
            </a:r>
            <a:r>
              <a:rPr lang="it-IT" sz="1600" noProof="0" dirty="0" err="1">
                <a:solidFill>
                  <a:srgbClr val="1B1D20"/>
                </a:solidFill>
                <a:latin typeface="IBM Plex Sans" pitchFamily="34" charset="0"/>
                <a:ea typeface="IBM Plex Sans" pitchFamily="34" charset="-122"/>
                <a:cs typeface="IBM Plex Sans" pitchFamily="34" charset="-120"/>
              </a:rPr>
              <a:t>ps</a:t>
            </a:r>
            <a:r>
              <a:rPr lang="it-IT" sz="1600" noProof="0" dirty="0">
                <a:solidFill>
                  <a:srgbClr val="5B5F66"/>
                </a:solidFill>
                <a:latin typeface="IBM Plex Sans" pitchFamily="34" charset="0"/>
                <a:ea typeface="IBM Plex Sans" pitchFamily="34" charset="-122"/>
                <a:cs typeface="IBM Plex Sans" pitchFamily="34" charset="-120"/>
              </a:rPr>
              <a:t>, </a:t>
            </a:r>
            <a:r>
              <a:rPr lang="it-IT" sz="1600" noProof="0" dirty="0" err="1">
                <a:solidFill>
                  <a:srgbClr val="1B1D20"/>
                </a:solidFill>
                <a:latin typeface="IBM Plex Sans" pitchFamily="34" charset="0"/>
                <a:ea typeface="IBM Plex Sans" pitchFamily="34" charset="-122"/>
                <a:cs typeface="IBM Plex Sans" pitchFamily="34" charset="-120"/>
              </a:rPr>
              <a:t>docker</a:t>
            </a:r>
            <a:r>
              <a:rPr lang="it-IT" sz="1600" noProof="0" dirty="0">
                <a:solidFill>
                  <a:srgbClr val="1B1D20"/>
                </a:solidFill>
                <a:latin typeface="IBM Plex Sans" pitchFamily="34" charset="0"/>
                <a:ea typeface="IBM Plex Sans" pitchFamily="34" charset="-122"/>
                <a:cs typeface="IBM Plex Sans" pitchFamily="34" charset="-120"/>
              </a:rPr>
              <a:t> network </a:t>
            </a:r>
            <a:r>
              <a:rPr lang="it-IT" sz="1600" noProof="0" dirty="0" err="1">
                <a:solidFill>
                  <a:srgbClr val="1B1D20"/>
                </a:solidFill>
                <a:latin typeface="IBM Plex Sans" pitchFamily="34" charset="0"/>
                <a:ea typeface="IBM Plex Sans" pitchFamily="34" charset="-122"/>
                <a:cs typeface="IBM Plex Sans" pitchFamily="34" charset="-120"/>
              </a:rPr>
              <a:t>ls</a:t>
            </a:r>
            <a:endParaRPr lang="it-IT" sz="1600" noProof="0" dirty="0"/>
          </a:p>
        </p:txBody>
      </p:sp>
      <p:sp>
        <p:nvSpPr>
          <p:cNvPr id="70" name="Map 71"/>
          <p:cNvSpPr txBox="1"/>
          <p:nvPr/>
        </p:nvSpPr>
        <p:spPr>
          <a:xfrm>
            <a:off x="812800" y="1854200"/>
            <a:ext cx="4826000" cy="254000"/>
          </a:xfrm>
          <a:prstGeom prst="rect">
            <a:avLst/>
          </a:prstGeom>
          <a:noFill/>
          <a:ln/>
        </p:spPr>
        <p:txBody>
          <a:bodyPr wrap="square" lIns="0" tIns="0" rIns="0" bIns="0" rtlCol="0" anchor="t">
            <a:noAutofit/>
          </a:bodyPr>
          <a:lstStyle/>
          <a:p>
            <a:pPr marL="0" indent="0" algn="l">
              <a:lnSpc>
                <a:spcPts val="2500"/>
              </a:lnSpc>
              <a:buNone/>
            </a:pPr>
            <a:r>
              <a:rPr lang="it-IT" sz="1600" noProof="0" dirty="0">
                <a:solidFill>
                  <a:srgbClr val="5B5F66"/>
                </a:solidFill>
                <a:latin typeface="JetBrains Mono" pitchFamily="49" charset="0"/>
                <a:ea typeface="JetBrains Mono" pitchFamily="49" charset="-122"/>
                <a:cs typeface="JetBrains Mono" pitchFamily="49" charset="-120"/>
              </a:rPr>
              <a:t>concetto kathará</a:t>
            </a:r>
          </a:p>
        </p:txBody>
      </p:sp>
      <p:sp>
        <p:nvSpPr>
          <p:cNvPr id="71" name="Map 72"/>
          <p:cNvSpPr txBox="1"/>
          <p:nvPr/>
        </p:nvSpPr>
        <p:spPr>
          <a:xfrm>
            <a:off x="6350000" y="1854200"/>
            <a:ext cx="5334000" cy="254000"/>
          </a:xfrm>
          <a:prstGeom prst="rect">
            <a:avLst/>
          </a:prstGeom>
          <a:noFill/>
          <a:ln/>
        </p:spPr>
        <p:txBody>
          <a:bodyPr wrap="square" lIns="0" tIns="0" rIns="0" bIns="0" rtlCol="0" anchor="t">
            <a:noAutofit/>
          </a:bodyPr>
          <a:lstStyle/>
          <a:p>
            <a:pPr marL="0" indent="0" algn="l">
              <a:lnSpc>
                <a:spcPts val="2500"/>
              </a:lnSpc>
              <a:buNone/>
            </a:pPr>
            <a:r>
              <a:rPr lang="it-IT" sz="1600" b="1" noProof="0" dirty="0">
                <a:solidFill>
                  <a:srgbClr val="2B6CA3"/>
                </a:solidFill>
                <a:latin typeface="JetBrains Mono" pitchFamily="49" charset="0"/>
                <a:ea typeface="JetBrains Mono" pitchFamily="49" charset="-122"/>
                <a:cs typeface="JetBrains Mono" pitchFamily="49" charset="-120"/>
              </a:rPr>
              <a:t>oggetto docker</a:t>
            </a:r>
          </a:p>
        </p:txBody>
      </p:sp>
      <p:cxnSp>
        <p:nvCxnSpPr>
          <p:cNvPr id="72" name="Rule 73"/>
          <p:cNvCxnSpPr/>
          <p:nvPr/>
        </p:nvCxnSpPr>
        <p:spPr>
          <a:xfrm>
            <a:off x="812800" y="2133600"/>
            <a:ext cx="10871200" cy="0"/>
          </a:xfrm>
          <a:prstGeom prst="line">
            <a:avLst/>
          </a:prstGeom>
          <a:ln w="12700">
            <a:solidFill>
              <a:srgbClr val="E1E0DD"/>
            </a:solidFill>
          </a:ln>
        </p:spPr>
      </p:cxnSp>
      <p:sp>
        <p:nvSpPr>
          <p:cNvPr id="73" name="Map 74"/>
          <p:cNvSpPr txBox="1"/>
          <p:nvPr/>
        </p:nvSpPr>
        <p:spPr>
          <a:xfrm>
            <a:off x="812800" y="2235200"/>
            <a:ext cx="4953000" cy="330200"/>
          </a:xfrm>
          <a:prstGeom prst="rect">
            <a:avLst/>
          </a:prstGeom>
          <a:noFill/>
          <a:ln/>
        </p:spPr>
        <p:txBody>
          <a:bodyPr wrap="square" lIns="0" tIns="0" rIns="0" bIns="0" rtlCol="0" anchor="t">
            <a:noAutofit/>
          </a:bodyPr>
          <a:lstStyle/>
          <a:p>
            <a:pPr marL="0" indent="0" algn="l">
              <a:lnSpc>
                <a:spcPts val="2500"/>
              </a:lnSpc>
              <a:buNone/>
            </a:pPr>
            <a:r>
              <a:rPr lang="it-IT" sz="1800" b="1" noProof="0" dirty="0">
                <a:solidFill>
                  <a:srgbClr val="1B1D20"/>
                </a:solidFill>
                <a:latin typeface="IBM Plex Sans" pitchFamily="34" charset="0"/>
                <a:ea typeface="IBM Plex Sans" pitchFamily="34" charset="-122"/>
                <a:cs typeface="IBM Plex Sans" pitchFamily="34" charset="-120"/>
              </a:rPr>
              <a:t>Dispositivo</a:t>
            </a:r>
            <a:r>
              <a:rPr lang="it-IT" sz="1600" noProof="0" dirty="0">
                <a:solidFill>
                  <a:srgbClr val="5B5F66"/>
                </a:solidFill>
                <a:latin typeface="IBM Plex Sans" pitchFamily="34" charset="0"/>
                <a:ea typeface="IBM Plex Sans" pitchFamily="34" charset="-122"/>
                <a:cs typeface="IBM Plex Sans" pitchFamily="34" charset="-120"/>
              </a:rPr>
              <a:t>  router, switch, host</a:t>
            </a:r>
          </a:p>
        </p:txBody>
      </p:sp>
      <p:sp>
        <p:nvSpPr>
          <p:cNvPr id="74" name="Map 75"/>
          <p:cNvSpPr txBox="1"/>
          <p:nvPr/>
        </p:nvSpPr>
        <p:spPr>
          <a:xfrm>
            <a:off x="5867400" y="2235200"/>
            <a:ext cx="381000" cy="3302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2B6CA3"/>
                </a:solidFill>
                <a:latin typeface="JetBrains Mono" pitchFamily="49" charset="0"/>
                <a:ea typeface="JetBrains Mono" pitchFamily="49" charset="-122"/>
                <a:cs typeface="JetBrains Mono" pitchFamily="49" charset="-120"/>
              </a:rPr>
              <a:t>→</a:t>
            </a:r>
          </a:p>
        </p:txBody>
      </p:sp>
      <p:sp>
        <p:nvSpPr>
          <p:cNvPr id="75" name="Map 76"/>
          <p:cNvSpPr txBox="1"/>
          <p:nvPr/>
        </p:nvSpPr>
        <p:spPr>
          <a:xfrm>
            <a:off x="6350000" y="2235200"/>
            <a:ext cx="5334000" cy="330200"/>
          </a:xfrm>
          <a:prstGeom prst="rect">
            <a:avLst/>
          </a:prstGeom>
          <a:noFill/>
          <a:ln/>
        </p:spPr>
        <p:txBody>
          <a:bodyPr wrap="square" lIns="0" tIns="0" rIns="0" bIns="0" rtlCol="0" anchor="t">
            <a:noAutofit/>
          </a:bodyPr>
          <a:lstStyle/>
          <a:p>
            <a:pPr marL="0" indent="0" algn="l">
              <a:lnSpc>
                <a:spcPts val="2500"/>
              </a:lnSpc>
              <a:buNone/>
            </a:pPr>
            <a:r>
              <a:rPr lang="it-IT" sz="1600" b="1" noProof="0" dirty="0">
                <a:solidFill>
                  <a:srgbClr val="1B1D20"/>
                </a:solidFill>
                <a:latin typeface="JetBrains Mono" pitchFamily="49" charset="0"/>
                <a:ea typeface="JetBrains Mono" pitchFamily="49" charset="-122"/>
                <a:cs typeface="JetBrains Mono" pitchFamily="49" charset="-120"/>
              </a:rPr>
              <a:t>container</a:t>
            </a:r>
            <a:r>
              <a:rPr lang="it-IT" sz="1600" noProof="0" dirty="0">
                <a:solidFill>
                  <a:srgbClr val="5B5F66"/>
                </a:solidFill>
                <a:latin typeface="IBM Plex Sans" pitchFamily="34" charset="0"/>
                <a:ea typeface="IBM Plex Sans" pitchFamily="34" charset="-122"/>
                <a:cs typeface="IBM Plex Sans" pitchFamily="34" charset="-120"/>
              </a:rPr>
              <a:t>  processi isolati nei namespace</a:t>
            </a:r>
          </a:p>
        </p:txBody>
      </p:sp>
      <p:cxnSp>
        <p:nvCxnSpPr>
          <p:cNvPr id="76" name="Rule 77"/>
          <p:cNvCxnSpPr/>
          <p:nvPr/>
        </p:nvCxnSpPr>
        <p:spPr>
          <a:xfrm>
            <a:off x="812800" y="2667000"/>
            <a:ext cx="10871200" cy="0"/>
          </a:xfrm>
          <a:prstGeom prst="line">
            <a:avLst/>
          </a:prstGeom>
          <a:ln w="12700">
            <a:solidFill>
              <a:srgbClr val="E1E0DD"/>
            </a:solidFill>
          </a:ln>
        </p:spPr>
      </p:cxnSp>
      <p:sp>
        <p:nvSpPr>
          <p:cNvPr id="77" name="Map 78"/>
          <p:cNvSpPr txBox="1"/>
          <p:nvPr/>
        </p:nvSpPr>
        <p:spPr>
          <a:xfrm>
            <a:off x="812800" y="2768600"/>
            <a:ext cx="4953000" cy="330200"/>
          </a:xfrm>
          <a:prstGeom prst="rect">
            <a:avLst/>
          </a:prstGeom>
          <a:noFill/>
          <a:ln/>
        </p:spPr>
        <p:txBody>
          <a:bodyPr wrap="square" lIns="0" tIns="0" rIns="0" bIns="0" rtlCol="0" anchor="t">
            <a:noAutofit/>
          </a:bodyPr>
          <a:lstStyle/>
          <a:p>
            <a:pPr marL="0" indent="0" algn="l">
              <a:lnSpc>
                <a:spcPts val="2500"/>
              </a:lnSpc>
              <a:buNone/>
            </a:pPr>
            <a:r>
              <a:rPr lang="it-IT" sz="1800" b="1" noProof="0" dirty="0">
                <a:solidFill>
                  <a:srgbClr val="1B1D20"/>
                </a:solidFill>
                <a:latin typeface="IBM Plex Sans" pitchFamily="34" charset="0"/>
                <a:ea typeface="IBM Plex Sans" pitchFamily="34" charset="-122"/>
                <a:cs typeface="IBM Plex Sans" pitchFamily="34" charset="-120"/>
              </a:rPr>
              <a:t>Dominio di collisione</a:t>
            </a:r>
            <a:r>
              <a:rPr lang="it-IT" sz="1600" noProof="0" dirty="0">
                <a:solidFill>
                  <a:srgbClr val="5B5F66"/>
                </a:solidFill>
                <a:latin typeface="IBM Plex Sans" pitchFamily="34" charset="0"/>
                <a:ea typeface="IBM Plex Sans" pitchFamily="34" charset="-122"/>
                <a:cs typeface="IBM Plex Sans" pitchFamily="34" charset="-120"/>
              </a:rPr>
              <a:t>  segmento L2 condiviso</a:t>
            </a:r>
          </a:p>
        </p:txBody>
      </p:sp>
      <p:sp>
        <p:nvSpPr>
          <p:cNvPr id="78" name="Map 79"/>
          <p:cNvSpPr txBox="1"/>
          <p:nvPr/>
        </p:nvSpPr>
        <p:spPr>
          <a:xfrm>
            <a:off x="5867400" y="2768600"/>
            <a:ext cx="381000" cy="3302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2B6CA3"/>
                </a:solidFill>
                <a:latin typeface="JetBrains Mono" pitchFamily="49" charset="0"/>
                <a:ea typeface="JetBrains Mono" pitchFamily="49" charset="-122"/>
                <a:cs typeface="JetBrains Mono" pitchFamily="49" charset="-120"/>
              </a:rPr>
              <a:t>→</a:t>
            </a:r>
          </a:p>
        </p:txBody>
      </p:sp>
      <p:sp>
        <p:nvSpPr>
          <p:cNvPr id="79" name="Map 80"/>
          <p:cNvSpPr txBox="1"/>
          <p:nvPr/>
        </p:nvSpPr>
        <p:spPr>
          <a:xfrm>
            <a:off x="6350000" y="2768600"/>
            <a:ext cx="5334000" cy="330200"/>
          </a:xfrm>
          <a:prstGeom prst="rect">
            <a:avLst/>
          </a:prstGeom>
          <a:noFill/>
          <a:ln/>
        </p:spPr>
        <p:txBody>
          <a:bodyPr wrap="square" lIns="0" tIns="0" rIns="0" bIns="0" rtlCol="0" anchor="t">
            <a:noAutofit/>
          </a:bodyPr>
          <a:lstStyle/>
          <a:p>
            <a:pPr marL="0" indent="0" algn="l">
              <a:lnSpc>
                <a:spcPts val="2500"/>
              </a:lnSpc>
              <a:buNone/>
            </a:pPr>
            <a:r>
              <a:rPr lang="it-IT" sz="1600" b="1" noProof="0" dirty="0">
                <a:solidFill>
                  <a:srgbClr val="1B1D20"/>
                </a:solidFill>
                <a:latin typeface="JetBrains Mono" pitchFamily="49" charset="0"/>
                <a:ea typeface="JetBrains Mono" pitchFamily="49" charset="-122"/>
                <a:cs typeface="JetBrains Mono" pitchFamily="49" charset="-120"/>
              </a:rPr>
              <a:t>network</a:t>
            </a:r>
            <a:r>
              <a:rPr lang="it-IT" sz="1600" noProof="0" dirty="0">
                <a:solidFill>
                  <a:srgbClr val="5B5F66"/>
                </a:solidFill>
                <a:latin typeface="IBM Plex Sans" pitchFamily="34" charset="0"/>
                <a:ea typeface="IBM Plex Sans" pitchFamily="34" charset="-122"/>
                <a:cs typeface="IBM Plex Sans" pitchFamily="34" charset="-120"/>
              </a:rPr>
              <a:t>  </a:t>
            </a:r>
            <a:r>
              <a:rPr lang="it-IT" sz="1600" dirty="0">
                <a:solidFill>
                  <a:srgbClr val="5B5F66"/>
                </a:solidFill>
                <a:latin typeface="IBM Plex Sans" pitchFamily="34" charset="0"/>
                <a:ea typeface="IBM Plex Sans" pitchFamily="34" charset="-122"/>
                <a:cs typeface="IBM Plex Sans" pitchFamily="34" charset="-120"/>
              </a:rPr>
              <a:t>creati con network plugin custom</a:t>
            </a:r>
            <a:endParaRPr lang="it-IT" sz="1600" noProof="0" dirty="0">
              <a:solidFill>
                <a:srgbClr val="5B5F66"/>
              </a:solidFill>
              <a:latin typeface="IBM Plex Sans" pitchFamily="34" charset="0"/>
              <a:ea typeface="IBM Plex Sans" pitchFamily="34" charset="-122"/>
              <a:cs typeface="IBM Plex Sans" pitchFamily="34" charset="-120"/>
            </a:endParaRPr>
          </a:p>
        </p:txBody>
      </p:sp>
      <p:cxnSp>
        <p:nvCxnSpPr>
          <p:cNvPr id="80" name="Rule 81"/>
          <p:cNvCxnSpPr/>
          <p:nvPr/>
        </p:nvCxnSpPr>
        <p:spPr>
          <a:xfrm>
            <a:off x="812800" y="3200400"/>
            <a:ext cx="10871200" cy="0"/>
          </a:xfrm>
          <a:prstGeom prst="line">
            <a:avLst/>
          </a:prstGeom>
          <a:ln w="12700">
            <a:solidFill>
              <a:srgbClr val="E1E0DD"/>
            </a:solidFill>
          </a:ln>
        </p:spPr>
      </p:cxnSp>
      <p:sp>
        <p:nvSpPr>
          <p:cNvPr id="81" name="Map 82"/>
          <p:cNvSpPr txBox="1"/>
          <p:nvPr/>
        </p:nvSpPr>
        <p:spPr>
          <a:xfrm>
            <a:off x="812800" y="3302000"/>
            <a:ext cx="4953000" cy="330200"/>
          </a:xfrm>
          <a:prstGeom prst="rect">
            <a:avLst/>
          </a:prstGeom>
          <a:noFill/>
          <a:ln/>
        </p:spPr>
        <p:txBody>
          <a:bodyPr wrap="square" lIns="0" tIns="0" rIns="0" bIns="0" rtlCol="0" anchor="t">
            <a:noAutofit/>
          </a:bodyPr>
          <a:lstStyle/>
          <a:p>
            <a:pPr marL="0" indent="0" algn="l">
              <a:lnSpc>
                <a:spcPts val="2500"/>
              </a:lnSpc>
              <a:buNone/>
            </a:pPr>
            <a:r>
              <a:rPr lang="it-IT" sz="1800" b="1" noProof="0" dirty="0">
                <a:solidFill>
                  <a:srgbClr val="1B1D20"/>
                </a:solidFill>
                <a:latin typeface="IBM Plex Sans" pitchFamily="34" charset="0"/>
                <a:ea typeface="IBM Plex Sans" pitchFamily="34" charset="-122"/>
                <a:cs typeface="IBM Plex Sans" pitchFamily="34" charset="-120"/>
              </a:rPr>
              <a:t>Tipo di dispositivo</a:t>
            </a:r>
            <a:r>
              <a:rPr lang="it-IT" sz="1600" noProof="0" dirty="0">
                <a:solidFill>
                  <a:srgbClr val="5B5F66"/>
                </a:solidFill>
                <a:latin typeface="IBM Plex Sans" pitchFamily="34" charset="0"/>
                <a:ea typeface="IBM Plex Sans" pitchFamily="34" charset="-122"/>
                <a:cs typeface="IBM Plex Sans" pitchFamily="34" charset="-120"/>
              </a:rPr>
              <a:t>  software dell’apparato</a:t>
            </a:r>
          </a:p>
        </p:txBody>
      </p:sp>
      <p:sp>
        <p:nvSpPr>
          <p:cNvPr id="82" name="Map 83"/>
          <p:cNvSpPr txBox="1"/>
          <p:nvPr/>
        </p:nvSpPr>
        <p:spPr>
          <a:xfrm>
            <a:off x="5867400" y="3302000"/>
            <a:ext cx="381000" cy="3302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2B6CA3"/>
                </a:solidFill>
                <a:latin typeface="JetBrains Mono" pitchFamily="49" charset="0"/>
                <a:ea typeface="JetBrains Mono" pitchFamily="49" charset="-122"/>
                <a:cs typeface="JetBrains Mono" pitchFamily="49" charset="-120"/>
              </a:rPr>
              <a:t>→</a:t>
            </a:r>
          </a:p>
        </p:txBody>
      </p:sp>
      <p:sp>
        <p:nvSpPr>
          <p:cNvPr id="83" name="Map 84"/>
          <p:cNvSpPr txBox="1"/>
          <p:nvPr/>
        </p:nvSpPr>
        <p:spPr>
          <a:xfrm>
            <a:off x="6350000" y="3302000"/>
            <a:ext cx="5334000" cy="330200"/>
          </a:xfrm>
          <a:prstGeom prst="rect">
            <a:avLst/>
          </a:prstGeom>
          <a:noFill/>
          <a:ln/>
        </p:spPr>
        <p:txBody>
          <a:bodyPr wrap="square" lIns="0" tIns="0" rIns="0" bIns="0" rtlCol="0" anchor="t">
            <a:noAutofit/>
          </a:bodyPr>
          <a:lstStyle/>
          <a:p>
            <a:pPr marL="0" indent="0" algn="l">
              <a:lnSpc>
                <a:spcPts val="2500"/>
              </a:lnSpc>
              <a:buNone/>
            </a:pPr>
            <a:r>
              <a:rPr lang="it-IT" sz="1600" b="1" noProof="0" dirty="0">
                <a:solidFill>
                  <a:srgbClr val="1B1D20"/>
                </a:solidFill>
                <a:latin typeface="JetBrains Mono" pitchFamily="49" charset="0"/>
                <a:ea typeface="JetBrains Mono" pitchFamily="49" charset="-122"/>
                <a:cs typeface="JetBrains Mono" pitchFamily="49" charset="-120"/>
              </a:rPr>
              <a:t>immagine</a:t>
            </a:r>
            <a:r>
              <a:rPr lang="it-IT" sz="1600" noProof="0" dirty="0">
                <a:solidFill>
                  <a:srgbClr val="5B5F66"/>
                </a:solidFill>
                <a:latin typeface="IBM Plex Sans" pitchFamily="34" charset="0"/>
                <a:ea typeface="IBM Plex Sans" pitchFamily="34" charset="-122"/>
                <a:cs typeface="IBM Plex Sans" pitchFamily="34" charset="-120"/>
              </a:rPr>
              <a:t>  kathara/base, kathara/frr, …</a:t>
            </a:r>
          </a:p>
        </p:txBody>
      </p:sp>
      <p:cxnSp>
        <p:nvCxnSpPr>
          <p:cNvPr id="84" name="Rule 85"/>
          <p:cNvCxnSpPr/>
          <p:nvPr/>
        </p:nvCxnSpPr>
        <p:spPr>
          <a:xfrm>
            <a:off x="812800" y="3733800"/>
            <a:ext cx="10871200" cy="0"/>
          </a:xfrm>
          <a:prstGeom prst="line">
            <a:avLst/>
          </a:prstGeom>
          <a:ln w="12700">
            <a:solidFill>
              <a:srgbClr val="E1E0DD"/>
            </a:solidFill>
          </a:ln>
        </p:spPr>
      </p:cxnSp>
      <p:sp>
        <p:nvSpPr>
          <p:cNvPr id="85" name="Map 86"/>
          <p:cNvSpPr txBox="1"/>
          <p:nvPr/>
        </p:nvSpPr>
        <p:spPr>
          <a:xfrm>
            <a:off x="812800" y="3835400"/>
            <a:ext cx="4953000" cy="330200"/>
          </a:xfrm>
          <a:prstGeom prst="rect">
            <a:avLst/>
          </a:prstGeom>
          <a:noFill/>
          <a:ln/>
        </p:spPr>
        <p:txBody>
          <a:bodyPr wrap="square" lIns="0" tIns="0" rIns="0" bIns="0" rtlCol="0" anchor="t">
            <a:noAutofit/>
          </a:bodyPr>
          <a:lstStyle/>
          <a:p>
            <a:pPr marL="0" indent="0" algn="l">
              <a:lnSpc>
                <a:spcPts val="2500"/>
              </a:lnSpc>
              <a:buNone/>
            </a:pPr>
            <a:r>
              <a:rPr lang="it-IT" sz="1800" b="1" noProof="0" dirty="0">
                <a:solidFill>
                  <a:srgbClr val="1B1D20"/>
                </a:solidFill>
                <a:latin typeface="IBM Plex Sans" pitchFamily="34" charset="0"/>
                <a:ea typeface="IBM Plex Sans" pitchFamily="34" charset="-122"/>
                <a:cs typeface="IBM Plex Sans" pitchFamily="34" charset="-120"/>
              </a:rPr>
              <a:t>Topologia</a:t>
            </a:r>
            <a:r>
              <a:rPr lang="it-IT" sz="1600" noProof="0" dirty="0">
                <a:solidFill>
                  <a:srgbClr val="5B5F66"/>
                </a:solidFill>
                <a:latin typeface="IBM Plex Sans" pitchFamily="34" charset="0"/>
                <a:ea typeface="IBM Plex Sans" pitchFamily="34" charset="-122"/>
                <a:cs typeface="IBM Plex Sans" pitchFamily="34" charset="-120"/>
              </a:rPr>
              <a:t>  file di testo o API Python</a:t>
            </a:r>
          </a:p>
        </p:txBody>
      </p:sp>
      <p:sp>
        <p:nvSpPr>
          <p:cNvPr id="86" name="Map 87"/>
          <p:cNvSpPr txBox="1"/>
          <p:nvPr/>
        </p:nvSpPr>
        <p:spPr>
          <a:xfrm>
            <a:off x="5867400" y="3835400"/>
            <a:ext cx="381000" cy="3302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2B6CA3"/>
                </a:solidFill>
                <a:latin typeface="JetBrains Mono" pitchFamily="49" charset="0"/>
                <a:ea typeface="JetBrains Mono" pitchFamily="49" charset="-122"/>
                <a:cs typeface="JetBrains Mono" pitchFamily="49" charset="-120"/>
              </a:rPr>
              <a:t>→</a:t>
            </a:r>
          </a:p>
        </p:txBody>
      </p:sp>
      <p:sp>
        <p:nvSpPr>
          <p:cNvPr id="87" name="Map 88"/>
          <p:cNvSpPr txBox="1"/>
          <p:nvPr/>
        </p:nvSpPr>
        <p:spPr>
          <a:xfrm>
            <a:off x="6350000" y="3835400"/>
            <a:ext cx="5334000" cy="330200"/>
          </a:xfrm>
          <a:prstGeom prst="rect">
            <a:avLst/>
          </a:prstGeom>
          <a:noFill/>
          <a:ln/>
        </p:spPr>
        <p:txBody>
          <a:bodyPr wrap="square" lIns="0" tIns="0" rIns="0" bIns="0" rtlCol="0" anchor="t">
            <a:noAutofit/>
          </a:bodyPr>
          <a:lstStyle/>
          <a:p>
            <a:pPr marL="0" indent="0" algn="l">
              <a:lnSpc>
                <a:spcPts val="2500"/>
              </a:lnSpc>
              <a:buNone/>
            </a:pPr>
            <a:r>
              <a:rPr lang="it-IT" sz="1600" b="1" noProof="0" dirty="0">
                <a:solidFill>
                  <a:srgbClr val="1B1D20"/>
                </a:solidFill>
                <a:latin typeface="JetBrains Mono" pitchFamily="49" charset="0"/>
                <a:ea typeface="JetBrains Mono" pitchFamily="49" charset="-122"/>
                <a:cs typeface="JetBrains Mono" pitchFamily="49" charset="-120"/>
              </a:rPr>
              <a:t>container + network</a:t>
            </a:r>
            <a:r>
              <a:rPr lang="it-IT" sz="1600" noProof="0" dirty="0">
                <a:solidFill>
                  <a:srgbClr val="5B5F66"/>
                </a:solidFill>
                <a:latin typeface="IBM Plex Sans" pitchFamily="34" charset="0"/>
                <a:ea typeface="IBM Plex Sans" pitchFamily="34" charset="-122"/>
                <a:cs typeface="IBM Plex Sans" pitchFamily="34" charset="-120"/>
              </a:rPr>
              <a:t>  creati via Docker SDK</a:t>
            </a:r>
          </a:p>
        </p:txBody>
      </p:sp>
      <p:cxnSp>
        <p:nvCxnSpPr>
          <p:cNvPr id="88" name="Rule 89"/>
          <p:cNvCxnSpPr/>
          <p:nvPr/>
        </p:nvCxnSpPr>
        <p:spPr>
          <a:xfrm>
            <a:off x="812800" y="4267200"/>
            <a:ext cx="10871200" cy="0"/>
          </a:xfrm>
          <a:prstGeom prst="line">
            <a:avLst/>
          </a:prstGeom>
          <a:ln w="12700">
            <a:solidFill>
              <a:srgbClr val="E1E0DD"/>
            </a:solidFill>
          </a:ln>
        </p:spPr>
      </p:cxnSp>
    </p:spTree>
    <p:extLst>
      <p:ext uri="{BB962C8B-B14F-4D97-AF65-F5344CB8AC3E}">
        <p14:creationId xmlns:p14="http://schemas.microsoft.com/office/powerpoint/2010/main" val="1364479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Le reti Docker standard non bastano</a:t>
            </a:r>
            <a:endParaRPr lang="it-IT" sz="4000" noProof="0" dirty="0"/>
          </a:p>
        </p:txBody>
      </p:sp>
      <p:sp>
        <p:nvSpPr>
          <p:cNvPr id="5" name="Text 3"/>
          <p:cNvSpPr/>
          <p:nvPr/>
        </p:nvSpPr>
        <p:spPr>
          <a:xfrm>
            <a:off x="812800" y="1889758"/>
            <a:ext cx="5108131" cy="274320"/>
          </a:xfrm>
          <a:prstGeom prst="rect">
            <a:avLst/>
          </a:prstGeom>
          <a:noFill/>
          <a:ln/>
        </p:spPr>
        <p:txBody>
          <a:bodyPr wrap="square" lIns="0" tIns="0" rIns="0" bIns="0" rtlCol="0" anchor="t">
            <a:normAutofit/>
          </a:bodyPr>
          <a:lstStyle/>
          <a:p>
            <a:pPr marL="0" indent="0" algn="l">
              <a:lnSpc>
                <a:spcPts val="2000"/>
              </a:lnSpc>
              <a:buNone/>
            </a:pPr>
            <a:r>
              <a:rPr lang="it-IT" sz="1600" dirty="0">
                <a:solidFill>
                  <a:srgbClr val="5B5F66"/>
                </a:solidFill>
                <a:latin typeface="JetBrains Mono" pitchFamily="49" charset="0"/>
                <a:cs typeface="JetBrains Mono" pitchFamily="49" charset="-120"/>
              </a:rPr>
              <a:t>Docker standard</a:t>
            </a:r>
            <a:endParaRPr lang="it-IT" sz="1600" noProof="0" dirty="0"/>
          </a:p>
        </p:txBody>
      </p:sp>
      <p:sp>
        <p:nvSpPr>
          <p:cNvPr id="6" name="Text 4"/>
          <p:cNvSpPr/>
          <p:nvPr/>
        </p:nvSpPr>
        <p:spPr>
          <a:xfrm>
            <a:off x="812800" y="2214879"/>
            <a:ext cx="5108131" cy="375920"/>
          </a:xfrm>
          <a:prstGeom prst="rect">
            <a:avLst/>
          </a:prstGeom>
          <a:noFill/>
          <a:ln/>
        </p:spPr>
        <p:txBody>
          <a:bodyPr wrap="square" lIns="0" tIns="0" rIns="0" bIns="0" rtlCol="0" anchor="t">
            <a:normAutofit/>
          </a:bodyPr>
          <a:lstStyle/>
          <a:p>
            <a:pPr marL="0" indent="0" algn="l">
              <a:lnSpc>
                <a:spcPts val="2875"/>
              </a:lnSpc>
              <a:buNone/>
            </a:pPr>
            <a:r>
              <a:rPr lang="it-IT" sz="2300" b="1" noProof="0" dirty="0">
                <a:solidFill>
                  <a:srgbClr val="1B1D20"/>
                </a:solidFill>
                <a:latin typeface="IBM Plex Sans" pitchFamily="34" charset="0"/>
                <a:ea typeface="IBM Plex Sans" pitchFamily="34" charset="-122"/>
                <a:cs typeface="IBM Plex Sans" pitchFamily="34" charset="-120"/>
              </a:rPr>
              <a:t>Reti L3 per servizi</a:t>
            </a:r>
            <a:endParaRPr lang="it-IT" sz="2300" noProof="0" dirty="0"/>
          </a:p>
        </p:txBody>
      </p:sp>
      <p:sp>
        <p:nvSpPr>
          <p:cNvPr id="7" name="Text 5"/>
          <p:cNvSpPr/>
          <p:nvPr/>
        </p:nvSpPr>
        <p:spPr>
          <a:xfrm>
            <a:off x="863346" y="2641600"/>
            <a:ext cx="5049965" cy="996950"/>
          </a:xfrm>
          <a:prstGeom prst="rect">
            <a:avLst/>
          </a:prstGeom>
          <a:noFill/>
          <a:ln/>
        </p:spPr>
        <p:txBody>
          <a:bodyPr wrap="square" lIns="0" tIns="0" rIns="0" bIns="0" rtlCol="0" anchor="t">
            <a:normAutofit/>
          </a:bodyPr>
          <a:lstStyle/>
          <a:p>
            <a:pPr marL="203454" indent="-203454" algn="l">
              <a:lnSpc>
                <a:spcPts val="2550"/>
              </a:lnSpc>
              <a:buSzPct val="100000"/>
              <a:buChar char="•"/>
            </a:pPr>
            <a:r>
              <a:rPr lang="it-IT" sz="1800" noProof="0" dirty="0">
                <a:solidFill>
                  <a:srgbClr val="5B5F66"/>
                </a:solidFill>
                <a:latin typeface="IBM Plex Sans" pitchFamily="34" charset="0"/>
                <a:ea typeface="IBM Plex Sans" pitchFamily="34" charset="-122"/>
                <a:cs typeface="IBM Plex Sans" pitchFamily="34" charset="-120"/>
              </a:rPr>
              <a:t>IPAM: un indirizzo per container</a:t>
            </a:r>
            <a:endParaRPr lang="it-IT" sz="1800" noProof="0" dirty="0"/>
          </a:p>
          <a:p>
            <a:pPr marL="203454" indent="-203454" algn="l">
              <a:lnSpc>
                <a:spcPts val="2550"/>
              </a:lnSpc>
              <a:buSzPct val="100000"/>
              <a:buChar char="•"/>
            </a:pPr>
            <a:r>
              <a:rPr lang="it-IT" sz="1800" noProof="0" dirty="0">
                <a:solidFill>
                  <a:srgbClr val="5B5F66"/>
                </a:solidFill>
                <a:latin typeface="IBM Plex Sans" pitchFamily="34" charset="0"/>
                <a:ea typeface="IBM Plex Sans" pitchFamily="34" charset="-122"/>
                <a:cs typeface="IBM Plex Sans" pitchFamily="34" charset="-120"/>
              </a:rPr>
              <a:t>Gateway e NAT gestiti da Docker</a:t>
            </a:r>
            <a:endParaRPr lang="it-IT" sz="1800" noProof="0" dirty="0"/>
          </a:p>
          <a:p>
            <a:pPr marL="203454" indent="-203454" algn="l">
              <a:lnSpc>
                <a:spcPts val="2550"/>
              </a:lnSpc>
              <a:buSzPct val="100000"/>
              <a:buChar char="•"/>
            </a:pPr>
            <a:r>
              <a:rPr lang="it-IT" sz="1800" noProof="0" dirty="0">
                <a:solidFill>
                  <a:srgbClr val="5B5F66"/>
                </a:solidFill>
                <a:latin typeface="IBM Plex Sans" pitchFamily="34" charset="0"/>
                <a:ea typeface="IBM Plex Sans" pitchFamily="34" charset="-122"/>
                <a:cs typeface="IBM Plex Sans" pitchFamily="34" charset="-120"/>
              </a:rPr>
              <a:t>Isolamento tra reti via </a:t>
            </a:r>
            <a:r>
              <a:rPr lang="it-IT" sz="1800" noProof="0" dirty="0" err="1">
                <a:solidFill>
                  <a:srgbClr val="5B5F66"/>
                </a:solidFill>
                <a:latin typeface="IBM Plex Sans" pitchFamily="34" charset="0"/>
                <a:ea typeface="IBM Plex Sans" pitchFamily="34" charset="-122"/>
                <a:cs typeface="IBM Plex Sans" pitchFamily="34" charset="-120"/>
              </a:rPr>
              <a:t>iptables</a:t>
            </a:r>
            <a:endParaRPr lang="it-IT" sz="1800" noProof="0" dirty="0"/>
          </a:p>
        </p:txBody>
      </p:sp>
      <p:sp>
        <p:nvSpPr>
          <p:cNvPr id="8" name="Text 6"/>
          <p:cNvSpPr/>
          <p:nvPr/>
        </p:nvSpPr>
        <p:spPr>
          <a:xfrm>
            <a:off x="812800" y="3740150"/>
            <a:ext cx="5108131" cy="327660"/>
          </a:xfrm>
          <a:prstGeom prst="rect">
            <a:avLst/>
          </a:prstGeom>
          <a:noFill/>
          <a:ln/>
        </p:spPr>
        <p:txBody>
          <a:bodyPr wrap="square" lIns="0" tIns="0" rIns="0" bIns="0" rtlCol="0" anchor="t">
            <a:normAutofit/>
          </a:bodyPr>
          <a:lstStyle/>
          <a:p>
            <a:pPr marL="0" indent="0" algn="l">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Adatto alle applicazioni, non a un router.</a:t>
            </a:r>
            <a:endParaRPr lang="it-IT" sz="1800" noProof="0" dirty="0"/>
          </a:p>
        </p:txBody>
      </p:sp>
      <p:sp>
        <p:nvSpPr>
          <p:cNvPr id="9" name="Shape 7"/>
          <p:cNvSpPr/>
          <p:nvPr/>
        </p:nvSpPr>
        <p:spPr>
          <a:xfrm>
            <a:off x="6096000" y="1889758"/>
            <a:ext cx="0" cy="2152650"/>
          </a:xfrm>
          <a:prstGeom prst="line">
            <a:avLst/>
          </a:prstGeom>
          <a:noFill/>
          <a:ln w="38100">
            <a:solidFill>
              <a:srgbClr val="60A5E3"/>
            </a:solidFill>
            <a:prstDash val="solid"/>
          </a:ln>
        </p:spPr>
        <p:txBody>
          <a:bodyPr/>
          <a:lstStyle/>
          <a:p>
            <a:endParaRPr lang="it-IT" noProof="0" dirty="0"/>
          </a:p>
        </p:txBody>
      </p:sp>
      <p:sp>
        <p:nvSpPr>
          <p:cNvPr id="10" name="Text 8"/>
          <p:cNvSpPr/>
          <p:nvPr/>
        </p:nvSpPr>
        <p:spPr>
          <a:xfrm>
            <a:off x="6419850" y="1889758"/>
            <a:ext cx="510813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err="1">
                <a:solidFill>
                  <a:srgbClr val="2B6CA3"/>
                </a:solidFill>
                <a:latin typeface="JetBrains Mono" pitchFamily="49" charset="0"/>
                <a:ea typeface="JetBrains Mono" pitchFamily="49" charset="-122"/>
                <a:cs typeface="JetBrains Mono" pitchFamily="49" charset="-120"/>
              </a:rPr>
              <a:t>katharanp</a:t>
            </a:r>
            <a:endParaRPr lang="it-IT" sz="1600" noProof="0" dirty="0"/>
          </a:p>
        </p:txBody>
      </p:sp>
      <p:sp>
        <p:nvSpPr>
          <p:cNvPr id="11" name="Text 9"/>
          <p:cNvSpPr/>
          <p:nvPr/>
        </p:nvSpPr>
        <p:spPr>
          <a:xfrm>
            <a:off x="6419850" y="2214879"/>
            <a:ext cx="5108131" cy="375920"/>
          </a:xfrm>
          <a:prstGeom prst="rect">
            <a:avLst/>
          </a:prstGeom>
          <a:noFill/>
          <a:ln/>
        </p:spPr>
        <p:txBody>
          <a:bodyPr wrap="square" lIns="0" tIns="0" rIns="0" bIns="0" rtlCol="0" anchor="t">
            <a:normAutofit/>
          </a:bodyPr>
          <a:lstStyle/>
          <a:p>
            <a:pPr marL="0" indent="0" algn="l">
              <a:lnSpc>
                <a:spcPts val="2875"/>
              </a:lnSpc>
              <a:buNone/>
            </a:pPr>
            <a:r>
              <a:rPr lang="it-IT" sz="2300" b="1" noProof="0" dirty="0">
                <a:solidFill>
                  <a:srgbClr val="1B1D20"/>
                </a:solidFill>
                <a:latin typeface="IBM Plex Sans" pitchFamily="34" charset="0"/>
                <a:ea typeface="IBM Plex Sans" pitchFamily="34" charset="-122"/>
                <a:cs typeface="IBM Plex Sans" pitchFamily="34" charset="-120"/>
              </a:rPr>
              <a:t>Segmenti L2 puri</a:t>
            </a:r>
            <a:endParaRPr lang="it-IT" sz="2300" noProof="0" dirty="0"/>
          </a:p>
        </p:txBody>
      </p:sp>
      <p:sp>
        <p:nvSpPr>
          <p:cNvPr id="12" name="Text 10"/>
          <p:cNvSpPr/>
          <p:nvPr/>
        </p:nvSpPr>
        <p:spPr>
          <a:xfrm>
            <a:off x="6470396" y="2641600"/>
            <a:ext cx="5049965" cy="996950"/>
          </a:xfrm>
          <a:prstGeom prst="rect">
            <a:avLst/>
          </a:prstGeom>
          <a:noFill/>
          <a:ln/>
        </p:spPr>
        <p:txBody>
          <a:bodyPr wrap="square" lIns="0" tIns="0" rIns="0" bIns="0" rtlCol="0" anchor="t">
            <a:normAutofit/>
          </a:bodyPr>
          <a:lstStyle/>
          <a:p>
            <a:pPr marL="203454" indent="-203454" algn="l">
              <a:lnSpc>
                <a:spcPts val="2550"/>
              </a:lnSpc>
              <a:buSzPct val="100000"/>
              <a:buChar char="•"/>
            </a:pPr>
            <a:r>
              <a:rPr lang="it-IT" sz="1800" noProof="0" dirty="0">
                <a:solidFill>
                  <a:srgbClr val="5B5F66"/>
                </a:solidFill>
                <a:latin typeface="IBM Plex Sans" pitchFamily="34" charset="0"/>
                <a:ea typeface="IBM Plex Sans" pitchFamily="34" charset="-122"/>
                <a:cs typeface="IBM Plex Sans" pitchFamily="34" charset="-120"/>
              </a:rPr>
              <a:t>IPAM </a:t>
            </a:r>
            <a:r>
              <a:rPr lang="it-IT" sz="1800" noProof="0" dirty="0" err="1">
                <a:solidFill>
                  <a:srgbClr val="5B5F66"/>
                </a:solidFill>
                <a:latin typeface="IBM Plex Sans" pitchFamily="34" charset="0"/>
                <a:ea typeface="IBM Plex Sans" pitchFamily="34" charset="-122"/>
                <a:cs typeface="IBM Plex Sans" pitchFamily="34" charset="-120"/>
              </a:rPr>
              <a:t>null</a:t>
            </a:r>
            <a:r>
              <a:rPr lang="it-IT" sz="1800" noProof="0" dirty="0">
                <a:solidFill>
                  <a:srgbClr val="5B5F66"/>
                </a:solidFill>
                <a:latin typeface="IBM Plex Sans" pitchFamily="34" charset="0"/>
                <a:ea typeface="IBM Plex Sans" pitchFamily="34" charset="-122"/>
                <a:cs typeface="IBM Plex Sans" pitchFamily="34" charset="-120"/>
              </a:rPr>
              <a:t>: nessun indirizzo</a:t>
            </a:r>
            <a:endParaRPr lang="it-IT" sz="1800" noProof="0" dirty="0"/>
          </a:p>
          <a:p>
            <a:pPr marL="203454" indent="-203454" algn="l">
              <a:lnSpc>
                <a:spcPts val="2550"/>
              </a:lnSpc>
              <a:buSzPct val="100000"/>
              <a:buChar char="•"/>
            </a:pPr>
            <a:r>
              <a:rPr lang="it-IT" sz="1800" noProof="0" dirty="0">
                <a:solidFill>
                  <a:srgbClr val="5B5F66"/>
                </a:solidFill>
                <a:latin typeface="IBM Plex Sans" pitchFamily="34" charset="0"/>
                <a:ea typeface="IBM Plex Sans" pitchFamily="34" charset="-122"/>
                <a:cs typeface="IBM Plex Sans" pitchFamily="34" charset="-120"/>
              </a:rPr>
              <a:t>Nessun gateway, nessun NAT</a:t>
            </a:r>
            <a:endParaRPr lang="it-IT" sz="1800" noProof="0" dirty="0"/>
          </a:p>
          <a:p>
            <a:pPr marL="203454" indent="-203454" algn="l">
              <a:lnSpc>
                <a:spcPts val="2550"/>
              </a:lnSpc>
              <a:buSzPct val="100000"/>
              <a:buChar char="•"/>
            </a:pPr>
            <a:r>
              <a:rPr lang="it-IT" sz="1800" noProof="0" dirty="0">
                <a:solidFill>
                  <a:srgbClr val="5B5F66"/>
                </a:solidFill>
                <a:latin typeface="IBM Plex Sans" pitchFamily="34" charset="0"/>
                <a:ea typeface="IBM Plex Sans" pitchFamily="34" charset="-122"/>
                <a:cs typeface="IBM Plex Sans" pitchFamily="34" charset="-120"/>
              </a:rPr>
              <a:t>Qualsiasi frame: ARP, OSPF, STP…</a:t>
            </a:r>
            <a:endParaRPr lang="it-IT" sz="1800" noProof="0" dirty="0"/>
          </a:p>
        </p:txBody>
      </p:sp>
      <p:sp>
        <p:nvSpPr>
          <p:cNvPr id="13" name="Text 11"/>
          <p:cNvSpPr/>
          <p:nvPr/>
        </p:nvSpPr>
        <p:spPr>
          <a:xfrm>
            <a:off x="6419850" y="3740150"/>
            <a:ext cx="5108131" cy="327660"/>
          </a:xfrm>
          <a:prstGeom prst="rect">
            <a:avLst/>
          </a:prstGeom>
          <a:noFill/>
          <a:ln/>
        </p:spPr>
        <p:txBody>
          <a:bodyPr wrap="square" lIns="0" tIns="0" rIns="0" bIns="0" rtlCol="0" anchor="t">
            <a:normAutofit/>
          </a:bodyPr>
          <a:lstStyle/>
          <a:p>
            <a:pPr marL="0" indent="0" algn="l">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Indirizzi e routing li definisce l’utente.</a:t>
            </a:r>
            <a:endParaRPr lang="it-IT" sz="1800" noProof="0" dirty="0"/>
          </a:p>
        </p:txBody>
      </p:sp>
      <p:sp>
        <p:nvSpPr>
          <p:cNvPr id="14" name="Text 12"/>
          <p:cNvSpPr/>
          <p:nvPr/>
        </p:nvSpPr>
        <p:spPr>
          <a:xfrm>
            <a:off x="812800" y="4994908"/>
            <a:ext cx="10883392"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IBM Plex Sans" pitchFamily="34" charset="0"/>
                <a:ea typeface="IBM Plex Sans" pitchFamily="34" charset="-122"/>
                <a:cs typeface="IBM Plex Sans" pitchFamily="34" charset="-120"/>
              </a:rPr>
              <a:t>Managed</a:t>
            </a:r>
            <a:r>
              <a:rPr lang="it-IT" sz="1600" b="1" noProof="0" dirty="0">
                <a:solidFill>
                  <a:srgbClr val="1B1D20"/>
                </a:solidFill>
                <a:latin typeface="IBM Plex Sans" pitchFamily="34" charset="0"/>
                <a:ea typeface="IBM Plex Sans" pitchFamily="34" charset="-122"/>
                <a:cs typeface="IBM Plex Sans" pitchFamily="34" charset="-120"/>
              </a:rPr>
              <a:t> plugin</a:t>
            </a:r>
            <a:r>
              <a:rPr lang="it-IT" sz="1600" noProof="0" dirty="0">
                <a:solidFill>
                  <a:srgbClr val="5B5F66"/>
                </a:solidFill>
                <a:latin typeface="IBM Plex Sans" pitchFamily="34" charset="0"/>
                <a:ea typeface="IBM Plex Sans" pitchFamily="34" charset="-122"/>
                <a:cs typeface="IBM Plex Sans" pitchFamily="34" charset="-120"/>
              </a:rPr>
              <a:t> di Docker, installato da Kathará. Usabile anche standalone:</a:t>
            </a:r>
            <a:endParaRPr lang="it-IT" sz="1600" noProof="0" dirty="0"/>
          </a:p>
        </p:txBody>
      </p:sp>
      <p:sp>
        <p:nvSpPr>
          <p:cNvPr id="15" name="Text 13"/>
          <p:cNvSpPr/>
          <p:nvPr/>
        </p:nvSpPr>
        <p:spPr>
          <a:xfrm>
            <a:off x="812800" y="5355592"/>
            <a:ext cx="10566400" cy="486410"/>
          </a:xfrm>
          <a:prstGeom prst="rect">
            <a:avLst/>
          </a:prstGeom>
          <a:solidFill>
            <a:srgbClr val="17191C"/>
          </a:solidFill>
          <a:ln/>
        </p:spPr>
        <p:txBody>
          <a:bodyPr wrap="square" lIns="177800" tIns="114300" rIns="0" bIns="88900" rtlCol="0" anchor="t">
            <a:normAutofit fontScale="92500"/>
          </a:bodyPr>
          <a:lstStyle/>
          <a:p>
            <a:pPr marL="0" indent="0" algn="l">
              <a:lnSpc>
                <a:spcPts val="203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docker</a:t>
            </a:r>
            <a:r>
              <a:rPr lang="it-IT" sz="1600" noProof="0" dirty="0">
                <a:solidFill>
                  <a:srgbClr val="F2F1EC"/>
                </a:solidFill>
                <a:latin typeface="JetBrains Mono" pitchFamily="49" charset="0"/>
                <a:ea typeface="JetBrains Mono" pitchFamily="49" charset="-122"/>
                <a:cs typeface="JetBrains Mono" pitchFamily="49" charset="-120"/>
              </a:rPr>
              <a:t> network create --driver=kathara/katharanp_vde:amd64 </a:t>
            </a:r>
            <a:r>
              <a:rPr lang="it-IT" sz="1600" noProof="0" dirty="0">
                <a:solidFill>
                  <a:srgbClr val="E1D368"/>
                </a:solidFill>
                <a:latin typeface="JetBrains Mono" pitchFamily="49" charset="0"/>
                <a:ea typeface="JetBrains Mono" pitchFamily="49" charset="-122"/>
                <a:cs typeface="JetBrains Mono" pitchFamily="49" charset="-120"/>
              </a:rPr>
              <a:t>--</a:t>
            </a:r>
            <a:r>
              <a:rPr lang="it-IT" sz="1600" noProof="0" dirty="0" err="1">
                <a:solidFill>
                  <a:srgbClr val="E1D368"/>
                </a:solidFill>
                <a:latin typeface="JetBrains Mono" pitchFamily="49" charset="0"/>
                <a:ea typeface="JetBrains Mono" pitchFamily="49" charset="-122"/>
                <a:cs typeface="JetBrains Mono" pitchFamily="49" charset="-120"/>
              </a:rPr>
              <a:t>ipam</a:t>
            </a:r>
            <a:r>
              <a:rPr lang="it-IT" sz="1600" noProof="0" dirty="0">
                <a:solidFill>
                  <a:srgbClr val="E1D368"/>
                </a:solidFill>
                <a:latin typeface="JetBrains Mono" pitchFamily="49" charset="0"/>
                <a:ea typeface="JetBrains Mono" pitchFamily="49" charset="-122"/>
                <a:cs typeface="JetBrains Mono" pitchFamily="49" charset="-120"/>
              </a:rPr>
              <a:t>-driver=</a:t>
            </a:r>
            <a:r>
              <a:rPr lang="it-IT" sz="1600" noProof="0" dirty="0" err="1">
                <a:solidFill>
                  <a:srgbClr val="E1D368"/>
                </a:solidFill>
                <a:latin typeface="JetBrains Mono" pitchFamily="49" charset="0"/>
                <a:ea typeface="JetBrains Mono" pitchFamily="49" charset="-122"/>
                <a:cs typeface="JetBrains Mono" pitchFamily="49" charset="-120"/>
              </a:rPr>
              <a:t>null</a:t>
            </a:r>
            <a:r>
              <a:rPr lang="it-IT" sz="1600" noProof="0" dirty="0">
                <a:solidFill>
                  <a:srgbClr val="F2F1EC"/>
                </a:solidFill>
                <a:latin typeface="JetBrains Mono" pitchFamily="49" charset="0"/>
                <a:ea typeface="JetBrains Mono" pitchFamily="49" charset="-122"/>
                <a:cs typeface="JetBrains Mono" pitchFamily="49" charset="-120"/>
              </a:rPr>
              <a:t> l2net</a:t>
            </a:r>
            <a:endParaRPr lang="it-IT" sz="1600" noProof="0" dirty="0"/>
          </a:p>
        </p:txBody>
      </p:sp>
    </p:spTree>
    <p:extLst>
      <p:ext uri="{BB962C8B-B14F-4D97-AF65-F5344CB8AC3E}">
        <p14:creationId xmlns:p14="http://schemas.microsoft.com/office/powerpoint/2010/main" val="382446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err="1">
                <a:solidFill>
                  <a:srgbClr val="1B1D20"/>
                </a:solidFill>
                <a:latin typeface="IBM Plex Sans" pitchFamily="34" charset="0"/>
                <a:ea typeface="IBM Plex Sans" pitchFamily="34" charset="-122"/>
                <a:cs typeface="IBM Plex Sans" pitchFamily="34" charset="-120"/>
              </a:rPr>
              <a:t>katharanp</a:t>
            </a:r>
            <a:r>
              <a:rPr lang="it-IT" sz="4000" b="1" i="0" noProof="0" dirty="0">
                <a:solidFill>
                  <a:srgbClr val="1B1D20"/>
                </a:solidFill>
                <a:latin typeface="IBM Plex Sans" pitchFamily="34" charset="0"/>
                <a:ea typeface="IBM Plex Sans" pitchFamily="34" charset="-122"/>
                <a:cs typeface="IBM Plex Sans" pitchFamily="34" charset="-120"/>
              </a:rPr>
              <a:t>: due implementazioni</a:t>
            </a:r>
            <a:endParaRPr lang="it-IT" sz="4000" noProof="0" dirty="0"/>
          </a:p>
        </p:txBody>
      </p:sp>
      <p:graphicFrame>
        <p:nvGraphicFramePr>
          <p:cNvPr id="5" name="Table 0"/>
          <p:cNvGraphicFramePr>
            <a:graphicFrameLocks noGrp="1"/>
          </p:cNvGraphicFramePr>
          <p:nvPr/>
        </p:nvGraphicFramePr>
        <p:xfrm>
          <a:off x="825500" y="1851658"/>
          <a:ext cx="10553700" cy="3075940"/>
        </p:xfrm>
        <a:graphic>
          <a:graphicData uri="http://schemas.openxmlformats.org/drawingml/2006/table">
            <a:tbl>
              <a:tblPr/>
              <a:tblGrid>
                <a:gridCol w="2110740">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439420">
                <a:tc>
                  <a:txBody>
                    <a:bodyPr/>
                    <a:lstStyle/>
                    <a:p>
                      <a:pPr marL="0" indent="0">
                        <a:lnSpc>
                          <a:spcPts val="2240"/>
                        </a:lnSpc>
                        <a:buNone/>
                      </a:pP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240"/>
                        </a:lnSpc>
                        <a:buNone/>
                      </a:pPr>
                      <a:r>
                        <a:rPr lang="it-IT" sz="1600" noProof="0" dirty="0">
                          <a:solidFill>
                            <a:srgbClr val="2B6CA3"/>
                          </a:solidFill>
                          <a:latin typeface="IBM Plex Sans" pitchFamily="34" charset="0"/>
                          <a:ea typeface="IBM Plex Sans" pitchFamily="34" charset="-122"/>
                          <a:cs typeface="IBM Plex Sans" pitchFamily="34" charset="-120"/>
                        </a:rPr>
                        <a:t>VDE · </a:t>
                      </a:r>
                      <a:r>
                        <a:rPr lang="it-IT" sz="1600" noProof="0" dirty="0" err="1">
                          <a:solidFill>
                            <a:srgbClr val="2B6CA3"/>
                          </a:solidFill>
                          <a:latin typeface="IBM Plex Sans" pitchFamily="34" charset="0"/>
                          <a:ea typeface="IBM Plex Sans" pitchFamily="34" charset="-122"/>
                          <a:cs typeface="IBM Plex Sans" pitchFamily="34" charset="-120"/>
                        </a:rPr>
                        <a:t>katharanp_vde</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Linux bridge · </a:t>
                      </a:r>
                      <a:r>
                        <a:rPr lang="it-IT" sz="1600" noProof="0" dirty="0" err="1">
                          <a:solidFill>
                            <a:srgbClr val="5B5F66"/>
                          </a:solidFill>
                          <a:latin typeface="IBM Plex Sans" pitchFamily="34" charset="0"/>
                          <a:ea typeface="IBM Plex Sans" pitchFamily="34" charset="-122"/>
                          <a:cs typeface="IBM Plex Sans" pitchFamily="34" charset="-120"/>
                        </a:rPr>
                        <a:t>katharanp</a:t>
                      </a:r>
                      <a:r>
                        <a:rPr lang="it-IT" sz="1600" noProof="0" dirty="0">
                          <a:solidFill>
                            <a:srgbClr val="5B5F66"/>
                          </a:solidFill>
                          <a:latin typeface="IBM Plex Sans" pitchFamily="34" charset="0"/>
                          <a:ea typeface="IBM Plex Sans" pitchFamily="34" charset="-122"/>
                          <a:cs typeface="IBM Plex Sans" pitchFamily="34" charset="-120"/>
                        </a:rPr>
                        <a:t> (legacy)</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LAN</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switch VDE in </a:t>
                      </a:r>
                      <a:r>
                        <a:rPr lang="it-IT" sz="1600" noProof="0" dirty="0" err="1">
                          <a:solidFill>
                            <a:srgbClr val="1B1D20"/>
                          </a:solidFill>
                          <a:latin typeface="IBM Plex Sans" pitchFamily="34" charset="0"/>
                          <a:ea typeface="IBM Plex Sans" pitchFamily="34" charset="-122"/>
                          <a:cs typeface="IBM Plex Sans" pitchFamily="34" charset="-120"/>
                        </a:rPr>
                        <a:t>userspace</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bridge Linux nel kernel</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Interfaccia</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tap</a:t>
                      </a:r>
                      <a:r>
                        <a:rPr lang="it-IT" sz="1600" noProof="0" dirty="0">
                          <a:solidFill>
                            <a:srgbClr val="1B1D20"/>
                          </a:solidFill>
                          <a:latin typeface="IBM Plex Sans" pitchFamily="34" charset="0"/>
                          <a:ea typeface="IBM Plex Sans" pitchFamily="34" charset="-122"/>
                          <a:cs typeface="IBM Plex Sans" pitchFamily="34" charset="-120"/>
                        </a:rPr>
                        <a:t> nel </a:t>
                      </a:r>
                      <a:r>
                        <a:rPr lang="it-IT" sz="1600" noProof="0" dirty="0" err="1">
                          <a:solidFill>
                            <a:srgbClr val="1B1D20"/>
                          </a:solidFill>
                          <a:latin typeface="IBM Plex Sans" pitchFamily="34" charset="0"/>
                          <a:ea typeface="IBM Plex Sans" pitchFamily="34" charset="-122"/>
                          <a:cs typeface="IBM Plex Sans" pitchFamily="34" charset="-120"/>
                        </a:rPr>
                        <a:t>netns</a:t>
                      </a:r>
                      <a:r>
                        <a:rPr lang="it-IT" sz="1600" noProof="0" dirty="0">
                          <a:solidFill>
                            <a:srgbClr val="1B1D20"/>
                          </a:solidFill>
                          <a:latin typeface="IBM Plex Sans" pitchFamily="34" charset="0"/>
                          <a:ea typeface="IBM Plex Sans" pitchFamily="34" charset="-122"/>
                          <a:cs typeface="IBM Plex Sans" pitchFamily="34" charset="-120"/>
                        </a:rPr>
                        <a:t> del container</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coppia </a:t>
                      </a:r>
                      <a:r>
                        <a:rPr lang="it-IT" sz="1600" noProof="0" dirty="0" err="1">
                          <a:solidFill>
                            <a:srgbClr val="5B5F66"/>
                          </a:solidFill>
                          <a:latin typeface="IBM Plex Sans" pitchFamily="34" charset="0"/>
                          <a:ea typeface="IBM Plex Sans" pitchFamily="34" charset="-122"/>
                          <a:cs typeface="IBM Plex Sans" pitchFamily="34" charset="-120"/>
                        </a:rPr>
                        <a:t>veth</a:t>
                      </a:r>
                      <a:r>
                        <a:rPr lang="it-IT" sz="1600" noProof="0" dirty="0">
                          <a:solidFill>
                            <a:srgbClr val="5B5F66"/>
                          </a:solidFill>
                          <a:latin typeface="IBM Plex Sans" pitchFamily="34" charset="0"/>
                          <a:ea typeface="IBM Plex Sans" pitchFamily="34" charset="-122"/>
                          <a:cs typeface="IBM Plex Sans" pitchFamily="34" charset="-120"/>
                        </a:rPr>
                        <a:t>: bridge ↔ container</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Inoltro</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hub: tutti i frame, anche STP</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learning bridge: filtra per FDB</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439420">
                <a:tc>
                  <a:txBody>
                    <a:bodyPr/>
                    <a:lstStyle/>
                    <a:p>
                      <a:pPr marL="0" indent="0">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iptables</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non necessario</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regole aggiuntive necessarie</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Prestazioni</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inferiori (</a:t>
                      </a:r>
                      <a:r>
                        <a:rPr lang="it-IT" sz="1600" noProof="0" dirty="0" err="1">
                          <a:solidFill>
                            <a:srgbClr val="1B1D20"/>
                          </a:solidFill>
                          <a:latin typeface="IBM Plex Sans" pitchFamily="34" charset="0"/>
                          <a:ea typeface="IBM Plex Sans" pitchFamily="34" charset="-122"/>
                          <a:cs typeface="IBM Plex Sans" pitchFamily="34" charset="-120"/>
                        </a:rPr>
                        <a:t>userspace</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superiori (kernel)</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Catture</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tcpdump</a:t>
                      </a:r>
                      <a:r>
                        <a:rPr lang="it-IT" sz="1600" noProof="0" dirty="0">
                          <a:solidFill>
                            <a:srgbClr val="1B1D20"/>
                          </a:solidFill>
                          <a:latin typeface="IBM Plex Sans" pitchFamily="34" charset="0"/>
                          <a:ea typeface="IBM Plex Sans" pitchFamily="34" charset="-122"/>
                          <a:cs typeface="IBM Plex Sans" pitchFamily="34" charset="-120"/>
                        </a:rPr>
                        <a:t> nel container</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err="1">
                          <a:solidFill>
                            <a:srgbClr val="5B5F66"/>
                          </a:solidFill>
                          <a:latin typeface="IBM Plex Sans" pitchFamily="34" charset="0"/>
                          <a:ea typeface="IBM Plex Sans" pitchFamily="34" charset="-122"/>
                          <a:cs typeface="IBM Plex Sans" pitchFamily="34" charset="-120"/>
                        </a:rPr>
                        <a:t>tcpdump</a:t>
                      </a:r>
                      <a:r>
                        <a:rPr lang="it-IT" sz="1600" noProof="0" dirty="0">
                          <a:solidFill>
                            <a:srgbClr val="5B5F66"/>
                          </a:solidFill>
                          <a:latin typeface="IBM Plex Sans" pitchFamily="34" charset="0"/>
                          <a:ea typeface="IBM Plex Sans" pitchFamily="34" charset="-122"/>
                          <a:cs typeface="IBM Plex Sans" pitchFamily="34" charset="-120"/>
                        </a:rPr>
                        <a:t> anche sul bridge</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831850" y="5186679"/>
            <a:ext cx="0" cy="655320"/>
          </a:xfrm>
          <a:prstGeom prst="line">
            <a:avLst/>
          </a:prstGeom>
          <a:noFill/>
          <a:ln w="38100">
            <a:solidFill>
              <a:srgbClr val="60A5E3"/>
            </a:solidFill>
            <a:prstDash val="solid"/>
          </a:ln>
        </p:spPr>
        <p:txBody>
          <a:bodyPr/>
          <a:lstStyle/>
          <a:p>
            <a:endParaRPr lang="it-IT" noProof="0" dirty="0"/>
          </a:p>
        </p:txBody>
      </p:sp>
      <p:sp>
        <p:nvSpPr>
          <p:cNvPr id="7" name="Text 4"/>
          <p:cNvSpPr/>
          <p:nvPr/>
        </p:nvSpPr>
        <p:spPr>
          <a:xfrm>
            <a:off x="1054100" y="5212079"/>
            <a:ext cx="10634853" cy="629920"/>
          </a:xfrm>
          <a:prstGeom prst="rect">
            <a:avLst/>
          </a:prstGeom>
          <a:noFill/>
          <a:ln/>
        </p:spPr>
        <p:txBody>
          <a:bodyPr wrap="square" lIns="0" tIns="0" rIns="0" bIns="0" rtlCol="0" anchor="t">
            <a:normAutofit/>
          </a:bodyPr>
          <a:lstStyle/>
          <a:p>
            <a:pPr marL="0" indent="0" algn="l">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Per l’emulazione conta la fedeltà:</a:t>
            </a:r>
            <a:r>
              <a:rPr lang="it-IT" sz="1800" noProof="0" dirty="0">
                <a:solidFill>
                  <a:srgbClr val="1B1D20"/>
                </a:solidFill>
                <a:latin typeface="IBM Plex Sans" pitchFamily="34" charset="0"/>
                <a:ea typeface="IBM Plex Sans" pitchFamily="34" charset="-122"/>
                <a:cs typeface="IBM Plex Sans" pitchFamily="34" charset="-120"/>
              </a:rPr>
              <a:t> il dominio di collisione deve comportarsi come un mezzo condiviso, senza filtri né traffico spurio.</a:t>
            </a:r>
            <a:endParaRPr lang="it-IT" sz="1800" noProof="0" dirty="0"/>
          </a:p>
        </p:txBody>
      </p:sp>
    </p:spTree>
    <p:extLst>
      <p:ext uri="{BB962C8B-B14F-4D97-AF65-F5344CB8AC3E}">
        <p14:creationId xmlns:p14="http://schemas.microsoft.com/office/powerpoint/2010/main" val="247052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A876BADA-64A5-A62E-3897-92791667699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B787238-9977-6D17-74A8-91EE3DD20A7A}"/>
              </a:ext>
            </a:extLst>
          </p:cNvPr>
          <p:cNvSpPr/>
          <p:nvPr/>
        </p:nvSpPr>
        <p:spPr>
          <a:xfrm>
            <a:off x="0" y="0"/>
            <a:ext cx="152400" cy="6858000"/>
          </a:xfrm>
          <a:prstGeom prst="rect">
            <a:avLst/>
          </a:prstGeom>
          <a:solidFill>
            <a:srgbClr val="60A5E3"/>
          </a:solidFill>
          <a:ln/>
        </p:spPr>
        <p:txBody>
          <a:bodyPr/>
          <a:lstStyle/>
          <a:p>
            <a:endParaRPr lang="it-IT" noProof="0" dirty="0"/>
          </a:p>
        </p:txBody>
      </p:sp>
      <p:sp>
        <p:nvSpPr>
          <p:cNvPr id="4" name="Text 2">
            <a:extLst>
              <a:ext uri="{FF2B5EF4-FFF2-40B4-BE49-F238E27FC236}">
                <a16:creationId xmlns:a16="http://schemas.microsoft.com/office/drawing/2014/main" id="{3853DD25-D647-8931-2FE5-5B9C3B3C41DC}"/>
              </a:ext>
            </a:extLst>
          </p:cNvPr>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Due modalità di interazione</a:t>
            </a:r>
            <a:endParaRPr lang="it-IT" sz="4000" noProof="0" dirty="0"/>
          </a:p>
        </p:txBody>
      </p:sp>
      <p:sp>
        <p:nvSpPr>
          <p:cNvPr id="11" name="Text 3">
            <a:extLst>
              <a:ext uri="{FF2B5EF4-FFF2-40B4-BE49-F238E27FC236}">
                <a16:creationId xmlns:a16="http://schemas.microsoft.com/office/drawing/2014/main" id="{DC481FC1-B110-DB2B-4C52-B9F6CAD211BD}"/>
              </a:ext>
            </a:extLst>
          </p:cNvPr>
          <p:cNvSpPr/>
          <p:nvPr/>
        </p:nvSpPr>
        <p:spPr>
          <a:xfrm>
            <a:off x="812800" y="1730430"/>
            <a:ext cx="510813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da terminale</a:t>
            </a:r>
          </a:p>
        </p:txBody>
      </p:sp>
      <p:sp>
        <p:nvSpPr>
          <p:cNvPr id="13" name="Text 4">
            <a:extLst>
              <a:ext uri="{FF2B5EF4-FFF2-40B4-BE49-F238E27FC236}">
                <a16:creationId xmlns:a16="http://schemas.microsoft.com/office/drawing/2014/main" id="{2B196D54-FBE8-DAAF-952D-35433D32A180}"/>
              </a:ext>
            </a:extLst>
          </p:cNvPr>
          <p:cNvSpPr/>
          <p:nvPr/>
        </p:nvSpPr>
        <p:spPr>
          <a:xfrm>
            <a:off x="812800" y="2055551"/>
            <a:ext cx="5108131" cy="375920"/>
          </a:xfrm>
          <a:prstGeom prst="rect">
            <a:avLst/>
          </a:prstGeom>
          <a:noFill/>
          <a:ln/>
        </p:spPr>
        <p:txBody>
          <a:bodyPr wrap="square" lIns="0" tIns="0" rIns="0" bIns="0" rtlCol="0" anchor="t">
            <a:normAutofit/>
          </a:bodyPr>
          <a:lstStyle/>
          <a:p>
            <a:pPr marL="0" indent="0" algn="l">
              <a:lnSpc>
                <a:spcPts val="2875"/>
              </a:lnSpc>
              <a:buNone/>
            </a:pPr>
            <a:r>
              <a:rPr lang="it-IT" sz="2300" b="1" noProof="0" dirty="0">
                <a:solidFill>
                  <a:srgbClr val="1B1D20"/>
                </a:solidFill>
                <a:latin typeface="IBM Plex Sans" pitchFamily="34" charset="0"/>
                <a:ea typeface="IBM Plex Sans" pitchFamily="34" charset="-122"/>
                <a:cs typeface="IBM Plex Sans" pitchFamily="34" charset="-120"/>
              </a:rPr>
              <a:t>CLI</a:t>
            </a:r>
            <a:endParaRPr lang="it-IT" sz="2300" noProof="0" dirty="0"/>
          </a:p>
        </p:txBody>
      </p:sp>
      <p:sp>
        <p:nvSpPr>
          <p:cNvPr id="19" name="Shape 7">
            <a:extLst>
              <a:ext uri="{FF2B5EF4-FFF2-40B4-BE49-F238E27FC236}">
                <a16:creationId xmlns:a16="http://schemas.microsoft.com/office/drawing/2014/main" id="{2A0DD70B-6156-0CB7-1257-128AACDBB66E}"/>
              </a:ext>
            </a:extLst>
          </p:cNvPr>
          <p:cNvSpPr/>
          <p:nvPr/>
        </p:nvSpPr>
        <p:spPr>
          <a:xfrm>
            <a:off x="6096000" y="1889757"/>
            <a:ext cx="0" cy="3632200"/>
          </a:xfrm>
          <a:prstGeom prst="line">
            <a:avLst/>
          </a:prstGeom>
          <a:noFill/>
          <a:ln w="38100">
            <a:solidFill>
              <a:srgbClr val="60A5E3"/>
            </a:solidFill>
            <a:prstDash val="solid"/>
          </a:ln>
        </p:spPr>
        <p:txBody>
          <a:bodyPr/>
          <a:lstStyle/>
          <a:p>
            <a:endParaRPr lang="it-IT" noProof="0" dirty="0"/>
          </a:p>
        </p:txBody>
      </p:sp>
      <p:sp>
        <p:nvSpPr>
          <p:cNvPr id="21" name="Text 8">
            <a:extLst>
              <a:ext uri="{FF2B5EF4-FFF2-40B4-BE49-F238E27FC236}">
                <a16:creationId xmlns:a16="http://schemas.microsoft.com/office/drawing/2014/main" id="{6615C815-2B10-C2CB-EBCE-13FA7E8EC675}"/>
              </a:ext>
            </a:extLst>
          </p:cNvPr>
          <p:cNvSpPr/>
          <p:nvPr/>
        </p:nvSpPr>
        <p:spPr>
          <a:xfrm>
            <a:off x="6436424" y="1813560"/>
            <a:ext cx="5108131"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da codice</a:t>
            </a:r>
          </a:p>
        </p:txBody>
      </p:sp>
      <p:sp>
        <p:nvSpPr>
          <p:cNvPr id="23" name="Text 9">
            <a:extLst>
              <a:ext uri="{FF2B5EF4-FFF2-40B4-BE49-F238E27FC236}">
                <a16:creationId xmlns:a16="http://schemas.microsoft.com/office/drawing/2014/main" id="{E5A02B14-55AC-4E90-2CA5-6A204A495AAF}"/>
              </a:ext>
            </a:extLst>
          </p:cNvPr>
          <p:cNvSpPr/>
          <p:nvPr/>
        </p:nvSpPr>
        <p:spPr>
          <a:xfrm>
            <a:off x="6436424" y="2138681"/>
            <a:ext cx="5108131" cy="375920"/>
          </a:xfrm>
          <a:prstGeom prst="rect">
            <a:avLst/>
          </a:prstGeom>
          <a:noFill/>
          <a:ln/>
        </p:spPr>
        <p:txBody>
          <a:bodyPr wrap="square" lIns="0" tIns="0" rIns="0" bIns="0" rtlCol="0" anchor="t">
            <a:normAutofit/>
          </a:bodyPr>
          <a:lstStyle/>
          <a:p>
            <a:pPr marL="0" indent="0" algn="l">
              <a:lnSpc>
                <a:spcPts val="2875"/>
              </a:lnSpc>
              <a:buNone/>
            </a:pPr>
            <a:r>
              <a:rPr lang="it-IT" sz="2300" b="1" noProof="0" dirty="0">
                <a:solidFill>
                  <a:srgbClr val="1B1D20"/>
                </a:solidFill>
                <a:latin typeface="IBM Plex Sans" pitchFamily="34" charset="0"/>
                <a:ea typeface="IBM Plex Sans" pitchFamily="34" charset="-122"/>
                <a:cs typeface="IBM Plex Sans" pitchFamily="34" charset="-120"/>
              </a:rPr>
              <a:t>Python API</a:t>
            </a:r>
            <a:endParaRPr lang="it-IT" sz="2300" noProof="0" dirty="0"/>
          </a:p>
        </p:txBody>
      </p:sp>
      <p:sp>
        <p:nvSpPr>
          <p:cNvPr id="50" name="Text 51"/>
          <p:cNvSpPr txBox="1"/>
          <p:nvPr/>
        </p:nvSpPr>
        <p:spPr>
          <a:xfrm>
            <a:off x="812800" y="2533072"/>
            <a:ext cx="5105400" cy="1016000"/>
          </a:xfrm>
          <a:prstGeom prst="rect">
            <a:avLst/>
          </a:prstGeom>
          <a:noFill/>
          <a:ln/>
        </p:spPr>
        <p:txBody>
          <a:bodyPr wrap="square" lIns="0" tIns="0" rIns="0" bIns="0" rtlCol="0" anchor="t">
            <a:noAutofit/>
          </a:bodyPr>
          <a:lstStyle/>
          <a:p>
            <a:pPr marL="0" indent="0" algn="l">
              <a:lnSpc>
                <a:spcPts val="2520"/>
              </a:lnSpc>
              <a:buNone/>
            </a:pPr>
            <a:r>
              <a:rPr lang="it-IT" sz="1800" noProof="0" dirty="0">
                <a:solidFill>
                  <a:srgbClr val="5B5F66"/>
                </a:solidFill>
                <a:latin typeface="IBM Plex Sans" pitchFamily="34" charset="0"/>
                <a:ea typeface="IBM Plex Sans" pitchFamily="34" charset="-122"/>
                <a:cs typeface="IBM Plex Sans" pitchFamily="34" charset="-120"/>
              </a:rPr>
              <a:t>I comandi di Kathará per avviare, ispezionare e fermare scenari di rete, definiti tramite cartelle e file di configurazione. </a:t>
            </a:r>
          </a:p>
        </p:txBody>
      </p:sp>
      <p:sp>
        <p:nvSpPr>
          <p:cNvPr id="51" name="Text 52"/>
          <p:cNvSpPr txBox="1"/>
          <p:nvPr/>
        </p:nvSpPr>
        <p:spPr>
          <a:xfrm>
            <a:off x="6442774" y="2616202"/>
            <a:ext cx="5105400" cy="1016000"/>
          </a:xfrm>
          <a:prstGeom prst="rect">
            <a:avLst/>
          </a:prstGeom>
          <a:noFill/>
          <a:ln/>
        </p:spPr>
        <p:txBody>
          <a:bodyPr wrap="square" lIns="0" tIns="0" rIns="0" bIns="0" rtlCol="0" anchor="t">
            <a:noAutofit/>
          </a:bodyPr>
          <a:lstStyle/>
          <a:p>
            <a:pPr marL="0" indent="0" algn="l">
              <a:lnSpc>
                <a:spcPts val="2520"/>
              </a:lnSpc>
              <a:buNone/>
            </a:pPr>
            <a:r>
              <a:rPr lang="it-IT" sz="1800" noProof="0" dirty="0">
                <a:solidFill>
                  <a:schemeClr val="tx2"/>
                </a:solidFill>
                <a:latin typeface="IBM Plex Sans" pitchFamily="34" charset="0"/>
                <a:ea typeface="IBM Plex Sans" pitchFamily="34" charset="-122"/>
                <a:cs typeface="IBM Plex Sans" pitchFamily="34" charset="-120"/>
              </a:rPr>
              <a:t>Le stesse operazioni da Python: topologie generate da codice e test automatici, anche in una pipeline CI.</a:t>
            </a:r>
          </a:p>
        </p:txBody>
      </p:sp>
      <p:sp>
        <p:nvSpPr>
          <p:cNvPr id="52" name="Text 53"/>
          <p:cNvSpPr txBox="1"/>
          <p:nvPr/>
        </p:nvSpPr>
        <p:spPr>
          <a:xfrm>
            <a:off x="650876" y="3726872"/>
            <a:ext cx="5283199" cy="1795086"/>
          </a:xfrm>
          <a:prstGeom prst="rect">
            <a:avLst/>
          </a:prstGeom>
          <a:solidFill>
            <a:srgbClr val="17191C"/>
          </a:solidFill>
          <a:ln/>
        </p:spPr>
        <p:txBody>
          <a:bodyPr wrap="square" lIns="177800" tIns="152400" rIns="177800" bIns="152400" rtlCol="0" anchor="t">
            <a:noAutofit/>
          </a:bodyPr>
          <a:lstStyle/>
          <a:p>
            <a:pPr marL="0" indent="0" algn="l">
              <a:lnSpc>
                <a:spcPts val="210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kathara lstart</a:t>
            </a:r>
          </a:p>
          <a:p>
            <a:pPr marL="0" indent="0" algn="l">
              <a:lnSpc>
                <a:spcPts val="2100"/>
              </a:lnSpc>
              <a:buNone/>
            </a:pPr>
            <a:r>
              <a:rPr lang="it-IT" sz="1600" noProof="0" dirty="0">
                <a:solidFill>
                  <a:srgbClr val="60A5E3"/>
                </a:solidFill>
                <a:latin typeface="JetBrains Mono" pitchFamily="49" charset="0"/>
                <a:ea typeface="JetBrains Mono" pitchFamily="49" charset="-122"/>
                <a:cs typeface="JetBrains Mono" pitchFamily="49" charset="-120"/>
              </a:rPr>
              <a:t>====== Starting Network Scenario ======</a:t>
            </a:r>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Deploying collision domains </a:t>
            </a: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2/2</a:t>
            </a:r>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Deploying devices           </a:t>
            </a: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3/3</a:t>
            </a:r>
          </a:p>
        </p:txBody>
      </p:sp>
      <p:sp>
        <p:nvSpPr>
          <p:cNvPr id="53" name="Text 54"/>
          <p:cNvSpPr txBox="1"/>
          <p:nvPr/>
        </p:nvSpPr>
        <p:spPr>
          <a:xfrm>
            <a:off x="6257926" y="3726872"/>
            <a:ext cx="5613399" cy="1795086"/>
          </a:xfrm>
          <a:prstGeom prst="rect">
            <a:avLst/>
          </a:prstGeom>
          <a:solidFill>
            <a:srgbClr val="17191C"/>
          </a:solidFill>
          <a:ln/>
        </p:spPr>
        <p:txBody>
          <a:bodyPr wrap="square" lIns="177800" tIns="152400" rIns="177800" bIns="152400" rtlCol="0" anchor="t">
            <a:noAutofit/>
          </a:bodyPr>
          <a:lstStyle/>
          <a:p>
            <a:pPr marL="0" indent="0" algn="l">
              <a:lnSpc>
                <a:spcPts val="2100"/>
              </a:lnSpc>
              <a:buNone/>
            </a:pPr>
            <a:r>
              <a:rPr lang="it-IT" sz="1600" noProof="0" dirty="0">
                <a:solidFill>
                  <a:srgbClr val="60A5E3"/>
                </a:solidFill>
                <a:latin typeface="JetBrains Mono" pitchFamily="49" charset="0"/>
                <a:ea typeface="JetBrains Mono" pitchFamily="49" charset="-122"/>
                <a:cs typeface="JetBrains Mono" pitchFamily="49" charset="-120"/>
              </a:rPr>
              <a:t>from</a:t>
            </a:r>
            <a:r>
              <a:rPr lang="it-IT" sz="1600" noProof="0" dirty="0">
                <a:solidFill>
                  <a:srgbClr val="F2F1EC"/>
                </a:solidFill>
                <a:latin typeface="JetBrains Mono" pitchFamily="49" charset="0"/>
                <a:ea typeface="JetBrains Mono" pitchFamily="49" charset="-122"/>
                <a:cs typeface="JetBrains Mono" pitchFamily="49" charset="-120"/>
              </a:rPr>
              <a:t> Kathara.manager.Kathara </a:t>
            </a:r>
            <a:r>
              <a:rPr lang="it-IT" sz="1600" noProof="0" dirty="0">
                <a:solidFill>
                  <a:srgbClr val="60A5E3"/>
                </a:solidFill>
                <a:latin typeface="JetBrains Mono" pitchFamily="49" charset="0"/>
                <a:ea typeface="JetBrains Mono" pitchFamily="49" charset="-122"/>
                <a:cs typeface="JetBrains Mono" pitchFamily="49" charset="-120"/>
              </a:rPr>
              <a:t>import</a:t>
            </a:r>
            <a:r>
              <a:rPr lang="it-IT" sz="1600" noProof="0" dirty="0">
                <a:solidFill>
                  <a:srgbClr val="F2F1EC"/>
                </a:solidFill>
                <a:latin typeface="JetBrains Mono" pitchFamily="49" charset="0"/>
                <a:ea typeface="JetBrains Mono" pitchFamily="49" charset="-122"/>
                <a:cs typeface="JetBrains Mono" pitchFamily="49" charset="-120"/>
              </a:rPr>
              <a:t> Kathara</a:t>
            </a:r>
          </a:p>
          <a:p>
            <a:pPr marL="0" indent="0" algn="l">
              <a:lnSpc>
                <a:spcPts val="2100"/>
              </a:lnSpc>
              <a:buNone/>
            </a:pPr>
            <a:r>
              <a:rPr lang="it-IT" sz="1600" noProof="0" dirty="0">
                <a:solidFill>
                  <a:srgbClr val="60A5E3"/>
                </a:solidFill>
                <a:latin typeface="JetBrains Mono" pitchFamily="49" charset="0"/>
                <a:ea typeface="JetBrains Mono" pitchFamily="49" charset="-122"/>
                <a:cs typeface="JetBrains Mono" pitchFamily="49" charset="-120"/>
              </a:rPr>
              <a:t>from</a:t>
            </a:r>
            <a:r>
              <a:rPr lang="it-IT" sz="1600" noProof="0" dirty="0">
                <a:solidFill>
                  <a:srgbClr val="F2F1EC"/>
                </a:solidFill>
                <a:latin typeface="JetBrains Mono" pitchFamily="49" charset="0"/>
                <a:ea typeface="JetBrains Mono" pitchFamily="49" charset="-122"/>
                <a:cs typeface="JetBrains Mono" pitchFamily="49" charset="-120"/>
              </a:rPr>
              <a:t> Kathara.model.Lab </a:t>
            </a:r>
            <a:r>
              <a:rPr lang="it-IT" sz="1600" noProof="0" dirty="0">
                <a:solidFill>
                  <a:srgbClr val="60A5E3"/>
                </a:solidFill>
                <a:latin typeface="JetBrains Mono" pitchFamily="49" charset="0"/>
                <a:ea typeface="JetBrains Mono" pitchFamily="49" charset="-122"/>
                <a:cs typeface="JetBrains Mono" pitchFamily="49" charset="-120"/>
              </a:rPr>
              <a:t>import</a:t>
            </a:r>
            <a:r>
              <a:rPr lang="it-IT" sz="1600" noProof="0" dirty="0">
                <a:solidFill>
                  <a:srgbClr val="F2F1EC"/>
                </a:solidFill>
                <a:latin typeface="JetBrains Mono" pitchFamily="49" charset="0"/>
                <a:ea typeface="JetBrains Mono" pitchFamily="49" charset="-122"/>
                <a:cs typeface="JetBrains Mono" pitchFamily="49" charset="-120"/>
              </a:rPr>
              <a:t> Lab</a:t>
            </a:r>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lab = Lab("demo")</a:t>
            </a:r>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lab.connect_machine_to_link("pc1", "A")</a:t>
            </a:r>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Kathara.get_instance().deploy_lab(lab)</a:t>
            </a:r>
          </a:p>
        </p:txBody>
      </p:sp>
    </p:spTree>
    <p:extLst>
      <p:ext uri="{BB962C8B-B14F-4D97-AF65-F5344CB8AC3E}">
        <p14:creationId xmlns:p14="http://schemas.microsoft.com/office/powerpoint/2010/main" val="243641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CLI: tre famiglie di comandi</a:t>
            </a:r>
            <a:endParaRPr lang="it-IT" sz="4000" noProof="0" dirty="0"/>
          </a:p>
        </p:txBody>
      </p:sp>
      <p:sp>
        <p:nvSpPr>
          <p:cNvPr id="5" name="Text 3"/>
          <p:cNvSpPr/>
          <p:nvPr/>
        </p:nvSpPr>
        <p:spPr>
          <a:xfrm>
            <a:off x="4508500" y="2274770"/>
            <a:ext cx="327461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l-</a:t>
            </a:r>
            <a:r>
              <a:rPr lang="it-IT" sz="1600" noProof="0" dirty="0" err="1">
                <a:solidFill>
                  <a:srgbClr val="2B6CA3"/>
                </a:solidFill>
                <a:latin typeface="JetBrains Mono" pitchFamily="49" charset="0"/>
                <a:ea typeface="JetBrains Mono" pitchFamily="49" charset="-122"/>
                <a:cs typeface="JetBrains Mono" pitchFamily="49" charset="-120"/>
              </a:rPr>
              <a:t>commands</a:t>
            </a:r>
            <a:r>
              <a:rPr lang="it-IT" sz="1600" noProof="0" dirty="0">
                <a:solidFill>
                  <a:srgbClr val="2B6CA3"/>
                </a:solidFill>
                <a:latin typeface="JetBrains Mono" pitchFamily="49" charset="0"/>
                <a:ea typeface="JetBrains Mono" pitchFamily="49" charset="-122"/>
                <a:cs typeface="JetBrains Mono" pitchFamily="49" charset="-120"/>
              </a:rPr>
              <a:t> · lab</a:t>
            </a:r>
            <a:endParaRPr lang="it-IT" sz="1600" noProof="0" dirty="0"/>
          </a:p>
        </p:txBody>
      </p:sp>
      <p:sp>
        <p:nvSpPr>
          <p:cNvPr id="6" name="Text 4"/>
          <p:cNvSpPr/>
          <p:nvPr/>
        </p:nvSpPr>
        <p:spPr>
          <a:xfrm>
            <a:off x="4508500" y="2599891"/>
            <a:ext cx="3274610"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Operano sull’intero lab.</a:t>
            </a:r>
            <a:endParaRPr lang="it-IT" sz="1600" noProof="0" dirty="0"/>
          </a:p>
        </p:txBody>
      </p:sp>
      <p:sp>
        <p:nvSpPr>
          <p:cNvPr id="7" name="Text 5"/>
          <p:cNvSpPr/>
          <p:nvPr/>
        </p:nvSpPr>
        <p:spPr>
          <a:xfrm>
            <a:off x="4508500" y="3018991"/>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lstart</a:t>
            </a:r>
            <a:endParaRPr lang="it-IT" sz="1600" noProof="0" dirty="0"/>
          </a:p>
        </p:txBody>
      </p:sp>
      <p:sp>
        <p:nvSpPr>
          <p:cNvPr id="8" name="Text 6"/>
          <p:cNvSpPr/>
          <p:nvPr/>
        </p:nvSpPr>
        <p:spPr>
          <a:xfrm>
            <a:off x="5689600" y="3027883"/>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avvia</a:t>
            </a:r>
            <a:endParaRPr lang="it-IT" sz="1600" noProof="0" dirty="0"/>
          </a:p>
        </p:txBody>
      </p:sp>
      <p:sp>
        <p:nvSpPr>
          <p:cNvPr id="9" name="Text 7"/>
          <p:cNvSpPr/>
          <p:nvPr/>
        </p:nvSpPr>
        <p:spPr>
          <a:xfrm>
            <a:off x="4508500" y="3379670"/>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lclean</a:t>
            </a:r>
            <a:endParaRPr lang="it-IT" sz="1600" noProof="0" dirty="0"/>
          </a:p>
        </p:txBody>
      </p:sp>
      <p:sp>
        <p:nvSpPr>
          <p:cNvPr id="10" name="Text 8"/>
          <p:cNvSpPr/>
          <p:nvPr/>
        </p:nvSpPr>
        <p:spPr>
          <a:xfrm>
            <a:off x="5689600" y="3388562"/>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ferma e rimuove</a:t>
            </a:r>
            <a:endParaRPr lang="it-IT" sz="1600" noProof="0" dirty="0"/>
          </a:p>
        </p:txBody>
      </p:sp>
      <p:sp>
        <p:nvSpPr>
          <p:cNvPr id="11" name="Text 9"/>
          <p:cNvSpPr/>
          <p:nvPr/>
        </p:nvSpPr>
        <p:spPr>
          <a:xfrm>
            <a:off x="4508500" y="3740354"/>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lrestart</a:t>
            </a:r>
            <a:endParaRPr lang="it-IT" sz="1600" noProof="0" dirty="0"/>
          </a:p>
        </p:txBody>
      </p:sp>
      <p:sp>
        <p:nvSpPr>
          <p:cNvPr id="12" name="Text 10"/>
          <p:cNvSpPr/>
          <p:nvPr/>
        </p:nvSpPr>
        <p:spPr>
          <a:xfrm>
            <a:off x="5689600" y="3749241"/>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err="1">
                <a:solidFill>
                  <a:srgbClr val="5B5F66"/>
                </a:solidFill>
                <a:latin typeface="IBM Plex Sans" pitchFamily="34" charset="0"/>
                <a:ea typeface="IBM Plex Sans" pitchFamily="34" charset="-122"/>
                <a:cs typeface="IBM Plex Sans" pitchFamily="34" charset="-120"/>
              </a:rPr>
              <a:t>lclean</a:t>
            </a:r>
            <a:r>
              <a:rPr lang="it-IT" sz="1600" noProof="0" dirty="0">
                <a:solidFill>
                  <a:srgbClr val="5B5F66"/>
                </a:solidFill>
                <a:latin typeface="IBM Plex Sans" pitchFamily="34" charset="0"/>
                <a:ea typeface="IBM Plex Sans" pitchFamily="34" charset="-122"/>
                <a:cs typeface="IBM Plex Sans" pitchFamily="34" charset="-120"/>
              </a:rPr>
              <a:t> + </a:t>
            </a:r>
            <a:r>
              <a:rPr lang="it-IT" sz="1600" noProof="0" dirty="0" err="1">
                <a:solidFill>
                  <a:srgbClr val="5B5F66"/>
                </a:solidFill>
                <a:latin typeface="IBM Plex Sans" pitchFamily="34" charset="0"/>
                <a:ea typeface="IBM Plex Sans" pitchFamily="34" charset="-122"/>
                <a:cs typeface="IBM Plex Sans" pitchFamily="34" charset="-120"/>
              </a:rPr>
              <a:t>lstart</a:t>
            </a:r>
            <a:endParaRPr lang="it-IT" sz="1600" noProof="0" dirty="0"/>
          </a:p>
        </p:txBody>
      </p:sp>
      <p:sp>
        <p:nvSpPr>
          <p:cNvPr id="13" name="Text 11"/>
          <p:cNvSpPr/>
          <p:nvPr/>
        </p:nvSpPr>
        <p:spPr>
          <a:xfrm>
            <a:off x="4508500" y="4101033"/>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linfo</a:t>
            </a:r>
            <a:endParaRPr lang="it-IT" sz="1600" noProof="0" dirty="0"/>
          </a:p>
        </p:txBody>
      </p:sp>
      <p:sp>
        <p:nvSpPr>
          <p:cNvPr id="14" name="Text 12"/>
          <p:cNvSpPr/>
          <p:nvPr/>
        </p:nvSpPr>
        <p:spPr>
          <a:xfrm>
            <a:off x="5689600" y="4109920"/>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stato del lab</a:t>
            </a:r>
            <a:endParaRPr lang="it-IT" sz="1600" noProof="0" dirty="0"/>
          </a:p>
        </p:txBody>
      </p:sp>
      <p:sp>
        <p:nvSpPr>
          <p:cNvPr id="15" name="Text 13"/>
          <p:cNvSpPr/>
          <p:nvPr/>
        </p:nvSpPr>
        <p:spPr>
          <a:xfrm>
            <a:off x="4508500" y="4461712"/>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lconfig</a:t>
            </a:r>
            <a:endParaRPr lang="it-IT" sz="1600" noProof="0" dirty="0"/>
          </a:p>
        </p:txBody>
      </p:sp>
      <p:sp>
        <p:nvSpPr>
          <p:cNvPr id="16" name="Text 14"/>
          <p:cNvSpPr/>
          <p:nvPr/>
        </p:nvSpPr>
        <p:spPr>
          <a:xfrm>
            <a:off x="5689600" y="4470604"/>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interfacce a caldo</a:t>
            </a:r>
            <a:endParaRPr lang="it-IT" sz="1600" noProof="0" dirty="0"/>
          </a:p>
        </p:txBody>
      </p:sp>
      <p:sp>
        <p:nvSpPr>
          <p:cNvPr id="17" name="Shape 15"/>
          <p:cNvSpPr/>
          <p:nvPr/>
        </p:nvSpPr>
        <p:spPr>
          <a:xfrm>
            <a:off x="4249208" y="2274770"/>
            <a:ext cx="0" cy="2832100"/>
          </a:xfrm>
          <a:prstGeom prst="line">
            <a:avLst/>
          </a:prstGeom>
          <a:noFill/>
          <a:ln w="6350">
            <a:solidFill>
              <a:srgbClr val="CFCCC4"/>
            </a:solidFill>
            <a:prstDash val="solid"/>
          </a:ln>
        </p:spPr>
        <p:txBody>
          <a:bodyPr/>
          <a:lstStyle/>
          <a:p>
            <a:endParaRPr lang="it-IT" noProof="0" dirty="0"/>
          </a:p>
        </p:txBody>
      </p:sp>
      <p:sp>
        <p:nvSpPr>
          <p:cNvPr id="18" name="Text 16"/>
          <p:cNvSpPr/>
          <p:nvPr/>
        </p:nvSpPr>
        <p:spPr>
          <a:xfrm>
            <a:off x="810682" y="2274770"/>
            <a:ext cx="327461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v-</a:t>
            </a:r>
            <a:r>
              <a:rPr lang="it-IT" sz="1600" noProof="0" dirty="0" err="1">
                <a:solidFill>
                  <a:srgbClr val="5B5F66"/>
                </a:solidFill>
                <a:latin typeface="JetBrains Mono" pitchFamily="49" charset="0"/>
                <a:ea typeface="JetBrains Mono" pitchFamily="49" charset="-122"/>
                <a:cs typeface="JetBrains Mono" pitchFamily="49" charset="-120"/>
              </a:rPr>
              <a:t>commands</a:t>
            </a:r>
            <a:r>
              <a:rPr lang="it-IT" sz="1600" noProof="0" dirty="0">
                <a:solidFill>
                  <a:srgbClr val="5B5F66"/>
                </a:solidFill>
                <a:latin typeface="JetBrains Mono" pitchFamily="49" charset="0"/>
                <a:ea typeface="JetBrains Mono" pitchFamily="49" charset="-122"/>
                <a:cs typeface="JetBrains Mono" pitchFamily="49" charset="-120"/>
              </a:rPr>
              <a:t> · device</a:t>
            </a:r>
            <a:endParaRPr lang="it-IT" sz="1600" noProof="0" dirty="0"/>
          </a:p>
        </p:txBody>
      </p:sp>
      <p:sp>
        <p:nvSpPr>
          <p:cNvPr id="19" name="Text 17"/>
          <p:cNvSpPr/>
          <p:nvPr/>
        </p:nvSpPr>
        <p:spPr>
          <a:xfrm>
            <a:off x="810682" y="2599891"/>
            <a:ext cx="3274610"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Operano su un singolo device.</a:t>
            </a:r>
            <a:endParaRPr lang="it-IT" sz="1600" noProof="0" dirty="0"/>
          </a:p>
        </p:txBody>
      </p:sp>
      <p:sp>
        <p:nvSpPr>
          <p:cNvPr id="20" name="Text 18"/>
          <p:cNvSpPr/>
          <p:nvPr/>
        </p:nvSpPr>
        <p:spPr>
          <a:xfrm>
            <a:off x="810682" y="3018991"/>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vstart</a:t>
            </a:r>
            <a:endParaRPr lang="it-IT" sz="1600" noProof="0" dirty="0"/>
          </a:p>
        </p:txBody>
      </p:sp>
      <p:sp>
        <p:nvSpPr>
          <p:cNvPr id="21" name="Text 19"/>
          <p:cNvSpPr/>
          <p:nvPr/>
        </p:nvSpPr>
        <p:spPr>
          <a:xfrm>
            <a:off x="1991782" y="3027883"/>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avvia</a:t>
            </a:r>
            <a:endParaRPr lang="it-IT" sz="1600" noProof="0" dirty="0"/>
          </a:p>
        </p:txBody>
      </p:sp>
      <p:sp>
        <p:nvSpPr>
          <p:cNvPr id="22" name="Text 20"/>
          <p:cNvSpPr/>
          <p:nvPr/>
        </p:nvSpPr>
        <p:spPr>
          <a:xfrm>
            <a:off x="810682" y="3379670"/>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vconfig</a:t>
            </a:r>
            <a:endParaRPr lang="it-IT" sz="1600" noProof="0" dirty="0"/>
          </a:p>
        </p:txBody>
      </p:sp>
      <p:sp>
        <p:nvSpPr>
          <p:cNvPr id="23" name="Text 21"/>
          <p:cNvSpPr/>
          <p:nvPr/>
        </p:nvSpPr>
        <p:spPr>
          <a:xfrm>
            <a:off x="1991782" y="3388562"/>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aggiunge interfacce</a:t>
            </a:r>
            <a:endParaRPr lang="it-IT" sz="1600" noProof="0" dirty="0"/>
          </a:p>
        </p:txBody>
      </p:sp>
      <p:sp>
        <p:nvSpPr>
          <p:cNvPr id="24" name="Text 22"/>
          <p:cNvSpPr/>
          <p:nvPr/>
        </p:nvSpPr>
        <p:spPr>
          <a:xfrm>
            <a:off x="810682" y="3740354"/>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vclean</a:t>
            </a:r>
            <a:endParaRPr lang="it-IT" sz="1600" noProof="0" dirty="0"/>
          </a:p>
        </p:txBody>
      </p:sp>
      <p:sp>
        <p:nvSpPr>
          <p:cNvPr id="25" name="Text 23"/>
          <p:cNvSpPr/>
          <p:nvPr/>
        </p:nvSpPr>
        <p:spPr>
          <a:xfrm>
            <a:off x="1991782" y="3749241"/>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ferma e rimuove</a:t>
            </a:r>
            <a:endParaRPr lang="it-IT" sz="1600" noProof="0" dirty="0"/>
          </a:p>
        </p:txBody>
      </p:sp>
      <p:sp>
        <p:nvSpPr>
          <p:cNvPr id="26" name="Shape 24"/>
          <p:cNvSpPr/>
          <p:nvPr/>
        </p:nvSpPr>
        <p:spPr>
          <a:xfrm>
            <a:off x="7942792" y="2274770"/>
            <a:ext cx="0" cy="2832100"/>
          </a:xfrm>
          <a:prstGeom prst="line">
            <a:avLst/>
          </a:prstGeom>
          <a:noFill/>
          <a:ln w="6350">
            <a:solidFill>
              <a:srgbClr val="CFCCC4"/>
            </a:solidFill>
            <a:prstDash val="solid"/>
          </a:ln>
        </p:spPr>
        <p:txBody>
          <a:bodyPr/>
          <a:lstStyle/>
          <a:p>
            <a:endParaRPr lang="it-IT" noProof="0" dirty="0"/>
          </a:p>
        </p:txBody>
      </p:sp>
      <p:sp>
        <p:nvSpPr>
          <p:cNvPr id="27" name="Text 25"/>
          <p:cNvSpPr/>
          <p:nvPr/>
        </p:nvSpPr>
        <p:spPr>
          <a:xfrm>
            <a:off x="8199967" y="2274770"/>
            <a:ext cx="327461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globali</a:t>
            </a:r>
            <a:endParaRPr lang="it-IT" sz="1600" noProof="0" dirty="0"/>
          </a:p>
        </p:txBody>
      </p:sp>
      <p:sp>
        <p:nvSpPr>
          <p:cNvPr id="28" name="Text 26"/>
          <p:cNvSpPr/>
          <p:nvPr/>
        </p:nvSpPr>
        <p:spPr>
          <a:xfrm>
            <a:off x="8199967" y="2599891"/>
            <a:ext cx="3274610"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Ambiente e accesso ai device.</a:t>
            </a:r>
            <a:endParaRPr lang="it-IT" sz="1600" noProof="0" dirty="0"/>
          </a:p>
        </p:txBody>
      </p:sp>
      <p:sp>
        <p:nvSpPr>
          <p:cNvPr id="29" name="Text 27"/>
          <p:cNvSpPr/>
          <p:nvPr/>
        </p:nvSpPr>
        <p:spPr>
          <a:xfrm>
            <a:off x="8199967" y="3018991"/>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check</a:t>
            </a:r>
            <a:endParaRPr lang="it-IT" sz="1600" noProof="0" dirty="0"/>
          </a:p>
        </p:txBody>
      </p:sp>
      <p:sp>
        <p:nvSpPr>
          <p:cNvPr id="30" name="Text 28"/>
          <p:cNvSpPr/>
          <p:nvPr/>
        </p:nvSpPr>
        <p:spPr>
          <a:xfrm>
            <a:off x="9381067" y="3027883"/>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verifica l’ambiente</a:t>
            </a:r>
            <a:endParaRPr lang="it-IT" sz="1600" noProof="0" dirty="0"/>
          </a:p>
        </p:txBody>
      </p:sp>
      <p:sp>
        <p:nvSpPr>
          <p:cNvPr id="31" name="Text 29"/>
          <p:cNvSpPr/>
          <p:nvPr/>
        </p:nvSpPr>
        <p:spPr>
          <a:xfrm>
            <a:off x="8199967" y="3379670"/>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connect</a:t>
            </a:r>
            <a:endParaRPr lang="it-IT" sz="1600" noProof="0" dirty="0"/>
          </a:p>
        </p:txBody>
      </p:sp>
      <p:sp>
        <p:nvSpPr>
          <p:cNvPr id="32" name="Text 30"/>
          <p:cNvSpPr/>
          <p:nvPr/>
        </p:nvSpPr>
        <p:spPr>
          <a:xfrm>
            <a:off x="9381067" y="3388562"/>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shell sul device</a:t>
            </a:r>
            <a:endParaRPr lang="it-IT" sz="1600" noProof="0" dirty="0"/>
          </a:p>
        </p:txBody>
      </p:sp>
      <p:sp>
        <p:nvSpPr>
          <p:cNvPr id="33" name="Text 31"/>
          <p:cNvSpPr/>
          <p:nvPr/>
        </p:nvSpPr>
        <p:spPr>
          <a:xfrm>
            <a:off x="8199967" y="3740354"/>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exec</a:t>
            </a:r>
            <a:endParaRPr lang="it-IT" sz="1600" noProof="0" dirty="0"/>
          </a:p>
        </p:txBody>
      </p:sp>
      <p:sp>
        <p:nvSpPr>
          <p:cNvPr id="34" name="Text 32"/>
          <p:cNvSpPr/>
          <p:nvPr/>
        </p:nvSpPr>
        <p:spPr>
          <a:xfrm>
            <a:off x="9381067" y="3749241"/>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esegue un comando</a:t>
            </a:r>
            <a:endParaRPr lang="it-IT" sz="1600" noProof="0" dirty="0"/>
          </a:p>
        </p:txBody>
      </p:sp>
      <p:sp>
        <p:nvSpPr>
          <p:cNvPr id="35" name="Text 33"/>
          <p:cNvSpPr/>
          <p:nvPr/>
        </p:nvSpPr>
        <p:spPr>
          <a:xfrm>
            <a:off x="8199967" y="4101033"/>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list</a:t>
            </a:r>
            <a:endParaRPr lang="it-IT" sz="1600" noProof="0" dirty="0"/>
          </a:p>
        </p:txBody>
      </p:sp>
      <p:sp>
        <p:nvSpPr>
          <p:cNvPr id="36" name="Text 34"/>
          <p:cNvSpPr/>
          <p:nvPr/>
        </p:nvSpPr>
        <p:spPr>
          <a:xfrm>
            <a:off x="9381067" y="4109920"/>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device attivi</a:t>
            </a:r>
            <a:endParaRPr lang="it-IT" sz="1600" noProof="0" dirty="0"/>
          </a:p>
        </p:txBody>
      </p:sp>
      <p:sp>
        <p:nvSpPr>
          <p:cNvPr id="37" name="Text 35"/>
          <p:cNvSpPr/>
          <p:nvPr/>
        </p:nvSpPr>
        <p:spPr>
          <a:xfrm>
            <a:off x="8199967" y="4461712"/>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settings</a:t>
            </a:r>
            <a:endParaRPr lang="it-IT" sz="1600" noProof="0" dirty="0"/>
          </a:p>
        </p:txBody>
      </p:sp>
      <p:sp>
        <p:nvSpPr>
          <p:cNvPr id="38" name="Text 36"/>
          <p:cNvSpPr/>
          <p:nvPr/>
        </p:nvSpPr>
        <p:spPr>
          <a:xfrm>
            <a:off x="9381067" y="4470604"/>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configurazione</a:t>
            </a:r>
            <a:endParaRPr lang="it-IT" sz="1600" noProof="0" dirty="0"/>
          </a:p>
        </p:txBody>
      </p:sp>
      <p:sp>
        <p:nvSpPr>
          <p:cNvPr id="39" name="Text 37"/>
          <p:cNvSpPr/>
          <p:nvPr/>
        </p:nvSpPr>
        <p:spPr>
          <a:xfrm>
            <a:off x="8199967" y="4822391"/>
            <a:ext cx="113030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err="1">
                <a:solidFill>
                  <a:srgbClr val="1B1D20"/>
                </a:solidFill>
                <a:latin typeface="JetBrains Mono" pitchFamily="49" charset="0"/>
                <a:ea typeface="JetBrains Mono" pitchFamily="49" charset="-122"/>
                <a:cs typeface="JetBrains Mono" pitchFamily="49" charset="-120"/>
              </a:rPr>
              <a:t>wipe</a:t>
            </a:r>
            <a:endParaRPr lang="it-IT" sz="1600" noProof="0" dirty="0"/>
          </a:p>
        </p:txBody>
      </p:sp>
      <p:sp>
        <p:nvSpPr>
          <p:cNvPr id="40" name="Text 38"/>
          <p:cNvSpPr/>
          <p:nvPr/>
        </p:nvSpPr>
        <p:spPr>
          <a:xfrm>
            <a:off x="9381067" y="4831283"/>
            <a:ext cx="2058077"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rimuove tutto</a:t>
            </a:r>
            <a:endParaRPr lang="it-IT" sz="1600" noProof="0" dirty="0"/>
          </a:p>
        </p:txBody>
      </p:sp>
    </p:spTree>
    <p:extLst>
      <p:ext uri="{BB962C8B-B14F-4D97-AF65-F5344CB8AC3E}">
        <p14:creationId xmlns:p14="http://schemas.microsoft.com/office/powerpoint/2010/main" val="137609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b="1" dirty="0"/>
              <a:t>v-</a:t>
            </a:r>
            <a:r>
              <a:rPr lang="it-IT" b="1" dirty="0" err="1"/>
              <a:t>commands</a:t>
            </a:r>
            <a:r>
              <a:rPr lang="it-IT" b="1" dirty="0"/>
              <a:t>: operano su un singolo device</a:t>
            </a:r>
            <a:endParaRPr lang="it-IT" sz="4000" noProof="0" dirty="0"/>
          </a:p>
        </p:txBody>
      </p:sp>
      <p:sp>
        <p:nvSpPr>
          <p:cNvPr id="5" name="Shape 3"/>
          <p:cNvSpPr/>
          <p:nvPr/>
        </p:nvSpPr>
        <p:spPr>
          <a:xfrm>
            <a:off x="812800" y="1889758"/>
            <a:ext cx="6096000" cy="2597150"/>
          </a:xfrm>
          <a:prstGeom prst="rect">
            <a:avLst/>
          </a:prstGeom>
          <a:solidFill>
            <a:srgbClr val="17191C"/>
          </a:solidFill>
          <a:ln/>
        </p:spPr>
        <p:txBody>
          <a:bodyPr/>
          <a:lstStyle/>
          <a:p>
            <a:endParaRPr lang="it-IT" noProof="0" dirty="0"/>
          </a:p>
        </p:txBody>
      </p:sp>
      <p:sp>
        <p:nvSpPr>
          <p:cNvPr id="8" name="Text 6"/>
          <p:cNvSpPr/>
          <p:nvPr/>
        </p:nvSpPr>
        <p:spPr>
          <a:xfrm>
            <a:off x="990600" y="2048507"/>
            <a:ext cx="591261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A8F96"/>
                </a:solidFill>
                <a:latin typeface="JetBrains Mono" pitchFamily="49" charset="0"/>
                <a:ea typeface="JetBrains Mono" pitchFamily="49" charset="-122"/>
                <a:cs typeface="JetBrains Mono" pitchFamily="49" charset="-120"/>
              </a:rPr>
              <a:t># 1. pc1 con eth0 sul dominio A</a:t>
            </a:r>
            <a:endParaRPr lang="it-IT" sz="1600" noProof="0" dirty="0"/>
          </a:p>
        </p:txBody>
      </p:sp>
      <p:sp>
        <p:nvSpPr>
          <p:cNvPr id="9" name="Text 7"/>
          <p:cNvSpPr/>
          <p:nvPr/>
        </p:nvSpPr>
        <p:spPr>
          <a:xfrm>
            <a:off x="990600" y="2334257"/>
            <a:ext cx="591261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kathara </a:t>
            </a:r>
            <a:r>
              <a:rPr lang="it-IT" sz="1600" noProof="0" dirty="0" err="1">
                <a:solidFill>
                  <a:srgbClr val="F2F1EC"/>
                </a:solidFill>
                <a:latin typeface="JetBrains Mono" pitchFamily="49" charset="0"/>
                <a:ea typeface="JetBrains Mono" pitchFamily="49" charset="-122"/>
                <a:cs typeface="JetBrains Mono" pitchFamily="49" charset="-120"/>
              </a:rPr>
              <a:t>vstart</a:t>
            </a:r>
            <a:r>
              <a:rPr lang="it-IT" sz="1600" noProof="0" dirty="0">
                <a:solidFill>
                  <a:srgbClr val="F2F1EC"/>
                </a:solidFill>
                <a:latin typeface="JetBrains Mono" pitchFamily="49" charset="0"/>
                <a:ea typeface="JetBrains Mono" pitchFamily="49" charset="-122"/>
                <a:cs typeface="JetBrains Mono" pitchFamily="49" charset="-120"/>
              </a:rPr>
              <a:t> -n pc1 --</a:t>
            </a:r>
            <a:r>
              <a:rPr lang="it-IT" sz="1600" noProof="0" dirty="0" err="1">
                <a:solidFill>
                  <a:srgbClr val="F2F1EC"/>
                </a:solidFill>
                <a:latin typeface="JetBrains Mono" pitchFamily="49" charset="0"/>
                <a:ea typeface="JetBrains Mono" pitchFamily="49" charset="-122"/>
                <a:cs typeface="JetBrains Mono" pitchFamily="49" charset="-120"/>
              </a:rPr>
              <a:t>eth</a:t>
            </a:r>
            <a:r>
              <a:rPr lang="it-IT" sz="1600" noProof="0" dirty="0">
                <a:solidFill>
                  <a:srgbClr val="F2F1EC"/>
                </a:solidFill>
                <a:latin typeface="JetBrains Mono" pitchFamily="49" charset="0"/>
                <a:ea typeface="JetBrains Mono" pitchFamily="49" charset="-122"/>
                <a:cs typeface="JetBrains Mono" pitchFamily="49" charset="-120"/>
              </a:rPr>
              <a:t> 0:A</a:t>
            </a:r>
            <a:endParaRPr lang="it-IT" sz="1600" noProof="0" dirty="0"/>
          </a:p>
        </p:txBody>
      </p:sp>
      <p:sp>
        <p:nvSpPr>
          <p:cNvPr id="10" name="Text 8"/>
          <p:cNvSpPr/>
          <p:nvPr/>
        </p:nvSpPr>
        <p:spPr>
          <a:xfrm>
            <a:off x="990600" y="2905757"/>
            <a:ext cx="591261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A8F96"/>
                </a:solidFill>
                <a:latin typeface="JetBrains Mono" pitchFamily="49" charset="0"/>
                <a:ea typeface="JetBrains Mono" pitchFamily="49" charset="-122"/>
                <a:cs typeface="JetBrains Mono" pitchFamily="49" charset="-120"/>
              </a:rPr>
              <a:t># nel terminale di pc1</a:t>
            </a:r>
            <a:endParaRPr lang="it-IT" sz="1600" noProof="0" dirty="0"/>
          </a:p>
        </p:txBody>
      </p:sp>
      <p:sp>
        <p:nvSpPr>
          <p:cNvPr id="11" name="Text 9"/>
          <p:cNvSpPr/>
          <p:nvPr/>
        </p:nvSpPr>
        <p:spPr>
          <a:xfrm>
            <a:off x="990600" y="3191507"/>
            <a:ext cx="591261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A8DC6E"/>
                </a:solidFill>
                <a:latin typeface="JetBrains Mono" pitchFamily="49" charset="0"/>
                <a:ea typeface="JetBrains Mono" pitchFamily="49" charset="-122"/>
                <a:cs typeface="JetBrains Mono" pitchFamily="49" charset="-120"/>
              </a:rPr>
              <a:t>pc1#</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link show eth0</a:t>
            </a:r>
            <a:endParaRPr lang="it-IT" sz="1600" noProof="0" dirty="0"/>
          </a:p>
        </p:txBody>
      </p:sp>
      <p:sp>
        <p:nvSpPr>
          <p:cNvPr id="12" name="Text 10"/>
          <p:cNvSpPr/>
          <p:nvPr/>
        </p:nvSpPr>
        <p:spPr>
          <a:xfrm>
            <a:off x="990600" y="3763007"/>
            <a:ext cx="591261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A8F96"/>
                </a:solidFill>
                <a:latin typeface="JetBrains Mono" pitchFamily="49" charset="0"/>
                <a:ea typeface="JetBrains Mono" pitchFamily="49" charset="-122"/>
                <a:cs typeface="JetBrains Mono" pitchFamily="49" charset="-120"/>
              </a:rPr>
              <a:t># 2. rimozione</a:t>
            </a:r>
            <a:endParaRPr lang="it-IT" sz="1600" noProof="0" dirty="0"/>
          </a:p>
        </p:txBody>
      </p:sp>
      <p:sp>
        <p:nvSpPr>
          <p:cNvPr id="13" name="Text 11"/>
          <p:cNvSpPr/>
          <p:nvPr/>
        </p:nvSpPr>
        <p:spPr>
          <a:xfrm>
            <a:off x="990600" y="4048757"/>
            <a:ext cx="591261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kathara </a:t>
            </a:r>
            <a:r>
              <a:rPr lang="it-IT" sz="1600" noProof="0" dirty="0" err="1">
                <a:solidFill>
                  <a:srgbClr val="F2F1EC"/>
                </a:solidFill>
                <a:latin typeface="JetBrains Mono" pitchFamily="49" charset="0"/>
                <a:ea typeface="JetBrains Mono" pitchFamily="49" charset="-122"/>
                <a:cs typeface="JetBrains Mono" pitchFamily="49" charset="-120"/>
              </a:rPr>
              <a:t>vclean</a:t>
            </a:r>
            <a:r>
              <a:rPr lang="it-IT" sz="1600" noProof="0" dirty="0">
                <a:solidFill>
                  <a:srgbClr val="F2F1EC"/>
                </a:solidFill>
                <a:latin typeface="JetBrains Mono" pitchFamily="49" charset="0"/>
                <a:ea typeface="JetBrains Mono" pitchFamily="49" charset="-122"/>
                <a:cs typeface="JetBrains Mono" pitchFamily="49" charset="-120"/>
              </a:rPr>
              <a:t> -n pc1</a:t>
            </a:r>
            <a:endParaRPr lang="it-IT" sz="1600" noProof="0" dirty="0"/>
          </a:p>
        </p:txBody>
      </p:sp>
      <p:sp>
        <p:nvSpPr>
          <p:cNvPr id="14" name="Text 12"/>
          <p:cNvSpPr/>
          <p:nvPr/>
        </p:nvSpPr>
        <p:spPr>
          <a:xfrm>
            <a:off x="7213600" y="1889758"/>
            <a:ext cx="4290568"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lato </a:t>
            </a:r>
            <a:r>
              <a:rPr lang="it-IT" sz="1600" noProof="0" dirty="0" err="1">
                <a:solidFill>
                  <a:srgbClr val="2B6CA3"/>
                </a:solidFill>
                <a:latin typeface="JetBrains Mono" pitchFamily="49" charset="0"/>
                <a:ea typeface="JetBrains Mono" pitchFamily="49" charset="-122"/>
                <a:cs typeface="JetBrains Mono" pitchFamily="49" charset="-120"/>
              </a:rPr>
              <a:t>docker</a:t>
            </a:r>
            <a:endParaRPr lang="it-IT" sz="1600" noProof="0" dirty="0"/>
          </a:p>
        </p:txBody>
      </p:sp>
      <p:sp>
        <p:nvSpPr>
          <p:cNvPr id="15" name="Shape 13"/>
          <p:cNvSpPr/>
          <p:nvPr/>
        </p:nvSpPr>
        <p:spPr>
          <a:xfrm>
            <a:off x="7213600" y="2230121"/>
            <a:ext cx="4165600" cy="825500"/>
          </a:xfrm>
          <a:prstGeom prst="rect">
            <a:avLst/>
          </a:prstGeom>
          <a:solidFill>
            <a:srgbClr val="17191C"/>
          </a:solidFill>
          <a:ln/>
        </p:spPr>
        <p:txBody>
          <a:bodyPr/>
          <a:lstStyle/>
          <a:p>
            <a:endParaRPr lang="it-IT" noProof="0" dirty="0"/>
          </a:p>
        </p:txBody>
      </p:sp>
      <p:sp>
        <p:nvSpPr>
          <p:cNvPr id="16" name="Text 14"/>
          <p:cNvSpPr/>
          <p:nvPr/>
        </p:nvSpPr>
        <p:spPr>
          <a:xfrm>
            <a:off x="7366000" y="2357121"/>
            <a:ext cx="3976624"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docker</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ps</a:t>
            </a:r>
            <a:endParaRPr lang="it-IT" sz="1600" noProof="0" dirty="0"/>
          </a:p>
        </p:txBody>
      </p:sp>
      <p:sp>
        <p:nvSpPr>
          <p:cNvPr id="17" name="Text 15"/>
          <p:cNvSpPr/>
          <p:nvPr/>
        </p:nvSpPr>
        <p:spPr>
          <a:xfrm>
            <a:off x="7366000" y="2642871"/>
            <a:ext cx="3976624"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docker</a:t>
            </a:r>
            <a:r>
              <a:rPr lang="it-IT" sz="1600" noProof="0" dirty="0">
                <a:solidFill>
                  <a:srgbClr val="F2F1EC"/>
                </a:solidFill>
                <a:latin typeface="JetBrains Mono" pitchFamily="49" charset="0"/>
                <a:ea typeface="JetBrains Mono" pitchFamily="49" charset="-122"/>
                <a:cs typeface="JetBrains Mono" pitchFamily="49" charset="-120"/>
              </a:rPr>
              <a:t> network </a:t>
            </a:r>
            <a:r>
              <a:rPr lang="it-IT" sz="1600" noProof="0" dirty="0" err="1">
                <a:solidFill>
                  <a:srgbClr val="F2F1EC"/>
                </a:solidFill>
                <a:latin typeface="JetBrains Mono" pitchFamily="49" charset="0"/>
                <a:ea typeface="JetBrains Mono" pitchFamily="49" charset="-122"/>
                <a:cs typeface="JetBrains Mono" pitchFamily="49" charset="-120"/>
              </a:rPr>
              <a:t>ls</a:t>
            </a:r>
            <a:endParaRPr lang="it-IT" sz="1600" noProof="0" dirty="0"/>
          </a:p>
        </p:txBody>
      </p:sp>
      <p:sp>
        <p:nvSpPr>
          <p:cNvPr id="18" name="Text 16"/>
          <p:cNvSpPr/>
          <p:nvPr/>
        </p:nvSpPr>
        <p:spPr>
          <a:xfrm>
            <a:off x="7213600" y="3182621"/>
            <a:ext cx="4290568" cy="629920"/>
          </a:xfrm>
          <a:prstGeom prst="rect">
            <a:avLst/>
          </a:prstGeom>
          <a:noFill/>
          <a:ln/>
        </p:spPr>
        <p:txBody>
          <a:bodyPr wrap="square" lIns="0" tIns="0" rIns="0" bIns="0" rtlCol="0" anchor="t">
            <a:normAutofit/>
          </a:bodyPr>
          <a:lstStyle/>
          <a:p>
            <a:pPr marL="0" indent="0" algn="l">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Il container di pc1 e la network di A, driver </a:t>
            </a:r>
            <a:r>
              <a:rPr lang="it-IT" sz="1800" noProof="0" dirty="0" err="1">
                <a:solidFill>
                  <a:srgbClr val="1B1D20"/>
                </a:solidFill>
                <a:latin typeface="IBM Plex Sans" pitchFamily="34" charset="0"/>
                <a:ea typeface="IBM Plex Sans" pitchFamily="34" charset="-122"/>
                <a:cs typeface="IBM Plex Sans" pitchFamily="34" charset="-120"/>
              </a:rPr>
              <a:t>katharanp</a:t>
            </a:r>
            <a:r>
              <a:rPr lang="it-IT" sz="1800" noProof="0" dirty="0">
                <a:solidFill>
                  <a:srgbClr val="1B1D20"/>
                </a:solidFill>
                <a:latin typeface="IBM Plex Sans" pitchFamily="34" charset="0"/>
                <a:ea typeface="IBM Plex Sans" pitchFamily="34" charset="-122"/>
                <a:cs typeface="IBM Plex Sans" pitchFamily="34" charset="-120"/>
              </a:rPr>
              <a:t>.</a:t>
            </a:r>
            <a:endParaRPr lang="it-IT" sz="1800" noProof="0" dirty="0"/>
          </a:p>
        </p:txBody>
      </p:sp>
    </p:spTree>
    <p:extLst>
      <p:ext uri="{BB962C8B-B14F-4D97-AF65-F5344CB8AC3E}">
        <p14:creationId xmlns:p14="http://schemas.microsoft.com/office/powerpoint/2010/main" val="289207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b="1" dirty="0"/>
              <a:t>l-</a:t>
            </a:r>
            <a:r>
              <a:rPr lang="it-IT" b="1" dirty="0" err="1"/>
              <a:t>commands</a:t>
            </a:r>
            <a:r>
              <a:rPr lang="it-IT" b="1" dirty="0"/>
              <a:t>: operano su uno scenario di rete</a:t>
            </a:r>
            <a:endParaRPr lang="it-IT" sz="4000" noProof="0" dirty="0"/>
          </a:p>
        </p:txBody>
      </p:sp>
      <p:sp>
        <p:nvSpPr>
          <p:cNvPr id="5" name="Shape 3"/>
          <p:cNvSpPr/>
          <p:nvPr/>
        </p:nvSpPr>
        <p:spPr>
          <a:xfrm>
            <a:off x="812800" y="2450697"/>
            <a:ext cx="5334000" cy="3154680"/>
          </a:xfrm>
          <a:prstGeom prst="rect">
            <a:avLst/>
          </a:prstGeom>
          <a:solidFill>
            <a:srgbClr val="17191C"/>
          </a:solidFill>
          <a:ln/>
        </p:spPr>
        <p:txBody>
          <a:bodyPr/>
          <a:lstStyle/>
          <a:p>
            <a:endParaRPr lang="it-IT" noProof="0" dirty="0"/>
          </a:p>
        </p:txBody>
      </p:sp>
      <p:sp>
        <p:nvSpPr>
          <p:cNvPr id="6" name="Text 4"/>
          <p:cNvSpPr/>
          <p:nvPr/>
        </p:nvSpPr>
        <p:spPr>
          <a:xfrm>
            <a:off x="990600" y="25654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lab/</a:t>
            </a:r>
            <a:endParaRPr lang="it-IT" sz="1600" noProof="0" dirty="0"/>
          </a:p>
        </p:txBody>
      </p:sp>
      <p:sp>
        <p:nvSpPr>
          <p:cNvPr id="7" name="Text 5"/>
          <p:cNvSpPr/>
          <p:nvPr/>
        </p:nvSpPr>
        <p:spPr>
          <a:xfrm>
            <a:off x="990600" y="28829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lab.conf</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a:solidFill>
                  <a:srgbClr val="8A8F96"/>
                </a:solidFill>
                <a:latin typeface="JetBrains Mono" pitchFamily="49" charset="0"/>
                <a:ea typeface="JetBrains Mono" pitchFamily="49" charset="-122"/>
                <a:cs typeface="JetBrains Mono" pitchFamily="49" charset="-120"/>
              </a:rPr>
              <a:t># topologia, opzioni</a:t>
            </a:r>
            <a:endParaRPr lang="it-IT" sz="1600" noProof="0" dirty="0"/>
          </a:p>
        </p:txBody>
      </p:sp>
      <p:sp>
        <p:nvSpPr>
          <p:cNvPr id="8" name="Text 6"/>
          <p:cNvSpPr/>
          <p:nvPr/>
        </p:nvSpPr>
        <p:spPr>
          <a:xfrm>
            <a:off x="990600" y="32004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 pc1.startup </a:t>
            </a:r>
            <a:r>
              <a:rPr lang="it-IT" sz="1600" noProof="0" dirty="0">
                <a:solidFill>
                  <a:srgbClr val="8A8F96"/>
                </a:solidFill>
                <a:latin typeface="JetBrains Mono" pitchFamily="49" charset="0"/>
                <a:ea typeface="JetBrains Mono" pitchFamily="49" charset="-122"/>
                <a:cs typeface="JetBrains Mono" pitchFamily="49" charset="-120"/>
              </a:rPr>
              <a:t># boot di pc1</a:t>
            </a:r>
            <a:endParaRPr lang="it-IT" sz="1600" noProof="0" dirty="0"/>
          </a:p>
        </p:txBody>
      </p:sp>
      <p:sp>
        <p:nvSpPr>
          <p:cNvPr id="9" name="Text 7"/>
          <p:cNvSpPr/>
          <p:nvPr/>
        </p:nvSpPr>
        <p:spPr>
          <a:xfrm>
            <a:off x="990600" y="35179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 pc2.startup </a:t>
            </a:r>
            <a:r>
              <a:rPr lang="it-IT" sz="1600" noProof="0" dirty="0">
                <a:solidFill>
                  <a:srgbClr val="8A8F96"/>
                </a:solidFill>
                <a:latin typeface="JetBrains Mono" pitchFamily="49" charset="0"/>
                <a:ea typeface="JetBrains Mono" pitchFamily="49" charset="-122"/>
                <a:cs typeface="JetBrains Mono" pitchFamily="49" charset="-120"/>
              </a:rPr>
              <a:t># boot di pc2</a:t>
            </a:r>
            <a:endParaRPr lang="it-IT" sz="1600" noProof="0" dirty="0"/>
          </a:p>
        </p:txBody>
      </p:sp>
      <p:sp>
        <p:nvSpPr>
          <p:cNvPr id="10" name="Text 8"/>
          <p:cNvSpPr/>
          <p:nvPr/>
        </p:nvSpPr>
        <p:spPr>
          <a:xfrm>
            <a:off x="990600" y="38354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 pc3.startup </a:t>
            </a:r>
            <a:r>
              <a:rPr lang="it-IT" sz="1600" noProof="0" dirty="0">
                <a:solidFill>
                  <a:srgbClr val="8A8F96"/>
                </a:solidFill>
                <a:latin typeface="JetBrains Mono" pitchFamily="49" charset="0"/>
                <a:ea typeface="JetBrains Mono" pitchFamily="49" charset="-122"/>
                <a:cs typeface="JetBrains Mono" pitchFamily="49" charset="-120"/>
              </a:rPr>
              <a:t># boot di pc3</a:t>
            </a:r>
            <a:endParaRPr lang="it-IT" sz="1600" noProof="0" dirty="0"/>
          </a:p>
        </p:txBody>
      </p:sp>
      <p:sp>
        <p:nvSpPr>
          <p:cNvPr id="400" name="Text 9"/>
          <p:cNvSpPr/>
          <p:nvPr/>
        </p:nvSpPr>
        <p:spPr>
          <a:xfrm>
            <a:off x="990600" y="41529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 pc1/ </a:t>
            </a:r>
            <a:r>
              <a:rPr lang="it-IT" sz="1600" noProof="0" dirty="0">
                <a:solidFill>
                  <a:srgbClr val="8A8F96"/>
                </a:solidFill>
                <a:latin typeface="JetBrains Mono" pitchFamily="49" charset="0"/>
                <a:ea typeface="JetBrains Mono" pitchFamily="49" charset="-122"/>
                <a:cs typeface="JetBrains Mono" pitchFamily="49" charset="-120"/>
              </a:rPr>
              <a:t># copiata in / di pc1</a:t>
            </a:r>
            <a:endParaRPr lang="it-IT" sz="1600" noProof="0" dirty="0"/>
          </a:p>
        </p:txBody>
      </p:sp>
      <p:sp>
        <p:nvSpPr>
          <p:cNvPr id="401" name="Text 9"/>
          <p:cNvSpPr/>
          <p:nvPr/>
        </p:nvSpPr>
        <p:spPr>
          <a:xfrm>
            <a:off x="990600" y="44704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   └── etc/</a:t>
            </a:r>
            <a:endParaRPr lang="it-IT" sz="1600" noProof="0" dirty="0"/>
          </a:p>
        </p:txBody>
      </p:sp>
      <p:sp>
        <p:nvSpPr>
          <p:cNvPr id="402" name="Text 9"/>
          <p:cNvSpPr/>
          <p:nvPr/>
        </p:nvSpPr>
        <p:spPr>
          <a:xfrm>
            <a:off x="990600" y="47879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       └── resolv.conf </a:t>
            </a:r>
            <a:r>
              <a:rPr lang="it-IT" sz="1600" noProof="0" dirty="0">
                <a:solidFill>
                  <a:srgbClr val="8A8F96"/>
                </a:solidFill>
                <a:latin typeface="JetBrains Mono" pitchFamily="49" charset="0"/>
                <a:ea typeface="JetBrains Mono" pitchFamily="49" charset="-122"/>
                <a:cs typeface="JetBrains Mono" pitchFamily="49" charset="-120"/>
              </a:rPr>
              <a:t># DNS di pc1</a:t>
            </a:r>
            <a:endParaRPr lang="it-IT" sz="1600" noProof="0" dirty="0"/>
          </a:p>
        </p:txBody>
      </p:sp>
      <p:sp>
        <p:nvSpPr>
          <p:cNvPr id="11" name="Text 9"/>
          <p:cNvSpPr/>
          <p:nvPr/>
        </p:nvSpPr>
        <p:spPr>
          <a:xfrm>
            <a:off x="990600" y="5105400"/>
            <a:ext cx="5127752" cy="350520"/>
          </a:xfrm>
          <a:prstGeom prst="rect">
            <a:avLst/>
          </a:prstGeom>
          <a:noFill/>
          <a:ln/>
        </p:spPr>
        <p:txBody>
          <a:bodyPr wrap="square" lIns="0" tIns="0" rIns="0" bIns="0" rtlCol="0" anchor="t">
            <a:normAutofit/>
          </a:bodyPr>
          <a:lstStyle/>
          <a:p>
            <a:pPr marL="0" indent="0" algn="l">
              <a:lnSpc>
                <a:spcPts val="2560"/>
              </a:lnSpc>
              <a:buNone/>
            </a:pPr>
            <a:r>
              <a:rPr lang="it-IT" sz="1600" noProof="0" dirty="0">
                <a:solidFill>
                  <a:srgbClr val="F2F1EC"/>
                </a:solidFill>
                <a:latin typeface="JetBrains Mono" pitchFamily="49" charset="0"/>
                <a:ea typeface="JetBrains Mono" pitchFamily="49" charset="-122"/>
                <a:cs typeface="JetBrains Mono" pitchFamily="49" charset="-120"/>
              </a:rPr>
              <a:t>└── shared/ </a:t>
            </a:r>
            <a:r>
              <a:rPr lang="it-IT" sz="1600" noProof="0" dirty="0">
                <a:solidFill>
                  <a:srgbClr val="8A8F96"/>
                </a:solidFill>
                <a:latin typeface="JetBrains Mono" pitchFamily="49" charset="0"/>
                <a:ea typeface="JetBrains Mono" pitchFamily="49" charset="-122"/>
                <a:cs typeface="JetBrains Mono" pitchFamily="49" charset="-120"/>
              </a:rPr>
              <a:t># bind mount /shared</a:t>
            </a:r>
            <a:endParaRPr lang="it-IT" sz="1600" noProof="0" dirty="0"/>
          </a:p>
        </p:txBody>
      </p:sp>
      <p:sp>
        <p:nvSpPr>
          <p:cNvPr id="13" name="Text 11"/>
          <p:cNvSpPr/>
          <p:nvPr/>
        </p:nvSpPr>
        <p:spPr>
          <a:xfrm>
            <a:off x="6502400" y="2450697"/>
            <a:ext cx="5023104" cy="238760"/>
          </a:xfrm>
          <a:prstGeom prst="rect">
            <a:avLst/>
          </a:prstGeom>
          <a:noFill/>
          <a:ln/>
        </p:spPr>
        <p:txBody>
          <a:bodyPr wrap="square" lIns="0" tIns="0" rIns="0" bIns="0" rtlCol="0" anchor="t">
            <a:normAutofit/>
          </a:bodyPr>
          <a:lstStyle/>
          <a:p>
            <a:pPr marL="0" indent="0" algn="l">
              <a:lnSpc>
                <a:spcPts val="1680"/>
              </a:lnSpc>
              <a:buNone/>
            </a:pPr>
            <a:r>
              <a:rPr lang="it-IT" noProof="0" dirty="0" err="1">
                <a:solidFill>
                  <a:srgbClr val="2B6CA3"/>
                </a:solidFill>
                <a:latin typeface="JetBrains Mono" pitchFamily="49" charset="0"/>
                <a:ea typeface="JetBrains Mono" pitchFamily="49" charset="-122"/>
                <a:cs typeface="JetBrains Mono" pitchFamily="49" charset="-120"/>
              </a:rPr>
              <a:t>lab.conf</a:t>
            </a:r>
            <a:r>
              <a:rPr lang="it-IT" dirty="0">
                <a:solidFill>
                  <a:srgbClr val="2B6CA3"/>
                </a:solidFill>
                <a:latin typeface="JetBrains Mono" pitchFamily="49" charset="0"/>
                <a:ea typeface="JetBrains Mono" pitchFamily="49" charset="-122"/>
                <a:cs typeface="JetBrains Mono" pitchFamily="49" charset="-120"/>
              </a:rPr>
              <a:t>:</a:t>
            </a:r>
            <a:endParaRPr lang="it-IT" noProof="0" dirty="0"/>
          </a:p>
        </p:txBody>
      </p:sp>
      <p:sp>
        <p:nvSpPr>
          <p:cNvPr id="14" name="Text 12"/>
          <p:cNvSpPr/>
          <p:nvPr/>
        </p:nvSpPr>
        <p:spPr>
          <a:xfrm>
            <a:off x="6502400" y="2791060"/>
            <a:ext cx="5023104" cy="629920"/>
          </a:xfrm>
          <a:prstGeom prst="rect">
            <a:avLst/>
          </a:prstGeom>
          <a:noFill/>
          <a:ln/>
        </p:spPr>
        <p:txBody>
          <a:bodyPr wrap="square" lIns="0" tIns="0" rIns="0" bIns="0" rtlCol="0" anchor="t">
            <a:normAutofit/>
          </a:bodyPr>
          <a:lstStyle/>
          <a:p>
            <a:pPr marL="0" indent="0" algn="l">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Definisce la </a:t>
            </a:r>
            <a:r>
              <a:rPr lang="it-IT" sz="1800" b="1" noProof="0" dirty="0">
                <a:solidFill>
                  <a:srgbClr val="1B1D20"/>
                </a:solidFill>
                <a:latin typeface="IBM Plex Sans" pitchFamily="34" charset="0"/>
                <a:ea typeface="IBM Plex Sans" pitchFamily="34" charset="-122"/>
                <a:cs typeface="IBM Plex Sans" pitchFamily="34" charset="-120"/>
              </a:rPr>
              <a:t>topologia</a:t>
            </a:r>
            <a:r>
              <a:rPr lang="it-IT" sz="1800" noProof="0" dirty="0">
                <a:solidFill>
                  <a:srgbClr val="1B1D20"/>
                </a:solidFill>
                <a:latin typeface="IBM Plex Sans" pitchFamily="34" charset="0"/>
                <a:ea typeface="IBM Plex Sans" pitchFamily="34" charset="-122"/>
                <a:cs typeface="IBM Plex Sans" pitchFamily="34" charset="-120"/>
              </a:rPr>
              <a:t> della rete e le </a:t>
            </a:r>
            <a:r>
              <a:rPr lang="it-IT" sz="1800" b="1" noProof="0" dirty="0">
                <a:solidFill>
                  <a:srgbClr val="1B1D20"/>
                </a:solidFill>
                <a:latin typeface="IBM Plex Sans" pitchFamily="34" charset="0"/>
                <a:ea typeface="IBM Plex Sans" pitchFamily="34" charset="-122"/>
                <a:cs typeface="IBM Plex Sans" pitchFamily="34" charset="-120"/>
              </a:rPr>
              <a:t>opzioni</a:t>
            </a:r>
            <a:r>
              <a:rPr lang="it-IT" sz="1800" noProof="0" dirty="0">
                <a:solidFill>
                  <a:srgbClr val="1B1D20"/>
                </a:solidFill>
                <a:latin typeface="IBM Plex Sans" pitchFamily="34" charset="0"/>
                <a:ea typeface="IBM Plex Sans" pitchFamily="34" charset="-122"/>
                <a:cs typeface="IBM Plex Sans" pitchFamily="34" charset="-120"/>
              </a:rPr>
              <a:t> per i device (es.: immagine Docker, </a:t>
            </a:r>
            <a:r>
              <a:rPr lang="it-IT" sz="1800" noProof="0" dirty="0" err="1">
                <a:solidFill>
                  <a:srgbClr val="1B1D20"/>
                </a:solidFill>
                <a:latin typeface="IBM Plex Sans" pitchFamily="34" charset="0"/>
                <a:ea typeface="IBM Plex Sans" pitchFamily="34" charset="-122"/>
                <a:cs typeface="IBM Plex Sans" pitchFamily="34" charset="-120"/>
              </a:rPr>
              <a:t>stack</a:t>
            </a:r>
            <a:r>
              <a:rPr lang="it-IT" sz="1800" noProof="0" dirty="0">
                <a:solidFill>
                  <a:srgbClr val="1B1D20"/>
                </a:solidFill>
                <a:latin typeface="IBM Plex Sans" pitchFamily="34" charset="0"/>
                <a:ea typeface="IBM Plex Sans" pitchFamily="34" charset="-122"/>
                <a:cs typeface="IBM Plex Sans" pitchFamily="34" charset="-120"/>
              </a:rPr>
              <a:t> ipv6 attivo)</a:t>
            </a:r>
            <a:endParaRPr lang="it-IT" sz="1800" noProof="0" dirty="0"/>
          </a:p>
        </p:txBody>
      </p:sp>
      <p:sp>
        <p:nvSpPr>
          <p:cNvPr id="16" name="Text 14"/>
          <p:cNvSpPr/>
          <p:nvPr/>
        </p:nvSpPr>
        <p:spPr>
          <a:xfrm>
            <a:off x="6502400" y="3682603"/>
            <a:ext cx="5023104" cy="238760"/>
          </a:xfrm>
          <a:prstGeom prst="rect">
            <a:avLst/>
          </a:prstGeom>
          <a:noFill/>
          <a:ln/>
        </p:spPr>
        <p:txBody>
          <a:bodyPr wrap="square" lIns="0" tIns="0" rIns="0" bIns="0" rtlCol="0" anchor="t">
            <a:normAutofit/>
          </a:bodyPr>
          <a:lstStyle/>
          <a:p>
            <a:pPr marL="0" indent="0" algn="l">
              <a:lnSpc>
                <a:spcPts val="1680"/>
              </a:lnSpc>
              <a:buNone/>
            </a:pPr>
            <a:r>
              <a:rPr lang="it-IT" noProof="0" dirty="0">
                <a:solidFill>
                  <a:srgbClr val="2B6CA3"/>
                </a:solidFill>
                <a:latin typeface="JetBrains Mono" pitchFamily="49" charset="0"/>
                <a:ea typeface="JetBrains Mono" pitchFamily="49" charset="-122"/>
                <a:cs typeface="JetBrains Mono" pitchFamily="49" charset="-120"/>
              </a:rPr>
              <a:t>File e Directory:</a:t>
            </a:r>
            <a:endParaRPr lang="it-IT" noProof="0" dirty="0"/>
          </a:p>
        </p:txBody>
      </p:sp>
      <p:sp>
        <p:nvSpPr>
          <p:cNvPr id="17" name="Text 15"/>
          <p:cNvSpPr/>
          <p:nvPr/>
        </p:nvSpPr>
        <p:spPr>
          <a:xfrm>
            <a:off x="6502400" y="4022961"/>
            <a:ext cx="5023104" cy="629920"/>
          </a:xfrm>
          <a:prstGeom prst="rect">
            <a:avLst/>
          </a:prstGeom>
          <a:noFill/>
          <a:ln/>
        </p:spPr>
        <p:txBody>
          <a:bodyPr wrap="square" lIns="0" tIns="0" rIns="0" bIns="0" rtlCol="0" anchor="t">
            <a:normAutofit/>
          </a:bodyPr>
          <a:lstStyle/>
          <a:p>
            <a:pPr marL="0" indent="0" algn="l">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Directory del device</a:t>
            </a:r>
            <a:r>
              <a:rPr lang="it-IT" sz="1800" noProof="0" dirty="0">
                <a:solidFill>
                  <a:srgbClr val="1B1D20"/>
                </a:solidFill>
                <a:latin typeface="IBM Plex Sans" pitchFamily="34" charset="0"/>
                <a:ea typeface="IBM Plex Sans" pitchFamily="34" charset="-122"/>
                <a:cs typeface="IBM Plex Sans" pitchFamily="34" charset="-120"/>
              </a:rPr>
              <a:t>: copiata al boot, copie indipendenti</a:t>
            </a:r>
            <a:endParaRPr lang="it-IT" sz="1800" noProof="0" dirty="0"/>
          </a:p>
        </p:txBody>
      </p:sp>
      <p:sp>
        <p:nvSpPr>
          <p:cNvPr id="18" name="Text 16"/>
          <p:cNvSpPr/>
          <p:nvPr/>
        </p:nvSpPr>
        <p:spPr>
          <a:xfrm>
            <a:off x="6502400" y="4754482"/>
            <a:ext cx="5023104" cy="327660"/>
          </a:xfrm>
          <a:prstGeom prst="rect">
            <a:avLst/>
          </a:prstGeom>
          <a:noFill/>
          <a:ln/>
        </p:spPr>
        <p:txBody>
          <a:bodyPr wrap="square" lIns="0" tIns="0" rIns="0" bIns="0" rtlCol="0" anchor="t">
            <a:normAutofit/>
          </a:bodyPr>
          <a:lstStyle/>
          <a:p>
            <a:pPr marL="0" indent="0" algn="l">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a:t>
            </a:r>
            <a:r>
              <a:rPr lang="it-IT" sz="1800" b="1" noProof="0" dirty="0" err="1">
                <a:solidFill>
                  <a:srgbClr val="1B1D20"/>
                </a:solidFill>
                <a:latin typeface="IBM Plex Sans" pitchFamily="34" charset="0"/>
                <a:ea typeface="IBM Plex Sans" pitchFamily="34" charset="-122"/>
                <a:cs typeface="IBM Plex Sans" pitchFamily="34" charset="-120"/>
              </a:rPr>
              <a:t>shared</a:t>
            </a:r>
            <a:r>
              <a:rPr lang="it-IT" sz="1800" noProof="0" dirty="0">
                <a:solidFill>
                  <a:srgbClr val="1B1D20"/>
                </a:solidFill>
                <a:latin typeface="IBM Plex Sans" pitchFamily="34" charset="0"/>
                <a:ea typeface="IBM Plex Sans" pitchFamily="34" charset="-122"/>
                <a:cs typeface="IBM Plex Sans" pitchFamily="34" charset="-120"/>
              </a:rPr>
              <a:t>: attiva di default; </a:t>
            </a:r>
            <a:r>
              <a:rPr lang="it-IT" sz="1800" b="1" noProof="0" dirty="0">
                <a:solidFill>
                  <a:srgbClr val="1B1D20"/>
                </a:solidFill>
                <a:latin typeface="IBM Plex Sans" pitchFamily="34" charset="0"/>
                <a:ea typeface="IBM Plex Sans" pitchFamily="34" charset="-122"/>
                <a:cs typeface="IBM Plex Sans" pitchFamily="34" charset="-120"/>
              </a:rPr>
              <a:t>/</a:t>
            </a:r>
            <a:r>
              <a:rPr lang="it-IT" sz="1800" b="1" noProof="0" dirty="0" err="1">
                <a:solidFill>
                  <a:srgbClr val="1B1D20"/>
                </a:solidFill>
                <a:latin typeface="IBM Plex Sans" pitchFamily="34" charset="0"/>
                <a:ea typeface="IBM Plex Sans" pitchFamily="34" charset="-122"/>
                <a:cs typeface="IBM Plex Sans" pitchFamily="34" charset="-120"/>
              </a:rPr>
              <a:t>hosthome</a:t>
            </a:r>
            <a:r>
              <a:rPr lang="it-IT" sz="1800" noProof="0" dirty="0">
                <a:solidFill>
                  <a:srgbClr val="1B1D20"/>
                </a:solidFill>
                <a:latin typeface="IBM Plex Sans" pitchFamily="34" charset="0"/>
                <a:ea typeface="IBM Plex Sans" pitchFamily="34" charset="-122"/>
                <a:cs typeface="IBM Plex Sans" pitchFamily="34" charset="-120"/>
              </a:rPr>
              <a:t>: disattiva</a:t>
            </a:r>
            <a:endParaRPr lang="it-IT" sz="1800" noProof="0" dirty="0"/>
          </a:p>
        </p:txBody>
      </p:sp>
      <p:sp>
        <p:nvSpPr>
          <p:cNvPr id="22" name="Shape 3">
            <a:extLst>
              <a:ext uri="{FF2B5EF4-FFF2-40B4-BE49-F238E27FC236}">
                <a16:creationId xmlns:a16="http://schemas.microsoft.com/office/drawing/2014/main" id="{3049CAE2-5D9C-C7C8-7ADD-5F18A0D34594}"/>
              </a:ext>
            </a:extLst>
          </p:cNvPr>
          <p:cNvSpPr/>
          <p:nvPr/>
        </p:nvSpPr>
        <p:spPr>
          <a:xfrm>
            <a:off x="839089" y="1704542"/>
            <a:ext cx="0" cy="326389"/>
          </a:xfrm>
          <a:prstGeom prst="line">
            <a:avLst/>
          </a:prstGeom>
          <a:noFill/>
          <a:ln w="38100">
            <a:solidFill>
              <a:srgbClr val="60A5E3"/>
            </a:solidFill>
            <a:prstDash val="solid"/>
          </a:ln>
        </p:spPr>
        <p:txBody>
          <a:bodyPr/>
          <a:lstStyle/>
          <a:p>
            <a:endParaRPr lang="it-IT" noProof="0" dirty="0"/>
          </a:p>
        </p:txBody>
      </p:sp>
      <p:sp>
        <p:nvSpPr>
          <p:cNvPr id="24" name="Text 4">
            <a:extLst>
              <a:ext uri="{FF2B5EF4-FFF2-40B4-BE49-F238E27FC236}">
                <a16:creationId xmlns:a16="http://schemas.microsoft.com/office/drawing/2014/main" id="{FFEB5DB7-577D-7427-8C26-3636DDAF4681}"/>
              </a:ext>
            </a:extLst>
          </p:cNvPr>
          <p:cNvSpPr/>
          <p:nvPr/>
        </p:nvSpPr>
        <p:spPr>
          <a:xfrm>
            <a:off x="1061339" y="1729942"/>
            <a:ext cx="10634853" cy="629920"/>
          </a:xfrm>
          <a:prstGeom prst="rect">
            <a:avLst/>
          </a:prstGeom>
          <a:noFill/>
          <a:ln/>
        </p:spPr>
        <p:txBody>
          <a:bodyPr wrap="square" lIns="0" tIns="0" rIns="0" bIns="0" rtlCol="0" anchor="t">
            <a:normAutofit/>
          </a:bodyPr>
          <a:lstStyle/>
          <a:p>
            <a:pPr marL="0" indent="0" algn="l">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Un </a:t>
            </a:r>
            <a:r>
              <a:rPr lang="it-IT" sz="1800" b="1" noProof="0" dirty="0">
                <a:solidFill>
                  <a:srgbClr val="1B1D20"/>
                </a:solidFill>
                <a:latin typeface="IBM Plex Sans" pitchFamily="34" charset="0"/>
                <a:ea typeface="IBM Plex Sans" pitchFamily="34" charset="-122"/>
                <a:cs typeface="IBM Plex Sans" pitchFamily="34" charset="-120"/>
              </a:rPr>
              <a:t>laboratorio </a:t>
            </a:r>
            <a:r>
              <a:rPr lang="it-IT" sz="1800" noProof="0" dirty="0">
                <a:solidFill>
                  <a:srgbClr val="1B1D20"/>
                </a:solidFill>
                <a:latin typeface="IBM Plex Sans" pitchFamily="34" charset="0"/>
                <a:ea typeface="IBM Plex Sans" pitchFamily="34" charset="-122"/>
                <a:cs typeface="IBM Plex Sans" pitchFamily="34" charset="-120"/>
              </a:rPr>
              <a:t>è definito tramite cartelle e file di configurazione. </a:t>
            </a:r>
            <a:endParaRPr lang="it-IT" sz="1800" noProof="0" dirty="0"/>
          </a:p>
        </p:txBody>
      </p:sp>
    </p:spTree>
    <p:extLst>
      <p:ext uri="{BB962C8B-B14F-4D97-AF65-F5344CB8AC3E}">
        <p14:creationId xmlns:p14="http://schemas.microsoft.com/office/powerpoint/2010/main" val="2951237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4969"/>
              </a:lnSpc>
              <a:buNone/>
            </a:pPr>
            <a:r>
              <a:rPr lang="it-IT" sz="3975" b="1" i="0" noProof="0" dirty="0">
                <a:solidFill>
                  <a:srgbClr val="1B1D20"/>
                </a:solidFill>
                <a:latin typeface="IBM Plex Sans" pitchFamily="34" charset="0"/>
                <a:ea typeface="IBM Plex Sans" pitchFamily="34" charset="-122"/>
                <a:cs typeface="IBM Plex Sans" pitchFamily="34" charset="-120"/>
              </a:rPr>
              <a:t>lab.conf: device e domini di collisione</a:t>
            </a:r>
            <a:endParaRPr lang="it-IT" sz="3975" noProof="0" dirty="0"/>
          </a:p>
        </p:txBody>
      </p:sp>
      <p:sp>
        <p:nvSpPr>
          <p:cNvPr id="5" name="Shape 3"/>
          <p:cNvSpPr/>
          <p:nvPr/>
        </p:nvSpPr>
        <p:spPr>
          <a:xfrm>
            <a:off x="812800" y="1828589"/>
            <a:ext cx="3810000" cy="4013412"/>
          </a:xfrm>
          <a:prstGeom prst="rect">
            <a:avLst/>
          </a:prstGeom>
          <a:solidFill>
            <a:srgbClr val="17191C"/>
          </a:solidFill>
          <a:ln/>
        </p:spPr>
        <p:txBody>
          <a:bodyPr/>
          <a:lstStyle/>
          <a:p>
            <a:endParaRPr lang="it-IT" noProof="0" dirty="0"/>
          </a:p>
        </p:txBody>
      </p:sp>
      <p:sp>
        <p:nvSpPr>
          <p:cNvPr id="6" name="Text 4"/>
          <p:cNvSpPr/>
          <p:nvPr/>
        </p:nvSpPr>
        <p:spPr>
          <a:xfrm>
            <a:off x="990600" y="1955589"/>
            <a:ext cx="3558032" cy="274320"/>
          </a:xfrm>
          <a:prstGeom prst="rect">
            <a:avLst/>
          </a:prstGeom>
          <a:noFill/>
          <a:ln/>
        </p:spPr>
        <p:txBody>
          <a:bodyPr wrap="square" lIns="0" tIns="0" rIns="0" bIns="0" rtlCol="0" anchor="t">
            <a:normAutofit/>
          </a:bodyPr>
          <a:lstStyle/>
          <a:p>
            <a:pPr marL="0" indent="0" algn="l">
              <a:lnSpc>
                <a:spcPts val="2000"/>
              </a:lnSpc>
              <a:buNone/>
            </a:pPr>
            <a:r>
              <a:rPr lang="it-IT" sz="1600" b="1" noProof="0" dirty="0" err="1">
                <a:solidFill>
                  <a:srgbClr val="E1D368"/>
                </a:solidFill>
                <a:latin typeface="JetBrains Mono" pitchFamily="49" charset="0"/>
                <a:ea typeface="JetBrains Mono" pitchFamily="49" charset="-122"/>
                <a:cs typeface="JetBrains Mono" pitchFamily="49" charset="-120"/>
              </a:rPr>
              <a:t>lab.conf</a:t>
            </a:r>
            <a:endParaRPr lang="it-IT" sz="1600" noProof="0" dirty="0"/>
          </a:p>
        </p:txBody>
      </p:sp>
      <p:sp>
        <p:nvSpPr>
          <p:cNvPr id="7" name="Text 5"/>
          <p:cNvSpPr/>
          <p:nvPr/>
        </p:nvSpPr>
        <p:spPr>
          <a:xfrm>
            <a:off x="990600" y="22606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pc1[0]="A"</a:t>
            </a:r>
            <a:endParaRPr lang="it-IT" sz="1600" noProof="0" dirty="0"/>
          </a:p>
        </p:txBody>
      </p:sp>
      <p:sp>
        <p:nvSpPr>
          <p:cNvPr id="8" name="Text 6"/>
          <p:cNvSpPr/>
          <p:nvPr/>
        </p:nvSpPr>
        <p:spPr>
          <a:xfrm>
            <a:off x="990600" y="25400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pc1[image]="kathara/base"</a:t>
            </a:r>
            <a:endParaRPr lang="it-IT" sz="1600" noProof="0" dirty="0"/>
          </a:p>
        </p:txBody>
      </p:sp>
      <p:sp>
        <p:nvSpPr>
          <p:cNvPr id="600" name="Text 6"/>
          <p:cNvSpPr/>
          <p:nvPr/>
        </p:nvSpPr>
        <p:spPr>
          <a:xfrm>
            <a:off x="990600" y="28194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pc1[ipv6]="false"</a:t>
            </a:r>
            <a:endParaRPr lang="it-IT" sz="1600" noProof="0" dirty="0"/>
          </a:p>
        </p:txBody>
      </p:sp>
      <p:sp>
        <p:nvSpPr>
          <p:cNvPr id="9" name="Text 7"/>
          <p:cNvSpPr/>
          <p:nvPr/>
        </p:nvSpPr>
        <p:spPr>
          <a:xfrm>
            <a:off x="990600" y="32512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pc2[0]="A"</a:t>
            </a:r>
            <a:endParaRPr lang="it-IT" sz="1600" noProof="0" dirty="0"/>
          </a:p>
        </p:txBody>
      </p:sp>
      <p:sp>
        <p:nvSpPr>
          <p:cNvPr id="10" name="Text 8"/>
          <p:cNvSpPr/>
          <p:nvPr/>
        </p:nvSpPr>
        <p:spPr>
          <a:xfrm>
            <a:off x="990600" y="35306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pc2[1]="B"</a:t>
            </a:r>
            <a:endParaRPr lang="it-IT" sz="1600" noProof="0" dirty="0"/>
          </a:p>
        </p:txBody>
      </p:sp>
      <p:sp>
        <p:nvSpPr>
          <p:cNvPr id="11" name="Text 9"/>
          <p:cNvSpPr/>
          <p:nvPr/>
        </p:nvSpPr>
        <p:spPr>
          <a:xfrm>
            <a:off x="990600" y="38100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pc2[image]="kathara/base"</a:t>
            </a:r>
            <a:endParaRPr lang="it-IT" sz="1600" noProof="0" dirty="0"/>
          </a:p>
        </p:txBody>
      </p:sp>
      <p:sp>
        <p:nvSpPr>
          <p:cNvPr id="601" name="Text 9"/>
          <p:cNvSpPr/>
          <p:nvPr/>
        </p:nvSpPr>
        <p:spPr>
          <a:xfrm>
            <a:off x="990600" y="40894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pc2[ipv6]="false"</a:t>
            </a:r>
            <a:endParaRPr lang="it-IT" sz="1600" noProof="0" dirty="0"/>
          </a:p>
        </p:txBody>
      </p:sp>
      <p:sp>
        <p:nvSpPr>
          <p:cNvPr id="12" name="Text 10"/>
          <p:cNvSpPr/>
          <p:nvPr/>
        </p:nvSpPr>
        <p:spPr>
          <a:xfrm>
            <a:off x="990600" y="45212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pc3[0]="B"</a:t>
            </a:r>
            <a:endParaRPr lang="it-IT" sz="1600" noProof="0" dirty="0"/>
          </a:p>
        </p:txBody>
      </p:sp>
      <p:sp>
        <p:nvSpPr>
          <p:cNvPr id="13" name="Text 11"/>
          <p:cNvSpPr/>
          <p:nvPr/>
        </p:nvSpPr>
        <p:spPr>
          <a:xfrm>
            <a:off x="990600" y="48006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pc3[image]="kathara/base"</a:t>
            </a:r>
            <a:endParaRPr lang="it-IT" sz="1600" noProof="0" dirty="0"/>
          </a:p>
        </p:txBody>
      </p:sp>
      <p:sp>
        <p:nvSpPr>
          <p:cNvPr id="602" name="Text 11"/>
          <p:cNvSpPr/>
          <p:nvPr/>
        </p:nvSpPr>
        <p:spPr>
          <a:xfrm>
            <a:off x="990600" y="5080000"/>
            <a:ext cx="355803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F2F1EC"/>
                </a:solidFill>
                <a:latin typeface="JetBrains Mono" pitchFamily="49" charset="0"/>
                <a:ea typeface="JetBrains Mono" pitchFamily="49" charset="-122"/>
                <a:cs typeface="JetBrains Mono" pitchFamily="49" charset="-120"/>
              </a:rPr>
              <a:t>pc3[ipv6]="false"</a:t>
            </a:r>
            <a:endParaRPr lang="it-IT" sz="1600" noProof="0" dirty="0"/>
          </a:p>
        </p:txBody>
      </p:sp>
      <p:sp>
        <p:nvSpPr>
          <p:cNvPr id="503" name="Shape 1"/>
          <p:cNvSpPr/>
          <p:nvPr/>
        </p:nvSpPr>
        <p:spPr>
          <a:xfrm>
            <a:off x="5676900" y="1822450"/>
            <a:ext cx="5689600" cy="3403600"/>
          </a:xfrm>
          <a:prstGeom prst="rect">
            <a:avLst/>
          </a:prstGeom>
          <a:noFill/>
          <a:ln w="12700">
            <a:solidFill>
              <a:srgbClr val="8A8F96"/>
            </a:solidFill>
            <a:prstDash val="dash"/>
          </a:ln>
        </p:spPr>
        <p:txBody>
          <a:bodyPr/>
          <a:lstStyle/>
          <a:p>
            <a:endParaRPr lang="it-IT" noProof="0" dirty="0"/>
          </a:p>
        </p:txBody>
      </p:sp>
      <p:sp>
        <p:nvSpPr>
          <p:cNvPr id="504" name="Text 2"/>
          <p:cNvSpPr/>
          <p:nvPr/>
        </p:nvSpPr>
        <p:spPr>
          <a:xfrm>
            <a:off x="5867400" y="1955800"/>
            <a:ext cx="3368358"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macchina </a:t>
            </a:r>
            <a:r>
              <a:rPr lang="it-IT" sz="1600" noProof="0" dirty="0" err="1">
                <a:solidFill>
                  <a:srgbClr val="5B5F66"/>
                </a:solidFill>
                <a:latin typeface="JetBrains Mono" pitchFamily="49" charset="0"/>
                <a:ea typeface="JetBrains Mono" pitchFamily="49" charset="-122"/>
                <a:cs typeface="JetBrains Mono" pitchFamily="49" charset="-120"/>
              </a:rPr>
              <a:t>host</a:t>
            </a:r>
            <a:endParaRPr lang="it-IT" sz="1600" noProof="0" dirty="0"/>
          </a:p>
        </p:txBody>
      </p:sp>
      <p:sp>
        <p:nvSpPr>
          <p:cNvPr id="505" name="Shape 3"/>
          <p:cNvSpPr/>
          <p:nvPr/>
        </p:nvSpPr>
        <p:spPr>
          <a:xfrm>
            <a:off x="6731000" y="3270250"/>
            <a:ext cx="25400" cy="1117600"/>
          </a:xfrm>
          <a:prstGeom prst="rect">
            <a:avLst/>
          </a:prstGeom>
          <a:solidFill>
            <a:srgbClr val="1B1D20"/>
          </a:solidFill>
          <a:ln/>
        </p:spPr>
        <p:txBody>
          <a:bodyPr/>
          <a:lstStyle/>
          <a:p>
            <a:endParaRPr lang="it-IT" noProof="0" dirty="0"/>
          </a:p>
        </p:txBody>
      </p:sp>
      <p:sp>
        <p:nvSpPr>
          <p:cNvPr id="506" name="Shape 4"/>
          <p:cNvSpPr/>
          <p:nvPr/>
        </p:nvSpPr>
        <p:spPr>
          <a:xfrm>
            <a:off x="8191500" y="3270250"/>
            <a:ext cx="25400" cy="1117600"/>
          </a:xfrm>
          <a:prstGeom prst="rect">
            <a:avLst/>
          </a:prstGeom>
          <a:solidFill>
            <a:srgbClr val="1B1D20"/>
          </a:solidFill>
          <a:ln/>
        </p:spPr>
        <p:txBody>
          <a:bodyPr/>
          <a:lstStyle/>
          <a:p>
            <a:endParaRPr lang="it-IT" noProof="0" dirty="0"/>
          </a:p>
        </p:txBody>
      </p:sp>
      <p:sp>
        <p:nvSpPr>
          <p:cNvPr id="507" name="Shape 5"/>
          <p:cNvSpPr/>
          <p:nvPr/>
        </p:nvSpPr>
        <p:spPr>
          <a:xfrm>
            <a:off x="8826500" y="3270250"/>
            <a:ext cx="25400" cy="1117600"/>
          </a:xfrm>
          <a:prstGeom prst="rect">
            <a:avLst/>
          </a:prstGeom>
          <a:solidFill>
            <a:srgbClr val="1B1D20"/>
          </a:solidFill>
          <a:ln/>
        </p:spPr>
        <p:txBody>
          <a:bodyPr/>
          <a:lstStyle/>
          <a:p>
            <a:endParaRPr lang="it-IT" noProof="0" dirty="0"/>
          </a:p>
        </p:txBody>
      </p:sp>
      <p:sp>
        <p:nvSpPr>
          <p:cNvPr id="508" name="Shape 6"/>
          <p:cNvSpPr/>
          <p:nvPr/>
        </p:nvSpPr>
        <p:spPr>
          <a:xfrm>
            <a:off x="10287000" y="3270250"/>
            <a:ext cx="25400" cy="1117600"/>
          </a:xfrm>
          <a:prstGeom prst="rect">
            <a:avLst/>
          </a:prstGeom>
          <a:solidFill>
            <a:srgbClr val="1B1D20"/>
          </a:solidFill>
          <a:ln/>
        </p:spPr>
        <p:txBody>
          <a:bodyPr/>
          <a:lstStyle/>
          <a:p>
            <a:endParaRPr lang="it-IT" noProof="0" dirty="0"/>
          </a:p>
        </p:txBody>
      </p:sp>
      <p:sp>
        <p:nvSpPr>
          <p:cNvPr id="509" name="Text 7"/>
          <p:cNvSpPr/>
          <p:nvPr/>
        </p:nvSpPr>
        <p:spPr>
          <a:xfrm>
            <a:off x="6067425" y="2466975"/>
            <a:ext cx="1358900" cy="787400"/>
          </a:xfrm>
          <a:prstGeom prst="rect">
            <a:avLst/>
          </a:prstGeom>
          <a:solidFill>
            <a:srgbClr val="60A5E3"/>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pc1</a:t>
            </a:r>
            <a:endParaRPr lang="it-IT" sz="2200" noProof="0" dirty="0"/>
          </a:p>
        </p:txBody>
      </p:sp>
      <p:sp>
        <p:nvSpPr>
          <p:cNvPr id="510" name="Text 8"/>
          <p:cNvSpPr/>
          <p:nvPr/>
        </p:nvSpPr>
        <p:spPr>
          <a:xfrm>
            <a:off x="7845425" y="2466975"/>
            <a:ext cx="1358900" cy="787400"/>
          </a:xfrm>
          <a:prstGeom prst="rect">
            <a:avLst/>
          </a:prstGeom>
          <a:solidFill>
            <a:srgbClr val="E37E5F"/>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pc2</a:t>
            </a:r>
            <a:endParaRPr lang="it-IT" sz="2200" noProof="0" dirty="0"/>
          </a:p>
        </p:txBody>
      </p:sp>
      <p:sp>
        <p:nvSpPr>
          <p:cNvPr id="511" name="Text 9"/>
          <p:cNvSpPr/>
          <p:nvPr/>
        </p:nvSpPr>
        <p:spPr>
          <a:xfrm>
            <a:off x="9623425" y="2466975"/>
            <a:ext cx="1358900" cy="787400"/>
          </a:xfrm>
          <a:prstGeom prst="rect">
            <a:avLst/>
          </a:prstGeom>
          <a:solidFill>
            <a:srgbClr val="A8DC6E"/>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pc3</a:t>
            </a:r>
            <a:endParaRPr lang="it-IT" sz="2200" noProof="0" dirty="0"/>
          </a:p>
        </p:txBody>
      </p:sp>
      <p:sp>
        <p:nvSpPr>
          <p:cNvPr id="512" name="Shape 10"/>
          <p:cNvSpPr/>
          <p:nvPr/>
        </p:nvSpPr>
        <p:spPr>
          <a:xfrm>
            <a:off x="6299200" y="4349750"/>
            <a:ext cx="2095500" cy="88900"/>
          </a:xfrm>
          <a:prstGeom prst="rect">
            <a:avLst/>
          </a:prstGeom>
          <a:solidFill>
            <a:srgbClr val="1B1D20"/>
          </a:solidFill>
          <a:ln/>
        </p:spPr>
        <p:txBody>
          <a:bodyPr/>
          <a:lstStyle/>
          <a:p>
            <a:endParaRPr lang="it-IT" noProof="0" dirty="0"/>
          </a:p>
        </p:txBody>
      </p:sp>
      <p:sp>
        <p:nvSpPr>
          <p:cNvPr id="513" name="Shape 11"/>
          <p:cNvSpPr/>
          <p:nvPr/>
        </p:nvSpPr>
        <p:spPr>
          <a:xfrm>
            <a:off x="8648700" y="4349750"/>
            <a:ext cx="2095500" cy="88900"/>
          </a:xfrm>
          <a:prstGeom prst="rect">
            <a:avLst/>
          </a:prstGeom>
          <a:solidFill>
            <a:srgbClr val="1B1D20"/>
          </a:solidFill>
          <a:ln/>
        </p:spPr>
        <p:txBody>
          <a:bodyPr/>
          <a:lstStyle/>
          <a:p>
            <a:endParaRPr lang="it-IT" noProof="0" dirty="0"/>
          </a:p>
        </p:txBody>
      </p:sp>
      <p:sp>
        <p:nvSpPr>
          <p:cNvPr id="514" name="Text 12"/>
          <p:cNvSpPr/>
          <p:nvPr/>
        </p:nvSpPr>
        <p:spPr>
          <a:xfrm>
            <a:off x="6819900" y="3689350"/>
            <a:ext cx="7366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p:txBody>
      </p:sp>
      <p:sp>
        <p:nvSpPr>
          <p:cNvPr id="515" name="Text 13"/>
          <p:cNvSpPr/>
          <p:nvPr/>
        </p:nvSpPr>
        <p:spPr>
          <a:xfrm>
            <a:off x="7378700" y="3689350"/>
            <a:ext cx="736600" cy="274320"/>
          </a:xfrm>
          <a:prstGeom prst="rect">
            <a:avLst/>
          </a:prstGeom>
          <a:noFill/>
          <a:ln/>
        </p:spPr>
        <p:txBody>
          <a:bodyPr wrap="square" lIns="0" tIns="0" rIns="0" bIns="0" rtlCol="0" anchor="t">
            <a:normAutofit/>
          </a:bodyPr>
          <a:lstStyle/>
          <a:p>
            <a:pPr marL="0" indent="0" algn="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p:txBody>
      </p:sp>
      <p:sp>
        <p:nvSpPr>
          <p:cNvPr id="516" name="Text 14"/>
          <p:cNvSpPr/>
          <p:nvPr/>
        </p:nvSpPr>
        <p:spPr>
          <a:xfrm>
            <a:off x="8915400" y="3689350"/>
            <a:ext cx="7366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eth1</a:t>
            </a:r>
            <a:endParaRPr lang="it-IT" sz="1600" noProof="0" dirty="0"/>
          </a:p>
        </p:txBody>
      </p:sp>
      <p:sp>
        <p:nvSpPr>
          <p:cNvPr id="517" name="Text 15"/>
          <p:cNvSpPr/>
          <p:nvPr/>
        </p:nvSpPr>
        <p:spPr>
          <a:xfrm>
            <a:off x="10375900" y="3689350"/>
            <a:ext cx="7366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p:txBody>
      </p:sp>
      <p:sp>
        <p:nvSpPr>
          <p:cNvPr id="518" name="Text 16"/>
          <p:cNvSpPr/>
          <p:nvPr/>
        </p:nvSpPr>
        <p:spPr>
          <a:xfrm>
            <a:off x="6235065" y="4552950"/>
            <a:ext cx="2223770" cy="327660"/>
          </a:xfrm>
          <a:prstGeom prst="rect">
            <a:avLst/>
          </a:prstGeom>
          <a:noFill/>
          <a:ln/>
        </p:spPr>
        <p:txBody>
          <a:bodyPr wrap="square" lIns="0" tIns="0" rIns="0" bIns="0" rtlCol="0" anchor="t">
            <a:normAutofit/>
          </a:bodyPr>
          <a:lstStyle/>
          <a:p>
            <a:pPr marL="0" indent="0" algn="ctr">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dominio A</a:t>
            </a:r>
            <a:endParaRPr lang="it-IT" sz="1800" noProof="0" dirty="0"/>
          </a:p>
        </p:txBody>
      </p:sp>
      <p:sp>
        <p:nvSpPr>
          <p:cNvPr id="519" name="Text 17"/>
          <p:cNvSpPr/>
          <p:nvPr/>
        </p:nvSpPr>
        <p:spPr>
          <a:xfrm>
            <a:off x="8584565" y="4552950"/>
            <a:ext cx="2223770" cy="327660"/>
          </a:xfrm>
          <a:prstGeom prst="rect">
            <a:avLst/>
          </a:prstGeom>
          <a:noFill/>
          <a:ln/>
        </p:spPr>
        <p:txBody>
          <a:bodyPr wrap="square" lIns="0" tIns="0" rIns="0" bIns="0" rtlCol="0" anchor="t">
            <a:normAutofit/>
          </a:bodyPr>
          <a:lstStyle/>
          <a:p>
            <a:pPr marL="0" indent="0" algn="ctr">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dominio B</a:t>
            </a:r>
            <a:endParaRPr lang="it-IT" sz="1800" noProof="0" dirty="0"/>
          </a:p>
        </p:txBody>
      </p:sp>
    </p:spTree>
    <p:extLst>
      <p:ext uri="{BB962C8B-B14F-4D97-AF65-F5344CB8AC3E}">
        <p14:creationId xmlns:p14="http://schemas.microsoft.com/office/powerpoint/2010/main" val="1992190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4969"/>
              </a:lnSpc>
              <a:buNone/>
            </a:pPr>
            <a:r>
              <a:rPr lang="it-IT" sz="3975" b="1" i="0" noProof="0" dirty="0">
                <a:solidFill>
                  <a:srgbClr val="1B1D20"/>
                </a:solidFill>
                <a:latin typeface="IBM Plex Sans" pitchFamily="34" charset="0"/>
                <a:ea typeface="IBM Plex Sans" pitchFamily="34" charset="-122"/>
                <a:cs typeface="IBM Plex Sans" pitchFamily="34" charset="-120"/>
              </a:rPr>
              <a:t>I file .startup configurano ogni device</a:t>
            </a:r>
            <a:endParaRPr lang="it-IT" sz="3975" noProof="0" dirty="0"/>
          </a:p>
        </p:txBody>
      </p:sp>
      <p:sp>
        <p:nvSpPr>
          <p:cNvPr id="14" name="Shape 12"/>
          <p:cNvSpPr/>
          <p:nvPr/>
        </p:nvSpPr>
        <p:spPr>
          <a:xfrm>
            <a:off x="812800" y="1828589"/>
            <a:ext cx="4572000" cy="1159828"/>
          </a:xfrm>
          <a:prstGeom prst="rect">
            <a:avLst/>
          </a:prstGeom>
          <a:solidFill>
            <a:srgbClr val="17191C"/>
          </a:solidFill>
          <a:ln/>
        </p:spPr>
        <p:txBody>
          <a:bodyPr/>
          <a:lstStyle/>
          <a:p>
            <a:endParaRPr lang="it-IT" noProof="0" dirty="0"/>
          </a:p>
        </p:txBody>
      </p:sp>
      <p:sp>
        <p:nvSpPr>
          <p:cNvPr id="15" name="Shape 13"/>
          <p:cNvSpPr/>
          <p:nvPr/>
        </p:nvSpPr>
        <p:spPr>
          <a:xfrm>
            <a:off x="838200" y="1828589"/>
            <a:ext cx="0" cy="1159828"/>
          </a:xfrm>
          <a:prstGeom prst="line">
            <a:avLst/>
          </a:prstGeom>
          <a:noFill/>
          <a:ln w="50800">
            <a:solidFill>
              <a:srgbClr val="60A5E3"/>
            </a:solidFill>
            <a:prstDash val="solid"/>
          </a:ln>
        </p:spPr>
        <p:txBody>
          <a:bodyPr/>
          <a:lstStyle/>
          <a:p>
            <a:endParaRPr lang="it-IT" noProof="0" dirty="0"/>
          </a:p>
        </p:txBody>
      </p:sp>
      <p:sp>
        <p:nvSpPr>
          <p:cNvPr id="16" name="Text 14"/>
          <p:cNvSpPr/>
          <p:nvPr/>
        </p:nvSpPr>
        <p:spPr>
          <a:xfrm>
            <a:off x="1016000" y="1955589"/>
            <a:ext cx="4267200" cy="269346"/>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E1D368"/>
                </a:solidFill>
                <a:latin typeface="JetBrains Mono" pitchFamily="49" charset="0"/>
                <a:ea typeface="JetBrains Mono" pitchFamily="49" charset="-122"/>
                <a:cs typeface="JetBrains Mono" pitchFamily="49" charset="-120"/>
              </a:rPr>
              <a:t>pc1.startup</a:t>
            </a:r>
            <a:endParaRPr lang="it-IT" sz="1600" noProof="0" dirty="0"/>
          </a:p>
        </p:txBody>
      </p:sp>
      <p:sp>
        <p:nvSpPr>
          <p:cNvPr id="17" name="Text 15"/>
          <p:cNvSpPr/>
          <p:nvPr/>
        </p:nvSpPr>
        <p:spPr>
          <a:xfrm>
            <a:off x="1016000" y="2250334"/>
            <a:ext cx="4267200" cy="305541"/>
          </a:xfrm>
          <a:prstGeom prst="rect">
            <a:avLst/>
          </a:prstGeom>
          <a:noFill/>
          <a:ln/>
        </p:spPr>
        <p:txBody>
          <a:bodyPr wrap="square" lIns="0" tIns="0" rIns="0" bIns="0" rtlCol="0" anchor="t">
            <a:normAutofit fontScale="92500"/>
          </a:bodyPr>
          <a:lstStyle/>
          <a:p>
            <a:pPr marL="0" indent="0" algn="l">
              <a:lnSpc>
                <a:spcPts val="2222"/>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address</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10.0.1.1/24 </a:t>
            </a:r>
            <a:r>
              <a:rPr lang="it-IT" sz="1600" noProof="0" dirty="0" err="1">
                <a:solidFill>
                  <a:srgbClr val="F2F1EC"/>
                </a:solidFill>
                <a:latin typeface="JetBrains Mono" pitchFamily="49" charset="0"/>
                <a:ea typeface="JetBrains Mono" pitchFamily="49" charset="-122"/>
                <a:cs typeface="JetBrains Mono" pitchFamily="49" charset="-120"/>
              </a:rPr>
              <a:t>dev</a:t>
            </a:r>
            <a:r>
              <a:rPr lang="it-IT" sz="1600" noProof="0" dirty="0">
                <a:solidFill>
                  <a:srgbClr val="F2F1EC"/>
                </a:solidFill>
                <a:latin typeface="JetBrains Mono" pitchFamily="49" charset="0"/>
                <a:ea typeface="JetBrains Mono" pitchFamily="49" charset="-122"/>
                <a:cs typeface="JetBrains Mono" pitchFamily="49" charset="-120"/>
              </a:rPr>
              <a:t> eth0</a:t>
            </a:r>
            <a:endParaRPr lang="it-IT" sz="1600" noProof="0" dirty="0"/>
          </a:p>
        </p:txBody>
      </p:sp>
      <p:sp>
        <p:nvSpPr>
          <p:cNvPr id="18" name="Text 16"/>
          <p:cNvSpPr/>
          <p:nvPr/>
        </p:nvSpPr>
        <p:spPr>
          <a:xfrm>
            <a:off x="1016000" y="2581275"/>
            <a:ext cx="4267200" cy="305541"/>
          </a:xfrm>
          <a:prstGeom prst="rect">
            <a:avLst/>
          </a:prstGeom>
          <a:noFill/>
          <a:ln/>
        </p:spPr>
        <p:txBody>
          <a:bodyPr wrap="square" lIns="0" tIns="0" rIns="0" bIns="0" rtlCol="0" anchor="t">
            <a:normAutofit fontScale="92500"/>
          </a:bodyPr>
          <a:lstStyle/>
          <a:p>
            <a:pPr marL="0" indent="0" algn="l">
              <a:lnSpc>
                <a:spcPts val="2222"/>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route</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default via 10.0.1.254</a:t>
            </a:r>
            <a:endParaRPr lang="it-IT" sz="1600" noProof="0" dirty="0"/>
          </a:p>
        </p:txBody>
      </p:sp>
      <p:sp>
        <p:nvSpPr>
          <p:cNvPr id="19" name="Shape 17"/>
          <p:cNvSpPr/>
          <p:nvPr/>
        </p:nvSpPr>
        <p:spPr>
          <a:xfrm>
            <a:off x="812800" y="3090016"/>
            <a:ext cx="4572000" cy="1490557"/>
          </a:xfrm>
          <a:prstGeom prst="rect">
            <a:avLst/>
          </a:prstGeom>
          <a:solidFill>
            <a:srgbClr val="17191C"/>
          </a:solidFill>
          <a:ln/>
        </p:spPr>
        <p:txBody>
          <a:bodyPr/>
          <a:lstStyle/>
          <a:p>
            <a:endParaRPr lang="it-IT" noProof="0" dirty="0"/>
          </a:p>
        </p:txBody>
      </p:sp>
      <p:sp>
        <p:nvSpPr>
          <p:cNvPr id="20" name="Shape 18"/>
          <p:cNvSpPr/>
          <p:nvPr/>
        </p:nvSpPr>
        <p:spPr>
          <a:xfrm>
            <a:off x="838200" y="3090016"/>
            <a:ext cx="0" cy="1490557"/>
          </a:xfrm>
          <a:prstGeom prst="line">
            <a:avLst/>
          </a:prstGeom>
          <a:noFill/>
          <a:ln w="50800">
            <a:solidFill>
              <a:srgbClr val="E37E5F"/>
            </a:solidFill>
            <a:prstDash val="solid"/>
          </a:ln>
        </p:spPr>
        <p:txBody>
          <a:bodyPr/>
          <a:lstStyle/>
          <a:p>
            <a:endParaRPr lang="it-IT" noProof="0" dirty="0"/>
          </a:p>
        </p:txBody>
      </p:sp>
      <p:sp>
        <p:nvSpPr>
          <p:cNvPr id="21" name="Text 19"/>
          <p:cNvSpPr/>
          <p:nvPr/>
        </p:nvSpPr>
        <p:spPr>
          <a:xfrm>
            <a:off x="1016000" y="3217016"/>
            <a:ext cx="4267200" cy="269346"/>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E1D368"/>
                </a:solidFill>
                <a:latin typeface="JetBrains Mono" pitchFamily="49" charset="0"/>
                <a:ea typeface="JetBrains Mono" pitchFamily="49" charset="-122"/>
                <a:cs typeface="JetBrains Mono" pitchFamily="49" charset="-120"/>
              </a:rPr>
              <a:t>pc2.startup</a:t>
            </a:r>
            <a:endParaRPr lang="it-IT" sz="1600" noProof="0" dirty="0"/>
          </a:p>
        </p:txBody>
      </p:sp>
      <p:sp>
        <p:nvSpPr>
          <p:cNvPr id="22" name="Text 20"/>
          <p:cNvSpPr/>
          <p:nvPr/>
        </p:nvSpPr>
        <p:spPr>
          <a:xfrm>
            <a:off x="1016000" y="3511761"/>
            <a:ext cx="4267200" cy="305541"/>
          </a:xfrm>
          <a:prstGeom prst="rect">
            <a:avLst/>
          </a:prstGeom>
          <a:noFill/>
          <a:ln/>
        </p:spPr>
        <p:txBody>
          <a:bodyPr wrap="square" lIns="0" tIns="0" rIns="0" bIns="0" rtlCol="0" anchor="t">
            <a:normAutofit fontScale="92500"/>
          </a:bodyPr>
          <a:lstStyle/>
          <a:p>
            <a:pPr marL="0" indent="0" algn="l">
              <a:lnSpc>
                <a:spcPts val="2222"/>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address</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10.0.1.254/24 </a:t>
            </a:r>
            <a:r>
              <a:rPr lang="it-IT" sz="1600" noProof="0" dirty="0" err="1">
                <a:solidFill>
                  <a:srgbClr val="F2F1EC"/>
                </a:solidFill>
                <a:latin typeface="JetBrains Mono" pitchFamily="49" charset="0"/>
                <a:ea typeface="JetBrains Mono" pitchFamily="49" charset="-122"/>
                <a:cs typeface="JetBrains Mono" pitchFamily="49" charset="-120"/>
              </a:rPr>
              <a:t>dev</a:t>
            </a:r>
            <a:r>
              <a:rPr lang="it-IT" sz="1600" noProof="0" dirty="0">
                <a:solidFill>
                  <a:srgbClr val="F2F1EC"/>
                </a:solidFill>
                <a:latin typeface="JetBrains Mono" pitchFamily="49" charset="0"/>
                <a:ea typeface="JetBrains Mono" pitchFamily="49" charset="-122"/>
                <a:cs typeface="JetBrains Mono" pitchFamily="49" charset="-120"/>
              </a:rPr>
              <a:t> eth0</a:t>
            </a:r>
            <a:endParaRPr lang="it-IT" sz="1600" noProof="0" dirty="0"/>
          </a:p>
        </p:txBody>
      </p:sp>
      <p:sp>
        <p:nvSpPr>
          <p:cNvPr id="23" name="Text 21"/>
          <p:cNvSpPr/>
          <p:nvPr/>
        </p:nvSpPr>
        <p:spPr>
          <a:xfrm>
            <a:off x="1016000" y="3842702"/>
            <a:ext cx="4267200" cy="305435"/>
          </a:xfrm>
          <a:prstGeom prst="rect">
            <a:avLst/>
          </a:prstGeom>
          <a:noFill/>
          <a:ln/>
        </p:spPr>
        <p:txBody>
          <a:bodyPr wrap="square" lIns="0" tIns="0" rIns="0" bIns="0" rtlCol="0" anchor="t">
            <a:normAutofit fontScale="92500"/>
          </a:bodyPr>
          <a:lstStyle/>
          <a:p>
            <a:pPr marL="0" indent="0" algn="l">
              <a:lnSpc>
                <a:spcPts val="2222"/>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address</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10.0.2.254/24 </a:t>
            </a:r>
            <a:r>
              <a:rPr lang="it-IT" sz="1600" noProof="0" dirty="0" err="1">
                <a:solidFill>
                  <a:srgbClr val="F2F1EC"/>
                </a:solidFill>
                <a:latin typeface="JetBrains Mono" pitchFamily="49" charset="0"/>
                <a:ea typeface="JetBrains Mono" pitchFamily="49" charset="-122"/>
                <a:cs typeface="JetBrains Mono" pitchFamily="49" charset="-120"/>
              </a:rPr>
              <a:t>dev</a:t>
            </a:r>
            <a:r>
              <a:rPr lang="it-IT" sz="1600" noProof="0" dirty="0">
                <a:solidFill>
                  <a:srgbClr val="F2F1EC"/>
                </a:solidFill>
                <a:latin typeface="JetBrains Mono" pitchFamily="49" charset="0"/>
                <a:ea typeface="JetBrains Mono" pitchFamily="49" charset="-122"/>
                <a:cs typeface="JetBrains Mono" pitchFamily="49" charset="-120"/>
              </a:rPr>
              <a:t> eth1</a:t>
            </a:r>
            <a:endParaRPr lang="it-IT" sz="1600" noProof="0" dirty="0"/>
          </a:p>
        </p:txBody>
      </p:sp>
      <p:sp>
        <p:nvSpPr>
          <p:cNvPr id="24" name="Text 22"/>
          <p:cNvSpPr/>
          <p:nvPr/>
        </p:nvSpPr>
        <p:spPr>
          <a:xfrm>
            <a:off x="1016000" y="4173537"/>
            <a:ext cx="4267200" cy="305435"/>
          </a:xfrm>
          <a:prstGeom prst="rect">
            <a:avLst/>
          </a:prstGeom>
          <a:noFill/>
          <a:ln/>
        </p:spPr>
        <p:txBody>
          <a:bodyPr wrap="square" lIns="0" tIns="0" rIns="0" bIns="0" rtlCol="0" anchor="t">
            <a:normAutofit/>
          </a:bodyPr>
          <a:lstStyle/>
          <a:p>
            <a:pPr marL="0" indent="0" algn="l">
              <a:lnSpc>
                <a:spcPts val="2222"/>
              </a:lnSpc>
              <a:buNone/>
            </a:pPr>
            <a:endParaRPr lang="it-IT" sz="1600" noProof="0" dirty="0"/>
          </a:p>
        </p:txBody>
      </p:sp>
      <p:sp>
        <p:nvSpPr>
          <p:cNvPr id="25" name="Shape 23"/>
          <p:cNvSpPr/>
          <p:nvPr/>
        </p:nvSpPr>
        <p:spPr>
          <a:xfrm>
            <a:off x="812800" y="4682173"/>
            <a:ext cx="4572000" cy="1159827"/>
          </a:xfrm>
          <a:prstGeom prst="rect">
            <a:avLst/>
          </a:prstGeom>
          <a:solidFill>
            <a:srgbClr val="17191C"/>
          </a:solidFill>
          <a:ln/>
        </p:spPr>
        <p:txBody>
          <a:bodyPr/>
          <a:lstStyle/>
          <a:p>
            <a:endParaRPr lang="it-IT" noProof="0" dirty="0"/>
          </a:p>
        </p:txBody>
      </p:sp>
      <p:sp>
        <p:nvSpPr>
          <p:cNvPr id="26" name="Shape 24"/>
          <p:cNvSpPr/>
          <p:nvPr/>
        </p:nvSpPr>
        <p:spPr>
          <a:xfrm>
            <a:off x="838200" y="4682173"/>
            <a:ext cx="0" cy="1159827"/>
          </a:xfrm>
          <a:prstGeom prst="line">
            <a:avLst/>
          </a:prstGeom>
          <a:noFill/>
          <a:ln w="50800">
            <a:solidFill>
              <a:srgbClr val="A8DC6E"/>
            </a:solidFill>
            <a:prstDash val="solid"/>
          </a:ln>
        </p:spPr>
        <p:txBody>
          <a:bodyPr/>
          <a:lstStyle/>
          <a:p>
            <a:endParaRPr lang="it-IT" noProof="0" dirty="0"/>
          </a:p>
        </p:txBody>
      </p:sp>
      <p:sp>
        <p:nvSpPr>
          <p:cNvPr id="27" name="Text 25"/>
          <p:cNvSpPr/>
          <p:nvPr/>
        </p:nvSpPr>
        <p:spPr>
          <a:xfrm>
            <a:off x="1016000" y="4809173"/>
            <a:ext cx="4267200" cy="269346"/>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E1D368"/>
                </a:solidFill>
                <a:latin typeface="JetBrains Mono" pitchFamily="49" charset="0"/>
                <a:ea typeface="JetBrains Mono" pitchFamily="49" charset="-122"/>
                <a:cs typeface="JetBrains Mono" pitchFamily="49" charset="-120"/>
              </a:rPr>
              <a:t>pc3.startup</a:t>
            </a:r>
            <a:endParaRPr lang="it-IT" sz="1600" noProof="0" dirty="0"/>
          </a:p>
        </p:txBody>
      </p:sp>
      <p:sp>
        <p:nvSpPr>
          <p:cNvPr id="28" name="Text 26"/>
          <p:cNvSpPr/>
          <p:nvPr/>
        </p:nvSpPr>
        <p:spPr>
          <a:xfrm>
            <a:off x="1016000" y="5103918"/>
            <a:ext cx="4267200" cy="305541"/>
          </a:xfrm>
          <a:prstGeom prst="rect">
            <a:avLst/>
          </a:prstGeom>
          <a:noFill/>
          <a:ln/>
        </p:spPr>
        <p:txBody>
          <a:bodyPr wrap="square" lIns="0" tIns="0" rIns="0" bIns="0" rtlCol="0" anchor="t">
            <a:normAutofit fontScale="92500"/>
          </a:bodyPr>
          <a:lstStyle/>
          <a:p>
            <a:pPr marL="0" indent="0" algn="l">
              <a:lnSpc>
                <a:spcPts val="2222"/>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address</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10.0.2.1/24 </a:t>
            </a:r>
            <a:r>
              <a:rPr lang="it-IT" sz="1600" noProof="0" dirty="0" err="1">
                <a:solidFill>
                  <a:srgbClr val="F2F1EC"/>
                </a:solidFill>
                <a:latin typeface="JetBrains Mono" pitchFamily="49" charset="0"/>
                <a:ea typeface="JetBrains Mono" pitchFamily="49" charset="-122"/>
                <a:cs typeface="JetBrains Mono" pitchFamily="49" charset="-120"/>
              </a:rPr>
              <a:t>dev</a:t>
            </a:r>
            <a:r>
              <a:rPr lang="it-IT" sz="1600" noProof="0" dirty="0">
                <a:solidFill>
                  <a:srgbClr val="F2F1EC"/>
                </a:solidFill>
                <a:latin typeface="JetBrains Mono" pitchFamily="49" charset="0"/>
                <a:ea typeface="JetBrains Mono" pitchFamily="49" charset="-122"/>
                <a:cs typeface="JetBrains Mono" pitchFamily="49" charset="-120"/>
              </a:rPr>
              <a:t> eth0</a:t>
            </a:r>
            <a:endParaRPr lang="it-IT" sz="1600" noProof="0" dirty="0"/>
          </a:p>
        </p:txBody>
      </p:sp>
      <p:sp>
        <p:nvSpPr>
          <p:cNvPr id="29" name="Text 27"/>
          <p:cNvSpPr/>
          <p:nvPr/>
        </p:nvSpPr>
        <p:spPr>
          <a:xfrm>
            <a:off x="1016000" y="5434859"/>
            <a:ext cx="4267200" cy="305541"/>
          </a:xfrm>
          <a:prstGeom prst="rect">
            <a:avLst/>
          </a:prstGeom>
          <a:noFill/>
          <a:ln/>
        </p:spPr>
        <p:txBody>
          <a:bodyPr wrap="square" lIns="0" tIns="0" rIns="0" bIns="0" rtlCol="0" anchor="t">
            <a:normAutofit fontScale="92500"/>
          </a:bodyPr>
          <a:lstStyle/>
          <a:p>
            <a:pPr marL="0" indent="0" algn="l">
              <a:lnSpc>
                <a:spcPts val="2222"/>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route</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default via 10.0.2.254</a:t>
            </a:r>
            <a:endParaRPr lang="it-IT" sz="1600" noProof="0" dirty="0"/>
          </a:p>
        </p:txBody>
      </p:sp>
      <p:sp>
        <p:nvSpPr>
          <p:cNvPr id="503" name="Shape 1"/>
          <p:cNvSpPr/>
          <p:nvPr/>
        </p:nvSpPr>
        <p:spPr>
          <a:xfrm>
            <a:off x="5676900" y="1822450"/>
            <a:ext cx="5689600" cy="3403600"/>
          </a:xfrm>
          <a:prstGeom prst="rect">
            <a:avLst/>
          </a:prstGeom>
          <a:noFill/>
          <a:ln w="12700">
            <a:solidFill>
              <a:srgbClr val="8A8F96"/>
            </a:solidFill>
            <a:prstDash val="dash"/>
          </a:ln>
        </p:spPr>
        <p:txBody>
          <a:bodyPr/>
          <a:lstStyle/>
          <a:p>
            <a:endParaRPr lang="it-IT" noProof="0" dirty="0"/>
          </a:p>
        </p:txBody>
      </p:sp>
      <p:sp>
        <p:nvSpPr>
          <p:cNvPr id="504" name="Text 2"/>
          <p:cNvSpPr/>
          <p:nvPr/>
        </p:nvSpPr>
        <p:spPr>
          <a:xfrm>
            <a:off x="5867400" y="1955800"/>
            <a:ext cx="3368358"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macchina </a:t>
            </a:r>
            <a:r>
              <a:rPr lang="it-IT" sz="1600" noProof="0" dirty="0" err="1">
                <a:solidFill>
                  <a:srgbClr val="5B5F66"/>
                </a:solidFill>
                <a:latin typeface="JetBrains Mono" pitchFamily="49" charset="0"/>
                <a:ea typeface="JetBrains Mono" pitchFamily="49" charset="-122"/>
                <a:cs typeface="JetBrains Mono" pitchFamily="49" charset="-120"/>
              </a:rPr>
              <a:t>host</a:t>
            </a:r>
            <a:endParaRPr lang="it-IT" sz="1600" noProof="0" dirty="0"/>
          </a:p>
        </p:txBody>
      </p:sp>
      <p:sp>
        <p:nvSpPr>
          <p:cNvPr id="505" name="Shape 3"/>
          <p:cNvSpPr/>
          <p:nvPr/>
        </p:nvSpPr>
        <p:spPr>
          <a:xfrm>
            <a:off x="6731000" y="3270250"/>
            <a:ext cx="25400" cy="1117600"/>
          </a:xfrm>
          <a:prstGeom prst="rect">
            <a:avLst/>
          </a:prstGeom>
          <a:solidFill>
            <a:srgbClr val="1B1D20"/>
          </a:solidFill>
          <a:ln/>
        </p:spPr>
        <p:txBody>
          <a:bodyPr/>
          <a:lstStyle/>
          <a:p>
            <a:endParaRPr lang="it-IT" noProof="0" dirty="0"/>
          </a:p>
        </p:txBody>
      </p:sp>
      <p:sp>
        <p:nvSpPr>
          <p:cNvPr id="506" name="Shape 4"/>
          <p:cNvSpPr/>
          <p:nvPr/>
        </p:nvSpPr>
        <p:spPr>
          <a:xfrm>
            <a:off x="8191500" y="3270250"/>
            <a:ext cx="25400" cy="1117600"/>
          </a:xfrm>
          <a:prstGeom prst="rect">
            <a:avLst/>
          </a:prstGeom>
          <a:solidFill>
            <a:srgbClr val="1B1D20"/>
          </a:solidFill>
          <a:ln/>
        </p:spPr>
        <p:txBody>
          <a:bodyPr/>
          <a:lstStyle/>
          <a:p>
            <a:endParaRPr lang="it-IT" noProof="0" dirty="0"/>
          </a:p>
        </p:txBody>
      </p:sp>
      <p:sp>
        <p:nvSpPr>
          <p:cNvPr id="507" name="Shape 5"/>
          <p:cNvSpPr/>
          <p:nvPr/>
        </p:nvSpPr>
        <p:spPr>
          <a:xfrm>
            <a:off x="8826500" y="3270250"/>
            <a:ext cx="25400" cy="1117600"/>
          </a:xfrm>
          <a:prstGeom prst="rect">
            <a:avLst/>
          </a:prstGeom>
          <a:solidFill>
            <a:srgbClr val="1B1D20"/>
          </a:solidFill>
          <a:ln/>
        </p:spPr>
        <p:txBody>
          <a:bodyPr/>
          <a:lstStyle/>
          <a:p>
            <a:endParaRPr lang="it-IT" noProof="0" dirty="0"/>
          </a:p>
        </p:txBody>
      </p:sp>
      <p:sp>
        <p:nvSpPr>
          <p:cNvPr id="508" name="Shape 6"/>
          <p:cNvSpPr/>
          <p:nvPr/>
        </p:nvSpPr>
        <p:spPr>
          <a:xfrm>
            <a:off x="10287000" y="3270250"/>
            <a:ext cx="25400" cy="1117600"/>
          </a:xfrm>
          <a:prstGeom prst="rect">
            <a:avLst/>
          </a:prstGeom>
          <a:solidFill>
            <a:srgbClr val="1B1D20"/>
          </a:solidFill>
          <a:ln/>
        </p:spPr>
        <p:txBody>
          <a:bodyPr/>
          <a:lstStyle/>
          <a:p>
            <a:endParaRPr lang="it-IT" noProof="0" dirty="0"/>
          </a:p>
        </p:txBody>
      </p:sp>
      <p:sp>
        <p:nvSpPr>
          <p:cNvPr id="509" name="Text 7"/>
          <p:cNvSpPr/>
          <p:nvPr/>
        </p:nvSpPr>
        <p:spPr>
          <a:xfrm>
            <a:off x="6067425" y="2466975"/>
            <a:ext cx="1358900" cy="787400"/>
          </a:xfrm>
          <a:prstGeom prst="rect">
            <a:avLst/>
          </a:prstGeom>
          <a:solidFill>
            <a:srgbClr val="60A5E3"/>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pc1</a:t>
            </a:r>
            <a:endParaRPr lang="it-IT" sz="2200" noProof="0" dirty="0"/>
          </a:p>
        </p:txBody>
      </p:sp>
      <p:sp>
        <p:nvSpPr>
          <p:cNvPr id="510" name="Text 8"/>
          <p:cNvSpPr/>
          <p:nvPr/>
        </p:nvSpPr>
        <p:spPr>
          <a:xfrm>
            <a:off x="7845425" y="2466975"/>
            <a:ext cx="1358900" cy="787400"/>
          </a:xfrm>
          <a:prstGeom prst="rect">
            <a:avLst/>
          </a:prstGeom>
          <a:solidFill>
            <a:srgbClr val="E37E5F"/>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pc2</a:t>
            </a:r>
            <a:endParaRPr lang="it-IT" sz="2200" noProof="0" dirty="0"/>
          </a:p>
        </p:txBody>
      </p:sp>
      <p:sp>
        <p:nvSpPr>
          <p:cNvPr id="511" name="Text 9"/>
          <p:cNvSpPr/>
          <p:nvPr/>
        </p:nvSpPr>
        <p:spPr>
          <a:xfrm>
            <a:off x="9623425" y="2466975"/>
            <a:ext cx="1358900" cy="787400"/>
          </a:xfrm>
          <a:prstGeom prst="rect">
            <a:avLst/>
          </a:prstGeom>
          <a:solidFill>
            <a:srgbClr val="A8DC6E"/>
          </a:solidFill>
          <a:ln w="19050">
            <a:solidFill>
              <a:srgbClr val="1B1D20"/>
            </a:solidFill>
            <a:prstDash val="solid"/>
          </a:ln>
        </p:spPr>
        <p:txBody>
          <a:bodyPr wrap="square" lIns="0" tIns="9525" rIns="0" bIns="9525" rtlCol="0" anchor="ctr">
            <a:normAutofit/>
          </a:bodyPr>
          <a:lstStyle/>
          <a:p>
            <a:pPr marL="0" indent="0" algn="ctr">
              <a:lnSpc>
                <a:spcPts val="2750"/>
              </a:lnSpc>
              <a:buNone/>
            </a:pPr>
            <a:r>
              <a:rPr lang="it-IT" sz="2200" b="1" noProof="0" dirty="0">
                <a:solidFill>
                  <a:srgbClr val="1B1D20"/>
                </a:solidFill>
                <a:latin typeface="JetBrains Mono" pitchFamily="49" charset="0"/>
                <a:ea typeface="JetBrains Mono" pitchFamily="49" charset="-122"/>
                <a:cs typeface="JetBrains Mono" pitchFamily="49" charset="-120"/>
              </a:rPr>
              <a:t>pc3</a:t>
            </a:r>
            <a:endParaRPr lang="it-IT" sz="2200" noProof="0" dirty="0"/>
          </a:p>
        </p:txBody>
      </p:sp>
      <p:sp>
        <p:nvSpPr>
          <p:cNvPr id="512" name="Shape 10"/>
          <p:cNvSpPr/>
          <p:nvPr/>
        </p:nvSpPr>
        <p:spPr>
          <a:xfrm>
            <a:off x="6299200" y="4349750"/>
            <a:ext cx="2095500" cy="88900"/>
          </a:xfrm>
          <a:prstGeom prst="rect">
            <a:avLst/>
          </a:prstGeom>
          <a:solidFill>
            <a:srgbClr val="1B1D20"/>
          </a:solidFill>
          <a:ln/>
        </p:spPr>
        <p:txBody>
          <a:bodyPr/>
          <a:lstStyle/>
          <a:p>
            <a:endParaRPr lang="it-IT" noProof="0" dirty="0"/>
          </a:p>
        </p:txBody>
      </p:sp>
      <p:sp>
        <p:nvSpPr>
          <p:cNvPr id="513" name="Shape 11"/>
          <p:cNvSpPr/>
          <p:nvPr/>
        </p:nvSpPr>
        <p:spPr>
          <a:xfrm>
            <a:off x="8648700" y="4349750"/>
            <a:ext cx="2095500" cy="88900"/>
          </a:xfrm>
          <a:prstGeom prst="rect">
            <a:avLst/>
          </a:prstGeom>
          <a:solidFill>
            <a:srgbClr val="1B1D20"/>
          </a:solidFill>
          <a:ln/>
        </p:spPr>
        <p:txBody>
          <a:bodyPr/>
          <a:lstStyle/>
          <a:p>
            <a:endParaRPr lang="it-IT" noProof="0" dirty="0"/>
          </a:p>
        </p:txBody>
      </p:sp>
      <p:sp>
        <p:nvSpPr>
          <p:cNvPr id="514" name="Text 12"/>
          <p:cNvSpPr/>
          <p:nvPr/>
        </p:nvSpPr>
        <p:spPr>
          <a:xfrm>
            <a:off x="6819900" y="3689350"/>
            <a:ext cx="736600" cy="52832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a:p>
            <a:pPr marL="0" indent="0" algn="l">
              <a:lnSpc>
                <a:spcPts val="2000"/>
              </a:lnSpc>
              <a:buNone/>
            </a:pPr>
            <a:r>
              <a:rPr lang="it-IT" sz="1600" b="1" noProof="0" dirty="0">
                <a:solidFill>
                  <a:srgbClr val="2B6CA3"/>
                </a:solidFill>
                <a:latin typeface="JetBrains Mono" pitchFamily="49" charset="0"/>
                <a:ea typeface="JetBrains Mono" pitchFamily="49" charset="-122"/>
                <a:cs typeface="JetBrains Mono" pitchFamily="49" charset="-120"/>
              </a:rPr>
              <a:t>.1</a:t>
            </a:r>
            <a:endParaRPr lang="it-IT" sz="1600" noProof="0" dirty="0"/>
          </a:p>
        </p:txBody>
      </p:sp>
      <p:sp>
        <p:nvSpPr>
          <p:cNvPr id="515" name="Text 13"/>
          <p:cNvSpPr/>
          <p:nvPr/>
        </p:nvSpPr>
        <p:spPr>
          <a:xfrm>
            <a:off x="7378700" y="3689350"/>
            <a:ext cx="736600" cy="528320"/>
          </a:xfrm>
          <a:prstGeom prst="rect">
            <a:avLst/>
          </a:prstGeom>
          <a:noFill/>
          <a:ln/>
        </p:spPr>
        <p:txBody>
          <a:bodyPr wrap="square" lIns="0" tIns="0" rIns="0" bIns="0" rtlCol="0" anchor="t">
            <a:noAutofit/>
          </a:bodyPr>
          <a:lstStyle/>
          <a:p>
            <a:pPr marL="0" indent="0" algn="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a:p>
            <a:pPr marL="0" indent="0" algn="r">
              <a:lnSpc>
                <a:spcPts val="2000"/>
              </a:lnSpc>
              <a:buNone/>
            </a:pPr>
            <a:r>
              <a:rPr lang="it-IT" sz="1600" b="1" noProof="0" dirty="0">
                <a:solidFill>
                  <a:srgbClr val="2B6CA3"/>
                </a:solidFill>
                <a:latin typeface="JetBrains Mono" pitchFamily="49" charset="0"/>
                <a:ea typeface="JetBrains Mono" pitchFamily="49" charset="-122"/>
                <a:cs typeface="JetBrains Mono" pitchFamily="49" charset="-120"/>
              </a:rPr>
              <a:t>.254</a:t>
            </a:r>
            <a:endParaRPr lang="it-IT" sz="1600" noProof="0" dirty="0"/>
          </a:p>
        </p:txBody>
      </p:sp>
      <p:sp>
        <p:nvSpPr>
          <p:cNvPr id="516" name="Text 14"/>
          <p:cNvSpPr/>
          <p:nvPr/>
        </p:nvSpPr>
        <p:spPr>
          <a:xfrm>
            <a:off x="8915400" y="3689350"/>
            <a:ext cx="736600" cy="52832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eth1</a:t>
            </a:r>
            <a:endParaRPr lang="it-IT" sz="1600" noProof="0" dirty="0"/>
          </a:p>
          <a:p>
            <a:pPr marL="0" indent="0" algn="l">
              <a:lnSpc>
                <a:spcPts val="2000"/>
              </a:lnSpc>
              <a:buNone/>
            </a:pPr>
            <a:r>
              <a:rPr lang="it-IT" sz="1600" b="1" noProof="0" dirty="0">
                <a:solidFill>
                  <a:srgbClr val="2B6CA3"/>
                </a:solidFill>
                <a:latin typeface="JetBrains Mono" pitchFamily="49" charset="0"/>
                <a:ea typeface="JetBrains Mono" pitchFamily="49" charset="-122"/>
                <a:cs typeface="JetBrains Mono" pitchFamily="49" charset="-120"/>
              </a:rPr>
              <a:t>.254</a:t>
            </a:r>
            <a:endParaRPr lang="it-IT" sz="1600" noProof="0" dirty="0"/>
          </a:p>
        </p:txBody>
      </p:sp>
      <p:sp>
        <p:nvSpPr>
          <p:cNvPr id="517" name="Text 15"/>
          <p:cNvSpPr/>
          <p:nvPr/>
        </p:nvSpPr>
        <p:spPr>
          <a:xfrm>
            <a:off x="10375900" y="3689350"/>
            <a:ext cx="736600" cy="52832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endParaRPr lang="it-IT" sz="1600" noProof="0" dirty="0"/>
          </a:p>
          <a:p>
            <a:pPr marL="0" indent="0" algn="l">
              <a:lnSpc>
                <a:spcPts val="2000"/>
              </a:lnSpc>
              <a:buNone/>
            </a:pPr>
            <a:r>
              <a:rPr lang="it-IT" sz="1600" b="1" noProof="0" dirty="0">
                <a:solidFill>
                  <a:srgbClr val="2B6CA3"/>
                </a:solidFill>
                <a:latin typeface="JetBrains Mono" pitchFamily="49" charset="0"/>
                <a:ea typeface="JetBrains Mono" pitchFamily="49" charset="-122"/>
                <a:cs typeface="JetBrains Mono" pitchFamily="49" charset="-120"/>
              </a:rPr>
              <a:t>.1</a:t>
            </a:r>
            <a:endParaRPr lang="it-IT" sz="1600" noProof="0" dirty="0"/>
          </a:p>
        </p:txBody>
      </p:sp>
      <p:sp>
        <p:nvSpPr>
          <p:cNvPr id="518" name="Text 16"/>
          <p:cNvSpPr/>
          <p:nvPr/>
        </p:nvSpPr>
        <p:spPr>
          <a:xfrm>
            <a:off x="6235065" y="4552950"/>
            <a:ext cx="2223770" cy="581660"/>
          </a:xfrm>
          <a:prstGeom prst="rect">
            <a:avLst/>
          </a:prstGeom>
          <a:noFill/>
          <a:ln/>
        </p:spPr>
        <p:txBody>
          <a:bodyPr wrap="square" lIns="0" tIns="0" rIns="0" bIns="0" rtlCol="0" anchor="t">
            <a:noAutofit/>
          </a:bodyPr>
          <a:lstStyle/>
          <a:p>
            <a:pPr marL="0" indent="0" algn="ctr">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dominio A</a:t>
            </a:r>
            <a:endParaRPr lang="it-IT" sz="1800" noProof="0" dirty="0"/>
          </a:p>
          <a:p>
            <a:pPr marL="0" indent="0" algn="ctr">
              <a:lnSpc>
                <a:spcPts val="2380"/>
              </a:lnSpc>
              <a:buNone/>
            </a:pPr>
            <a:r>
              <a:rPr lang="it-IT" sz="1800" b="0" noProof="0" dirty="0">
                <a:solidFill>
                  <a:srgbClr val="5B5F66"/>
                </a:solidFill>
                <a:latin typeface="IBM Plex Sans" pitchFamily="34" charset="0"/>
                <a:ea typeface="IBM Plex Sans" pitchFamily="34" charset="-122"/>
                <a:cs typeface="IBM Plex Sans" pitchFamily="34" charset="-120"/>
              </a:rPr>
              <a:t>10.0.1.0/24</a:t>
            </a:r>
            <a:endParaRPr lang="it-IT" sz="1800" noProof="0" dirty="0"/>
          </a:p>
        </p:txBody>
      </p:sp>
      <p:sp>
        <p:nvSpPr>
          <p:cNvPr id="519" name="Text 17"/>
          <p:cNvSpPr/>
          <p:nvPr/>
        </p:nvSpPr>
        <p:spPr>
          <a:xfrm>
            <a:off x="8584565" y="4552950"/>
            <a:ext cx="2223770" cy="581660"/>
          </a:xfrm>
          <a:prstGeom prst="rect">
            <a:avLst/>
          </a:prstGeom>
          <a:noFill/>
          <a:ln/>
        </p:spPr>
        <p:txBody>
          <a:bodyPr wrap="square" lIns="0" tIns="0" rIns="0" bIns="0" rtlCol="0" anchor="t">
            <a:noAutofit/>
          </a:bodyPr>
          <a:lstStyle/>
          <a:p>
            <a:pPr marL="0" indent="0" algn="ctr">
              <a:lnSpc>
                <a:spcPts val="2380"/>
              </a:lnSpc>
              <a:buNone/>
            </a:pPr>
            <a:r>
              <a:rPr lang="it-IT" sz="1800" b="1" noProof="0" dirty="0">
                <a:solidFill>
                  <a:srgbClr val="1B1D20"/>
                </a:solidFill>
                <a:latin typeface="IBM Plex Sans" pitchFamily="34" charset="0"/>
                <a:ea typeface="IBM Plex Sans" pitchFamily="34" charset="-122"/>
                <a:cs typeface="IBM Plex Sans" pitchFamily="34" charset="-120"/>
              </a:rPr>
              <a:t>dominio B</a:t>
            </a:r>
            <a:endParaRPr lang="it-IT" sz="1800" noProof="0" dirty="0"/>
          </a:p>
          <a:p>
            <a:pPr marL="0" indent="0" algn="ctr">
              <a:lnSpc>
                <a:spcPts val="2380"/>
              </a:lnSpc>
              <a:buNone/>
            </a:pPr>
            <a:r>
              <a:rPr lang="it-IT" sz="1800" b="0" noProof="0" dirty="0">
                <a:solidFill>
                  <a:srgbClr val="5B5F66"/>
                </a:solidFill>
                <a:latin typeface="IBM Plex Sans" pitchFamily="34" charset="0"/>
                <a:ea typeface="IBM Plex Sans" pitchFamily="34" charset="-122"/>
                <a:cs typeface="IBM Plex Sans" pitchFamily="34" charset="-120"/>
              </a:rPr>
              <a:t>10.0.2.0/24</a:t>
            </a:r>
            <a:endParaRPr lang="it-IT" sz="1800" noProof="0" dirty="0"/>
          </a:p>
        </p:txBody>
      </p:sp>
    </p:spTree>
    <p:extLst>
      <p:ext uri="{BB962C8B-B14F-4D97-AF65-F5344CB8AC3E}">
        <p14:creationId xmlns:p14="http://schemas.microsoft.com/office/powerpoint/2010/main" val="4233357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Cosa fa kathara lstart</a:t>
            </a:r>
            <a:endParaRPr lang="it-IT" sz="4000" noProof="0" dirty="0"/>
          </a:p>
        </p:txBody>
      </p:sp>
      <p:sp>
        <p:nvSpPr>
          <p:cNvPr id="5" name="Shape 3"/>
          <p:cNvSpPr/>
          <p:nvPr/>
        </p:nvSpPr>
        <p:spPr>
          <a:xfrm>
            <a:off x="812800" y="2468879"/>
            <a:ext cx="1778000" cy="0"/>
          </a:xfrm>
          <a:prstGeom prst="line">
            <a:avLst/>
          </a:prstGeom>
          <a:noFill/>
          <a:ln w="38100">
            <a:solidFill>
              <a:srgbClr val="8A8F96"/>
            </a:solidFill>
            <a:prstDash val="solid"/>
          </a:ln>
        </p:spPr>
        <p:txBody>
          <a:bodyPr/>
          <a:lstStyle/>
          <a:p>
            <a:endParaRPr lang="it-IT" noProof="0" dirty="0"/>
          </a:p>
        </p:txBody>
      </p:sp>
      <p:sp>
        <p:nvSpPr>
          <p:cNvPr id="6" name="Text 4"/>
          <p:cNvSpPr/>
          <p:nvPr/>
        </p:nvSpPr>
        <p:spPr>
          <a:xfrm>
            <a:off x="812800" y="2614929"/>
            <a:ext cx="183134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utente</a:t>
            </a:r>
            <a:endParaRPr lang="it-IT" sz="1600" noProof="0" dirty="0"/>
          </a:p>
        </p:txBody>
      </p:sp>
      <p:sp>
        <p:nvSpPr>
          <p:cNvPr id="7" name="Text 5"/>
          <p:cNvSpPr/>
          <p:nvPr/>
        </p:nvSpPr>
        <p:spPr>
          <a:xfrm>
            <a:off x="812800" y="2879092"/>
            <a:ext cx="1831340"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1B1D20"/>
                </a:solidFill>
                <a:latin typeface="JetBrains Mono" pitchFamily="49" charset="0"/>
                <a:ea typeface="JetBrains Mono" pitchFamily="49" charset="-122"/>
                <a:cs typeface="JetBrains Mono" pitchFamily="49" charset="-120"/>
              </a:rPr>
              <a:t>kathara </a:t>
            </a:r>
            <a:r>
              <a:rPr lang="it-IT" sz="1600" noProof="0" dirty="0" err="1">
                <a:solidFill>
                  <a:srgbClr val="1B1D20"/>
                </a:solidFill>
                <a:latin typeface="JetBrains Mono" pitchFamily="49" charset="0"/>
                <a:ea typeface="JetBrains Mono" pitchFamily="49" charset="-122"/>
                <a:cs typeface="JetBrains Mono" pitchFamily="49" charset="-120"/>
              </a:rPr>
              <a:t>lstart</a:t>
            </a:r>
            <a:endParaRPr lang="it-IT" sz="1600" noProof="0" dirty="0"/>
          </a:p>
        </p:txBody>
      </p:sp>
      <p:sp>
        <p:nvSpPr>
          <p:cNvPr id="8" name="Text 6"/>
          <p:cNvSpPr/>
          <p:nvPr/>
        </p:nvSpPr>
        <p:spPr>
          <a:xfrm>
            <a:off x="812800" y="3196592"/>
            <a:ext cx="1831340"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o le API Python</a:t>
            </a:r>
            <a:endParaRPr lang="it-IT" sz="1600" noProof="0" dirty="0"/>
          </a:p>
        </p:txBody>
      </p:sp>
      <p:pic>
        <p:nvPicPr>
          <p:cNvPr id="9" name="Image 0" descr="arrow-right"/>
          <p:cNvPicPr>
            <a:picLocks noChangeAspect="1"/>
          </p:cNvPicPr>
          <p:nvPr/>
        </p:nvPicPr>
        <p:blipFill>
          <a:blip r:embed="rId3"/>
          <a:srcRect/>
          <a:stretch/>
        </p:blipFill>
        <p:spPr>
          <a:xfrm>
            <a:off x="2692400" y="2867657"/>
            <a:ext cx="355600" cy="177800"/>
          </a:xfrm>
          <a:prstGeom prst="rect">
            <a:avLst/>
          </a:prstGeom>
        </p:spPr>
      </p:pic>
      <p:sp>
        <p:nvSpPr>
          <p:cNvPr id="10" name="Shape 7"/>
          <p:cNvSpPr/>
          <p:nvPr/>
        </p:nvSpPr>
        <p:spPr>
          <a:xfrm>
            <a:off x="3149600" y="1813557"/>
            <a:ext cx="2159000" cy="2286000"/>
          </a:xfrm>
          <a:prstGeom prst="rect">
            <a:avLst/>
          </a:prstGeom>
          <a:solidFill>
            <a:srgbClr val="1B1D20"/>
          </a:solidFill>
          <a:ln/>
        </p:spPr>
        <p:txBody>
          <a:bodyPr/>
          <a:lstStyle/>
          <a:p>
            <a:endParaRPr lang="it-IT" noProof="0" dirty="0"/>
          </a:p>
        </p:txBody>
      </p:sp>
      <p:sp>
        <p:nvSpPr>
          <p:cNvPr id="11" name="Text 8"/>
          <p:cNvSpPr/>
          <p:nvPr/>
        </p:nvSpPr>
        <p:spPr>
          <a:xfrm>
            <a:off x="3327400" y="1991357"/>
            <a:ext cx="1857502"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err="1">
                <a:solidFill>
                  <a:srgbClr val="E1D368"/>
                </a:solidFill>
                <a:latin typeface="JetBrains Mono" pitchFamily="49" charset="0"/>
                <a:ea typeface="JetBrains Mono" pitchFamily="49" charset="-122"/>
                <a:cs typeface="JetBrains Mono" pitchFamily="49" charset="-120"/>
              </a:rPr>
              <a:t>kathará</a:t>
            </a:r>
            <a:endParaRPr lang="it-IT" sz="1600" noProof="0" dirty="0"/>
          </a:p>
        </p:txBody>
      </p:sp>
      <p:sp>
        <p:nvSpPr>
          <p:cNvPr id="12" name="Text 9"/>
          <p:cNvSpPr/>
          <p:nvPr/>
        </p:nvSpPr>
        <p:spPr>
          <a:xfrm>
            <a:off x="3327400" y="2280920"/>
            <a:ext cx="1857502" cy="1092200"/>
          </a:xfrm>
          <a:prstGeom prst="rect">
            <a:avLst/>
          </a:prstGeom>
          <a:noFill/>
          <a:ln/>
        </p:spPr>
        <p:txBody>
          <a:bodyPr wrap="square" lIns="0" tIns="0" rIns="0" bIns="0" rtlCol="0" anchor="t">
            <a:normAutofit fontScale="85000" lnSpcReduction="10000"/>
          </a:bodyPr>
          <a:lstStyle/>
          <a:p>
            <a:pPr marL="0" indent="0" algn="l">
              <a:lnSpc>
                <a:spcPts val="2100"/>
              </a:lnSpc>
              <a:buNone/>
            </a:pPr>
            <a:r>
              <a:rPr lang="it-IT" sz="1600" noProof="0" dirty="0" err="1">
                <a:solidFill>
                  <a:srgbClr val="F2F1EC"/>
                </a:solidFill>
                <a:latin typeface="IBM Plex Sans" pitchFamily="34" charset="0"/>
                <a:ea typeface="IBM Plex Sans" pitchFamily="34" charset="-122"/>
                <a:cs typeface="IBM Plex Sans" pitchFamily="34" charset="-120"/>
              </a:rPr>
              <a:t>Parsing</a:t>
            </a:r>
            <a:r>
              <a:rPr lang="it-IT" sz="1600" noProof="0" dirty="0">
                <a:solidFill>
                  <a:srgbClr val="F2F1EC"/>
                </a:solidFill>
                <a:latin typeface="IBM Plex Sans" pitchFamily="34" charset="0"/>
                <a:ea typeface="IBM Plex Sans" pitchFamily="34" charset="-122"/>
                <a:cs typeface="IBM Plex Sans" pitchFamily="34" charset="-120"/>
              </a:rPr>
              <a:t> delle configurazioni e creazione degli oggetti nell’ordine corretto</a:t>
            </a:r>
            <a:endParaRPr lang="it-IT" sz="1600" noProof="0" dirty="0"/>
          </a:p>
        </p:txBody>
      </p:sp>
      <p:sp>
        <p:nvSpPr>
          <p:cNvPr id="13" name="Text 10"/>
          <p:cNvSpPr/>
          <p:nvPr/>
        </p:nvSpPr>
        <p:spPr>
          <a:xfrm>
            <a:off x="3327400" y="3423920"/>
            <a:ext cx="1857502" cy="5232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B9BDC3"/>
                </a:solidFill>
                <a:latin typeface="IBM Plex Sans" pitchFamily="34" charset="0"/>
                <a:ea typeface="IBM Plex Sans" pitchFamily="34" charset="-122"/>
                <a:cs typeface="IBM Plex Sans" pitchFamily="34" charset="-120"/>
              </a:rPr>
              <a:t>Docker SDK per Python</a:t>
            </a:r>
            <a:endParaRPr lang="it-IT" sz="1600" noProof="0" dirty="0"/>
          </a:p>
        </p:txBody>
      </p:sp>
      <p:pic>
        <p:nvPicPr>
          <p:cNvPr id="14" name="Image 1" descr="arrow-right"/>
          <p:cNvPicPr>
            <a:picLocks noChangeAspect="1"/>
          </p:cNvPicPr>
          <p:nvPr/>
        </p:nvPicPr>
        <p:blipFill>
          <a:blip r:embed="rId3"/>
          <a:srcRect/>
          <a:stretch/>
        </p:blipFill>
        <p:spPr>
          <a:xfrm>
            <a:off x="5410200" y="2867657"/>
            <a:ext cx="355600" cy="177800"/>
          </a:xfrm>
          <a:prstGeom prst="rect">
            <a:avLst/>
          </a:prstGeom>
        </p:spPr>
      </p:pic>
      <p:sp>
        <p:nvSpPr>
          <p:cNvPr id="15" name="Shape 11"/>
          <p:cNvSpPr/>
          <p:nvPr/>
        </p:nvSpPr>
        <p:spPr>
          <a:xfrm>
            <a:off x="5873750" y="2094229"/>
            <a:ext cx="1892300" cy="1724660"/>
          </a:xfrm>
          <a:prstGeom prst="rect">
            <a:avLst/>
          </a:prstGeom>
          <a:noFill/>
          <a:ln w="12700">
            <a:solidFill>
              <a:srgbClr val="1B1D20"/>
            </a:solidFill>
            <a:prstDash val="solid"/>
          </a:ln>
        </p:spPr>
        <p:txBody>
          <a:bodyPr/>
          <a:lstStyle/>
          <a:p>
            <a:endParaRPr lang="it-IT" noProof="0" dirty="0"/>
          </a:p>
        </p:txBody>
      </p:sp>
      <p:sp>
        <p:nvSpPr>
          <p:cNvPr id="16" name="Text 12"/>
          <p:cNvSpPr/>
          <p:nvPr/>
        </p:nvSpPr>
        <p:spPr>
          <a:xfrm>
            <a:off x="6032500" y="2278379"/>
            <a:ext cx="162560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err="1">
                <a:solidFill>
                  <a:srgbClr val="5B5F66"/>
                </a:solidFill>
                <a:latin typeface="JetBrains Mono" pitchFamily="49" charset="0"/>
                <a:ea typeface="JetBrains Mono" pitchFamily="49" charset="-122"/>
                <a:cs typeface="JetBrains Mono" pitchFamily="49" charset="-120"/>
              </a:rPr>
              <a:t>docker</a:t>
            </a:r>
            <a:r>
              <a:rPr lang="it-IT" sz="1600" noProof="0" dirty="0">
                <a:solidFill>
                  <a:srgbClr val="5B5F66"/>
                </a:solidFill>
                <a:latin typeface="JetBrains Mono" pitchFamily="49" charset="0"/>
                <a:ea typeface="JetBrains Mono" pitchFamily="49" charset="-122"/>
                <a:cs typeface="JetBrains Mono" pitchFamily="49" charset="-120"/>
              </a:rPr>
              <a:t> </a:t>
            </a:r>
            <a:r>
              <a:rPr lang="it-IT" sz="1600" noProof="0" dirty="0" err="1">
                <a:solidFill>
                  <a:srgbClr val="5B5F66"/>
                </a:solidFill>
                <a:latin typeface="JetBrains Mono" pitchFamily="49" charset="0"/>
                <a:ea typeface="JetBrains Mono" pitchFamily="49" charset="-122"/>
                <a:cs typeface="JetBrains Mono" pitchFamily="49" charset="-120"/>
              </a:rPr>
              <a:t>engine</a:t>
            </a:r>
            <a:endParaRPr lang="it-IT" sz="1600" noProof="0" dirty="0"/>
          </a:p>
        </p:txBody>
      </p:sp>
      <p:sp>
        <p:nvSpPr>
          <p:cNvPr id="17" name="Text 13"/>
          <p:cNvSpPr/>
          <p:nvPr/>
        </p:nvSpPr>
        <p:spPr>
          <a:xfrm>
            <a:off x="6032500" y="2567942"/>
            <a:ext cx="1625600" cy="1092200"/>
          </a:xfrm>
          <a:prstGeom prst="rect">
            <a:avLst/>
          </a:prstGeom>
          <a:noFill/>
          <a:ln/>
        </p:spPr>
        <p:txBody>
          <a:bodyPr wrap="square" lIns="0" tIns="0" rIns="0" bIns="0" rtlCol="0" anchor="t">
            <a:normAutofit/>
          </a:bodyPr>
          <a:lstStyle/>
          <a:p>
            <a:pPr marL="0" indent="0" algn="l">
              <a:lnSpc>
                <a:spcPts val="2100"/>
              </a:lnSpc>
              <a:buNone/>
            </a:pPr>
            <a:r>
              <a:rPr lang="it-IT" sz="1600" noProof="0" dirty="0" err="1">
                <a:solidFill>
                  <a:srgbClr val="1B1D20"/>
                </a:solidFill>
                <a:latin typeface="IBM Plex Sans" pitchFamily="34" charset="0"/>
                <a:ea typeface="IBM Plex Sans" pitchFamily="34" charset="-122"/>
                <a:cs typeface="IBM Plex Sans" pitchFamily="34" charset="-120"/>
              </a:rPr>
              <a:t>dockerd</a:t>
            </a:r>
            <a:r>
              <a:rPr lang="it-IT" sz="1600" noProof="0" dirty="0">
                <a:solidFill>
                  <a:srgbClr val="1B1D20"/>
                </a:solidFill>
                <a:latin typeface="IBM Plex Sans" pitchFamily="34" charset="0"/>
                <a:ea typeface="IBM Plex Sans" pitchFamily="34" charset="-122"/>
                <a:cs typeface="IBM Plex Sans" pitchFamily="34" charset="-120"/>
              </a:rPr>
              <a:t> crea container e network e invoca i network plugin</a:t>
            </a:r>
            <a:endParaRPr lang="it-IT" sz="1600" noProof="0" dirty="0"/>
          </a:p>
        </p:txBody>
      </p:sp>
      <p:pic>
        <p:nvPicPr>
          <p:cNvPr id="18" name="Image 2" descr="arrow-right"/>
          <p:cNvPicPr>
            <a:picLocks noChangeAspect="1"/>
          </p:cNvPicPr>
          <p:nvPr/>
        </p:nvPicPr>
        <p:blipFill>
          <a:blip r:embed="rId3"/>
          <a:srcRect/>
          <a:stretch/>
        </p:blipFill>
        <p:spPr>
          <a:xfrm>
            <a:off x="7874000" y="2867657"/>
            <a:ext cx="355600" cy="177800"/>
          </a:xfrm>
          <a:prstGeom prst="rect">
            <a:avLst/>
          </a:prstGeom>
        </p:spPr>
      </p:pic>
      <p:sp>
        <p:nvSpPr>
          <p:cNvPr id="19" name="Shape 14"/>
          <p:cNvSpPr/>
          <p:nvPr/>
        </p:nvSpPr>
        <p:spPr>
          <a:xfrm>
            <a:off x="8340725" y="1858645"/>
            <a:ext cx="3028950" cy="1037590"/>
          </a:xfrm>
          <a:prstGeom prst="rect">
            <a:avLst/>
          </a:prstGeom>
          <a:solidFill>
            <a:srgbClr val="60A5E3"/>
          </a:solidFill>
          <a:ln w="19050">
            <a:solidFill>
              <a:srgbClr val="1B1D20"/>
            </a:solidFill>
            <a:prstDash val="solid"/>
          </a:ln>
        </p:spPr>
        <p:txBody>
          <a:bodyPr/>
          <a:lstStyle/>
          <a:p>
            <a:endParaRPr lang="it-IT" noProof="0" dirty="0"/>
          </a:p>
        </p:txBody>
      </p:sp>
      <p:sp>
        <p:nvSpPr>
          <p:cNvPr id="20" name="Text 15"/>
          <p:cNvSpPr/>
          <p:nvPr/>
        </p:nvSpPr>
        <p:spPr>
          <a:xfrm>
            <a:off x="8502650" y="1995170"/>
            <a:ext cx="2786253"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Container</a:t>
            </a:r>
            <a:endParaRPr lang="it-IT" sz="1800" noProof="0" dirty="0"/>
          </a:p>
        </p:txBody>
      </p:sp>
      <p:sp>
        <p:nvSpPr>
          <p:cNvPr id="21" name="Text 16"/>
          <p:cNvSpPr/>
          <p:nvPr/>
        </p:nvSpPr>
        <p:spPr>
          <a:xfrm>
            <a:off x="8502650" y="2279650"/>
            <a:ext cx="2786253" cy="50546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uno per dispositivo, dall’immagine indicata</a:t>
            </a:r>
            <a:endParaRPr lang="it-IT" sz="1600" noProof="0" dirty="0"/>
          </a:p>
        </p:txBody>
      </p:sp>
      <p:sp>
        <p:nvSpPr>
          <p:cNvPr id="22" name="Shape 17"/>
          <p:cNvSpPr/>
          <p:nvPr/>
        </p:nvSpPr>
        <p:spPr>
          <a:xfrm>
            <a:off x="8340725" y="3016882"/>
            <a:ext cx="3028950" cy="1037590"/>
          </a:xfrm>
          <a:prstGeom prst="rect">
            <a:avLst/>
          </a:prstGeom>
          <a:solidFill>
            <a:srgbClr val="A8DC6E"/>
          </a:solidFill>
          <a:ln w="19050">
            <a:solidFill>
              <a:srgbClr val="1B1D20"/>
            </a:solidFill>
            <a:prstDash val="solid"/>
          </a:ln>
        </p:spPr>
        <p:txBody>
          <a:bodyPr/>
          <a:lstStyle/>
          <a:p>
            <a:endParaRPr lang="it-IT" noProof="0" dirty="0"/>
          </a:p>
        </p:txBody>
      </p:sp>
      <p:sp>
        <p:nvSpPr>
          <p:cNvPr id="23" name="Text 18"/>
          <p:cNvSpPr/>
          <p:nvPr/>
        </p:nvSpPr>
        <p:spPr>
          <a:xfrm>
            <a:off x="8502650" y="3153407"/>
            <a:ext cx="2786253"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Network</a:t>
            </a:r>
            <a:endParaRPr lang="it-IT" sz="1800" noProof="0" dirty="0"/>
          </a:p>
        </p:txBody>
      </p:sp>
      <p:sp>
        <p:nvSpPr>
          <p:cNvPr id="24" name="Text 19"/>
          <p:cNvSpPr/>
          <p:nvPr/>
        </p:nvSpPr>
        <p:spPr>
          <a:xfrm>
            <a:off x="8502650" y="3437892"/>
            <a:ext cx="2786253" cy="50546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una per dominio di collisione</a:t>
            </a:r>
            <a:endParaRPr lang="it-IT" sz="1600" noProof="0" dirty="0"/>
          </a:p>
        </p:txBody>
      </p:sp>
      <p:cxnSp>
        <p:nvCxnSpPr>
          <p:cNvPr id="60" name="Rule"/>
          <p:cNvCxnSpPr/>
          <p:nvPr/>
        </p:nvCxnSpPr>
        <p:spPr>
          <a:xfrm>
            <a:off x="812800" y="4267200"/>
            <a:ext cx="10566400" cy="0"/>
          </a:xfrm>
          <a:prstGeom prst="line">
            <a:avLst/>
          </a:prstGeom>
          <a:ln w="12700">
            <a:solidFill>
              <a:srgbClr val="E1E0DD"/>
            </a:solidFill>
          </a:ln>
        </p:spPr>
      </p:cxnSp>
      <p:sp>
        <p:nvSpPr>
          <p:cNvPr id="61" name="Step 62"/>
          <p:cNvSpPr txBox="1"/>
          <p:nvPr/>
        </p:nvSpPr>
        <p:spPr>
          <a:xfrm>
            <a:off x="3149600" y="4394200"/>
            <a:ext cx="2603500" cy="508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01  </a:t>
            </a:r>
            <a:r>
              <a:rPr lang="it-IT" sz="1600" b="1" noProof="0" dirty="0">
                <a:solidFill>
                  <a:srgbClr val="1B1D20"/>
                </a:solidFill>
                <a:latin typeface="IBM Plex Sans" pitchFamily="34" charset="0"/>
                <a:ea typeface="IBM Plex Sans" pitchFamily="34" charset="-122"/>
                <a:cs typeface="IBM Plex Sans" pitchFamily="34" charset="-120"/>
              </a:rPr>
              <a:t>Parsing</a:t>
            </a:r>
          </a:p>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lab.conf</a:t>
            </a:r>
            <a:r>
              <a:rPr lang="it-IT" sz="1600" noProof="0" dirty="0">
                <a:solidFill>
                  <a:srgbClr val="5B5F66"/>
                </a:solidFill>
                <a:latin typeface="IBM Plex Sans" pitchFamily="34" charset="0"/>
                <a:ea typeface="IBM Plex Sans" pitchFamily="34" charset="-122"/>
                <a:cs typeface="IBM Plex Sans" pitchFamily="34" charset="-120"/>
              </a:rPr>
              <a:t> e </a:t>
            </a:r>
            <a:r>
              <a:rPr lang="it-IT" sz="1600" noProof="0" dirty="0">
                <a:solidFill>
                  <a:srgbClr val="5B5F66"/>
                </a:solidFill>
                <a:latin typeface="JetBrains Mono" pitchFamily="49" charset="0"/>
                <a:ea typeface="JetBrains Mono" pitchFamily="49" charset="-122"/>
                <a:cs typeface="JetBrains Mono" pitchFamily="49" charset="-120"/>
              </a:rPr>
              <a:t>.startup</a:t>
            </a:r>
          </a:p>
        </p:txBody>
      </p:sp>
      <p:sp>
        <p:nvSpPr>
          <p:cNvPr id="62" name="Step 63"/>
          <p:cNvSpPr txBox="1"/>
          <p:nvPr/>
        </p:nvSpPr>
        <p:spPr>
          <a:xfrm>
            <a:off x="5880100" y="4394200"/>
            <a:ext cx="1892300" cy="508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02  </a:t>
            </a:r>
            <a:r>
              <a:rPr lang="it-IT" sz="1600" b="1" noProof="0" dirty="0">
                <a:solidFill>
                  <a:srgbClr val="1B1D20"/>
                </a:solidFill>
                <a:latin typeface="IBM Plex Sans" pitchFamily="34" charset="0"/>
                <a:ea typeface="IBM Plex Sans" pitchFamily="34" charset="-122"/>
                <a:cs typeface="IBM Plex Sans" pitchFamily="34" charset="-120"/>
              </a:rPr>
              <a:t>Network</a:t>
            </a:r>
          </a:p>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una per dominio</a:t>
            </a:r>
          </a:p>
        </p:txBody>
      </p:sp>
      <p:sp>
        <p:nvSpPr>
          <p:cNvPr id="63" name="Step 64"/>
          <p:cNvSpPr txBox="1"/>
          <p:nvPr/>
        </p:nvSpPr>
        <p:spPr>
          <a:xfrm>
            <a:off x="5880100" y="4927600"/>
            <a:ext cx="1892300" cy="508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03  </a:t>
            </a:r>
            <a:r>
              <a:rPr lang="it-IT" sz="1600" b="1" noProof="0" dirty="0">
                <a:solidFill>
                  <a:srgbClr val="1B1D20"/>
                </a:solidFill>
                <a:latin typeface="IBM Plex Sans" pitchFamily="34" charset="0"/>
                <a:ea typeface="IBM Plex Sans" pitchFamily="34" charset="-122"/>
                <a:cs typeface="IBM Plex Sans" pitchFamily="34" charset="-120"/>
              </a:rPr>
              <a:t>Container</a:t>
            </a:r>
          </a:p>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uno per dispositivo</a:t>
            </a:r>
          </a:p>
        </p:txBody>
      </p:sp>
      <p:sp>
        <p:nvSpPr>
          <p:cNvPr id="64" name="Step 65"/>
          <p:cNvSpPr txBox="1"/>
          <p:nvPr/>
        </p:nvSpPr>
        <p:spPr>
          <a:xfrm>
            <a:off x="8343900" y="4394200"/>
            <a:ext cx="3035300" cy="508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04  </a:t>
            </a:r>
            <a:r>
              <a:rPr lang="it-IT" sz="1600" b="1" noProof="0" dirty="0">
                <a:solidFill>
                  <a:srgbClr val="1B1D20"/>
                </a:solidFill>
                <a:latin typeface="IBM Plex Sans" pitchFamily="34" charset="0"/>
                <a:ea typeface="IBM Plex Sans" pitchFamily="34" charset="-122"/>
                <a:cs typeface="IBM Plex Sans" pitchFamily="34" charset="-120"/>
              </a:rPr>
              <a:t>Interfacce</a:t>
            </a:r>
          </a:p>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eth0</a:t>
            </a:r>
            <a:r>
              <a:rPr lang="it-IT" sz="1600" noProof="0" dirty="0">
                <a:solidFill>
                  <a:srgbClr val="5B5F66"/>
                </a:solidFill>
                <a:latin typeface="IBM Plex Sans" pitchFamily="34" charset="0"/>
                <a:ea typeface="IBM Plex Sans" pitchFamily="34" charset="-122"/>
                <a:cs typeface="IBM Plex Sans" pitchFamily="34" charset="-120"/>
              </a:rPr>
              <a:t>, </a:t>
            </a:r>
            <a:r>
              <a:rPr lang="it-IT" sz="1600" noProof="0" dirty="0">
                <a:solidFill>
                  <a:srgbClr val="5B5F66"/>
                </a:solidFill>
                <a:latin typeface="JetBrains Mono" pitchFamily="49" charset="0"/>
                <a:ea typeface="JetBrains Mono" pitchFamily="49" charset="-122"/>
                <a:cs typeface="JetBrains Mono" pitchFamily="49" charset="-120"/>
              </a:rPr>
              <a:t>eth1</a:t>
            </a:r>
            <a:r>
              <a:rPr lang="it-IT" sz="1600" noProof="0" dirty="0">
                <a:solidFill>
                  <a:srgbClr val="5B5F66"/>
                </a:solidFill>
                <a:latin typeface="IBM Plex Sans" pitchFamily="34" charset="0"/>
                <a:ea typeface="IBM Plex Sans" pitchFamily="34" charset="-122"/>
                <a:cs typeface="IBM Plex Sans" pitchFamily="34" charset="-120"/>
              </a:rPr>
              <a:t>… nel netns</a:t>
            </a:r>
          </a:p>
        </p:txBody>
      </p:sp>
      <p:sp>
        <p:nvSpPr>
          <p:cNvPr id="65" name="Step 66"/>
          <p:cNvSpPr txBox="1"/>
          <p:nvPr/>
        </p:nvSpPr>
        <p:spPr>
          <a:xfrm>
            <a:off x="8343900" y="4927600"/>
            <a:ext cx="3035300" cy="508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05  </a:t>
            </a:r>
            <a:r>
              <a:rPr lang="it-IT" sz="1600" b="1" noProof="0" dirty="0">
                <a:solidFill>
                  <a:srgbClr val="1B1D20"/>
                </a:solidFill>
                <a:latin typeface="IBM Plex Sans" pitchFamily="34" charset="0"/>
                <a:ea typeface="IBM Plex Sans" pitchFamily="34" charset="-122"/>
                <a:cs typeface="IBM Plex Sans" pitchFamily="34" charset="-120"/>
              </a:rPr>
              <a:t>Boot</a:t>
            </a:r>
          </a:p>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copia i file, esegue </a:t>
            </a:r>
            <a:r>
              <a:rPr lang="it-IT" sz="1600" noProof="0" dirty="0">
                <a:solidFill>
                  <a:srgbClr val="5B5F66"/>
                </a:solidFill>
                <a:latin typeface="JetBrains Mono" pitchFamily="49" charset="0"/>
                <a:ea typeface="JetBrains Mono" pitchFamily="49" charset="-122"/>
                <a:cs typeface="JetBrains Mono" pitchFamily="49" charset="-120"/>
              </a:rPr>
              <a:t>.startup</a:t>
            </a:r>
          </a:p>
        </p:txBody>
      </p:sp>
      <p:sp>
        <p:nvSpPr>
          <p:cNvPr id="66" name="Step 67"/>
          <p:cNvSpPr txBox="1"/>
          <p:nvPr/>
        </p:nvSpPr>
        <p:spPr>
          <a:xfrm>
            <a:off x="8343900" y="5461000"/>
            <a:ext cx="3035300" cy="508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06  </a:t>
            </a:r>
            <a:r>
              <a:rPr lang="it-IT" sz="1600" b="1" noProof="0" dirty="0">
                <a:solidFill>
                  <a:srgbClr val="1B1D20"/>
                </a:solidFill>
                <a:latin typeface="IBM Plex Sans" pitchFamily="34" charset="0"/>
                <a:ea typeface="IBM Plex Sans" pitchFamily="34" charset="-122"/>
                <a:cs typeface="IBM Plex Sans" pitchFamily="34" charset="-120"/>
              </a:rPr>
              <a:t>Terminali</a:t>
            </a:r>
          </a:p>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uno per dispositivo, poi </a:t>
            </a:r>
            <a:r>
              <a:rPr lang="it-IT" sz="1600" noProof="0" dirty="0">
                <a:solidFill>
                  <a:srgbClr val="5B5F66"/>
                </a:solidFill>
                <a:latin typeface="JetBrains Mono" pitchFamily="49" charset="0"/>
                <a:ea typeface="JetBrains Mono" pitchFamily="34" charset="-122"/>
                <a:cs typeface="JetBrains Mono" pitchFamily="34" charset="-120"/>
              </a:rPr>
              <a:t>connect</a:t>
            </a:r>
          </a:p>
        </p:txBody>
      </p:sp>
      <p:sp>
        <p:nvSpPr>
          <p:cNvPr id="67" name="Step 68"/>
          <p:cNvSpPr txBox="1"/>
          <p:nvPr/>
        </p:nvSpPr>
        <p:spPr>
          <a:xfrm>
            <a:off x="812800" y="4394200"/>
            <a:ext cx="2235200" cy="1143000"/>
          </a:xfrm>
          <a:prstGeom prst="rect">
            <a:avLst/>
          </a:prstGeom>
          <a:noFill/>
          <a:ln/>
        </p:spPr>
        <p:txBody>
          <a:bodyPr wrap="square" lIns="0" tIns="0" rIns="0" bIns="0" rtlCol="0" anchor="t">
            <a:noAutofit/>
          </a:bodyPr>
          <a:lstStyle/>
          <a:p>
            <a:pPr marL="0" indent="0" algn="l">
              <a:lnSpc>
                <a:spcPts val="2000"/>
              </a:lnSpc>
              <a:buNone/>
            </a:pPr>
            <a:r>
              <a:rPr lang="it-IT" sz="1600" b="1" noProof="0" dirty="0">
                <a:solidFill>
                  <a:srgbClr val="1B1D20"/>
                </a:solidFill>
                <a:latin typeface="JetBrains Mono" pitchFamily="49" charset="0"/>
                <a:ea typeface="JetBrains Mono" pitchFamily="49" charset="-122"/>
                <a:cs typeface="JetBrains Mono" pitchFamily="49" charset="-120"/>
              </a:rPr>
              <a:t>kathara lclean</a:t>
            </a:r>
          </a:p>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percorso inverso: rimuove container e network</a:t>
            </a:r>
          </a:p>
        </p:txBody>
      </p:sp>
    </p:spTree>
    <p:extLst>
      <p:ext uri="{BB962C8B-B14F-4D97-AF65-F5344CB8AC3E}">
        <p14:creationId xmlns:p14="http://schemas.microsoft.com/office/powerpoint/2010/main" val="676575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FFFFF">
            <a:alpha val="100000"/>
          </a:srgbClr>
        </a:solidFill>
        <a:effectLst/>
      </p:bgPr>
    </p:bg>
    <p:spTree>
      <p:nvGrpSpPr>
        <p:cNvPr id="1" name=""/>
        <p:cNvGrpSpPr/>
        <p:nvPr/>
      </p:nvGrpSpPr>
      <p:grpSpPr>
        <a:xfrm>
          <a:off x="0" y="0"/>
          <a:ext cx="0" cy="0"/>
          <a:chOff x="0" y="0"/>
          <a:chExt cx="0" cy="0"/>
        </a:xfrm>
      </p:grpSpPr>
      <p:sp>
        <p:nvSpPr>
          <p:cNvPr id="7" name="Shape 409">
            <a:extLst>
              <a:ext uri="{FF2B5EF4-FFF2-40B4-BE49-F238E27FC236}">
                <a16:creationId xmlns:a16="http://schemas.microsoft.com/office/drawing/2014/main" id="{398711C4-F270-550A-C5A3-79D4808DC39C}"/>
              </a:ext>
            </a:extLst>
          </p:cNvPr>
          <p:cNvSpPr/>
          <p:nvPr/>
        </p:nvSpPr>
        <p:spPr>
          <a:xfrm>
            <a:off x="495301" y="2540000"/>
            <a:ext cx="2120900" cy="2514600"/>
          </a:xfrm>
          <a:prstGeom prst="rect">
            <a:avLst/>
          </a:prstGeom>
          <a:solidFill>
            <a:schemeClr val="bg1"/>
          </a:solidFill>
          <a:ln w="12700">
            <a:solidFill>
              <a:srgbClr val="1B1D20"/>
            </a:solidFill>
          </a:ln>
        </p:spPr>
        <p:txBody>
          <a:bodyPr wrap="square" lIns="0" tIns="0" rIns="0" bIns="0" rtlCol="0" anchor="t">
            <a:noAutofit/>
          </a:bodyPr>
          <a:lstStyle/>
          <a:p>
            <a:endParaRPr lang="it-IT" dirty="0"/>
          </a:p>
        </p:txBody>
      </p:sp>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Cosa fa kathara lstart</a:t>
            </a:r>
            <a:endParaRPr lang="it-IT" sz="4000" noProof="0" dirty="0"/>
          </a:p>
        </p:txBody>
      </p:sp>
      <p:pic>
        <p:nvPicPr>
          <p:cNvPr id="9" name="Image 0" descr="arrow-right"/>
          <p:cNvPicPr>
            <a:picLocks noChangeAspect="1"/>
          </p:cNvPicPr>
          <p:nvPr/>
        </p:nvPicPr>
        <p:blipFill>
          <a:blip r:embed="rId3"/>
          <a:srcRect/>
          <a:stretch/>
        </p:blipFill>
        <p:spPr>
          <a:xfrm>
            <a:off x="2743200" y="3721100"/>
            <a:ext cx="355600" cy="177800"/>
          </a:xfrm>
          <a:prstGeom prst="rect">
            <a:avLst/>
          </a:prstGeom>
        </p:spPr>
      </p:pic>
      <p:pic>
        <p:nvPicPr>
          <p:cNvPr id="14" name="Image 1" descr="arrow-right"/>
          <p:cNvPicPr>
            <a:picLocks noChangeAspect="1"/>
          </p:cNvPicPr>
          <p:nvPr/>
        </p:nvPicPr>
        <p:blipFill>
          <a:blip r:embed="rId3"/>
          <a:srcRect/>
          <a:stretch/>
        </p:blipFill>
        <p:spPr>
          <a:xfrm>
            <a:off x="5410200" y="3721100"/>
            <a:ext cx="355600" cy="177800"/>
          </a:xfrm>
          <a:prstGeom prst="rect">
            <a:avLst/>
          </a:prstGeom>
        </p:spPr>
      </p:pic>
      <p:pic>
        <p:nvPicPr>
          <p:cNvPr id="18" name="Image 2" descr="arrow-right"/>
          <p:cNvPicPr>
            <a:picLocks noChangeAspect="1"/>
          </p:cNvPicPr>
          <p:nvPr/>
        </p:nvPicPr>
        <p:blipFill>
          <a:blip r:embed="rId3"/>
          <a:srcRect/>
          <a:stretch/>
        </p:blipFill>
        <p:spPr>
          <a:xfrm>
            <a:off x="8255000" y="3721100"/>
            <a:ext cx="355600" cy="177800"/>
          </a:xfrm>
          <a:prstGeom prst="rect">
            <a:avLst/>
          </a:prstGeom>
        </p:spPr>
      </p:pic>
      <p:sp>
        <p:nvSpPr>
          <p:cNvPr id="402" name="Shape 403"/>
          <p:cNvSpPr/>
          <p:nvPr/>
        </p:nvSpPr>
        <p:spPr>
          <a:xfrm>
            <a:off x="609600" y="2195835"/>
            <a:ext cx="1778000" cy="304800"/>
          </a:xfrm>
          <a:prstGeom prst="rect">
            <a:avLst/>
          </a:prstGeom>
          <a:noFill/>
          <a:ln>
            <a:noFill/>
          </a:ln>
        </p:spPr>
        <p:txBody>
          <a:bodyPr wrap="square" lIns="0" tIns="0" rIns="0" bIns="0" rtlCol="0" anchor="t">
            <a:noAutofit/>
          </a:bodyPr>
          <a:lstStyle/>
          <a:p>
            <a:pPr marL="0" indent="0" algn="l">
              <a:buNone/>
            </a:pPr>
            <a:r>
              <a:rPr lang="it-IT" sz="1600" noProof="0" dirty="0">
                <a:latin typeface="JetBrains Mono" pitchFamily="49" charset="0"/>
                <a:ea typeface="JetBrains Mono" pitchFamily="49" charset="-122"/>
                <a:cs typeface="JetBrains Mono" pitchFamily="49" charset="-120"/>
              </a:rPr>
              <a:t>kathara lstart</a:t>
            </a:r>
          </a:p>
        </p:txBody>
      </p:sp>
      <p:sp>
        <p:nvSpPr>
          <p:cNvPr id="405" name="Shape 406"/>
          <p:cNvSpPr/>
          <p:nvPr/>
        </p:nvSpPr>
        <p:spPr>
          <a:xfrm>
            <a:off x="666751" y="3073400"/>
            <a:ext cx="1778000" cy="457200"/>
          </a:xfrm>
          <a:prstGeom prst="rect">
            <a:avLst/>
          </a:prstGeom>
          <a:noFill/>
          <a:ln>
            <a:noFill/>
          </a:ln>
        </p:spPr>
        <p:txBody>
          <a:bodyPr wrap="square" lIns="406400" tIns="0" rIns="0" bIns="0" rtlCol="0" anchor="ctr">
            <a:noAutofit/>
          </a:bodyPr>
          <a:lstStyle/>
          <a:p>
            <a:pPr marL="0" indent="0" algn="l">
              <a:buNone/>
            </a:pPr>
            <a:r>
              <a:rPr lang="it-IT" sz="1600" b="1" noProof="0" dirty="0">
                <a:solidFill>
                  <a:srgbClr val="1B1D20"/>
                </a:solidFill>
                <a:latin typeface="JetBrains Mono" pitchFamily="49" charset="0"/>
                <a:ea typeface="JetBrains Mono" pitchFamily="49" charset="-122"/>
                <a:cs typeface="JetBrains Mono" pitchFamily="49" charset="-120"/>
              </a:rPr>
              <a:t>lab.conf</a:t>
            </a:r>
          </a:p>
        </p:txBody>
      </p:sp>
      <p:sp>
        <p:nvSpPr>
          <p:cNvPr id="406" name="Shape 407"/>
          <p:cNvSpPr/>
          <p:nvPr/>
        </p:nvSpPr>
        <p:spPr>
          <a:xfrm>
            <a:off x="666751" y="3657600"/>
            <a:ext cx="1778000" cy="457200"/>
          </a:xfrm>
          <a:prstGeom prst="rect">
            <a:avLst/>
          </a:prstGeom>
          <a:noFill/>
          <a:ln>
            <a:noFill/>
          </a:ln>
        </p:spPr>
        <p:txBody>
          <a:bodyPr wrap="square" lIns="406400" tIns="0" rIns="0" bIns="0" rtlCol="0" anchor="ctr">
            <a:noAutofit/>
          </a:bodyPr>
          <a:lstStyle/>
          <a:p>
            <a:pPr marL="0" indent="0" algn="l">
              <a:buNone/>
            </a:pPr>
            <a:r>
              <a:rPr lang="it-IT" sz="1600" b="1" noProof="0" dirty="0">
                <a:solidFill>
                  <a:srgbClr val="1B1D20"/>
                </a:solidFill>
                <a:latin typeface="JetBrains Mono" pitchFamily="49" charset="0"/>
                <a:ea typeface="JetBrains Mono" pitchFamily="49" charset="-122"/>
                <a:cs typeface="JetBrains Mono" pitchFamily="49" charset="-120"/>
              </a:rPr>
              <a:t>pc1.startup</a:t>
            </a:r>
          </a:p>
        </p:txBody>
      </p:sp>
      <p:sp>
        <p:nvSpPr>
          <p:cNvPr id="407" name="Shape 408"/>
          <p:cNvSpPr/>
          <p:nvPr/>
        </p:nvSpPr>
        <p:spPr>
          <a:xfrm>
            <a:off x="666751" y="4241800"/>
            <a:ext cx="1778000" cy="457200"/>
          </a:xfrm>
          <a:prstGeom prst="rect">
            <a:avLst/>
          </a:prstGeom>
          <a:noFill/>
          <a:ln>
            <a:noFill/>
          </a:ln>
        </p:spPr>
        <p:txBody>
          <a:bodyPr wrap="square" lIns="406400" tIns="0" rIns="0" bIns="0" rtlCol="0" anchor="ctr">
            <a:noAutofit/>
          </a:bodyPr>
          <a:lstStyle/>
          <a:p>
            <a:pPr marL="0" indent="0" algn="l">
              <a:buNone/>
            </a:pPr>
            <a:r>
              <a:rPr lang="it-IT" sz="1600" b="1" noProof="0" dirty="0">
                <a:solidFill>
                  <a:srgbClr val="1B1D20"/>
                </a:solidFill>
                <a:latin typeface="JetBrains Mono" pitchFamily="49" charset="0"/>
                <a:ea typeface="JetBrains Mono" pitchFamily="49" charset="-122"/>
                <a:cs typeface="JetBrains Mono" pitchFamily="49" charset="-120"/>
              </a:rPr>
              <a:t>pc1/</a:t>
            </a:r>
          </a:p>
        </p:txBody>
      </p:sp>
      <p:sp>
        <p:nvSpPr>
          <p:cNvPr id="408" name="Shape 409"/>
          <p:cNvSpPr/>
          <p:nvPr/>
        </p:nvSpPr>
        <p:spPr>
          <a:xfrm>
            <a:off x="3149600" y="1676400"/>
            <a:ext cx="2159000" cy="4267200"/>
          </a:xfrm>
          <a:prstGeom prst="rect">
            <a:avLst/>
          </a:prstGeom>
          <a:solidFill>
            <a:schemeClr val="bg1"/>
          </a:solidFill>
          <a:ln w="12700">
            <a:solidFill>
              <a:srgbClr val="1B1D20"/>
            </a:solidFill>
          </a:ln>
        </p:spPr>
        <p:txBody>
          <a:bodyPr wrap="square" lIns="0" tIns="0" rIns="0" bIns="0" rtlCol="0" anchor="t">
            <a:noAutofit/>
          </a:bodyPr>
          <a:lstStyle/>
          <a:p>
            <a:endParaRPr lang="it-IT" dirty="0"/>
          </a:p>
        </p:txBody>
      </p:sp>
      <p:sp>
        <p:nvSpPr>
          <p:cNvPr id="410" name="Shape 411"/>
          <p:cNvSpPr/>
          <p:nvPr/>
        </p:nvSpPr>
        <p:spPr>
          <a:xfrm>
            <a:off x="3733800" y="2273300"/>
            <a:ext cx="1803400" cy="762000"/>
          </a:xfrm>
          <a:prstGeom prst="rect">
            <a:avLst/>
          </a:prstGeom>
          <a:noFill/>
          <a:ln>
            <a:noFill/>
          </a:ln>
        </p:spPr>
        <p:txBody>
          <a:bodyPr wrap="square" lIns="0" tIns="63500" rIns="0" bIns="0" rtlCol="0" anchor="t">
            <a:noAutofit/>
          </a:bodyPr>
          <a:lstStyle/>
          <a:p>
            <a:pPr marL="457200" indent="0" algn="l">
              <a:buNone/>
            </a:pPr>
            <a:endParaRPr lang="it-IT" sz="1400" b="1" noProof="0" dirty="0">
              <a:solidFill>
                <a:srgbClr val="1B1D20"/>
              </a:solidFill>
              <a:latin typeface="JetBrains Mono"/>
              <a:ea typeface="JetBrains Mono"/>
              <a:cs typeface="JetBrains Mono"/>
            </a:endParaRPr>
          </a:p>
          <a:p>
            <a:pPr marL="0" indent="0" algn="l">
              <a:spcBef>
                <a:spcPts val="600"/>
              </a:spcBef>
              <a:buNone/>
            </a:pPr>
            <a:r>
              <a:rPr lang="it-IT" sz="1600" b="1" noProof="0" dirty="0">
                <a:solidFill>
                  <a:srgbClr val="1B1D20"/>
                </a:solidFill>
                <a:latin typeface="IBM Plex Sans"/>
                <a:ea typeface="IBM Plex Sans"/>
                <a:cs typeface="IBM Plex Sans"/>
              </a:rPr>
              <a:t>Parsing</a:t>
            </a:r>
          </a:p>
        </p:txBody>
      </p:sp>
      <p:sp>
        <p:nvSpPr>
          <p:cNvPr id="411" name="Shape 412"/>
          <p:cNvSpPr/>
          <p:nvPr/>
        </p:nvSpPr>
        <p:spPr>
          <a:xfrm>
            <a:off x="3327400" y="3632200"/>
            <a:ext cx="1866900" cy="762000"/>
          </a:xfrm>
          <a:prstGeom prst="rect">
            <a:avLst/>
          </a:prstGeom>
          <a:noFill/>
          <a:ln>
            <a:noFill/>
          </a:ln>
        </p:spPr>
        <p:txBody>
          <a:bodyPr wrap="square" lIns="0" tIns="63500" rIns="0" bIns="0" rtlCol="0" anchor="t">
            <a:noAutofit/>
          </a:bodyPr>
          <a:lstStyle/>
          <a:p>
            <a:pPr marL="0" indent="0" algn="l">
              <a:spcBef>
                <a:spcPts val="600"/>
              </a:spcBef>
              <a:buNone/>
            </a:pPr>
            <a:r>
              <a:rPr lang="it-IT" sz="1600" b="1" noProof="0" dirty="0">
                <a:solidFill>
                  <a:srgbClr val="1B1D20"/>
                </a:solidFill>
                <a:latin typeface="IBM Plex Sans"/>
                <a:ea typeface="IBM Plex Sans"/>
                <a:cs typeface="IBM Plex Sans"/>
              </a:rPr>
              <a:t>        Modello del lab</a:t>
            </a:r>
          </a:p>
        </p:txBody>
      </p:sp>
      <p:sp>
        <p:nvSpPr>
          <p:cNvPr id="412" name="Shape 413"/>
          <p:cNvSpPr/>
          <p:nvPr/>
        </p:nvSpPr>
        <p:spPr>
          <a:xfrm>
            <a:off x="3327400" y="4724400"/>
            <a:ext cx="1803400" cy="762000"/>
          </a:xfrm>
          <a:prstGeom prst="rect">
            <a:avLst/>
          </a:prstGeom>
          <a:noFill/>
          <a:ln>
            <a:noFill/>
          </a:ln>
        </p:spPr>
        <p:txBody>
          <a:bodyPr wrap="square" lIns="0" tIns="63500" rIns="0" bIns="0" rtlCol="0" anchor="t">
            <a:noAutofit/>
          </a:bodyPr>
          <a:lstStyle/>
          <a:p>
            <a:pPr marL="457200" indent="0" algn="l">
              <a:buNone/>
            </a:pPr>
            <a:r>
              <a:rPr lang="it-IT" sz="1600" b="1" noProof="0" dirty="0" err="1">
                <a:solidFill>
                  <a:srgbClr val="1B1D20"/>
                </a:solidFill>
                <a:latin typeface="IBM Plex Sans"/>
                <a:ea typeface="IBM Plex Sans"/>
                <a:cs typeface="IBM Plex Sans"/>
              </a:rPr>
              <a:t>Deploy</a:t>
            </a:r>
            <a:endParaRPr lang="it-IT" sz="1600" b="1" noProof="0" dirty="0">
              <a:solidFill>
                <a:srgbClr val="1B1D20"/>
              </a:solidFill>
              <a:latin typeface="IBM Plex Sans"/>
              <a:ea typeface="IBM Plex Sans"/>
              <a:cs typeface="IBM Plex Sans"/>
            </a:endParaRPr>
          </a:p>
        </p:txBody>
      </p:sp>
      <p:sp>
        <p:nvSpPr>
          <p:cNvPr id="414" name="Shape 415"/>
          <p:cNvSpPr/>
          <p:nvPr/>
        </p:nvSpPr>
        <p:spPr>
          <a:xfrm>
            <a:off x="5867400" y="1676400"/>
            <a:ext cx="2286000" cy="4267200"/>
          </a:xfrm>
          <a:prstGeom prst="rect">
            <a:avLst/>
          </a:prstGeom>
          <a:solidFill>
            <a:srgbClr val="FFFFFF"/>
          </a:solidFill>
          <a:ln w="12700">
            <a:solidFill>
              <a:srgbClr val="1B1D20"/>
            </a:solidFill>
          </a:ln>
        </p:spPr>
        <p:txBody>
          <a:bodyPr wrap="square" lIns="0" tIns="0" rIns="0" bIns="0" rtlCol="0" anchor="t">
            <a:noAutofit/>
          </a:bodyPr>
          <a:lstStyle/>
          <a:p>
            <a:endParaRPr lang="it-IT" dirty="0"/>
          </a:p>
        </p:txBody>
      </p:sp>
      <p:sp>
        <p:nvSpPr>
          <p:cNvPr id="415" name="Shape 416"/>
          <p:cNvSpPr/>
          <p:nvPr/>
        </p:nvSpPr>
        <p:spPr>
          <a:xfrm>
            <a:off x="6045200" y="1803400"/>
            <a:ext cx="1930400" cy="609600"/>
          </a:xfrm>
          <a:prstGeom prst="rect">
            <a:avLst/>
          </a:prstGeom>
          <a:noFill/>
          <a:ln>
            <a:noFill/>
          </a:ln>
        </p:spPr>
        <p:txBody>
          <a:bodyPr wrap="square" lIns="0" tIns="0" rIns="0" bIns="0" rtlCol="0" anchor="t">
            <a:noAutofit/>
          </a:bodyPr>
          <a:lstStyle/>
          <a:p>
            <a:pPr marL="0" indent="0" algn="l">
              <a:buNone/>
            </a:pPr>
            <a:r>
              <a:rPr lang="it-IT" sz="1600" b="1" dirty="0">
                <a:latin typeface="+mj-lt"/>
                <a:ea typeface="JetBrains Mono" pitchFamily="49" charset="-122"/>
                <a:cs typeface="JetBrains Mono" pitchFamily="49" charset="-120"/>
              </a:rPr>
              <a:t>Kathará Manager</a:t>
            </a:r>
          </a:p>
          <a:p>
            <a:pPr marL="0" indent="0" algn="l">
              <a:buNone/>
            </a:pPr>
            <a:r>
              <a:rPr lang="it-IT" sz="1400" b="1" dirty="0">
                <a:latin typeface="+mj-lt"/>
                <a:ea typeface="JetBrains Mono" pitchFamily="49" charset="-122"/>
                <a:cs typeface="JetBrains Mono" pitchFamily="49" charset="-120"/>
              </a:rPr>
              <a:t>(Docker, </a:t>
            </a:r>
            <a:r>
              <a:rPr lang="it-IT" sz="1400" b="1" dirty="0" err="1">
                <a:latin typeface="+mj-lt"/>
                <a:ea typeface="JetBrains Mono" pitchFamily="49" charset="-122"/>
                <a:cs typeface="JetBrains Mono" pitchFamily="49" charset="-120"/>
              </a:rPr>
              <a:t>Kubernetes</a:t>
            </a:r>
            <a:r>
              <a:rPr lang="it-IT" sz="1400" b="1" dirty="0">
                <a:latin typeface="+mj-lt"/>
                <a:ea typeface="JetBrains Mono" pitchFamily="49" charset="-122"/>
                <a:cs typeface="JetBrains Mono" pitchFamily="49" charset="-120"/>
              </a:rPr>
              <a:t>)</a:t>
            </a:r>
            <a:endParaRPr lang="it-IT" sz="1400" b="1" noProof="0" dirty="0">
              <a:latin typeface="+mj-lt"/>
              <a:ea typeface="JetBrains Mono" pitchFamily="49" charset="-122"/>
              <a:cs typeface="JetBrains Mono" pitchFamily="49" charset="-120"/>
            </a:endParaRPr>
          </a:p>
        </p:txBody>
      </p:sp>
      <p:sp>
        <p:nvSpPr>
          <p:cNvPr id="416" name="Shape 417"/>
          <p:cNvSpPr/>
          <p:nvPr/>
        </p:nvSpPr>
        <p:spPr>
          <a:xfrm>
            <a:off x="6045200" y="2540000"/>
            <a:ext cx="1930400" cy="762000"/>
          </a:xfrm>
          <a:prstGeom prst="rect">
            <a:avLst/>
          </a:prstGeom>
          <a:noFill/>
          <a:ln>
            <a:noFill/>
          </a:ln>
        </p:spPr>
        <p:txBody>
          <a:bodyPr wrap="square" lIns="457200" tIns="0" rIns="0" bIns="0" rtlCol="0" anchor="ctr">
            <a:noAutofit/>
          </a:bodyPr>
          <a:lstStyle/>
          <a:p>
            <a:pPr marL="0" indent="0" algn="l">
              <a:buNone/>
            </a:pPr>
            <a:r>
              <a:rPr lang="it-IT" sz="1600" b="1" noProof="0" dirty="0">
                <a:solidFill>
                  <a:srgbClr val="1B1D20"/>
                </a:solidFill>
                <a:latin typeface="IBM Plex Sans" pitchFamily="34" charset="0"/>
                <a:ea typeface="IBM Plex Sans" pitchFamily="34" charset="-122"/>
                <a:cs typeface="IBM Plex Sans" pitchFamily="34" charset="-120"/>
              </a:rPr>
              <a:t>crea network</a:t>
            </a:r>
          </a:p>
        </p:txBody>
      </p:sp>
      <p:sp>
        <p:nvSpPr>
          <p:cNvPr id="419" name="Shape 420"/>
          <p:cNvSpPr/>
          <p:nvPr/>
        </p:nvSpPr>
        <p:spPr>
          <a:xfrm>
            <a:off x="6045200" y="3302000"/>
            <a:ext cx="1930400" cy="330200"/>
          </a:xfrm>
          <a:prstGeom prst="rect">
            <a:avLst/>
          </a:prstGeom>
          <a:noFill/>
          <a:ln>
            <a:noFill/>
          </a:ln>
        </p:spPr>
        <p:txBody>
          <a:bodyPr wrap="square" lIns="0" tIns="0" rIns="0" bIns="0" rtlCol="0" anchor="ctr">
            <a:noAutofit/>
          </a:bodyPr>
          <a:lstStyle/>
          <a:p>
            <a:pPr marL="0" indent="0" algn="ctr">
              <a:buNone/>
            </a:pPr>
            <a:r>
              <a:rPr lang="it-IT" sz="1600" noProof="0" dirty="0">
                <a:solidFill>
                  <a:srgbClr val="5B5F66"/>
                </a:solidFill>
                <a:latin typeface="IBM Plex Sans" pitchFamily="34" charset="0"/>
                <a:ea typeface="IBM Plex Sans" pitchFamily="34" charset="-122"/>
                <a:cs typeface="IBM Plex Sans" pitchFamily="34" charset="-120"/>
              </a:rPr>
              <a:t>↓</a:t>
            </a:r>
          </a:p>
        </p:txBody>
      </p:sp>
      <p:sp>
        <p:nvSpPr>
          <p:cNvPr id="420" name="Shape 421"/>
          <p:cNvSpPr/>
          <p:nvPr/>
        </p:nvSpPr>
        <p:spPr>
          <a:xfrm>
            <a:off x="6045200" y="3632200"/>
            <a:ext cx="1930400" cy="762000"/>
          </a:xfrm>
          <a:prstGeom prst="rect">
            <a:avLst/>
          </a:prstGeom>
          <a:noFill/>
          <a:ln>
            <a:noFill/>
          </a:ln>
        </p:spPr>
        <p:txBody>
          <a:bodyPr wrap="square" lIns="457200" tIns="0" rIns="0" bIns="0" rtlCol="0" anchor="ctr">
            <a:noAutofit/>
          </a:bodyPr>
          <a:lstStyle/>
          <a:p>
            <a:pPr marL="0" indent="0" algn="l">
              <a:buNone/>
            </a:pPr>
            <a:r>
              <a:rPr lang="it-IT" sz="1600" b="1" noProof="0" dirty="0">
                <a:solidFill>
                  <a:srgbClr val="1B1D20"/>
                </a:solidFill>
                <a:latin typeface="IBM Plex Sans" pitchFamily="34" charset="0"/>
                <a:ea typeface="IBM Plex Sans" pitchFamily="34" charset="-122"/>
                <a:cs typeface="IBM Plex Sans" pitchFamily="34" charset="-120"/>
              </a:rPr>
              <a:t>crea container</a:t>
            </a:r>
          </a:p>
        </p:txBody>
      </p:sp>
      <p:sp>
        <p:nvSpPr>
          <p:cNvPr id="421" name="Shape 422"/>
          <p:cNvSpPr/>
          <p:nvPr/>
        </p:nvSpPr>
        <p:spPr>
          <a:xfrm>
            <a:off x="6045200" y="4394200"/>
            <a:ext cx="1930400" cy="330200"/>
          </a:xfrm>
          <a:prstGeom prst="rect">
            <a:avLst/>
          </a:prstGeom>
          <a:noFill/>
          <a:ln>
            <a:noFill/>
          </a:ln>
        </p:spPr>
        <p:txBody>
          <a:bodyPr wrap="square" lIns="0" tIns="0" rIns="0" bIns="0" rtlCol="0" anchor="ctr">
            <a:noAutofit/>
          </a:bodyPr>
          <a:lstStyle/>
          <a:p>
            <a:pPr marL="0" indent="0" algn="ctr">
              <a:buNone/>
            </a:pPr>
            <a:r>
              <a:rPr lang="it-IT" sz="1600" noProof="0" dirty="0">
                <a:solidFill>
                  <a:srgbClr val="5B5F66"/>
                </a:solidFill>
                <a:latin typeface="IBM Plex Sans" pitchFamily="34" charset="0"/>
                <a:ea typeface="IBM Plex Sans" pitchFamily="34" charset="-122"/>
                <a:cs typeface="IBM Plex Sans" pitchFamily="34" charset="-120"/>
              </a:rPr>
              <a:t>↓</a:t>
            </a:r>
          </a:p>
        </p:txBody>
      </p:sp>
      <p:sp>
        <p:nvSpPr>
          <p:cNvPr id="422" name="Shape 423"/>
          <p:cNvSpPr/>
          <p:nvPr/>
        </p:nvSpPr>
        <p:spPr>
          <a:xfrm>
            <a:off x="6045200" y="4724400"/>
            <a:ext cx="1930400" cy="762000"/>
          </a:xfrm>
          <a:prstGeom prst="rect">
            <a:avLst/>
          </a:prstGeom>
          <a:noFill/>
          <a:ln>
            <a:noFill/>
          </a:ln>
        </p:spPr>
        <p:txBody>
          <a:bodyPr wrap="square" lIns="457200" tIns="0" rIns="0" bIns="0" rtlCol="0" anchor="ctr">
            <a:noAutofit/>
          </a:bodyPr>
          <a:lstStyle/>
          <a:p>
            <a:pPr marL="0" indent="0" algn="l">
              <a:buNone/>
            </a:pPr>
            <a:r>
              <a:rPr lang="it-IT" sz="1600" b="1" noProof="0" dirty="0">
                <a:solidFill>
                  <a:srgbClr val="1B1D20"/>
                </a:solidFill>
                <a:latin typeface="IBM Plex Sans" pitchFamily="34" charset="0"/>
                <a:ea typeface="IBM Plex Sans" pitchFamily="34" charset="-122"/>
                <a:cs typeface="IBM Plex Sans" pitchFamily="34" charset="-120"/>
              </a:rPr>
              <a:t>collega e avvia</a:t>
            </a:r>
          </a:p>
        </p:txBody>
      </p:sp>
      <p:sp>
        <p:nvSpPr>
          <p:cNvPr id="440" name="Shape 440"/>
          <p:cNvSpPr/>
          <p:nvPr/>
        </p:nvSpPr>
        <p:spPr>
          <a:xfrm>
            <a:off x="8712200" y="1676400"/>
            <a:ext cx="2667000" cy="4267200"/>
          </a:xfrm>
          <a:prstGeom prst="rect">
            <a:avLst/>
          </a:prstGeom>
          <a:solidFill>
            <a:srgbClr val="FFFFFF"/>
          </a:solidFill>
          <a:ln w="12700">
            <a:solidFill>
              <a:srgbClr val="1B1D20"/>
            </a:solidFill>
          </a:ln>
        </p:spPr>
        <p:txBody>
          <a:bodyPr wrap="square" lIns="0" tIns="0" rIns="0" bIns="0" rtlCol="0" anchor="t">
            <a:noAutofit/>
          </a:bodyPr>
          <a:lstStyle/>
          <a:p>
            <a:endParaRPr lang="it-IT" dirty="0"/>
          </a:p>
        </p:txBody>
      </p:sp>
      <p:sp>
        <p:nvSpPr>
          <p:cNvPr id="441" name="Shape 441"/>
          <p:cNvSpPr/>
          <p:nvPr/>
        </p:nvSpPr>
        <p:spPr>
          <a:xfrm>
            <a:off x="8890000" y="1828800"/>
            <a:ext cx="2311400" cy="254000"/>
          </a:xfrm>
          <a:prstGeom prst="rect">
            <a:avLst/>
          </a:prstGeom>
          <a:noFill/>
          <a:ln>
            <a:noFill/>
          </a:ln>
        </p:spPr>
        <p:txBody>
          <a:bodyPr wrap="square" lIns="0" tIns="0" rIns="0" bIns="0" rtlCol="0" anchor="t">
            <a:noAutofit/>
          </a:bodyPr>
          <a:lstStyle/>
          <a:p>
            <a:pPr marL="0" indent="0" algn="l">
              <a:buNone/>
            </a:pPr>
            <a:r>
              <a:rPr lang="it-IT" b="1" dirty="0">
                <a:latin typeface="IBM Plex Sans" panose="020B0503050203000203" pitchFamily="34" charset="0"/>
                <a:ea typeface="JetBrains Mono"/>
                <a:cs typeface="JetBrains Mono"/>
              </a:rPr>
              <a:t>R</a:t>
            </a:r>
            <a:r>
              <a:rPr lang="it-IT" b="1" noProof="0" dirty="0" err="1">
                <a:latin typeface="IBM Plex Sans" panose="020B0503050203000203" pitchFamily="34" charset="0"/>
                <a:ea typeface="JetBrains Mono"/>
                <a:cs typeface="JetBrains Mono"/>
              </a:rPr>
              <a:t>isultato</a:t>
            </a:r>
            <a:endParaRPr lang="it-IT" b="1" noProof="0" dirty="0">
              <a:latin typeface="IBM Plex Sans" panose="020B0503050203000203" pitchFamily="34" charset="0"/>
              <a:ea typeface="JetBrains Mono"/>
              <a:cs typeface="JetBrains Mono"/>
            </a:endParaRPr>
          </a:p>
        </p:txBody>
      </p:sp>
      <p:cxnSp>
        <p:nvCxnSpPr>
          <p:cNvPr id="442" name="Link 442"/>
          <p:cNvCxnSpPr/>
          <p:nvPr/>
        </p:nvCxnSpPr>
        <p:spPr>
          <a:xfrm>
            <a:off x="9423400" y="2743200"/>
            <a:ext cx="0" cy="482600"/>
          </a:xfrm>
          <a:prstGeom prst="line">
            <a:avLst/>
          </a:prstGeom>
          <a:ln w="19050">
            <a:solidFill>
              <a:srgbClr val="1B1D20"/>
            </a:solidFill>
          </a:ln>
        </p:spPr>
      </p:cxnSp>
      <p:cxnSp>
        <p:nvCxnSpPr>
          <p:cNvPr id="443" name="Link 443"/>
          <p:cNvCxnSpPr/>
          <p:nvPr/>
        </p:nvCxnSpPr>
        <p:spPr>
          <a:xfrm>
            <a:off x="10668000" y="2743200"/>
            <a:ext cx="0" cy="482600"/>
          </a:xfrm>
          <a:prstGeom prst="line">
            <a:avLst/>
          </a:prstGeom>
          <a:ln w="19050">
            <a:solidFill>
              <a:srgbClr val="1B1D20"/>
            </a:solidFill>
          </a:ln>
        </p:spPr>
      </p:cxnSp>
      <p:sp>
        <p:nvSpPr>
          <p:cNvPr id="444" name="Shape 444"/>
          <p:cNvSpPr/>
          <p:nvPr/>
        </p:nvSpPr>
        <p:spPr>
          <a:xfrm>
            <a:off x="8890000" y="2184400"/>
            <a:ext cx="1066800" cy="558800"/>
          </a:xfrm>
          <a:prstGeom prst="rect">
            <a:avLst/>
          </a:prstGeom>
          <a:solidFill>
            <a:srgbClr val="60A5E3"/>
          </a:solidFill>
          <a:ln w="9525">
            <a:solidFill>
              <a:srgbClr val="1B1D20"/>
            </a:solidFill>
          </a:ln>
        </p:spPr>
        <p:txBody>
          <a:bodyPr wrap="square" lIns="0" tIns="0" rIns="0" bIns="0" rtlCol="0" anchor="ctr">
            <a:noAutofit/>
          </a:bodyPr>
          <a:lstStyle/>
          <a:p>
            <a:pPr marL="0" indent="0" algn="ctr">
              <a:buNone/>
            </a:pPr>
            <a:r>
              <a:rPr lang="it-IT" sz="1600" b="1" noProof="0" dirty="0">
                <a:solidFill>
                  <a:srgbClr val="1B1D20"/>
                </a:solidFill>
                <a:latin typeface="JetBrains Mono"/>
                <a:ea typeface="JetBrains Mono"/>
                <a:cs typeface="JetBrains Mono"/>
              </a:rPr>
              <a:t>pc1</a:t>
            </a:r>
          </a:p>
        </p:txBody>
      </p:sp>
      <p:sp>
        <p:nvSpPr>
          <p:cNvPr id="445" name="Shape 445"/>
          <p:cNvSpPr/>
          <p:nvPr/>
        </p:nvSpPr>
        <p:spPr>
          <a:xfrm>
            <a:off x="10134600" y="2184400"/>
            <a:ext cx="1066800" cy="558800"/>
          </a:xfrm>
          <a:prstGeom prst="rect">
            <a:avLst/>
          </a:prstGeom>
          <a:solidFill>
            <a:srgbClr val="60A5E3"/>
          </a:solidFill>
          <a:ln w="9525">
            <a:solidFill>
              <a:srgbClr val="1B1D20"/>
            </a:solidFill>
          </a:ln>
        </p:spPr>
        <p:txBody>
          <a:bodyPr wrap="square" lIns="0" tIns="0" rIns="0" bIns="0" rtlCol="0" anchor="ctr">
            <a:noAutofit/>
          </a:bodyPr>
          <a:lstStyle/>
          <a:p>
            <a:pPr marL="0" indent="0" algn="ctr">
              <a:buNone/>
            </a:pPr>
            <a:r>
              <a:rPr lang="it-IT" sz="1600" b="1" noProof="0" dirty="0">
                <a:solidFill>
                  <a:srgbClr val="1B1D20"/>
                </a:solidFill>
                <a:latin typeface="JetBrains Mono"/>
                <a:ea typeface="JetBrains Mono"/>
                <a:cs typeface="JetBrains Mono"/>
              </a:rPr>
              <a:t>pc2</a:t>
            </a:r>
          </a:p>
        </p:txBody>
      </p:sp>
      <p:sp>
        <p:nvSpPr>
          <p:cNvPr id="446" name="Shape 446"/>
          <p:cNvSpPr/>
          <p:nvPr/>
        </p:nvSpPr>
        <p:spPr>
          <a:xfrm>
            <a:off x="9474200" y="2857500"/>
            <a:ext cx="584200" cy="254000"/>
          </a:xfrm>
          <a:prstGeom prst="rect">
            <a:avLst/>
          </a:prstGeom>
          <a:noFill/>
          <a:ln>
            <a:noFill/>
          </a:ln>
        </p:spPr>
        <p:txBody>
          <a:bodyPr wrap="square" lIns="0" tIns="0" rIns="0" bIns="0" rtlCol="0" anchor="t">
            <a:noAutofit/>
          </a:bodyPr>
          <a:lstStyle/>
          <a:p>
            <a:pPr marL="0" indent="0" algn="l">
              <a:buNone/>
            </a:pPr>
            <a:r>
              <a:rPr lang="it-IT" sz="1400" noProof="0" dirty="0">
                <a:solidFill>
                  <a:srgbClr val="1B1D20"/>
                </a:solidFill>
                <a:latin typeface="JetBrains Mono"/>
                <a:ea typeface="JetBrains Mono"/>
                <a:cs typeface="JetBrains Mono"/>
              </a:rPr>
              <a:t>eth0</a:t>
            </a:r>
          </a:p>
        </p:txBody>
      </p:sp>
      <p:sp>
        <p:nvSpPr>
          <p:cNvPr id="447" name="Shape 447"/>
          <p:cNvSpPr/>
          <p:nvPr/>
        </p:nvSpPr>
        <p:spPr>
          <a:xfrm>
            <a:off x="10718800" y="2857500"/>
            <a:ext cx="584200" cy="254000"/>
          </a:xfrm>
          <a:prstGeom prst="rect">
            <a:avLst/>
          </a:prstGeom>
          <a:noFill/>
          <a:ln>
            <a:noFill/>
          </a:ln>
        </p:spPr>
        <p:txBody>
          <a:bodyPr wrap="square" lIns="0" tIns="0" rIns="0" bIns="0" rtlCol="0" anchor="t">
            <a:noAutofit/>
          </a:bodyPr>
          <a:lstStyle/>
          <a:p>
            <a:pPr marL="0" indent="0" algn="l">
              <a:buNone/>
            </a:pPr>
            <a:r>
              <a:rPr lang="it-IT" sz="1400" noProof="0" dirty="0">
                <a:solidFill>
                  <a:srgbClr val="1B1D20"/>
                </a:solidFill>
                <a:latin typeface="JetBrains Mono"/>
                <a:ea typeface="JetBrains Mono"/>
                <a:cs typeface="JetBrains Mono"/>
              </a:rPr>
              <a:t>eth0</a:t>
            </a:r>
          </a:p>
        </p:txBody>
      </p:sp>
      <p:sp>
        <p:nvSpPr>
          <p:cNvPr id="448" name="Shape 448"/>
          <p:cNvSpPr/>
          <p:nvPr/>
        </p:nvSpPr>
        <p:spPr>
          <a:xfrm>
            <a:off x="8890000" y="3225800"/>
            <a:ext cx="2311400" cy="431800"/>
          </a:xfrm>
          <a:prstGeom prst="rect">
            <a:avLst/>
          </a:prstGeom>
          <a:solidFill>
            <a:srgbClr val="A8DC6E"/>
          </a:solidFill>
          <a:ln w="9525">
            <a:solidFill>
              <a:srgbClr val="1B1D20"/>
            </a:solidFill>
          </a:ln>
        </p:spPr>
        <p:txBody>
          <a:bodyPr wrap="square" lIns="0" tIns="0" rIns="0" bIns="0" rtlCol="0" anchor="ctr">
            <a:noAutofit/>
          </a:bodyPr>
          <a:lstStyle/>
          <a:p>
            <a:pPr marL="0" indent="0" algn="ctr">
              <a:buNone/>
            </a:pPr>
            <a:r>
              <a:rPr lang="it-IT" sz="1600" b="1" noProof="0" dirty="0">
                <a:solidFill>
                  <a:srgbClr val="1B1D20"/>
                </a:solidFill>
                <a:latin typeface="JetBrains Mono"/>
                <a:ea typeface="JetBrains Mono"/>
                <a:cs typeface="JetBrains Mono"/>
              </a:rPr>
              <a:t>A</a:t>
            </a:r>
            <a:endParaRPr lang="it-IT" sz="1400" noProof="0" dirty="0">
              <a:solidFill>
                <a:srgbClr val="1B1D20"/>
              </a:solidFill>
              <a:latin typeface="IBM Plex Sans"/>
              <a:ea typeface="IBM Plex Sans"/>
              <a:cs typeface="IBM Plex Sans"/>
            </a:endParaRPr>
          </a:p>
        </p:txBody>
      </p:sp>
      <p:sp>
        <p:nvSpPr>
          <p:cNvPr id="449" name="Shape 449"/>
          <p:cNvSpPr/>
          <p:nvPr/>
        </p:nvSpPr>
        <p:spPr>
          <a:xfrm>
            <a:off x="8890000" y="3937000"/>
            <a:ext cx="76200" cy="736600"/>
          </a:xfrm>
          <a:prstGeom prst="rect">
            <a:avLst/>
          </a:prstGeom>
          <a:solidFill>
            <a:srgbClr val="60A5E3"/>
          </a:solidFill>
          <a:ln>
            <a:noFill/>
          </a:ln>
        </p:spPr>
        <p:txBody>
          <a:bodyPr wrap="square" lIns="0" tIns="0" rIns="0" bIns="0" rtlCol="0" anchor="t">
            <a:noAutofit/>
          </a:bodyPr>
          <a:lstStyle/>
          <a:p>
            <a:endParaRPr lang="it-IT" dirty="0"/>
          </a:p>
        </p:txBody>
      </p:sp>
      <p:sp>
        <p:nvSpPr>
          <p:cNvPr id="450" name="Shape 450"/>
          <p:cNvSpPr/>
          <p:nvPr/>
        </p:nvSpPr>
        <p:spPr>
          <a:xfrm>
            <a:off x="9067800" y="3911600"/>
            <a:ext cx="2133600" cy="787400"/>
          </a:xfrm>
          <a:prstGeom prst="rect">
            <a:avLst/>
          </a:prstGeom>
          <a:noFill/>
          <a:ln>
            <a:noFill/>
          </a:ln>
        </p:spPr>
        <p:txBody>
          <a:bodyPr wrap="square" lIns="0" tIns="0" rIns="0" bIns="0" rtlCol="0" anchor="t">
            <a:noAutofit/>
          </a:bodyPr>
          <a:lstStyle/>
          <a:p>
            <a:pPr marL="0" indent="0" algn="l">
              <a:buNone/>
            </a:pPr>
            <a:r>
              <a:rPr lang="it-IT" sz="1600" b="1" noProof="0" dirty="0">
                <a:solidFill>
                  <a:srgbClr val="1B1D20"/>
                </a:solidFill>
                <a:latin typeface="IBM Plex Sans"/>
                <a:ea typeface="IBM Plex Sans"/>
                <a:cs typeface="IBM Plex Sans"/>
              </a:rPr>
              <a:t>Container</a:t>
            </a:r>
          </a:p>
          <a:p>
            <a:pPr marL="0" indent="0" algn="l">
              <a:buNone/>
            </a:pPr>
            <a:r>
              <a:rPr lang="it-IT" sz="1400" b="1" noProof="0" dirty="0">
                <a:solidFill>
                  <a:srgbClr val="1B1D20"/>
                </a:solidFill>
                <a:latin typeface="IBM Plex Sans"/>
                <a:ea typeface="IBM Plex Sans"/>
                <a:cs typeface="IBM Plex Sans"/>
              </a:rPr>
              <a:t>1 </a:t>
            </a:r>
            <a:r>
              <a:rPr lang="it-IT" sz="1400" b="1" noProof="0">
                <a:solidFill>
                  <a:srgbClr val="1B1D20"/>
                </a:solidFill>
                <a:latin typeface="IBM Plex Sans"/>
                <a:ea typeface="IBM Plex Sans"/>
                <a:cs typeface="IBM Plex Sans"/>
              </a:rPr>
              <a:t>per dispositivo</a:t>
            </a:r>
            <a:endParaRPr lang="it-IT" sz="1400" b="1" noProof="0" dirty="0">
              <a:solidFill>
                <a:srgbClr val="1B1D20"/>
              </a:solidFill>
              <a:latin typeface="IBM Plex Sans"/>
              <a:ea typeface="IBM Plex Sans"/>
              <a:cs typeface="IBM Plex Sans"/>
            </a:endParaRPr>
          </a:p>
        </p:txBody>
      </p:sp>
      <p:sp>
        <p:nvSpPr>
          <p:cNvPr id="451" name="Shape 451"/>
          <p:cNvSpPr/>
          <p:nvPr/>
        </p:nvSpPr>
        <p:spPr>
          <a:xfrm>
            <a:off x="8890000" y="4902200"/>
            <a:ext cx="76200" cy="787400"/>
          </a:xfrm>
          <a:prstGeom prst="rect">
            <a:avLst/>
          </a:prstGeom>
          <a:solidFill>
            <a:srgbClr val="A8DC6E"/>
          </a:solidFill>
          <a:ln>
            <a:noFill/>
          </a:ln>
        </p:spPr>
        <p:txBody>
          <a:bodyPr wrap="square" lIns="0" tIns="0" rIns="0" bIns="0" rtlCol="0" anchor="t">
            <a:noAutofit/>
          </a:bodyPr>
          <a:lstStyle/>
          <a:p>
            <a:endParaRPr lang="it-IT" dirty="0"/>
          </a:p>
        </p:txBody>
      </p:sp>
      <p:sp>
        <p:nvSpPr>
          <p:cNvPr id="452" name="Shape 452"/>
          <p:cNvSpPr/>
          <p:nvPr/>
        </p:nvSpPr>
        <p:spPr>
          <a:xfrm>
            <a:off x="9067800" y="4876800"/>
            <a:ext cx="2133600" cy="889000"/>
          </a:xfrm>
          <a:prstGeom prst="rect">
            <a:avLst/>
          </a:prstGeom>
          <a:noFill/>
          <a:ln>
            <a:noFill/>
          </a:ln>
        </p:spPr>
        <p:txBody>
          <a:bodyPr wrap="square" lIns="0" tIns="0" rIns="0" bIns="0" rtlCol="0" anchor="t">
            <a:noAutofit/>
          </a:bodyPr>
          <a:lstStyle/>
          <a:p>
            <a:pPr marL="0" indent="0" algn="l">
              <a:buNone/>
            </a:pPr>
            <a:r>
              <a:rPr lang="it-IT" sz="1600" b="1" noProof="0" dirty="0">
                <a:solidFill>
                  <a:srgbClr val="1B1D20"/>
                </a:solidFill>
                <a:latin typeface="IBM Plex Sans"/>
                <a:ea typeface="IBM Plex Sans"/>
                <a:cs typeface="IBM Plex Sans"/>
              </a:rPr>
              <a:t>Network</a:t>
            </a:r>
          </a:p>
          <a:p>
            <a:pPr marL="0" indent="0" algn="l">
              <a:buNone/>
            </a:pPr>
            <a:r>
              <a:rPr lang="it-IT" sz="1400" b="1" noProof="0" dirty="0">
                <a:solidFill>
                  <a:srgbClr val="1B1D20"/>
                </a:solidFill>
                <a:latin typeface="IBM Plex Sans"/>
                <a:ea typeface="IBM Plex Sans"/>
                <a:cs typeface="IBM Plex Sans"/>
              </a:rPr>
              <a:t>1 per dominio di collisione</a:t>
            </a:r>
          </a:p>
        </p:txBody>
      </p:sp>
      <p:pic>
        <p:nvPicPr>
          <p:cNvPr id="5" name="Image 0" descr="Logo Kathará">
            <a:extLst>
              <a:ext uri="{FF2B5EF4-FFF2-40B4-BE49-F238E27FC236}">
                <a16:creationId xmlns:a16="http://schemas.microsoft.com/office/drawing/2014/main" id="{9E669205-F48D-4B55-84EA-C16ED5AAD0D8}"/>
              </a:ext>
            </a:extLst>
          </p:cNvPr>
          <p:cNvPicPr>
            <a:picLocks noChangeAspect="1"/>
          </p:cNvPicPr>
          <p:nvPr/>
        </p:nvPicPr>
        <p:blipFill>
          <a:blip r:embed="rId4"/>
          <a:srcRect l="-120" r="-120"/>
          <a:stretch/>
        </p:blipFill>
        <p:spPr>
          <a:xfrm>
            <a:off x="3327400" y="1854200"/>
            <a:ext cx="1545389" cy="344953"/>
          </a:xfrm>
          <a:prstGeom prst="rect">
            <a:avLst/>
          </a:prstGeom>
        </p:spPr>
      </p:pic>
      <p:sp>
        <p:nvSpPr>
          <p:cNvPr id="10" name="Shape 441">
            <a:extLst>
              <a:ext uri="{FF2B5EF4-FFF2-40B4-BE49-F238E27FC236}">
                <a16:creationId xmlns:a16="http://schemas.microsoft.com/office/drawing/2014/main" id="{42E16D78-CE87-8961-1CB2-D7AF9CF05408}"/>
              </a:ext>
            </a:extLst>
          </p:cNvPr>
          <p:cNvSpPr/>
          <p:nvPr/>
        </p:nvSpPr>
        <p:spPr>
          <a:xfrm>
            <a:off x="698365" y="2675288"/>
            <a:ext cx="2311400" cy="254000"/>
          </a:xfrm>
          <a:prstGeom prst="rect">
            <a:avLst/>
          </a:prstGeom>
          <a:noFill/>
          <a:ln>
            <a:noFill/>
          </a:ln>
        </p:spPr>
        <p:txBody>
          <a:bodyPr wrap="square" lIns="0" tIns="0" rIns="0" bIns="0" rtlCol="0" anchor="t">
            <a:noAutofit/>
          </a:bodyPr>
          <a:lstStyle/>
          <a:p>
            <a:pPr marL="0" indent="0" algn="l">
              <a:buNone/>
            </a:pPr>
            <a:r>
              <a:rPr lang="it-IT" b="1" noProof="0" dirty="0">
                <a:latin typeface="IBM Plex Sans" panose="020B0503050203000203" pitchFamily="34" charset="0"/>
                <a:ea typeface="JetBrains Mono"/>
                <a:cs typeface="JetBrains Mono"/>
              </a:rPr>
              <a:t>Lab Folder</a:t>
            </a:r>
          </a:p>
        </p:txBody>
      </p:sp>
      <p:pic>
        <p:nvPicPr>
          <p:cNvPr id="453" name="Graphic 453" descr="configurazione"/>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1200" y="3149600"/>
            <a:ext cx="304800" cy="304800"/>
          </a:xfrm>
          <a:prstGeom prst="rect">
            <a:avLst/>
          </a:prstGeom>
        </p:spPr>
      </p:pic>
      <p:pic>
        <p:nvPicPr>
          <p:cNvPr id="454" name="Graphic 454" descr="script di startup"/>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1200" y="3733800"/>
            <a:ext cx="304800" cy="304800"/>
          </a:xfrm>
          <a:prstGeom prst="rect">
            <a:avLst/>
          </a:prstGeom>
        </p:spPr>
      </p:pic>
      <p:pic>
        <p:nvPicPr>
          <p:cNvPr id="455" name="Graphic 455" descr="cartella"/>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1200" y="4318000"/>
            <a:ext cx="304800" cy="304800"/>
          </a:xfrm>
          <a:prstGeom prst="rect">
            <a:avLst/>
          </a:prstGeom>
        </p:spPr>
      </p:pic>
      <p:pic>
        <p:nvPicPr>
          <p:cNvPr id="456" name="Graphic 456" descr="parsi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327400" y="2565400"/>
            <a:ext cx="355600" cy="355600"/>
          </a:xfrm>
          <a:prstGeom prst="rect">
            <a:avLst/>
          </a:prstGeom>
        </p:spPr>
      </p:pic>
      <p:pic>
        <p:nvPicPr>
          <p:cNvPr id="457" name="Graphic 457" descr="modello"/>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27400" y="3657600"/>
            <a:ext cx="355600" cy="355600"/>
          </a:xfrm>
          <a:prstGeom prst="rect">
            <a:avLst/>
          </a:prstGeom>
        </p:spPr>
      </p:pic>
      <p:pic>
        <p:nvPicPr>
          <p:cNvPr id="458" name="Graphic 458" descr="deploy"/>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27400" y="4749800"/>
            <a:ext cx="355600" cy="355600"/>
          </a:xfrm>
          <a:prstGeom prst="rect">
            <a:avLst/>
          </a:prstGeom>
        </p:spPr>
      </p:pic>
      <p:pic>
        <p:nvPicPr>
          <p:cNvPr id="459" name="Graphic 459" descr="network"/>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045200" y="2743200"/>
            <a:ext cx="355600" cy="355600"/>
          </a:xfrm>
          <a:prstGeom prst="rect">
            <a:avLst/>
          </a:prstGeom>
        </p:spPr>
      </p:pic>
      <p:pic>
        <p:nvPicPr>
          <p:cNvPr id="460" name="Graphic 460" descr="containe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045200" y="3835400"/>
            <a:ext cx="355600" cy="355600"/>
          </a:xfrm>
          <a:prstGeom prst="rect">
            <a:avLst/>
          </a:prstGeom>
        </p:spPr>
      </p:pic>
      <p:pic>
        <p:nvPicPr>
          <p:cNvPr id="461" name="Graphic 461" descr="collegamento"/>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045200" y="4927600"/>
            <a:ext cx="355600" cy="355600"/>
          </a:xfrm>
          <a:prstGeom prst="rect">
            <a:avLst/>
          </a:prstGeom>
        </p:spPr>
      </p:pic>
    </p:spTree>
    <p:extLst>
      <p:ext uri="{BB962C8B-B14F-4D97-AF65-F5344CB8AC3E}">
        <p14:creationId xmlns:p14="http://schemas.microsoft.com/office/powerpoint/2010/main" val="53041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Dal lab agli oggetti Docker</a:t>
            </a:r>
            <a:endParaRPr lang="it-IT" sz="4000" noProof="0" dirty="0"/>
          </a:p>
        </p:txBody>
      </p:sp>
      <p:pic>
        <p:nvPicPr>
          <p:cNvPr id="5" name="Image 0" descr="Ogni elemento del lab e l’oggetto Docker in cui si traduce: image diventa il container pc1, la cartella pc1/etc/frr viene copiata in /etc/frr, pc1.startup viene eseguito al boot, shared/ è montata in /shared, pc1[0]=A collega eth0 alla network A con driver katharanp, pc1[bridged]=true aggiunge eth1 sulla rete bridge di Docker"/>
          <p:cNvPicPr>
            <a:picLocks noChangeAspect="1"/>
          </p:cNvPicPr>
          <p:nvPr/>
        </p:nvPicPr>
        <p:blipFill>
          <a:blip r:embed="rId3"/>
          <a:srcRect l="-2419" r="-2419"/>
          <a:stretch/>
        </p:blipFill>
        <p:spPr>
          <a:xfrm>
            <a:off x="812800" y="1838958"/>
            <a:ext cx="10566400" cy="3937000"/>
          </a:xfrm>
          <a:prstGeom prst="rect">
            <a:avLst/>
          </a:prstGeom>
        </p:spPr>
      </p:pic>
    </p:spTree>
    <p:extLst>
      <p:ext uri="{BB962C8B-B14F-4D97-AF65-F5344CB8AC3E}">
        <p14:creationId xmlns:p14="http://schemas.microsoft.com/office/powerpoint/2010/main" val="3710297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A876BADA-64A5-A62E-3897-92791667699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B787238-9977-6D17-74A8-91EE3DD20A7A}"/>
              </a:ext>
            </a:extLst>
          </p:cNvPr>
          <p:cNvSpPr/>
          <p:nvPr/>
        </p:nvSpPr>
        <p:spPr>
          <a:xfrm>
            <a:off x="0" y="0"/>
            <a:ext cx="152400" cy="6858000"/>
          </a:xfrm>
          <a:prstGeom prst="rect">
            <a:avLst/>
          </a:prstGeom>
          <a:solidFill>
            <a:srgbClr val="60A5E3"/>
          </a:solidFill>
          <a:ln/>
        </p:spPr>
        <p:txBody>
          <a:bodyPr/>
          <a:lstStyle/>
          <a:p>
            <a:endParaRPr lang="it-IT" noProof="0" dirty="0"/>
          </a:p>
        </p:txBody>
      </p:sp>
      <p:sp>
        <p:nvSpPr>
          <p:cNvPr id="4" name="Text 2">
            <a:extLst>
              <a:ext uri="{FF2B5EF4-FFF2-40B4-BE49-F238E27FC236}">
                <a16:creationId xmlns:a16="http://schemas.microsoft.com/office/drawing/2014/main" id="{3853DD25-D647-8931-2FE5-5B9C3B3C41DC}"/>
              </a:ext>
            </a:extLst>
          </p:cNvPr>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Con le Python API il lab diventa programmabile</a:t>
            </a:r>
            <a:endParaRPr lang="it-IT" sz="4000" noProof="0" dirty="0"/>
          </a:p>
        </p:txBody>
      </p:sp>
      <p:sp>
        <p:nvSpPr>
          <p:cNvPr id="81" name="Text 82"/>
          <p:cNvSpPr txBox="1"/>
          <p:nvPr/>
        </p:nvSpPr>
        <p:spPr>
          <a:xfrm>
            <a:off x="812800" y="2019300"/>
            <a:ext cx="406400" cy="2794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01</a:t>
            </a:r>
          </a:p>
        </p:txBody>
      </p:sp>
      <p:sp>
        <p:nvSpPr>
          <p:cNvPr id="82" name="Text 83"/>
          <p:cNvSpPr txBox="1"/>
          <p:nvPr/>
        </p:nvSpPr>
        <p:spPr>
          <a:xfrm>
            <a:off x="1270000" y="1981200"/>
            <a:ext cx="4368800" cy="330200"/>
          </a:xfrm>
          <a:prstGeom prst="rect">
            <a:avLst/>
          </a:prstGeom>
          <a:noFill/>
          <a:ln/>
        </p:spPr>
        <p:txBody>
          <a:bodyPr wrap="square" lIns="0" tIns="0" rIns="0" bIns="0" rtlCol="0" anchor="t">
            <a:noAutofit/>
          </a:bodyPr>
          <a:lstStyle/>
          <a:p>
            <a:pPr marL="0" indent="0" algn="l">
              <a:lnSpc>
                <a:spcPts val="2600"/>
              </a:lnSpc>
              <a:buNone/>
            </a:pPr>
            <a:r>
              <a:rPr lang="it-IT" sz="2000" b="1" noProof="0" dirty="0">
                <a:solidFill>
                  <a:srgbClr val="1B1D20"/>
                </a:solidFill>
                <a:latin typeface="IBM Plex Sans" pitchFamily="34" charset="0"/>
                <a:ea typeface="IBM Plex Sans" pitchFamily="34" charset="-122"/>
                <a:cs typeface="IBM Plex Sans" pitchFamily="34" charset="-120"/>
              </a:rPr>
              <a:t>Topologie generate da codice</a:t>
            </a:r>
          </a:p>
        </p:txBody>
      </p:sp>
      <p:sp>
        <p:nvSpPr>
          <p:cNvPr id="83" name="Text 84"/>
          <p:cNvSpPr txBox="1"/>
          <p:nvPr/>
        </p:nvSpPr>
        <p:spPr>
          <a:xfrm>
            <a:off x="1270000" y="2311400"/>
            <a:ext cx="4368800" cy="558800"/>
          </a:xfrm>
          <a:prstGeom prst="rect">
            <a:avLst/>
          </a:prstGeom>
          <a:noFill/>
          <a:ln/>
        </p:spPr>
        <p:txBody>
          <a:bodyPr wrap="square" lIns="0" tIns="0" rIns="0" bIns="0" rtlCol="0" anchor="t">
            <a:noAutofit/>
          </a:bodyPr>
          <a:lstStyle/>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Un ciclo crea 50 router o una fat-tree: nessun lab.conf scritto a mano.</a:t>
            </a:r>
          </a:p>
        </p:txBody>
      </p:sp>
      <p:sp>
        <p:nvSpPr>
          <p:cNvPr id="85" name="Text 86"/>
          <p:cNvSpPr txBox="1"/>
          <p:nvPr/>
        </p:nvSpPr>
        <p:spPr>
          <a:xfrm>
            <a:off x="812800" y="3060700"/>
            <a:ext cx="406400" cy="2794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02</a:t>
            </a:r>
          </a:p>
        </p:txBody>
      </p:sp>
      <p:sp>
        <p:nvSpPr>
          <p:cNvPr id="86" name="Text 87"/>
          <p:cNvSpPr txBox="1"/>
          <p:nvPr/>
        </p:nvSpPr>
        <p:spPr>
          <a:xfrm>
            <a:off x="1270000" y="3022600"/>
            <a:ext cx="4368800" cy="330200"/>
          </a:xfrm>
          <a:prstGeom prst="rect">
            <a:avLst/>
          </a:prstGeom>
          <a:noFill/>
          <a:ln/>
        </p:spPr>
        <p:txBody>
          <a:bodyPr wrap="square" lIns="0" tIns="0" rIns="0" bIns="0" rtlCol="0" anchor="t">
            <a:noAutofit/>
          </a:bodyPr>
          <a:lstStyle/>
          <a:p>
            <a:pPr marL="0" indent="0" algn="l">
              <a:lnSpc>
                <a:spcPts val="2600"/>
              </a:lnSpc>
              <a:buNone/>
            </a:pPr>
            <a:r>
              <a:rPr lang="it-IT" sz="2000" b="1" noProof="0" dirty="0">
                <a:solidFill>
                  <a:srgbClr val="1B1D20"/>
                </a:solidFill>
                <a:latin typeface="IBM Plex Sans" pitchFamily="34" charset="0"/>
                <a:ea typeface="IBM Plex Sans" pitchFamily="34" charset="-122"/>
                <a:cs typeface="IBM Plex Sans" pitchFamily="34" charset="-120"/>
              </a:rPr>
              <a:t>Test automatici</a:t>
            </a:r>
          </a:p>
        </p:txBody>
      </p:sp>
      <p:sp>
        <p:nvSpPr>
          <p:cNvPr id="87" name="Text 88"/>
          <p:cNvSpPr txBox="1"/>
          <p:nvPr/>
        </p:nvSpPr>
        <p:spPr>
          <a:xfrm>
            <a:off x="1270000" y="3352800"/>
            <a:ext cx="4368800" cy="558800"/>
          </a:xfrm>
          <a:prstGeom prst="rect">
            <a:avLst/>
          </a:prstGeom>
          <a:noFill/>
          <a:ln/>
        </p:spPr>
        <p:txBody>
          <a:bodyPr wrap="square" lIns="0" tIns="0" rIns="0" bIns="0" rtlCol="0" anchor="t">
            <a:noAutofit/>
          </a:bodyPr>
          <a:lstStyle/>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Si eseguono comandi nei device e si verificano gli output con assert.</a:t>
            </a:r>
          </a:p>
        </p:txBody>
      </p:sp>
      <p:sp>
        <p:nvSpPr>
          <p:cNvPr id="89" name="Text 90"/>
          <p:cNvSpPr txBox="1"/>
          <p:nvPr/>
        </p:nvSpPr>
        <p:spPr>
          <a:xfrm>
            <a:off x="812800" y="4102100"/>
            <a:ext cx="406400" cy="2794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03</a:t>
            </a:r>
          </a:p>
        </p:txBody>
      </p:sp>
      <p:sp>
        <p:nvSpPr>
          <p:cNvPr id="90" name="Text 91"/>
          <p:cNvSpPr txBox="1"/>
          <p:nvPr/>
        </p:nvSpPr>
        <p:spPr>
          <a:xfrm>
            <a:off x="1270000" y="4064000"/>
            <a:ext cx="4368800" cy="330200"/>
          </a:xfrm>
          <a:prstGeom prst="rect">
            <a:avLst/>
          </a:prstGeom>
          <a:noFill/>
          <a:ln/>
        </p:spPr>
        <p:txBody>
          <a:bodyPr wrap="square" lIns="0" tIns="0" rIns="0" bIns="0" rtlCol="0" anchor="t">
            <a:noAutofit/>
          </a:bodyPr>
          <a:lstStyle/>
          <a:p>
            <a:pPr marL="0" indent="0" algn="l">
              <a:lnSpc>
                <a:spcPts val="2600"/>
              </a:lnSpc>
              <a:buNone/>
            </a:pPr>
            <a:r>
              <a:rPr lang="it-IT" sz="2000" b="1" noProof="0" dirty="0">
                <a:solidFill>
                  <a:srgbClr val="1B1D20"/>
                </a:solidFill>
                <a:latin typeface="IBM Plex Sans" pitchFamily="34" charset="0"/>
                <a:ea typeface="IBM Plex Sans" pitchFamily="34" charset="-122"/>
                <a:cs typeface="IBM Plex Sans" pitchFamily="34" charset="-120"/>
              </a:rPr>
              <a:t>Integrazione in CI</a:t>
            </a:r>
          </a:p>
        </p:txBody>
      </p:sp>
      <p:sp>
        <p:nvSpPr>
          <p:cNvPr id="91" name="Text 92"/>
          <p:cNvSpPr txBox="1"/>
          <p:nvPr/>
        </p:nvSpPr>
        <p:spPr>
          <a:xfrm>
            <a:off x="1270000" y="4394200"/>
            <a:ext cx="4368800" cy="558800"/>
          </a:xfrm>
          <a:prstGeom prst="rect">
            <a:avLst/>
          </a:prstGeom>
          <a:noFill/>
          <a:ln/>
        </p:spPr>
        <p:txBody>
          <a:bodyPr wrap="square" lIns="0" tIns="0" rIns="0" bIns="0" rtlCol="0" anchor="t">
            <a:noAutofit/>
          </a:bodyPr>
          <a:lstStyle/>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Ogni modifica alle configurazioni avvia il lab e i test nella pipeline.</a:t>
            </a:r>
          </a:p>
        </p:txBody>
      </p:sp>
      <p:sp>
        <p:nvSpPr>
          <p:cNvPr id="93" name="Text 94"/>
          <p:cNvSpPr txBox="1"/>
          <p:nvPr/>
        </p:nvSpPr>
        <p:spPr>
          <a:xfrm>
            <a:off x="812800" y="5143500"/>
            <a:ext cx="406400" cy="2794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04</a:t>
            </a:r>
          </a:p>
        </p:txBody>
      </p:sp>
      <p:sp>
        <p:nvSpPr>
          <p:cNvPr id="94" name="Text 95"/>
          <p:cNvSpPr txBox="1"/>
          <p:nvPr/>
        </p:nvSpPr>
        <p:spPr>
          <a:xfrm>
            <a:off x="1270000" y="5105400"/>
            <a:ext cx="4368800" cy="330200"/>
          </a:xfrm>
          <a:prstGeom prst="rect">
            <a:avLst/>
          </a:prstGeom>
          <a:noFill/>
          <a:ln/>
        </p:spPr>
        <p:txBody>
          <a:bodyPr wrap="square" lIns="0" tIns="0" rIns="0" bIns="0" rtlCol="0" anchor="t">
            <a:noAutofit/>
          </a:bodyPr>
          <a:lstStyle/>
          <a:p>
            <a:pPr marL="0" indent="0" algn="l">
              <a:lnSpc>
                <a:spcPts val="2600"/>
              </a:lnSpc>
              <a:buNone/>
            </a:pPr>
            <a:r>
              <a:rPr lang="it-IT" sz="2000" b="1" noProof="0" dirty="0">
                <a:solidFill>
                  <a:srgbClr val="1B1D20"/>
                </a:solidFill>
                <a:latin typeface="IBM Plex Sans" pitchFamily="34" charset="0"/>
                <a:ea typeface="IBM Plex Sans" pitchFamily="34" charset="-122"/>
                <a:cs typeface="IBM Plex Sans" pitchFamily="34" charset="-120"/>
              </a:rPr>
              <a:t>Ecosistema Python</a:t>
            </a:r>
          </a:p>
        </p:txBody>
      </p:sp>
      <p:sp>
        <p:nvSpPr>
          <p:cNvPr id="95" name="Text 96"/>
          <p:cNvSpPr txBox="1"/>
          <p:nvPr/>
        </p:nvSpPr>
        <p:spPr>
          <a:xfrm>
            <a:off x="1270000" y="5435600"/>
            <a:ext cx="4368800" cy="558800"/>
          </a:xfrm>
          <a:prstGeom prst="rect">
            <a:avLst/>
          </a:prstGeom>
          <a:noFill/>
          <a:ln/>
        </p:spPr>
        <p:txBody>
          <a:bodyPr wrap="square" lIns="0" tIns="0" rIns="0" bIns="0" rtlCol="0" anchor="t">
            <a:noAutofit/>
          </a:bodyPr>
          <a:lstStyle/>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pytest, networkx, parser di output: il lab si integra con il tooling esistente.</a:t>
            </a:r>
          </a:p>
        </p:txBody>
      </p:sp>
      <p:sp>
        <p:nvSpPr>
          <p:cNvPr id="200" name="Code listing"/>
          <p:cNvSpPr txBox="1"/>
          <p:nvPr/>
        </p:nvSpPr>
        <p:spPr>
          <a:xfrm>
            <a:off x="6096000" y="1879600"/>
            <a:ext cx="5283200" cy="4140200"/>
          </a:xfrm>
          <a:prstGeom prst="rect">
            <a:avLst/>
          </a:prstGeom>
          <a:solidFill>
            <a:srgbClr val="17191C"/>
          </a:solidFill>
          <a:ln>
            <a:noFill/>
          </a:ln>
        </p:spPr>
        <p:txBody>
          <a:bodyPr wrap="none" lIns="182880" tIns="146304" rIns="182880" bIns="146304" anchor="ctr">
            <a:noAutofit/>
          </a:bodyPr>
          <a:lstStyle/>
          <a:p>
            <a:pPr marL="0" indent="0">
              <a:lnSpc>
                <a:spcPts val="2000"/>
              </a:lnSpc>
              <a:buNone/>
            </a:pPr>
            <a:r>
              <a:rPr lang="it-IT" sz="1300" dirty="0">
                <a:solidFill>
                  <a:srgbClr val="60A5E3"/>
                </a:solidFill>
                <a:latin typeface="JetBrains Mono" pitchFamily="49" charset="0"/>
                <a:cs typeface="JetBrains Mono" pitchFamily="49" charset="0"/>
              </a:rPr>
              <a:t>from</a:t>
            </a:r>
            <a:r>
              <a:rPr lang="it-IT" sz="1300" dirty="0">
                <a:solidFill>
                  <a:srgbClr val="F2F1EC"/>
                </a:solidFill>
                <a:latin typeface="JetBrains Mono" pitchFamily="49" charset="0"/>
                <a:cs typeface="JetBrains Mono" pitchFamily="49" charset="0"/>
              </a:rPr>
              <a:t> Kathara.manager.Kathara </a:t>
            </a:r>
            <a:r>
              <a:rPr lang="it-IT" sz="1300" dirty="0">
                <a:solidFill>
                  <a:srgbClr val="60A5E3"/>
                </a:solidFill>
                <a:latin typeface="JetBrains Mono" pitchFamily="49" charset="0"/>
                <a:cs typeface="JetBrains Mono" pitchFamily="49" charset="0"/>
              </a:rPr>
              <a:t>import</a:t>
            </a:r>
            <a:r>
              <a:rPr lang="it-IT" sz="1300" dirty="0">
                <a:solidFill>
                  <a:srgbClr val="F2F1EC"/>
                </a:solidFill>
                <a:latin typeface="JetBrains Mono" pitchFamily="49" charset="0"/>
                <a:cs typeface="JetBrains Mono" pitchFamily="49" charset="0"/>
              </a:rPr>
              <a:t> Kathara</a:t>
            </a:r>
          </a:p>
          <a:p>
            <a:pPr marL="0" indent="0">
              <a:lnSpc>
                <a:spcPts val="2000"/>
              </a:lnSpc>
              <a:buNone/>
            </a:pPr>
            <a:r>
              <a:rPr lang="it-IT" sz="1300" dirty="0">
                <a:solidFill>
                  <a:srgbClr val="60A5E3"/>
                </a:solidFill>
                <a:latin typeface="JetBrains Mono" pitchFamily="49" charset="0"/>
                <a:cs typeface="JetBrains Mono" pitchFamily="49" charset="0"/>
              </a:rPr>
              <a:t>from</a:t>
            </a:r>
            <a:r>
              <a:rPr lang="it-IT" sz="1300" dirty="0">
                <a:solidFill>
                  <a:srgbClr val="F2F1EC"/>
                </a:solidFill>
                <a:latin typeface="JetBrains Mono" pitchFamily="49" charset="0"/>
                <a:cs typeface="JetBrains Mono" pitchFamily="49" charset="0"/>
              </a:rPr>
              <a:t> Kathara.model.Lab </a:t>
            </a:r>
            <a:r>
              <a:rPr lang="it-IT" sz="1300" dirty="0">
                <a:solidFill>
                  <a:srgbClr val="60A5E3"/>
                </a:solidFill>
                <a:latin typeface="JetBrains Mono" pitchFamily="49" charset="0"/>
                <a:cs typeface="JetBrains Mono" pitchFamily="49" charset="0"/>
              </a:rPr>
              <a:t>import</a:t>
            </a:r>
            <a:r>
              <a:rPr lang="it-IT" sz="1300" dirty="0">
                <a:solidFill>
                  <a:srgbClr val="F2F1EC"/>
                </a:solidFill>
                <a:latin typeface="JetBrains Mono" pitchFamily="49" charset="0"/>
                <a:cs typeface="JetBrains Mono" pitchFamily="49" charset="0"/>
              </a:rPr>
              <a:t> Lab</a:t>
            </a:r>
          </a:p>
          <a:p>
            <a:pPr marL="0" indent="0">
              <a:lnSpc>
                <a:spcPts val="2000"/>
              </a:lnSpc>
              <a:buNone/>
            </a:pPr>
            <a:endParaRPr lang="it-IT" sz="1300" dirty="0">
              <a:latin typeface="JetBrains Mono" pitchFamily="49" charset="0"/>
              <a:cs typeface="JetBrains Mono" pitchFamily="49" charset="0"/>
            </a:endParaRPr>
          </a:p>
          <a:p>
            <a:pPr marL="0" indent="0">
              <a:lnSpc>
                <a:spcPts val="2000"/>
              </a:lnSpc>
              <a:buNone/>
            </a:pPr>
            <a:r>
              <a:rPr lang="it-IT" sz="1300" dirty="0">
                <a:solidFill>
                  <a:srgbClr val="8A8F96"/>
                </a:solidFill>
                <a:latin typeface="JetBrains Mono" pitchFamily="49" charset="0"/>
                <a:cs typeface="JetBrains Mono" pitchFamily="49" charset="0"/>
              </a:rPr>
              <a:t># 01 topologia generata da codice</a:t>
            </a:r>
          </a:p>
          <a:p>
            <a:pPr marL="0" indent="0">
              <a:lnSpc>
                <a:spcPts val="2000"/>
              </a:lnSpc>
              <a:buNone/>
            </a:pPr>
            <a:r>
              <a:rPr lang="it-IT" sz="1300" dirty="0">
                <a:solidFill>
                  <a:srgbClr val="F2F1EC"/>
                </a:solidFill>
                <a:latin typeface="JetBrains Mono" pitchFamily="49" charset="0"/>
                <a:cs typeface="JetBrains Mono" pitchFamily="49" charset="0"/>
              </a:rPr>
              <a:t>lab = Lab(</a:t>
            </a:r>
            <a:r>
              <a:rPr lang="it-IT" sz="1300" dirty="0">
                <a:solidFill>
                  <a:srgbClr val="8FB8DE"/>
                </a:solidFill>
                <a:latin typeface="JetBrains Mono" pitchFamily="49" charset="0"/>
                <a:cs typeface="JetBrains Mono" pitchFamily="49" charset="0"/>
              </a:rPr>
              <a:t>"chain"</a:t>
            </a:r>
            <a:r>
              <a:rPr lang="it-IT" sz="1300" dirty="0">
                <a:solidFill>
                  <a:srgbClr val="F2F1EC"/>
                </a:solidFill>
                <a:latin typeface="JetBrains Mono" pitchFamily="49" charset="0"/>
                <a:cs typeface="JetBrains Mono" pitchFamily="49" charset="0"/>
              </a:rPr>
              <a:t>)</a:t>
            </a:r>
          </a:p>
          <a:p>
            <a:pPr marL="0" indent="0">
              <a:lnSpc>
                <a:spcPts val="2000"/>
              </a:lnSpc>
              <a:buNone/>
            </a:pPr>
            <a:r>
              <a:rPr lang="it-IT" sz="1300" dirty="0">
                <a:solidFill>
                  <a:srgbClr val="60A5E3"/>
                </a:solidFill>
                <a:latin typeface="JetBrains Mono" pitchFamily="49" charset="0"/>
                <a:cs typeface="JetBrains Mono" pitchFamily="49" charset="0"/>
              </a:rPr>
              <a:t>for</a:t>
            </a:r>
            <a:r>
              <a:rPr lang="it-IT" sz="1300" dirty="0">
                <a:solidFill>
                  <a:srgbClr val="F2F1EC"/>
                </a:solidFill>
                <a:latin typeface="JetBrains Mono" pitchFamily="49" charset="0"/>
                <a:cs typeface="JetBrains Mono" pitchFamily="49" charset="0"/>
              </a:rPr>
              <a:t> i </a:t>
            </a:r>
            <a:r>
              <a:rPr lang="it-IT" sz="1300" dirty="0">
                <a:solidFill>
                  <a:srgbClr val="60A5E3"/>
                </a:solidFill>
                <a:latin typeface="JetBrains Mono" pitchFamily="49" charset="0"/>
                <a:cs typeface="JetBrains Mono" pitchFamily="49" charset="0"/>
              </a:rPr>
              <a:t>in</a:t>
            </a:r>
            <a:r>
              <a:rPr lang="it-IT" sz="1300" dirty="0">
                <a:solidFill>
                  <a:srgbClr val="F2F1EC"/>
                </a:solidFill>
                <a:latin typeface="JetBrains Mono" pitchFamily="49" charset="0"/>
                <a:cs typeface="JetBrains Mono" pitchFamily="49" charset="0"/>
              </a:rPr>
              <a:t> range(50):</a:t>
            </a:r>
          </a:p>
          <a:p>
            <a:pPr marL="0" indent="0">
              <a:lnSpc>
                <a:spcPts val="2000"/>
              </a:lnSpc>
              <a:buNone/>
            </a:pPr>
            <a:r>
              <a:rPr lang="it-IT" sz="1300" dirty="0">
                <a:solidFill>
                  <a:srgbClr val="F2F1EC"/>
                </a:solidFill>
                <a:latin typeface="JetBrains Mono" pitchFamily="49" charset="0"/>
                <a:cs typeface="JetBrains Mono" pitchFamily="49" charset="0"/>
              </a:rPr>
              <a:t>    lab.connect_machine_to_link(</a:t>
            </a:r>
            <a:r>
              <a:rPr lang="it-IT" sz="1300" dirty="0">
                <a:solidFill>
                  <a:srgbClr val="8FB8DE"/>
                </a:solidFill>
                <a:latin typeface="JetBrains Mono" pitchFamily="49" charset="0"/>
                <a:cs typeface="JetBrains Mono" pitchFamily="49" charset="0"/>
              </a:rPr>
              <a:t>f"r{i}"</a:t>
            </a:r>
            <a:r>
              <a:rPr lang="it-IT" sz="1300" dirty="0">
                <a:solidFill>
                  <a:srgbClr val="F2F1EC"/>
                </a:solidFill>
                <a:latin typeface="JetBrains Mono" pitchFamily="49" charset="0"/>
                <a:cs typeface="JetBrains Mono" pitchFamily="49" charset="0"/>
              </a:rPr>
              <a:t>,</a:t>
            </a:r>
          </a:p>
          <a:p>
            <a:pPr marL="0" indent="0">
              <a:lnSpc>
                <a:spcPts val="2000"/>
              </a:lnSpc>
              <a:buNone/>
            </a:pPr>
            <a:r>
              <a:rPr lang="it-IT" sz="1300" dirty="0">
                <a:solidFill>
                  <a:srgbClr val="F2F1EC"/>
                </a:solidFill>
                <a:latin typeface="JetBrains Mono" pitchFamily="49" charset="0"/>
                <a:cs typeface="JetBrains Mono" pitchFamily="49" charset="0"/>
              </a:rPr>
              <a:t>                                </a:t>
            </a:r>
            <a:r>
              <a:rPr lang="it-IT" sz="1300" dirty="0">
                <a:solidFill>
                  <a:srgbClr val="8FB8DE"/>
                </a:solidFill>
                <a:latin typeface="JetBrains Mono" pitchFamily="49" charset="0"/>
                <a:cs typeface="JetBrains Mono" pitchFamily="49" charset="0"/>
              </a:rPr>
              <a:t>f"L{i}"</a:t>
            </a:r>
            <a:r>
              <a:rPr lang="it-IT" sz="1300" dirty="0">
                <a:solidFill>
                  <a:srgbClr val="F2F1EC"/>
                </a:solidFill>
                <a:latin typeface="JetBrains Mono" pitchFamily="49" charset="0"/>
                <a:cs typeface="JetBrains Mono" pitchFamily="49" charset="0"/>
              </a:rPr>
              <a:t>)</a:t>
            </a:r>
          </a:p>
          <a:p>
            <a:pPr marL="0" indent="0">
              <a:lnSpc>
                <a:spcPts val="2000"/>
              </a:lnSpc>
              <a:buNone/>
            </a:pPr>
            <a:r>
              <a:rPr lang="it-IT" sz="1300" dirty="0">
                <a:solidFill>
                  <a:srgbClr val="F2F1EC"/>
                </a:solidFill>
                <a:latin typeface="JetBrains Mono" pitchFamily="49" charset="0"/>
                <a:cs typeface="JetBrains Mono" pitchFamily="49" charset="0"/>
              </a:rPr>
              <a:t>Kathara.get_instance().deploy_lab(lab)</a:t>
            </a:r>
          </a:p>
          <a:p>
            <a:pPr marL="0" indent="0">
              <a:lnSpc>
                <a:spcPts val="2000"/>
              </a:lnSpc>
              <a:buNone/>
            </a:pPr>
            <a:endParaRPr lang="it-IT" sz="1300" dirty="0">
              <a:latin typeface="JetBrains Mono" pitchFamily="49" charset="0"/>
              <a:cs typeface="JetBrains Mono" pitchFamily="49" charset="0"/>
            </a:endParaRPr>
          </a:p>
          <a:p>
            <a:pPr marL="0" indent="0">
              <a:lnSpc>
                <a:spcPts val="2000"/>
              </a:lnSpc>
              <a:buNone/>
            </a:pPr>
            <a:r>
              <a:rPr lang="it-IT" sz="1300" dirty="0">
                <a:solidFill>
                  <a:srgbClr val="8A8F96"/>
                </a:solidFill>
                <a:latin typeface="JetBrains Mono" pitchFamily="49" charset="0"/>
                <a:cs typeface="JetBrains Mono" pitchFamily="49" charset="0"/>
              </a:rPr>
              <a:t># 02 test automatico con pytest</a:t>
            </a:r>
          </a:p>
          <a:p>
            <a:pPr marL="0" indent="0">
              <a:lnSpc>
                <a:spcPts val="2000"/>
              </a:lnSpc>
              <a:buNone/>
            </a:pPr>
            <a:r>
              <a:rPr lang="it-IT" sz="1300" dirty="0">
                <a:solidFill>
                  <a:srgbClr val="60A5E3"/>
                </a:solidFill>
                <a:latin typeface="JetBrains Mono" pitchFamily="49" charset="0"/>
                <a:cs typeface="JetBrains Mono" pitchFamily="49" charset="0"/>
              </a:rPr>
              <a:t>def</a:t>
            </a:r>
            <a:r>
              <a:rPr lang="it-IT" sz="1300" dirty="0">
                <a:solidFill>
                  <a:srgbClr val="F2F1EC"/>
                </a:solidFill>
                <a:latin typeface="JetBrains Mono" pitchFamily="49" charset="0"/>
                <a:cs typeface="JetBrains Mono" pitchFamily="49" charset="0"/>
              </a:rPr>
              <a:t> test_route():</a:t>
            </a:r>
          </a:p>
          <a:p>
            <a:pPr marL="0" indent="0">
              <a:lnSpc>
                <a:spcPts val="2000"/>
              </a:lnSpc>
              <a:buNone/>
            </a:pPr>
            <a:r>
              <a:rPr lang="it-IT" sz="1300" dirty="0">
                <a:solidFill>
                  <a:srgbClr val="F2F1EC"/>
                </a:solidFill>
                <a:latin typeface="JetBrains Mono" pitchFamily="49" charset="0"/>
                <a:cs typeface="JetBrains Mono" pitchFamily="49" charset="0"/>
              </a:rPr>
              <a:t>    out = Kathara.get_instance().exec(</a:t>
            </a:r>
          </a:p>
          <a:p>
            <a:pPr marL="0" indent="0">
              <a:lnSpc>
                <a:spcPts val="2000"/>
              </a:lnSpc>
              <a:buNone/>
            </a:pPr>
            <a:r>
              <a:rPr lang="it-IT" sz="1300" dirty="0">
                <a:solidFill>
                  <a:srgbClr val="F2F1EC"/>
                </a:solidFill>
                <a:latin typeface="JetBrains Mono" pitchFamily="49" charset="0"/>
                <a:cs typeface="JetBrains Mono" pitchFamily="49" charset="0"/>
              </a:rPr>
              <a:t>        </a:t>
            </a:r>
            <a:r>
              <a:rPr lang="it-IT" sz="1300" dirty="0">
                <a:solidFill>
                  <a:srgbClr val="8FB8DE"/>
                </a:solidFill>
                <a:latin typeface="JetBrains Mono" pitchFamily="49" charset="0"/>
                <a:cs typeface="JetBrains Mono" pitchFamily="49" charset="0"/>
              </a:rPr>
              <a:t>"r0"</a:t>
            </a:r>
            <a:r>
              <a:rPr lang="it-IT" sz="1300" dirty="0">
                <a:solidFill>
                  <a:srgbClr val="F2F1EC"/>
                </a:solidFill>
                <a:latin typeface="JetBrains Mono" pitchFamily="49" charset="0"/>
                <a:cs typeface="JetBrains Mono" pitchFamily="49" charset="0"/>
              </a:rPr>
              <a:t>, </a:t>
            </a:r>
            <a:r>
              <a:rPr lang="it-IT" sz="1300" dirty="0">
                <a:solidFill>
                  <a:srgbClr val="8FB8DE"/>
                </a:solidFill>
                <a:latin typeface="JetBrains Mono" pitchFamily="49" charset="0"/>
                <a:cs typeface="JetBrains Mono" pitchFamily="49" charset="0"/>
              </a:rPr>
              <a:t>"ip route"</a:t>
            </a:r>
            <a:r>
              <a:rPr lang="it-IT" sz="1300" dirty="0">
                <a:solidFill>
                  <a:srgbClr val="F2F1EC"/>
                </a:solidFill>
                <a:latin typeface="JetBrains Mono" pitchFamily="49" charset="0"/>
                <a:cs typeface="JetBrains Mono" pitchFamily="49" charset="0"/>
              </a:rPr>
              <a:t>, lab=lab)</a:t>
            </a:r>
          </a:p>
          <a:p>
            <a:pPr marL="0" indent="0">
              <a:lnSpc>
                <a:spcPts val="2000"/>
              </a:lnSpc>
              <a:buNone/>
            </a:pPr>
            <a:r>
              <a:rPr lang="it-IT" sz="1300" dirty="0">
                <a:solidFill>
                  <a:srgbClr val="F2F1EC"/>
                </a:solidFill>
                <a:latin typeface="JetBrains Mono" pitchFamily="49" charset="0"/>
                <a:cs typeface="JetBrains Mono" pitchFamily="49" charset="0"/>
              </a:rPr>
              <a:t>    </a:t>
            </a:r>
            <a:r>
              <a:rPr lang="it-IT" sz="1300" dirty="0">
                <a:solidFill>
                  <a:srgbClr val="60A5E3"/>
                </a:solidFill>
                <a:latin typeface="JetBrains Mono" pitchFamily="49" charset="0"/>
                <a:cs typeface="JetBrains Mono" pitchFamily="49" charset="0"/>
              </a:rPr>
              <a:t>assert</a:t>
            </a:r>
            <a:r>
              <a:rPr lang="it-IT" sz="1300" dirty="0">
                <a:solidFill>
                  <a:srgbClr val="F2F1EC"/>
                </a:solidFill>
                <a:latin typeface="JetBrains Mono" pitchFamily="49" charset="0"/>
                <a:cs typeface="JetBrains Mono" pitchFamily="49" charset="0"/>
              </a:rPr>
              <a:t> </a:t>
            </a:r>
            <a:r>
              <a:rPr lang="it-IT" sz="1300" dirty="0">
                <a:solidFill>
                  <a:srgbClr val="8FB8DE"/>
                </a:solidFill>
                <a:latin typeface="JetBrains Mono" pitchFamily="49" charset="0"/>
                <a:cs typeface="JetBrains Mono" pitchFamily="49" charset="0"/>
              </a:rPr>
              <a:t>"10.0."</a:t>
            </a:r>
            <a:r>
              <a:rPr lang="it-IT" sz="1300" dirty="0">
                <a:solidFill>
                  <a:srgbClr val="F2F1EC"/>
                </a:solidFill>
                <a:latin typeface="JetBrains Mono" pitchFamily="49" charset="0"/>
                <a:cs typeface="JetBrains Mono" pitchFamily="49" charset="0"/>
              </a:rPr>
              <a:t> </a:t>
            </a:r>
            <a:r>
              <a:rPr lang="it-IT" sz="1300" dirty="0">
                <a:solidFill>
                  <a:srgbClr val="60A5E3"/>
                </a:solidFill>
                <a:latin typeface="JetBrains Mono" pitchFamily="49" charset="0"/>
                <a:cs typeface="JetBrains Mono" pitchFamily="49" charset="0"/>
              </a:rPr>
              <a:t>in</a:t>
            </a:r>
            <a:r>
              <a:rPr lang="it-IT" sz="1300" dirty="0">
                <a:solidFill>
                  <a:srgbClr val="F2F1EC"/>
                </a:solidFill>
                <a:latin typeface="JetBrains Mono" pitchFamily="49" charset="0"/>
                <a:cs typeface="JetBrains Mono" pitchFamily="49" charset="0"/>
              </a:rPr>
              <a:t> str(list(out))</a:t>
            </a:r>
          </a:p>
        </p:txBody>
      </p:sp>
    </p:spTree>
    <p:extLst>
      <p:ext uri="{BB962C8B-B14F-4D97-AF65-F5344CB8AC3E}">
        <p14:creationId xmlns:p14="http://schemas.microsoft.com/office/powerpoint/2010/main" val="4244504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25" name="Text 20"/>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noProof="0" dirty="0"/>
              <a:t>E se lo scenario di rete è troppo grande per un pc? </a:t>
            </a:r>
          </a:p>
        </p:txBody>
      </p:sp>
      <p:sp>
        <p:nvSpPr>
          <p:cNvPr id="100" name="Text 101"/>
          <p:cNvSpPr txBox="1"/>
          <p:nvPr/>
        </p:nvSpPr>
        <p:spPr>
          <a:xfrm>
            <a:off x="812800" y="1905000"/>
            <a:ext cx="3810000" cy="254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un solo host</a:t>
            </a:r>
          </a:p>
        </p:txBody>
      </p:sp>
      <p:sp>
        <p:nvSpPr>
          <p:cNvPr id="101" name="Sq 102"/>
          <p:cNvSpPr/>
          <p:nvPr/>
        </p:nvSpPr>
        <p:spPr>
          <a:xfrm>
            <a:off x="812800" y="2235200"/>
            <a:ext cx="4064000" cy="2946400"/>
          </a:xfrm>
          <a:prstGeom prst="rect">
            <a:avLst/>
          </a:prstGeom>
          <a:noFill/>
          <a:ln w="19050">
            <a:solidFill>
              <a:srgbClr val="1B1D20"/>
            </a:solidFill>
          </a:ln>
        </p:spPr>
        <p:txBody>
          <a:bodyPr/>
          <a:lstStyle/>
          <a:p>
            <a:endParaRPr lang="it-IT" dirty="0"/>
          </a:p>
        </p:txBody>
      </p:sp>
      <p:sp>
        <p:nvSpPr>
          <p:cNvPr id="102" name="Sq 103"/>
          <p:cNvSpPr/>
          <p:nvPr/>
        </p:nvSpPr>
        <p:spPr>
          <a:xfrm>
            <a:off x="1016000" y="2438400"/>
            <a:ext cx="304800" cy="304800"/>
          </a:xfrm>
          <a:prstGeom prst="rect">
            <a:avLst/>
          </a:prstGeom>
          <a:solidFill>
            <a:srgbClr val="60A5E3"/>
          </a:solidFill>
          <a:ln>
            <a:noFill/>
          </a:ln>
        </p:spPr>
        <p:txBody>
          <a:bodyPr/>
          <a:lstStyle/>
          <a:p>
            <a:endParaRPr lang="it-IT" dirty="0"/>
          </a:p>
        </p:txBody>
      </p:sp>
      <p:sp>
        <p:nvSpPr>
          <p:cNvPr id="103" name="Sq 104"/>
          <p:cNvSpPr/>
          <p:nvPr/>
        </p:nvSpPr>
        <p:spPr>
          <a:xfrm>
            <a:off x="1422400" y="2438400"/>
            <a:ext cx="304800" cy="304800"/>
          </a:xfrm>
          <a:prstGeom prst="rect">
            <a:avLst/>
          </a:prstGeom>
          <a:solidFill>
            <a:srgbClr val="60A5E3"/>
          </a:solidFill>
          <a:ln>
            <a:noFill/>
          </a:ln>
        </p:spPr>
        <p:txBody>
          <a:bodyPr/>
          <a:lstStyle/>
          <a:p>
            <a:endParaRPr lang="it-IT" dirty="0"/>
          </a:p>
        </p:txBody>
      </p:sp>
      <p:sp>
        <p:nvSpPr>
          <p:cNvPr id="104" name="Sq 105"/>
          <p:cNvSpPr/>
          <p:nvPr/>
        </p:nvSpPr>
        <p:spPr>
          <a:xfrm>
            <a:off x="1828800" y="2438400"/>
            <a:ext cx="304800" cy="304800"/>
          </a:xfrm>
          <a:prstGeom prst="rect">
            <a:avLst/>
          </a:prstGeom>
          <a:solidFill>
            <a:srgbClr val="60A5E3"/>
          </a:solidFill>
          <a:ln>
            <a:noFill/>
          </a:ln>
        </p:spPr>
        <p:txBody>
          <a:bodyPr/>
          <a:lstStyle/>
          <a:p>
            <a:endParaRPr lang="it-IT" dirty="0"/>
          </a:p>
        </p:txBody>
      </p:sp>
      <p:sp>
        <p:nvSpPr>
          <p:cNvPr id="105" name="Sq 106"/>
          <p:cNvSpPr/>
          <p:nvPr/>
        </p:nvSpPr>
        <p:spPr>
          <a:xfrm>
            <a:off x="2235200" y="2438400"/>
            <a:ext cx="304800" cy="304800"/>
          </a:xfrm>
          <a:prstGeom prst="rect">
            <a:avLst/>
          </a:prstGeom>
          <a:solidFill>
            <a:srgbClr val="60A5E3"/>
          </a:solidFill>
          <a:ln>
            <a:noFill/>
          </a:ln>
        </p:spPr>
        <p:txBody>
          <a:bodyPr/>
          <a:lstStyle/>
          <a:p>
            <a:endParaRPr lang="it-IT" dirty="0"/>
          </a:p>
        </p:txBody>
      </p:sp>
      <p:sp>
        <p:nvSpPr>
          <p:cNvPr id="106" name="Sq 107"/>
          <p:cNvSpPr/>
          <p:nvPr/>
        </p:nvSpPr>
        <p:spPr>
          <a:xfrm>
            <a:off x="2641600" y="2438400"/>
            <a:ext cx="304800" cy="304800"/>
          </a:xfrm>
          <a:prstGeom prst="rect">
            <a:avLst/>
          </a:prstGeom>
          <a:solidFill>
            <a:srgbClr val="60A5E3"/>
          </a:solidFill>
          <a:ln>
            <a:noFill/>
          </a:ln>
        </p:spPr>
        <p:txBody>
          <a:bodyPr/>
          <a:lstStyle/>
          <a:p>
            <a:endParaRPr lang="it-IT" dirty="0"/>
          </a:p>
        </p:txBody>
      </p:sp>
      <p:sp>
        <p:nvSpPr>
          <p:cNvPr id="107" name="Sq 108"/>
          <p:cNvSpPr/>
          <p:nvPr/>
        </p:nvSpPr>
        <p:spPr>
          <a:xfrm>
            <a:off x="3048000" y="2438400"/>
            <a:ext cx="304800" cy="304800"/>
          </a:xfrm>
          <a:prstGeom prst="rect">
            <a:avLst/>
          </a:prstGeom>
          <a:solidFill>
            <a:srgbClr val="60A5E3"/>
          </a:solidFill>
          <a:ln>
            <a:noFill/>
          </a:ln>
        </p:spPr>
        <p:txBody>
          <a:bodyPr/>
          <a:lstStyle/>
          <a:p>
            <a:endParaRPr lang="it-IT" dirty="0"/>
          </a:p>
        </p:txBody>
      </p:sp>
      <p:sp>
        <p:nvSpPr>
          <p:cNvPr id="108" name="Sq 109"/>
          <p:cNvSpPr/>
          <p:nvPr/>
        </p:nvSpPr>
        <p:spPr>
          <a:xfrm>
            <a:off x="3454400" y="2438400"/>
            <a:ext cx="304800" cy="304800"/>
          </a:xfrm>
          <a:prstGeom prst="rect">
            <a:avLst/>
          </a:prstGeom>
          <a:solidFill>
            <a:srgbClr val="60A5E3"/>
          </a:solidFill>
          <a:ln>
            <a:noFill/>
          </a:ln>
        </p:spPr>
        <p:txBody>
          <a:bodyPr/>
          <a:lstStyle/>
          <a:p>
            <a:endParaRPr lang="it-IT" dirty="0"/>
          </a:p>
        </p:txBody>
      </p:sp>
      <p:sp>
        <p:nvSpPr>
          <p:cNvPr id="109" name="Sq 110"/>
          <p:cNvSpPr/>
          <p:nvPr/>
        </p:nvSpPr>
        <p:spPr>
          <a:xfrm>
            <a:off x="3860800" y="2438400"/>
            <a:ext cx="304800" cy="304800"/>
          </a:xfrm>
          <a:prstGeom prst="rect">
            <a:avLst/>
          </a:prstGeom>
          <a:solidFill>
            <a:srgbClr val="60A5E3"/>
          </a:solidFill>
          <a:ln>
            <a:noFill/>
          </a:ln>
        </p:spPr>
        <p:txBody>
          <a:bodyPr/>
          <a:lstStyle/>
          <a:p>
            <a:endParaRPr lang="it-IT" dirty="0"/>
          </a:p>
        </p:txBody>
      </p:sp>
      <p:sp>
        <p:nvSpPr>
          <p:cNvPr id="110" name="Sq 111"/>
          <p:cNvSpPr/>
          <p:nvPr/>
        </p:nvSpPr>
        <p:spPr>
          <a:xfrm>
            <a:off x="4267200" y="2438400"/>
            <a:ext cx="304800" cy="304800"/>
          </a:xfrm>
          <a:prstGeom prst="rect">
            <a:avLst/>
          </a:prstGeom>
          <a:solidFill>
            <a:srgbClr val="60A5E3"/>
          </a:solidFill>
          <a:ln>
            <a:noFill/>
          </a:ln>
        </p:spPr>
        <p:txBody>
          <a:bodyPr/>
          <a:lstStyle/>
          <a:p>
            <a:endParaRPr lang="it-IT" dirty="0"/>
          </a:p>
        </p:txBody>
      </p:sp>
      <p:sp>
        <p:nvSpPr>
          <p:cNvPr id="111" name="Sq 112"/>
          <p:cNvSpPr/>
          <p:nvPr/>
        </p:nvSpPr>
        <p:spPr>
          <a:xfrm>
            <a:off x="1016000" y="2844800"/>
            <a:ext cx="304800" cy="304800"/>
          </a:xfrm>
          <a:prstGeom prst="rect">
            <a:avLst/>
          </a:prstGeom>
          <a:solidFill>
            <a:srgbClr val="60A5E3"/>
          </a:solidFill>
          <a:ln>
            <a:noFill/>
          </a:ln>
        </p:spPr>
        <p:txBody>
          <a:bodyPr/>
          <a:lstStyle/>
          <a:p>
            <a:endParaRPr lang="it-IT" dirty="0"/>
          </a:p>
        </p:txBody>
      </p:sp>
      <p:sp>
        <p:nvSpPr>
          <p:cNvPr id="112" name="Sq 113"/>
          <p:cNvSpPr/>
          <p:nvPr/>
        </p:nvSpPr>
        <p:spPr>
          <a:xfrm>
            <a:off x="1422400" y="2844800"/>
            <a:ext cx="304800" cy="304800"/>
          </a:xfrm>
          <a:prstGeom prst="rect">
            <a:avLst/>
          </a:prstGeom>
          <a:solidFill>
            <a:srgbClr val="60A5E3"/>
          </a:solidFill>
          <a:ln>
            <a:noFill/>
          </a:ln>
        </p:spPr>
        <p:txBody>
          <a:bodyPr/>
          <a:lstStyle/>
          <a:p>
            <a:endParaRPr lang="it-IT" dirty="0"/>
          </a:p>
        </p:txBody>
      </p:sp>
      <p:sp>
        <p:nvSpPr>
          <p:cNvPr id="113" name="Sq 114"/>
          <p:cNvSpPr/>
          <p:nvPr/>
        </p:nvSpPr>
        <p:spPr>
          <a:xfrm>
            <a:off x="1828800" y="2844800"/>
            <a:ext cx="304800" cy="304800"/>
          </a:xfrm>
          <a:prstGeom prst="rect">
            <a:avLst/>
          </a:prstGeom>
          <a:solidFill>
            <a:srgbClr val="60A5E3"/>
          </a:solidFill>
          <a:ln>
            <a:noFill/>
          </a:ln>
        </p:spPr>
        <p:txBody>
          <a:bodyPr/>
          <a:lstStyle/>
          <a:p>
            <a:endParaRPr lang="it-IT" dirty="0"/>
          </a:p>
        </p:txBody>
      </p:sp>
      <p:sp>
        <p:nvSpPr>
          <p:cNvPr id="114" name="Sq 115"/>
          <p:cNvSpPr/>
          <p:nvPr/>
        </p:nvSpPr>
        <p:spPr>
          <a:xfrm>
            <a:off x="2235200" y="2844800"/>
            <a:ext cx="304800" cy="304800"/>
          </a:xfrm>
          <a:prstGeom prst="rect">
            <a:avLst/>
          </a:prstGeom>
          <a:solidFill>
            <a:srgbClr val="60A5E3"/>
          </a:solidFill>
          <a:ln>
            <a:noFill/>
          </a:ln>
        </p:spPr>
        <p:txBody>
          <a:bodyPr/>
          <a:lstStyle/>
          <a:p>
            <a:endParaRPr lang="it-IT" dirty="0"/>
          </a:p>
        </p:txBody>
      </p:sp>
      <p:sp>
        <p:nvSpPr>
          <p:cNvPr id="115" name="Sq 116"/>
          <p:cNvSpPr/>
          <p:nvPr/>
        </p:nvSpPr>
        <p:spPr>
          <a:xfrm>
            <a:off x="2641600" y="2844800"/>
            <a:ext cx="304800" cy="304800"/>
          </a:xfrm>
          <a:prstGeom prst="rect">
            <a:avLst/>
          </a:prstGeom>
          <a:solidFill>
            <a:srgbClr val="60A5E3"/>
          </a:solidFill>
          <a:ln>
            <a:noFill/>
          </a:ln>
        </p:spPr>
        <p:txBody>
          <a:bodyPr/>
          <a:lstStyle/>
          <a:p>
            <a:endParaRPr lang="it-IT" dirty="0"/>
          </a:p>
        </p:txBody>
      </p:sp>
      <p:sp>
        <p:nvSpPr>
          <p:cNvPr id="116" name="Sq 117"/>
          <p:cNvSpPr/>
          <p:nvPr/>
        </p:nvSpPr>
        <p:spPr>
          <a:xfrm>
            <a:off x="3048000" y="2844800"/>
            <a:ext cx="304800" cy="304800"/>
          </a:xfrm>
          <a:prstGeom prst="rect">
            <a:avLst/>
          </a:prstGeom>
          <a:solidFill>
            <a:srgbClr val="60A5E3"/>
          </a:solidFill>
          <a:ln>
            <a:noFill/>
          </a:ln>
        </p:spPr>
        <p:txBody>
          <a:bodyPr/>
          <a:lstStyle/>
          <a:p>
            <a:endParaRPr lang="it-IT" dirty="0"/>
          </a:p>
        </p:txBody>
      </p:sp>
      <p:sp>
        <p:nvSpPr>
          <p:cNvPr id="117" name="Sq 118"/>
          <p:cNvSpPr/>
          <p:nvPr/>
        </p:nvSpPr>
        <p:spPr>
          <a:xfrm>
            <a:off x="3454400" y="2844800"/>
            <a:ext cx="304800" cy="304800"/>
          </a:xfrm>
          <a:prstGeom prst="rect">
            <a:avLst/>
          </a:prstGeom>
          <a:solidFill>
            <a:srgbClr val="60A5E3"/>
          </a:solidFill>
          <a:ln>
            <a:noFill/>
          </a:ln>
        </p:spPr>
        <p:txBody>
          <a:bodyPr/>
          <a:lstStyle/>
          <a:p>
            <a:endParaRPr lang="it-IT" dirty="0"/>
          </a:p>
        </p:txBody>
      </p:sp>
      <p:sp>
        <p:nvSpPr>
          <p:cNvPr id="118" name="Sq 119"/>
          <p:cNvSpPr/>
          <p:nvPr/>
        </p:nvSpPr>
        <p:spPr>
          <a:xfrm>
            <a:off x="3860800" y="2844800"/>
            <a:ext cx="304800" cy="304800"/>
          </a:xfrm>
          <a:prstGeom prst="rect">
            <a:avLst/>
          </a:prstGeom>
          <a:solidFill>
            <a:srgbClr val="60A5E3"/>
          </a:solidFill>
          <a:ln>
            <a:noFill/>
          </a:ln>
        </p:spPr>
        <p:txBody>
          <a:bodyPr/>
          <a:lstStyle/>
          <a:p>
            <a:endParaRPr lang="it-IT" dirty="0"/>
          </a:p>
        </p:txBody>
      </p:sp>
      <p:sp>
        <p:nvSpPr>
          <p:cNvPr id="119" name="Sq 120"/>
          <p:cNvSpPr/>
          <p:nvPr/>
        </p:nvSpPr>
        <p:spPr>
          <a:xfrm>
            <a:off x="4267200" y="2844800"/>
            <a:ext cx="304800" cy="304800"/>
          </a:xfrm>
          <a:prstGeom prst="rect">
            <a:avLst/>
          </a:prstGeom>
          <a:solidFill>
            <a:srgbClr val="60A5E3"/>
          </a:solidFill>
          <a:ln>
            <a:noFill/>
          </a:ln>
        </p:spPr>
        <p:txBody>
          <a:bodyPr/>
          <a:lstStyle/>
          <a:p>
            <a:endParaRPr lang="it-IT" dirty="0"/>
          </a:p>
        </p:txBody>
      </p:sp>
      <p:sp>
        <p:nvSpPr>
          <p:cNvPr id="120" name="Sq 121"/>
          <p:cNvSpPr/>
          <p:nvPr/>
        </p:nvSpPr>
        <p:spPr>
          <a:xfrm>
            <a:off x="1016000" y="3251200"/>
            <a:ext cx="304800" cy="304800"/>
          </a:xfrm>
          <a:prstGeom prst="rect">
            <a:avLst/>
          </a:prstGeom>
          <a:solidFill>
            <a:srgbClr val="60A5E3"/>
          </a:solidFill>
          <a:ln>
            <a:noFill/>
          </a:ln>
        </p:spPr>
        <p:txBody>
          <a:bodyPr/>
          <a:lstStyle/>
          <a:p>
            <a:endParaRPr lang="it-IT" dirty="0"/>
          </a:p>
        </p:txBody>
      </p:sp>
      <p:sp>
        <p:nvSpPr>
          <p:cNvPr id="121" name="Sq 122"/>
          <p:cNvSpPr/>
          <p:nvPr/>
        </p:nvSpPr>
        <p:spPr>
          <a:xfrm>
            <a:off x="1422400" y="3251200"/>
            <a:ext cx="304800" cy="304800"/>
          </a:xfrm>
          <a:prstGeom prst="rect">
            <a:avLst/>
          </a:prstGeom>
          <a:solidFill>
            <a:srgbClr val="60A5E3"/>
          </a:solidFill>
          <a:ln>
            <a:noFill/>
          </a:ln>
        </p:spPr>
        <p:txBody>
          <a:bodyPr/>
          <a:lstStyle/>
          <a:p>
            <a:endParaRPr lang="it-IT" dirty="0"/>
          </a:p>
        </p:txBody>
      </p:sp>
      <p:sp>
        <p:nvSpPr>
          <p:cNvPr id="122" name="Sq 123"/>
          <p:cNvSpPr/>
          <p:nvPr/>
        </p:nvSpPr>
        <p:spPr>
          <a:xfrm>
            <a:off x="1828800" y="3251200"/>
            <a:ext cx="304800" cy="304800"/>
          </a:xfrm>
          <a:prstGeom prst="rect">
            <a:avLst/>
          </a:prstGeom>
          <a:solidFill>
            <a:srgbClr val="60A5E3"/>
          </a:solidFill>
          <a:ln>
            <a:noFill/>
          </a:ln>
        </p:spPr>
        <p:txBody>
          <a:bodyPr/>
          <a:lstStyle/>
          <a:p>
            <a:endParaRPr lang="it-IT" dirty="0"/>
          </a:p>
        </p:txBody>
      </p:sp>
      <p:sp>
        <p:nvSpPr>
          <p:cNvPr id="123" name="Sq 124"/>
          <p:cNvSpPr/>
          <p:nvPr/>
        </p:nvSpPr>
        <p:spPr>
          <a:xfrm>
            <a:off x="2235200" y="3251200"/>
            <a:ext cx="304800" cy="304800"/>
          </a:xfrm>
          <a:prstGeom prst="rect">
            <a:avLst/>
          </a:prstGeom>
          <a:solidFill>
            <a:srgbClr val="60A5E3"/>
          </a:solidFill>
          <a:ln>
            <a:noFill/>
          </a:ln>
        </p:spPr>
        <p:txBody>
          <a:bodyPr/>
          <a:lstStyle/>
          <a:p>
            <a:endParaRPr lang="it-IT" dirty="0"/>
          </a:p>
        </p:txBody>
      </p:sp>
      <p:sp>
        <p:nvSpPr>
          <p:cNvPr id="124" name="Sq 125"/>
          <p:cNvSpPr/>
          <p:nvPr/>
        </p:nvSpPr>
        <p:spPr>
          <a:xfrm>
            <a:off x="2641600" y="3251200"/>
            <a:ext cx="304800" cy="304800"/>
          </a:xfrm>
          <a:prstGeom prst="rect">
            <a:avLst/>
          </a:prstGeom>
          <a:solidFill>
            <a:srgbClr val="60A5E3"/>
          </a:solidFill>
          <a:ln>
            <a:noFill/>
          </a:ln>
        </p:spPr>
        <p:txBody>
          <a:bodyPr/>
          <a:lstStyle/>
          <a:p>
            <a:endParaRPr lang="it-IT" dirty="0"/>
          </a:p>
        </p:txBody>
      </p:sp>
      <p:sp>
        <p:nvSpPr>
          <p:cNvPr id="125" name="Sq 126"/>
          <p:cNvSpPr/>
          <p:nvPr/>
        </p:nvSpPr>
        <p:spPr>
          <a:xfrm>
            <a:off x="3048000" y="3251200"/>
            <a:ext cx="304800" cy="304800"/>
          </a:xfrm>
          <a:prstGeom prst="rect">
            <a:avLst/>
          </a:prstGeom>
          <a:solidFill>
            <a:srgbClr val="60A5E3"/>
          </a:solidFill>
          <a:ln>
            <a:noFill/>
          </a:ln>
        </p:spPr>
        <p:txBody>
          <a:bodyPr/>
          <a:lstStyle/>
          <a:p>
            <a:endParaRPr lang="it-IT" dirty="0"/>
          </a:p>
        </p:txBody>
      </p:sp>
      <p:sp>
        <p:nvSpPr>
          <p:cNvPr id="126" name="Sq 127"/>
          <p:cNvSpPr/>
          <p:nvPr/>
        </p:nvSpPr>
        <p:spPr>
          <a:xfrm>
            <a:off x="3454400" y="3251200"/>
            <a:ext cx="304800" cy="304800"/>
          </a:xfrm>
          <a:prstGeom prst="rect">
            <a:avLst/>
          </a:prstGeom>
          <a:solidFill>
            <a:srgbClr val="60A5E3"/>
          </a:solidFill>
          <a:ln>
            <a:noFill/>
          </a:ln>
        </p:spPr>
        <p:txBody>
          <a:bodyPr/>
          <a:lstStyle/>
          <a:p>
            <a:endParaRPr lang="it-IT" dirty="0"/>
          </a:p>
        </p:txBody>
      </p:sp>
      <p:sp>
        <p:nvSpPr>
          <p:cNvPr id="127" name="Sq 128"/>
          <p:cNvSpPr/>
          <p:nvPr/>
        </p:nvSpPr>
        <p:spPr>
          <a:xfrm>
            <a:off x="3860800" y="3251200"/>
            <a:ext cx="304800" cy="304800"/>
          </a:xfrm>
          <a:prstGeom prst="rect">
            <a:avLst/>
          </a:prstGeom>
          <a:solidFill>
            <a:srgbClr val="60A5E3"/>
          </a:solidFill>
          <a:ln>
            <a:noFill/>
          </a:ln>
        </p:spPr>
        <p:txBody>
          <a:bodyPr/>
          <a:lstStyle/>
          <a:p>
            <a:endParaRPr lang="it-IT" dirty="0"/>
          </a:p>
        </p:txBody>
      </p:sp>
      <p:sp>
        <p:nvSpPr>
          <p:cNvPr id="128" name="Sq 129"/>
          <p:cNvSpPr/>
          <p:nvPr/>
        </p:nvSpPr>
        <p:spPr>
          <a:xfrm>
            <a:off x="4267200" y="3251200"/>
            <a:ext cx="304800" cy="304800"/>
          </a:xfrm>
          <a:prstGeom prst="rect">
            <a:avLst/>
          </a:prstGeom>
          <a:solidFill>
            <a:srgbClr val="60A5E3"/>
          </a:solidFill>
          <a:ln>
            <a:noFill/>
          </a:ln>
        </p:spPr>
        <p:txBody>
          <a:bodyPr/>
          <a:lstStyle/>
          <a:p>
            <a:endParaRPr lang="it-IT" dirty="0"/>
          </a:p>
        </p:txBody>
      </p:sp>
      <p:sp>
        <p:nvSpPr>
          <p:cNvPr id="129" name="Sq 130"/>
          <p:cNvSpPr/>
          <p:nvPr/>
        </p:nvSpPr>
        <p:spPr>
          <a:xfrm>
            <a:off x="1016000" y="3657600"/>
            <a:ext cx="304800" cy="304800"/>
          </a:xfrm>
          <a:prstGeom prst="rect">
            <a:avLst/>
          </a:prstGeom>
          <a:solidFill>
            <a:srgbClr val="60A5E3"/>
          </a:solidFill>
          <a:ln>
            <a:noFill/>
          </a:ln>
        </p:spPr>
        <p:txBody>
          <a:bodyPr/>
          <a:lstStyle/>
          <a:p>
            <a:endParaRPr lang="it-IT" dirty="0"/>
          </a:p>
        </p:txBody>
      </p:sp>
      <p:sp>
        <p:nvSpPr>
          <p:cNvPr id="130" name="Sq 131"/>
          <p:cNvSpPr/>
          <p:nvPr/>
        </p:nvSpPr>
        <p:spPr>
          <a:xfrm>
            <a:off x="1422400" y="3657600"/>
            <a:ext cx="304800" cy="304800"/>
          </a:xfrm>
          <a:prstGeom prst="rect">
            <a:avLst/>
          </a:prstGeom>
          <a:solidFill>
            <a:srgbClr val="60A5E3"/>
          </a:solidFill>
          <a:ln>
            <a:noFill/>
          </a:ln>
        </p:spPr>
        <p:txBody>
          <a:bodyPr/>
          <a:lstStyle/>
          <a:p>
            <a:endParaRPr lang="it-IT" dirty="0"/>
          </a:p>
        </p:txBody>
      </p:sp>
      <p:sp>
        <p:nvSpPr>
          <p:cNvPr id="131" name="Sq 132"/>
          <p:cNvSpPr/>
          <p:nvPr/>
        </p:nvSpPr>
        <p:spPr>
          <a:xfrm>
            <a:off x="1828800" y="3657600"/>
            <a:ext cx="304800" cy="304800"/>
          </a:xfrm>
          <a:prstGeom prst="rect">
            <a:avLst/>
          </a:prstGeom>
          <a:solidFill>
            <a:srgbClr val="60A5E3"/>
          </a:solidFill>
          <a:ln>
            <a:noFill/>
          </a:ln>
        </p:spPr>
        <p:txBody>
          <a:bodyPr/>
          <a:lstStyle/>
          <a:p>
            <a:endParaRPr lang="it-IT" dirty="0"/>
          </a:p>
        </p:txBody>
      </p:sp>
      <p:sp>
        <p:nvSpPr>
          <p:cNvPr id="132" name="Sq 133"/>
          <p:cNvSpPr/>
          <p:nvPr/>
        </p:nvSpPr>
        <p:spPr>
          <a:xfrm>
            <a:off x="2235200" y="3657600"/>
            <a:ext cx="304800" cy="304800"/>
          </a:xfrm>
          <a:prstGeom prst="rect">
            <a:avLst/>
          </a:prstGeom>
          <a:solidFill>
            <a:srgbClr val="60A5E3"/>
          </a:solidFill>
          <a:ln>
            <a:noFill/>
          </a:ln>
        </p:spPr>
        <p:txBody>
          <a:bodyPr/>
          <a:lstStyle/>
          <a:p>
            <a:endParaRPr lang="it-IT" dirty="0"/>
          </a:p>
        </p:txBody>
      </p:sp>
      <p:sp>
        <p:nvSpPr>
          <p:cNvPr id="133" name="Sq 134"/>
          <p:cNvSpPr/>
          <p:nvPr/>
        </p:nvSpPr>
        <p:spPr>
          <a:xfrm>
            <a:off x="2641600" y="3657600"/>
            <a:ext cx="304800" cy="304800"/>
          </a:xfrm>
          <a:prstGeom prst="rect">
            <a:avLst/>
          </a:prstGeom>
          <a:solidFill>
            <a:srgbClr val="60A5E3"/>
          </a:solidFill>
          <a:ln>
            <a:noFill/>
          </a:ln>
        </p:spPr>
        <p:txBody>
          <a:bodyPr/>
          <a:lstStyle/>
          <a:p>
            <a:endParaRPr lang="it-IT" dirty="0"/>
          </a:p>
        </p:txBody>
      </p:sp>
      <p:sp>
        <p:nvSpPr>
          <p:cNvPr id="134" name="Sq 135"/>
          <p:cNvSpPr/>
          <p:nvPr/>
        </p:nvSpPr>
        <p:spPr>
          <a:xfrm>
            <a:off x="3048000" y="3657600"/>
            <a:ext cx="304800" cy="304800"/>
          </a:xfrm>
          <a:prstGeom prst="rect">
            <a:avLst/>
          </a:prstGeom>
          <a:solidFill>
            <a:srgbClr val="60A5E3"/>
          </a:solidFill>
          <a:ln>
            <a:noFill/>
          </a:ln>
        </p:spPr>
        <p:txBody>
          <a:bodyPr/>
          <a:lstStyle/>
          <a:p>
            <a:endParaRPr lang="it-IT" dirty="0"/>
          </a:p>
        </p:txBody>
      </p:sp>
      <p:sp>
        <p:nvSpPr>
          <p:cNvPr id="135" name="Sq 136"/>
          <p:cNvSpPr/>
          <p:nvPr/>
        </p:nvSpPr>
        <p:spPr>
          <a:xfrm>
            <a:off x="3454400" y="3657600"/>
            <a:ext cx="304800" cy="304800"/>
          </a:xfrm>
          <a:prstGeom prst="rect">
            <a:avLst/>
          </a:prstGeom>
          <a:solidFill>
            <a:srgbClr val="60A5E3"/>
          </a:solidFill>
          <a:ln>
            <a:noFill/>
          </a:ln>
        </p:spPr>
        <p:txBody>
          <a:bodyPr/>
          <a:lstStyle/>
          <a:p>
            <a:endParaRPr lang="it-IT" dirty="0"/>
          </a:p>
        </p:txBody>
      </p:sp>
      <p:sp>
        <p:nvSpPr>
          <p:cNvPr id="136" name="Sq 137"/>
          <p:cNvSpPr/>
          <p:nvPr/>
        </p:nvSpPr>
        <p:spPr>
          <a:xfrm>
            <a:off x="3860800" y="3657600"/>
            <a:ext cx="304800" cy="304800"/>
          </a:xfrm>
          <a:prstGeom prst="rect">
            <a:avLst/>
          </a:prstGeom>
          <a:solidFill>
            <a:srgbClr val="60A5E3"/>
          </a:solidFill>
          <a:ln>
            <a:noFill/>
          </a:ln>
        </p:spPr>
        <p:txBody>
          <a:bodyPr/>
          <a:lstStyle/>
          <a:p>
            <a:endParaRPr lang="it-IT" dirty="0"/>
          </a:p>
        </p:txBody>
      </p:sp>
      <p:sp>
        <p:nvSpPr>
          <p:cNvPr id="137" name="Sq 138"/>
          <p:cNvSpPr/>
          <p:nvPr/>
        </p:nvSpPr>
        <p:spPr>
          <a:xfrm>
            <a:off x="4267200" y="3657600"/>
            <a:ext cx="304800" cy="304800"/>
          </a:xfrm>
          <a:prstGeom prst="rect">
            <a:avLst/>
          </a:prstGeom>
          <a:solidFill>
            <a:srgbClr val="60A5E3"/>
          </a:solidFill>
          <a:ln>
            <a:noFill/>
          </a:ln>
        </p:spPr>
        <p:txBody>
          <a:bodyPr/>
          <a:lstStyle/>
          <a:p>
            <a:endParaRPr lang="it-IT" dirty="0"/>
          </a:p>
        </p:txBody>
      </p:sp>
      <p:sp>
        <p:nvSpPr>
          <p:cNvPr id="138" name="Sq 139"/>
          <p:cNvSpPr/>
          <p:nvPr/>
        </p:nvSpPr>
        <p:spPr>
          <a:xfrm>
            <a:off x="1016000" y="4064000"/>
            <a:ext cx="304800" cy="304800"/>
          </a:xfrm>
          <a:prstGeom prst="rect">
            <a:avLst/>
          </a:prstGeom>
          <a:solidFill>
            <a:srgbClr val="60A5E3"/>
          </a:solidFill>
          <a:ln>
            <a:noFill/>
          </a:ln>
        </p:spPr>
        <p:txBody>
          <a:bodyPr/>
          <a:lstStyle/>
          <a:p>
            <a:endParaRPr lang="it-IT" dirty="0"/>
          </a:p>
        </p:txBody>
      </p:sp>
      <p:sp>
        <p:nvSpPr>
          <p:cNvPr id="139" name="Sq 140"/>
          <p:cNvSpPr/>
          <p:nvPr/>
        </p:nvSpPr>
        <p:spPr>
          <a:xfrm>
            <a:off x="1422400" y="4064000"/>
            <a:ext cx="304800" cy="304800"/>
          </a:xfrm>
          <a:prstGeom prst="rect">
            <a:avLst/>
          </a:prstGeom>
          <a:solidFill>
            <a:srgbClr val="60A5E3"/>
          </a:solidFill>
          <a:ln>
            <a:noFill/>
          </a:ln>
        </p:spPr>
        <p:txBody>
          <a:bodyPr/>
          <a:lstStyle/>
          <a:p>
            <a:endParaRPr lang="it-IT" dirty="0"/>
          </a:p>
        </p:txBody>
      </p:sp>
      <p:sp>
        <p:nvSpPr>
          <p:cNvPr id="140" name="Sq 141"/>
          <p:cNvSpPr/>
          <p:nvPr/>
        </p:nvSpPr>
        <p:spPr>
          <a:xfrm>
            <a:off x="1828800" y="4064000"/>
            <a:ext cx="304800" cy="304800"/>
          </a:xfrm>
          <a:prstGeom prst="rect">
            <a:avLst/>
          </a:prstGeom>
          <a:solidFill>
            <a:srgbClr val="60A5E3"/>
          </a:solidFill>
          <a:ln>
            <a:noFill/>
          </a:ln>
        </p:spPr>
        <p:txBody>
          <a:bodyPr/>
          <a:lstStyle/>
          <a:p>
            <a:endParaRPr lang="it-IT" dirty="0"/>
          </a:p>
        </p:txBody>
      </p:sp>
      <p:sp>
        <p:nvSpPr>
          <p:cNvPr id="141" name="Sq 142"/>
          <p:cNvSpPr/>
          <p:nvPr/>
        </p:nvSpPr>
        <p:spPr>
          <a:xfrm>
            <a:off x="2235200" y="4064000"/>
            <a:ext cx="304800" cy="304800"/>
          </a:xfrm>
          <a:prstGeom prst="rect">
            <a:avLst/>
          </a:prstGeom>
          <a:solidFill>
            <a:srgbClr val="60A5E3"/>
          </a:solidFill>
          <a:ln>
            <a:noFill/>
          </a:ln>
        </p:spPr>
        <p:txBody>
          <a:bodyPr/>
          <a:lstStyle/>
          <a:p>
            <a:endParaRPr lang="it-IT" dirty="0"/>
          </a:p>
        </p:txBody>
      </p:sp>
      <p:sp>
        <p:nvSpPr>
          <p:cNvPr id="142" name="Sq 143"/>
          <p:cNvSpPr/>
          <p:nvPr/>
        </p:nvSpPr>
        <p:spPr>
          <a:xfrm>
            <a:off x="2641600" y="4064000"/>
            <a:ext cx="304800" cy="304800"/>
          </a:xfrm>
          <a:prstGeom prst="rect">
            <a:avLst/>
          </a:prstGeom>
          <a:solidFill>
            <a:srgbClr val="60A5E3"/>
          </a:solidFill>
          <a:ln>
            <a:noFill/>
          </a:ln>
        </p:spPr>
        <p:txBody>
          <a:bodyPr/>
          <a:lstStyle/>
          <a:p>
            <a:endParaRPr lang="it-IT" dirty="0"/>
          </a:p>
        </p:txBody>
      </p:sp>
      <p:sp>
        <p:nvSpPr>
          <p:cNvPr id="143" name="Sq 144"/>
          <p:cNvSpPr/>
          <p:nvPr/>
        </p:nvSpPr>
        <p:spPr>
          <a:xfrm>
            <a:off x="3048000" y="4064000"/>
            <a:ext cx="304800" cy="304800"/>
          </a:xfrm>
          <a:prstGeom prst="rect">
            <a:avLst/>
          </a:prstGeom>
          <a:solidFill>
            <a:srgbClr val="60A5E3"/>
          </a:solidFill>
          <a:ln>
            <a:noFill/>
          </a:ln>
        </p:spPr>
        <p:txBody>
          <a:bodyPr/>
          <a:lstStyle/>
          <a:p>
            <a:endParaRPr lang="it-IT" dirty="0"/>
          </a:p>
        </p:txBody>
      </p:sp>
      <p:sp>
        <p:nvSpPr>
          <p:cNvPr id="144" name="Sq 145"/>
          <p:cNvSpPr/>
          <p:nvPr/>
        </p:nvSpPr>
        <p:spPr>
          <a:xfrm>
            <a:off x="3454400" y="4064000"/>
            <a:ext cx="304800" cy="304800"/>
          </a:xfrm>
          <a:prstGeom prst="rect">
            <a:avLst/>
          </a:prstGeom>
          <a:solidFill>
            <a:srgbClr val="60A5E3"/>
          </a:solidFill>
          <a:ln>
            <a:noFill/>
          </a:ln>
        </p:spPr>
        <p:txBody>
          <a:bodyPr/>
          <a:lstStyle/>
          <a:p>
            <a:endParaRPr lang="it-IT" dirty="0"/>
          </a:p>
        </p:txBody>
      </p:sp>
      <p:sp>
        <p:nvSpPr>
          <p:cNvPr id="145" name="Sq 146"/>
          <p:cNvSpPr/>
          <p:nvPr/>
        </p:nvSpPr>
        <p:spPr>
          <a:xfrm>
            <a:off x="3860800" y="4064000"/>
            <a:ext cx="304800" cy="304800"/>
          </a:xfrm>
          <a:prstGeom prst="rect">
            <a:avLst/>
          </a:prstGeom>
          <a:solidFill>
            <a:srgbClr val="60A5E3"/>
          </a:solidFill>
          <a:ln>
            <a:noFill/>
          </a:ln>
        </p:spPr>
        <p:txBody>
          <a:bodyPr/>
          <a:lstStyle/>
          <a:p>
            <a:endParaRPr lang="it-IT" dirty="0"/>
          </a:p>
        </p:txBody>
      </p:sp>
      <p:sp>
        <p:nvSpPr>
          <p:cNvPr id="146" name="Sq 147"/>
          <p:cNvSpPr/>
          <p:nvPr/>
        </p:nvSpPr>
        <p:spPr>
          <a:xfrm>
            <a:off x="4267200" y="4064000"/>
            <a:ext cx="304800" cy="304800"/>
          </a:xfrm>
          <a:prstGeom prst="rect">
            <a:avLst/>
          </a:prstGeom>
          <a:solidFill>
            <a:srgbClr val="60A5E3"/>
          </a:solidFill>
          <a:ln>
            <a:noFill/>
          </a:ln>
        </p:spPr>
        <p:txBody>
          <a:bodyPr/>
          <a:lstStyle/>
          <a:p>
            <a:endParaRPr lang="it-IT" dirty="0"/>
          </a:p>
        </p:txBody>
      </p:sp>
      <p:sp>
        <p:nvSpPr>
          <p:cNvPr id="147" name="Sq 148"/>
          <p:cNvSpPr/>
          <p:nvPr/>
        </p:nvSpPr>
        <p:spPr>
          <a:xfrm>
            <a:off x="1016000" y="4470400"/>
            <a:ext cx="304800" cy="304800"/>
          </a:xfrm>
          <a:prstGeom prst="rect">
            <a:avLst/>
          </a:prstGeom>
          <a:solidFill>
            <a:srgbClr val="60A5E3"/>
          </a:solidFill>
          <a:ln>
            <a:noFill/>
          </a:ln>
        </p:spPr>
        <p:txBody>
          <a:bodyPr/>
          <a:lstStyle/>
          <a:p>
            <a:endParaRPr lang="it-IT" dirty="0"/>
          </a:p>
        </p:txBody>
      </p:sp>
      <p:sp>
        <p:nvSpPr>
          <p:cNvPr id="148" name="Sq 149"/>
          <p:cNvSpPr/>
          <p:nvPr/>
        </p:nvSpPr>
        <p:spPr>
          <a:xfrm>
            <a:off x="1422400" y="4470400"/>
            <a:ext cx="304800" cy="304800"/>
          </a:xfrm>
          <a:prstGeom prst="rect">
            <a:avLst/>
          </a:prstGeom>
          <a:solidFill>
            <a:srgbClr val="60A5E3"/>
          </a:solidFill>
          <a:ln>
            <a:noFill/>
          </a:ln>
        </p:spPr>
        <p:txBody>
          <a:bodyPr/>
          <a:lstStyle/>
          <a:p>
            <a:endParaRPr lang="it-IT" dirty="0"/>
          </a:p>
        </p:txBody>
      </p:sp>
      <p:sp>
        <p:nvSpPr>
          <p:cNvPr id="149" name="Sq 150"/>
          <p:cNvSpPr/>
          <p:nvPr/>
        </p:nvSpPr>
        <p:spPr>
          <a:xfrm>
            <a:off x="1828800" y="4470400"/>
            <a:ext cx="304800" cy="304800"/>
          </a:xfrm>
          <a:prstGeom prst="rect">
            <a:avLst/>
          </a:prstGeom>
          <a:solidFill>
            <a:srgbClr val="60A5E3"/>
          </a:solidFill>
          <a:ln>
            <a:noFill/>
          </a:ln>
        </p:spPr>
        <p:txBody>
          <a:bodyPr/>
          <a:lstStyle/>
          <a:p>
            <a:endParaRPr lang="it-IT" dirty="0"/>
          </a:p>
        </p:txBody>
      </p:sp>
      <p:sp>
        <p:nvSpPr>
          <p:cNvPr id="150" name="Sq 151"/>
          <p:cNvSpPr/>
          <p:nvPr/>
        </p:nvSpPr>
        <p:spPr>
          <a:xfrm>
            <a:off x="2235200" y="4470400"/>
            <a:ext cx="304800" cy="304800"/>
          </a:xfrm>
          <a:prstGeom prst="rect">
            <a:avLst/>
          </a:prstGeom>
          <a:solidFill>
            <a:srgbClr val="60A5E3"/>
          </a:solidFill>
          <a:ln>
            <a:noFill/>
          </a:ln>
        </p:spPr>
        <p:txBody>
          <a:bodyPr/>
          <a:lstStyle/>
          <a:p>
            <a:endParaRPr lang="it-IT" dirty="0"/>
          </a:p>
        </p:txBody>
      </p:sp>
      <p:sp>
        <p:nvSpPr>
          <p:cNvPr id="151" name="Sq 152"/>
          <p:cNvSpPr/>
          <p:nvPr/>
        </p:nvSpPr>
        <p:spPr>
          <a:xfrm>
            <a:off x="2641600" y="4470400"/>
            <a:ext cx="304800" cy="304800"/>
          </a:xfrm>
          <a:prstGeom prst="rect">
            <a:avLst/>
          </a:prstGeom>
          <a:solidFill>
            <a:srgbClr val="60A5E3"/>
          </a:solidFill>
          <a:ln>
            <a:noFill/>
          </a:ln>
        </p:spPr>
        <p:txBody>
          <a:bodyPr/>
          <a:lstStyle/>
          <a:p>
            <a:endParaRPr lang="it-IT" dirty="0"/>
          </a:p>
        </p:txBody>
      </p:sp>
      <p:sp>
        <p:nvSpPr>
          <p:cNvPr id="152" name="Sq 153"/>
          <p:cNvSpPr/>
          <p:nvPr/>
        </p:nvSpPr>
        <p:spPr>
          <a:xfrm>
            <a:off x="3048000" y="4470400"/>
            <a:ext cx="304800" cy="304800"/>
          </a:xfrm>
          <a:prstGeom prst="rect">
            <a:avLst/>
          </a:prstGeom>
          <a:solidFill>
            <a:srgbClr val="60A5E3"/>
          </a:solidFill>
          <a:ln>
            <a:noFill/>
          </a:ln>
        </p:spPr>
        <p:txBody>
          <a:bodyPr/>
          <a:lstStyle/>
          <a:p>
            <a:endParaRPr lang="it-IT" dirty="0"/>
          </a:p>
        </p:txBody>
      </p:sp>
      <p:sp>
        <p:nvSpPr>
          <p:cNvPr id="153" name="Sq 154"/>
          <p:cNvSpPr/>
          <p:nvPr/>
        </p:nvSpPr>
        <p:spPr>
          <a:xfrm>
            <a:off x="3454400" y="4470400"/>
            <a:ext cx="304800" cy="304800"/>
          </a:xfrm>
          <a:prstGeom prst="rect">
            <a:avLst/>
          </a:prstGeom>
          <a:solidFill>
            <a:srgbClr val="60A5E3"/>
          </a:solidFill>
          <a:ln>
            <a:noFill/>
          </a:ln>
        </p:spPr>
        <p:txBody>
          <a:bodyPr/>
          <a:lstStyle/>
          <a:p>
            <a:endParaRPr lang="it-IT" dirty="0"/>
          </a:p>
        </p:txBody>
      </p:sp>
      <p:sp>
        <p:nvSpPr>
          <p:cNvPr id="154" name="Sq 155"/>
          <p:cNvSpPr/>
          <p:nvPr/>
        </p:nvSpPr>
        <p:spPr>
          <a:xfrm>
            <a:off x="3860800" y="4470400"/>
            <a:ext cx="304800" cy="304800"/>
          </a:xfrm>
          <a:prstGeom prst="rect">
            <a:avLst/>
          </a:prstGeom>
          <a:solidFill>
            <a:srgbClr val="60A5E3"/>
          </a:solidFill>
          <a:ln>
            <a:noFill/>
          </a:ln>
        </p:spPr>
        <p:txBody>
          <a:bodyPr/>
          <a:lstStyle/>
          <a:p>
            <a:endParaRPr lang="it-IT" dirty="0"/>
          </a:p>
        </p:txBody>
      </p:sp>
      <p:sp>
        <p:nvSpPr>
          <p:cNvPr id="155" name="Sq 156"/>
          <p:cNvSpPr/>
          <p:nvPr/>
        </p:nvSpPr>
        <p:spPr>
          <a:xfrm>
            <a:off x="4267200" y="4470400"/>
            <a:ext cx="304800" cy="304800"/>
          </a:xfrm>
          <a:prstGeom prst="rect">
            <a:avLst/>
          </a:prstGeom>
          <a:solidFill>
            <a:srgbClr val="60A5E3"/>
          </a:solidFill>
          <a:ln>
            <a:noFill/>
          </a:ln>
        </p:spPr>
        <p:txBody>
          <a:bodyPr/>
          <a:lstStyle/>
          <a:p>
            <a:endParaRPr lang="it-IT" dirty="0"/>
          </a:p>
        </p:txBody>
      </p:sp>
      <p:sp>
        <p:nvSpPr>
          <p:cNvPr id="156" name="Sq 157"/>
          <p:cNvSpPr/>
          <p:nvPr/>
        </p:nvSpPr>
        <p:spPr>
          <a:xfrm>
            <a:off x="4978400" y="2438400"/>
            <a:ext cx="304800" cy="304800"/>
          </a:xfrm>
          <a:prstGeom prst="rect">
            <a:avLst/>
          </a:prstGeom>
          <a:solidFill>
            <a:srgbClr val="B4502E"/>
          </a:solidFill>
          <a:ln>
            <a:noFill/>
          </a:ln>
        </p:spPr>
        <p:txBody>
          <a:bodyPr/>
          <a:lstStyle/>
          <a:p>
            <a:endParaRPr lang="it-IT" dirty="0"/>
          </a:p>
        </p:txBody>
      </p:sp>
      <p:sp>
        <p:nvSpPr>
          <p:cNvPr id="157" name="Sq 158"/>
          <p:cNvSpPr/>
          <p:nvPr/>
        </p:nvSpPr>
        <p:spPr>
          <a:xfrm>
            <a:off x="5384800" y="2438400"/>
            <a:ext cx="304800" cy="304800"/>
          </a:xfrm>
          <a:prstGeom prst="rect">
            <a:avLst/>
          </a:prstGeom>
          <a:solidFill>
            <a:srgbClr val="B4502E"/>
          </a:solidFill>
          <a:ln>
            <a:noFill/>
          </a:ln>
        </p:spPr>
        <p:txBody>
          <a:bodyPr/>
          <a:lstStyle/>
          <a:p>
            <a:endParaRPr lang="it-IT" dirty="0"/>
          </a:p>
        </p:txBody>
      </p:sp>
      <p:sp>
        <p:nvSpPr>
          <p:cNvPr id="158" name="Sq 159"/>
          <p:cNvSpPr/>
          <p:nvPr/>
        </p:nvSpPr>
        <p:spPr>
          <a:xfrm>
            <a:off x="4978400" y="2844800"/>
            <a:ext cx="304800" cy="304800"/>
          </a:xfrm>
          <a:prstGeom prst="rect">
            <a:avLst/>
          </a:prstGeom>
          <a:solidFill>
            <a:srgbClr val="B4502E"/>
          </a:solidFill>
          <a:ln>
            <a:noFill/>
          </a:ln>
        </p:spPr>
        <p:txBody>
          <a:bodyPr/>
          <a:lstStyle/>
          <a:p>
            <a:endParaRPr lang="it-IT" dirty="0"/>
          </a:p>
        </p:txBody>
      </p:sp>
      <p:sp>
        <p:nvSpPr>
          <p:cNvPr id="159" name="Sq 160"/>
          <p:cNvSpPr/>
          <p:nvPr/>
        </p:nvSpPr>
        <p:spPr>
          <a:xfrm>
            <a:off x="5384800" y="2844800"/>
            <a:ext cx="304800" cy="304800"/>
          </a:xfrm>
          <a:prstGeom prst="rect">
            <a:avLst/>
          </a:prstGeom>
          <a:solidFill>
            <a:srgbClr val="B4502E"/>
          </a:solidFill>
          <a:ln>
            <a:noFill/>
          </a:ln>
        </p:spPr>
        <p:txBody>
          <a:bodyPr/>
          <a:lstStyle/>
          <a:p>
            <a:endParaRPr lang="it-IT" dirty="0"/>
          </a:p>
        </p:txBody>
      </p:sp>
      <p:sp>
        <p:nvSpPr>
          <p:cNvPr id="160" name="Sq 161"/>
          <p:cNvSpPr/>
          <p:nvPr/>
        </p:nvSpPr>
        <p:spPr>
          <a:xfrm>
            <a:off x="5791200" y="2844800"/>
            <a:ext cx="304800" cy="304800"/>
          </a:xfrm>
          <a:prstGeom prst="rect">
            <a:avLst/>
          </a:prstGeom>
          <a:solidFill>
            <a:srgbClr val="B4502E"/>
          </a:solidFill>
          <a:ln>
            <a:noFill/>
          </a:ln>
        </p:spPr>
        <p:txBody>
          <a:bodyPr/>
          <a:lstStyle/>
          <a:p>
            <a:endParaRPr lang="it-IT" dirty="0"/>
          </a:p>
        </p:txBody>
      </p:sp>
      <p:sp>
        <p:nvSpPr>
          <p:cNvPr id="161" name="Sq 162"/>
          <p:cNvSpPr/>
          <p:nvPr/>
        </p:nvSpPr>
        <p:spPr>
          <a:xfrm>
            <a:off x="4978400" y="3251200"/>
            <a:ext cx="304800" cy="304800"/>
          </a:xfrm>
          <a:prstGeom prst="rect">
            <a:avLst/>
          </a:prstGeom>
          <a:solidFill>
            <a:srgbClr val="B4502E"/>
          </a:solidFill>
          <a:ln>
            <a:noFill/>
          </a:ln>
        </p:spPr>
        <p:txBody>
          <a:bodyPr/>
          <a:lstStyle/>
          <a:p>
            <a:endParaRPr lang="it-IT" dirty="0"/>
          </a:p>
        </p:txBody>
      </p:sp>
      <p:sp>
        <p:nvSpPr>
          <p:cNvPr id="162" name="Sq 163"/>
          <p:cNvSpPr/>
          <p:nvPr/>
        </p:nvSpPr>
        <p:spPr>
          <a:xfrm>
            <a:off x="5384800" y="3251200"/>
            <a:ext cx="304800" cy="304800"/>
          </a:xfrm>
          <a:prstGeom prst="rect">
            <a:avLst/>
          </a:prstGeom>
          <a:solidFill>
            <a:srgbClr val="B4502E"/>
          </a:solidFill>
          <a:ln>
            <a:noFill/>
          </a:ln>
        </p:spPr>
        <p:txBody>
          <a:bodyPr/>
          <a:lstStyle/>
          <a:p>
            <a:endParaRPr lang="it-IT" dirty="0"/>
          </a:p>
        </p:txBody>
      </p:sp>
      <p:sp>
        <p:nvSpPr>
          <p:cNvPr id="163" name="Sq 164"/>
          <p:cNvSpPr/>
          <p:nvPr/>
        </p:nvSpPr>
        <p:spPr>
          <a:xfrm>
            <a:off x="4978400" y="3657600"/>
            <a:ext cx="304800" cy="304800"/>
          </a:xfrm>
          <a:prstGeom prst="rect">
            <a:avLst/>
          </a:prstGeom>
          <a:solidFill>
            <a:srgbClr val="B4502E"/>
          </a:solidFill>
          <a:ln>
            <a:noFill/>
          </a:ln>
        </p:spPr>
        <p:txBody>
          <a:bodyPr/>
          <a:lstStyle/>
          <a:p>
            <a:endParaRPr lang="it-IT" dirty="0"/>
          </a:p>
        </p:txBody>
      </p:sp>
      <p:sp>
        <p:nvSpPr>
          <p:cNvPr id="164" name="Sq 165"/>
          <p:cNvSpPr/>
          <p:nvPr/>
        </p:nvSpPr>
        <p:spPr>
          <a:xfrm>
            <a:off x="5384800" y="4064000"/>
            <a:ext cx="304800" cy="304800"/>
          </a:xfrm>
          <a:prstGeom prst="rect">
            <a:avLst/>
          </a:prstGeom>
          <a:solidFill>
            <a:srgbClr val="B4502E"/>
          </a:solidFill>
          <a:ln>
            <a:noFill/>
          </a:ln>
        </p:spPr>
        <p:txBody>
          <a:bodyPr/>
          <a:lstStyle/>
          <a:p>
            <a:endParaRPr lang="it-IT" dirty="0"/>
          </a:p>
        </p:txBody>
      </p:sp>
      <p:sp>
        <p:nvSpPr>
          <p:cNvPr id="165" name="Sq 166"/>
          <p:cNvSpPr/>
          <p:nvPr/>
        </p:nvSpPr>
        <p:spPr>
          <a:xfrm>
            <a:off x="4978400" y="4470400"/>
            <a:ext cx="304800" cy="304800"/>
          </a:xfrm>
          <a:prstGeom prst="rect">
            <a:avLst/>
          </a:prstGeom>
          <a:solidFill>
            <a:srgbClr val="B4502E"/>
          </a:solidFill>
          <a:ln>
            <a:noFill/>
          </a:ln>
        </p:spPr>
        <p:txBody>
          <a:bodyPr/>
          <a:lstStyle/>
          <a:p>
            <a:endParaRPr lang="it-IT" dirty="0"/>
          </a:p>
        </p:txBody>
      </p:sp>
      <p:sp>
        <p:nvSpPr>
          <p:cNvPr id="166" name="Text 167"/>
          <p:cNvSpPr txBox="1"/>
          <p:nvPr/>
        </p:nvSpPr>
        <p:spPr>
          <a:xfrm>
            <a:off x="812800" y="5308600"/>
            <a:ext cx="4064000" cy="2794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60A5E3"/>
                </a:solidFill>
                <a:latin typeface="JetBrains Mono" pitchFamily="49" charset="0"/>
                <a:ea typeface="JetBrains Mono" pitchFamily="49" charset="-122"/>
                <a:cs typeface="JetBrains Mono" pitchFamily="49" charset="-120"/>
              </a:rPr>
              <a:t>■</a:t>
            </a:r>
            <a:r>
              <a:rPr lang="it-IT" sz="1600" noProof="0" dirty="0">
                <a:solidFill>
                  <a:srgbClr val="5B5F66"/>
                </a:solidFill>
                <a:latin typeface="IBM Plex Sans" pitchFamily="34" charset="0"/>
                <a:ea typeface="IBM Plex Sans" pitchFamily="34" charset="-122"/>
                <a:cs typeface="IBM Plex Sans" pitchFamily="34" charset="-120"/>
              </a:rPr>
              <a:t> device che girano</a:t>
            </a:r>
            <a:r>
              <a:rPr lang="it-IT" sz="1600" noProof="0" dirty="0">
                <a:solidFill>
                  <a:srgbClr val="B4502E"/>
                </a:solidFill>
                <a:latin typeface="JetBrains Mono" pitchFamily="49" charset="0"/>
                <a:ea typeface="JetBrains Mono" pitchFamily="49" charset="-122"/>
                <a:cs typeface="JetBrains Mono" pitchFamily="49" charset="-120"/>
              </a:rPr>
              <a:t>   ■</a:t>
            </a:r>
            <a:r>
              <a:rPr lang="it-IT" sz="1600" noProof="0" dirty="0">
                <a:solidFill>
                  <a:srgbClr val="5B5F66"/>
                </a:solidFill>
                <a:latin typeface="IBM Plex Sans" pitchFamily="34" charset="0"/>
                <a:ea typeface="IBM Plex Sans" pitchFamily="34" charset="-122"/>
                <a:cs typeface="IBM Plex Sans" pitchFamily="34" charset="-120"/>
              </a:rPr>
              <a:t> in eccesso</a:t>
            </a:r>
          </a:p>
        </p:txBody>
      </p:sp>
      <p:sp>
        <p:nvSpPr>
          <p:cNvPr id="167" name="Text 168"/>
          <p:cNvSpPr txBox="1"/>
          <p:nvPr/>
        </p:nvSpPr>
        <p:spPr>
          <a:xfrm>
            <a:off x="6604000" y="1905000"/>
            <a:ext cx="5080000" cy="254000"/>
          </a:xfrm>
          <a:prstGeom prst="rect">
            <a:avLst/>
          </a:prstGeom>
          <a:noFill/>
          <a:ln/>
        </p:spPr>
        <p:txBody>
          <a:bodyPr wrap="square" lIns="0" tIns="0" rIns="0" bIns="0" rtlCol="0" anchor="t">
            <a:noAutofit/>
          </a:bodyPr>
          <a:lstStyle/>
          <a:p>
            <a:pPr marL="0" indent="0" algn="l">
              <a:lnSpc>
                <a:spcPts val="2000"/>
              </a:lnSpc>
              <a:buNone/>
            </a:pPr>
            <a:r>
              <a:rPr lang="it-IT" sz="1600" b="1" noProof="0" dirty="0">
                <a:solidFill>
                  <a:srgbClr val="2B6CA3"/>
                </a:solidFill>
                <a:latin typeface="JetBrains Mono" pitchFamily="49" charset="0"/>
                <a:ea typeface="JetBrains Mono" pitchFamily="49" charset="-122"/>
                <a:cs typeface="JetBrains Mono" pitchFamily="49" charset="-120"/>
              </a:rPr>
              <a:t>limiti</a:t>
            </a:r>
          </a:p>
        </p:txBody>
      </p:sp>
      <p:sp>
        <p:nvSpPr>
          <p:cNvPr id="168" name="Text 169"/>
          <p:cNvSpPr txBox="1"/>
          <p:nvPr/>
        </p:nvSpPr>
        <p:spPr>
          <a:xfrm>
            <a:off x="6604000" y="2260600"/>
            <a:ext cx="5080000" cy="990600"/>
          </a:xfrm>
          <a:prstGeom prst="rect">
            <a:avLst/>
          </a:prstGeom>
          <a:noFill/>
          <a:ln/>
        </p:spPr>
        <p:txBody>
          <a:bodyPr wrap="square" lIns="0" tIns="0" rIns="0" bIns="0" rtlCol="0" anchor="t">
            <a:noAutofit/>
          </a:bodyPr>
          <a:lstStyle/>
          <a:p>
            <a:pPr marL="0" indent="0" algn="l">
              <a:lnSpc>
                <a:spcPts val="2600"/>
              </a:lnSpc>
              <a:buNone/>
            </a:pPr>
            <a:r>
              <a:rPr lang="it-IT" sz="2000" b="1" noProof="0" dirty="0">
                <a:solidFill>
                  <a:srgbClr val="1B1D20"/>
                </a:solidFill>
                <a:latin typeface="IBM Plex Sans" pitchFamily="34" charset="0"/>
                <a:ea typeface="IBM Plex Sans" pitchFamily="34" charset="-122"/>
                <a:cs typeface="IBM Plex Sans" pitchFamily="34" charset="-120"/>
              </a:rPr>
              <a:t>Risorse finite</a:t>
            </a:r>
          </a:p>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CPU e RAM sono quelle di una macchina: ogni router esegue i propri demoni di routing.</a:t>
            </a:r>
          </a:p>
        </p:txBody>
      </p:sp>
      <p:sp>
        <p:nvSpPr>
          <p:cNvPr id="169" name="Text 170"/>
          <p:cNvSpPr txBox="1"/>
          <p:nvPr/>
        </p:nvSpPr>
        <p:spPr>
          <a:xfrm>
            <a:off x="6604000" y="3429000"/>
            <a:ext cx="5080000" cy="990600"/>
          </a:xfrm>
          <a:prstGeom prst="rect">
            <a:avLst/>
          </a:prstGeom>
          <a:noFill/>
          <a:ln/>
        </p:spPr>
        <p:txBody>
          <a:bodyPr wrap="square" lIns="0" tIns="0" rIns="0" bIns="0" rtlCol="0" anchor="t">
            <a:noAutofit/>
          </a:bodyPr>
          <a:lstStyle/>
          <a:p>
            <a:pPr marL="0" indent="0" algn="l">
              <a:lnSpc>
                <a:spcPts val="2600"/>
              </a:lnSpc>
              <a:buNone/>
            </a:pPr>
            <a:r>
              <a:rPr lang="it-IT" sz="2000" b="1" noProof="0" dirty="0">
                <a:solidFill>
                  <a:srgbClr val="1B1D20"/>
                </a:solidFill>
                <a:latin typeface="IBM Plex Sans" pitchFamily="34" charset="0"/>
                <a:ea typeface="IBM Plex Sans" pitchFamily="34" charset="-122"/>
                <a:cs typeface="IBM Plex Sans" pitchFamily="34" charset="-120"/>
              </a:rPr>
              <a:t>Scenari reali più grandi</a:t>
            </a:r>
          </a:p>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Un backbone o un data center fat-tree contano centinaia o migliaia di apparati.</a:t>
            </a:r>
          </a:p>
        </p:txBody>
      </p:sp>
      <p:cxnSp>
        <p:nvCxnSpPr>
          <p:cNvPr id="170" name="Bar"/>
          <p:cNvCxnSpPr/>
          <p:nvPr/>
        </p:nvCxnSpPr>
        <p:spPr>
          <a:xfrm>
            <a:off x="6629400" y="4699000"/>
            <a:ext cx="0" cy="660400"/>
          </a:xfrm>
          <a:prstGeom prst="line">
            <a:avLst/>
          </a:prstGeom>
          <a:ln w="38100">
            <a:solidFill>
              <a:srgbClr val="60A5E3"/>
            </a:solidFill>
          </a:ln>
        </p:spPr>
      </p:cxnSp>
      <p:sp>
        <p:nvSpPr>
          <p:cNvPr id="171" name="Text 172"/>
          <p:cNvSpPr txBox="1"/>
          <p:nvPr/>
        </p:nvSpPr>
        <p:spPr>
          <a:xfrm>
            <a:off x="6832600" y="4699000"/>
            <a:ext cx="4851400" cy="7112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1B1D20"/>
                </a:solidFill>
                <a:latin typeface="IBM Plex Sans" pitchFamily="34" charset="0"/>
                <a:ea typeface="IBM Plex Sans" pitchFamily="34" charset="-122"/>
                <a:cs typeface="IBM Plex Sans" pitchFamily="34" charset="-120"/>
              </a:rPr>
              <a:t>Serve distribuire il lab </a:t>
            </a:r>
            <a:r>
              <a:rPr lang="it-IT" sz="1800" b="1" noProof="0" dirty="0">
                <a:solidFill>
                  <a:srgbClr val="1B1D20"/>
                </a:solidFill>
                <a:latin typeface="IBM Plex Sans" pitchFamily="34" charset="0"/>
                <a:ea typeface="IBM Plex Sans" pitchFamily="34" charset="-122"/>
                <a:cs typeface="IBM Plex Sans" pitchFamily="34" charset="-120"/>
              </a:rPr>
              <a:t>su più macchine</a:t>
            </a:r>
            <a:r>
              <a:rPr lang="it-IT" sz="1800" noProof="0" dirty="0">
                <a:solidFill>
                  <a:srgbClr val="1B1D20"/>
                </a:solidFill>
                <a:latin typeface="IBM Plex Sans" pitchFamily="34" charset="0"/>
                <a:ea typeface="IBM Plex Sans" pitchFamily="34" charset="-122"/>
                <a:cs typeface="IBM Plex Sans" pitchFamily="34" charset="-120"/>
              </a:rPr>
              <a:t>, senza riscriverlo.</a:t>
            </a:r>
          </a:p>
        </p:txBody>
      </p:sp>
    </p:spTree>
    <p:extLst>
      <p:ext uri="{BB962C8B-B14F-4D97-AF65-F5344CB8AC3E}">
        <p14:creationId xmlns:p14="http://schemas.microsoft.com/office/powerpoint/2010/main" val="1281959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2D5E5BEC-C89C-6EE5-E07D-379B7268BF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7A1CAE-7A08-E312-88FB-8F53989473AC}"/>
              </a:ext>
            </a:extLst>
          </p:cNvPr>
          <p:cNvSpPr/>
          <p:nvPr/>
        </p:nvSpPr>
        <p:spPr>
          <a:xfrm>
            <a:off x="0" y="0"/>
            <a:ext cx="152400" cy="6858000"/>
          </a:xfrm>
          <a:prstGeom prst="rect">
            <a:avLst/>
          </a:prstGeom>
          <a:solidFill>
            <a:srgbClr val="60A5E3"/>
          </a:solidFill>
          <a:ln/>
        </p:spPr>
        <p:txBody>
          <a:bodyPr/>
          <a:lstStyle/>
          <a:p>
            <a:endParaRPr lang="it-IT" noProof="0" dirty="0"/>
          </a:p>
        </p:txBody>
      </p:sp>
      <p:sp>
        <p:nvSpPr>
          <p:cNvPr id="3" name="Shape 1">
            <a:extLst>
              <a:ext uri="{FF2B5EF4-FFF2-40B4-BE49-F238E27FC236}">
                <a16:creationId xmlns:a16="http://schemas.microsoft.com/office/drawing/2014/main" id="{22532FBC-6206-F2A9-6D01-574943A7DED3}"/>
              </a:ext>
            </a:extLst>
          </p:cNvPr>
          <p:cNvSpPr/>
          <p:nvPr/>
        </p:nvSpPr>
        <p:spPr>
          <a:xfrm>
            <a:off x="825500" y="1898650"/>
            <a:ext cx="5435600" cy="3657600"/>
          </a:xfrm>
          <a:prstGeom prst="rect">
            <a:avLst/>
          </a:prstGeom>
          <a:noFill/>
          <a:ln w="12700">
            <a:solidFill>
              <a:srgbClr val="8A8F96"/>
            </a:solidFill>
            <a:prstDash val="dash"/>
          </a:ln>
        </p:spPr>
        <p:txBody>
          <a:bodyPr/>
          <a:lstStyle/>
          <a:p>
            <a:endParaRPr lang="it-IT" noProof="0" dirty="0"/>
          </a:p>
        </p:txBody>
      </p:sp>
      <p:sp>
        <p:nvSpPr>
          <p:cNvPr id="4" name="Text 2">
            <a:extLst>
              <a:ext uri="{FF2B5EF4-FFF2-40B4-BE49-F238E27FC236}">
                <a16:creationId xmlns:a16="http://schemas.microsoft.com/office/drawing/2014/main" id="{90D1F2BB-06AD-B583-3116-EF377CD2B947}"/>
              </a:ext>
            </a:extLst>
          </p:cNvPr>
          <p:cNvSpPr/>
          <p:nvPr/>
        </p:nvSpPr>
        <p:spPr>
          <a:xfrm>
            <a:off x="1016000" y="2006600"/>
            <a:ext cx="4042029"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cluster </a:t>
            </a:r>
            <a:r>
              <a:rPr lang="it-IT" sz="1600" noProof="0" dirty="0" err="1">
                <a:solidFill>
                  <a:srgbClr val="5B5F66"/>
                </a:solidFill>
                <a:latin typeface="JetBrains Mono" pitchFamily="49" charset="0"/>
                <a:ea typeface="JetBrains Mono" pitchFamily="49" charset="-122"/>
                <a:cs typeface="JetBrains Mono" pitchFamily="49" charset="-120"/>
              </a:rPr>
              <a:t>kubernetes</a:t>
            </a:r>
            <a:endParaRPr lang="it-IT" sz="1600" noProof="0" dirty="0"/>
          </a:p>
        </p:txBody>
      </p:sp>
      <p:sp>
        <p:nvSpPr>
          <p:cNvPr id="5" name="Shape 3">
            <a:extLst>
              <a:ext uri="{FF2B5EF4-FFF2-40B4-BE49-F238E27FC236}">
                <a16:creationId xmlns:a16="http://schemas.microsoft.com/office/drawing/2014/main" id="{A241A78A-3491-539C-C802-54100B3E735A}"/>
              </a:ext>
            </a:extLst>
          </p:cNvPr>
          <p:cNvSpPr/>
          <p:nvPr/>
        </p:nvSpPr>
        <p:spPr>
          <a:xfrm>
            <a:off x="1003300" y="2330450"/>
            <a:ext cx="2349500" cy="1143000"/>
          </a:xfrm>
          <a:prstGeom prst="rect">
            <a:avLst/>
          </a:prstGeom>
          <a:solidFill>
            <a:srgbClr val="E9E7E0"/>
          </a:solidFill>
          <a:ln/>
        </p:spPr>
        <p:txBody>
          <a:bodyPr/>
          <a:lstStyle/>
          <a:p>
            <a:endParaRPr lang="it-IT" noProof="0" dirty="0"/>
          </a:p>
        </p:txBody>
      </p:sp>
      <p:sp>
        <p:nvSpPr>
          <p:cNvPr id="6" name="Shape 4">
            <a:extLst>
              <a:ext uri="{FF2B5EF4-FFF2-40B4-BE49-F238E27FC236}">
                <a16:creationId xmlns:a16="http://schemas.microsoft.com/office/drawing/2014/main" id="{3F8FCB7F-3477-36C3-ECCC-A5FFB9E29FEA}"/>
              </a:ext>
            </a:extLst>
          </p:cNvPr>
          <p:cNvSpPr/>
          <p:nvPr/>
        </p:nvSpPr>
        <p:spPr>
          <a:xfrm>
            <a:off x="3733800" y="2330450"/>
            <a:ext cx="2349500" cy="1143000"/>
          </a:xfrm>
          <a:prstGeom prst="rect">
            <a:avLst/>
          </a:prstGeom>
          <a:solidFill>
            <a:srgbClr val="E9E7E0"/>
          </a:solidFill>
          <a:ln/>
        </p:spPr>
        <p:txBody>
          <a:bodyPr/>
          <a:lstStyle/>
          <a:p>
            <a:endParaRPr lang="it-IT" noProof="0" dirty="0"/>
          </a:p>
        </p:txBody>
      </p:sp>
      <p:sp>
        <p:nvSpPr>
          <p:cNvPr id="7" name="Text 5">
            <a:extLst>
              <a:ext uri="{FF2B5EF4-FFF2-40B4-BE49-F238E27FC236}">
                <a16:creationId xmlns:a16="http://schemas.microsoft.com/office/drawing/2014/main" id="{3B8C40C1-0456-0E86-7B16-DCD801D4508D}"/>
              </a:ext>
            </a:extLst>
          </p:cNvPr>
          <p:cNvSpPr/>
          <p:nvPr/>
        </p:nvSpPr>
        <p:spPr>
          <a:xfrm>
            <a:off x="1155700" y="2419350"/>
            <a:ext cx="2021014"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worker 1</a:t>
            </a:r>
            <a:endParaRPr lang="it-IT" sz="1600" noProof="0" dirty="0"/>
          </a:p>
        </p:txBody>
      </p:sp>
      <p:sp>
        <p:nvSpPr>
          <p:cNvPr id="8" name="Text 6">
            <a:extLst>
              <a:ext uri="{FF2B5EF4-FFF2-40B4-BE49-F238E27FC236}">
                <a16:creationId xmlns:a16="http://schemas.microsoft.com/office/drawing/2014/main" id="{EAC0DFC0-733F-69FE-C955-31534FE9AC27}"/>
              </a:ext>
            </a:extLst>
          </p:cNvPr>
          <p:cNvSpPr/>
          <p:nvPr/>
        </p:nvSpPr>
        <p:spPr>
          <a:xfrm>
            <a:off x="3886200" y="2419350"/>
            <a:ext cx="2021014"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worker 2</a:t>
            </a:r>
            <a:endParaRPr lang="it-IT" sz="1600" noProof="0" dirty="0"/>
          </a:p>
        </p:txBody>
      </p:sp>
      <p:sp>
        <p:nvSpPr>
          <p:cNvPr id="11" name="Text 9">
            <a:extLst>
              <a:ext uri="{FF2B5EF4-FFF2-40B4-BE49-F238E27FC236}">
                <a16:creationId xmlns:a16="http://schemas.microsoft.com/office/drawing/2014/main" id="{402147B9-5B62-FC97-BF69-D9D165375F54}"/>
              </a:ext>
            </a:extLst>
          </p:cNvPr>
          <p:cNvSpPr/>
          <p:nvPr/>
        </p:nvSpPr>
        <p:spPr>
          <a:xfrm>
            <a:off x="1216025" y="2771775"/>
            <a:ext cx="850900" cy="495300"/>
          </a:xfrm>
          <a:prstGeom prst="rect">
            <a:avLst/>
          </a:prstGeom>
          <a:solidFill>
            <a:srgbClr val="60A5E3"/>
          </a:solidFill>
          <a:ln w="19050">
            <a:solidFill>
              <a:srgbClr val="1B1D20"/>
            </a:solidFill>
            <a:prstDash val="solid"/>
          </a:ln>
        </p:spPr>
        <p:txBody>
          <a:bodyPr wrap="square" lIns="0" tIns="9525" rIns="0" bIns="9525" rtlCol="0" anchor="ctr">
            <a:normAutofit/>
          </a:bodyPr>
          <a:lstStyle/>
          <a:p>
            <a:pPr marL="0" indent="0" algn="ctr">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pc1</a:t>
            </a:r>
            <a:endParaRPr lang="it-IT" sz="1600" noProof="0" dirty="0"/>
          </a:p>
        </p:txBody>
      </p:sp>
      <p:sp>
        <p:nvSpPr>
          <p:cNvPr id="12" name="Text 10">
            <a:extLst>
              <a:ext uri="{FF2B5EF4-FFF2-40B4-BE49-F238E27FC236}">
                <a16:creationId xmlns:a16="http://schemas.microsoft.com/office/drawing/2014/main" id="{54E5F974-080F-4335-282C-4A67F3456F2C}"/>
              </a:ext>
            </a:extLst>
          </p:cNvPr>
          <p:cNvSpPr/>
          <p:nvPr/>
        </p:nvSpPr>
        <p:spPr>
          <a:xfrm>
            <a:off x="2295525" y="2771775"/>
            <a:ext cx="850900" cy="495300"/>
          </a:xfrm>
          <a:prstGeom prst="rect">
            <a:avLst/>
          </a:prstGeom>
          <a:solidFill>
            <a:srgbClr val="E37E5F"/>
          </a:solidFill>
          <a:ln w="19050">
            <a:solidFill>
              <a:srgbClr val="1B1D20"/>
            </a:solidFill>
            <a:prstDash val="solid"/>
          </a:ln>
        </p:spPr>
        <p:txBody>
          <a:bodyPr wrap="square" lIns="0" tIns="9525" rIns="0" bIns="9525" rtlCol="0" anchor="ctr">
            <a:normAutofit/>
          </a:bodyPr>
          <a:lstStyle/>
          <a:p>
            <a:pPr marL="0" indent="0" algn="ctr">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r1</a:t>
            </a:r>
            <a:endParaRPr lang="it-IT" sz="1600" noProof="0" dirty="0"/>
          </a:p>
        </p:txBody>
      </p:sp>
      <p:sp>
        <p:nvSpPr>
          <p:cNvPr id="13" name="Text 11">
            <a:extLst>
              <a:ext uri="{FF2B5EF4-FFF2-40B4-BE49-F238E27FC236}">
                <a16:creationId xmlns:a16="http://schemas.microsoft.com/office/drawing/2014/main" id="{78260E06-A00D-9444-EC5A-1171266701CE}"/>
              </a:ext>
            </a:extLst>
          </p:cNvPr>
          <p:cNvSpPr/>
          <p:nvPr/>
        </p:nvSpPr>
        <p:spPr>
          <a:xfrm>
            <a:off x="3946525" y="2771775"/>
            <a:ext cx="850900" cy="495300"/>
          </a:xfrm>
          <a:prstGeom prst="rect">
            <a:avLst/>
          </a:prstGeom>
          <a:solidFill>
            <a:srgbClr val="A8DC6E"/>
          </a:solidFill>
          <a:ln w="19050">
            <a:solidFill>
              <a:srgbClr val="1B1D20"/>
            </a:solidFill>
            <a:prstDash val="solid"/>
          </a:ln>
        </p:spPr>
        <p:txBody>
          <a:bodyPr wrap="square" lIns="0" tIns="9525" rIns="0" bIns="9525" rtlCol="0" anchor="ctr">
            <a:normAutofit/>
          </a:bodyPr>
          <a:lstStyle/>
          <a:p>
            <a:pPr marL="0" indent="0" algn="ctr">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r2</a:t>
            </a:r>
            <a:endParaRPr lang="it-IT" sz="1600" noProof="0" dirty="0"/>
          </a:p>
        </p:txBody>
      </p:sp>
      <p:sp>
        <p:nvSpPr>
          <p:cNvPr id="14" name="Text 12">
            <a:extLst>
              <a:ext uri="{FF2B5EF4-FFF2-40B4-BE49-F238E27FC236}">
                <a16:creationId xmlns:a16="http://schemas.microsoft.com/office/drawing/2014/main" id="{8B4D5285-086A-00DA-7345-6BA43913A852}"/>
              </a:ext>
            </a:extLst>
          </p:cNvPr>
          <p:cNvSpPr/>
          <p:nvPr/>
        </p:nvSpPr>
        <p:spPr>
          <a:xfrm>
            <a:off x="5026025" y="2771775"/>
            <a:ext cx="850900" cy="495300"/>
          </a:xfrm>
          <a:prstGeom prst="rect">
            <a:avLst/>
          </a:prstGeom>
          <a:solidFill>
            <a:srgbClr val="E1D368"/>
          </a:solidFill>
          <a:ln w="19050">
            <a:solidFill>
              <a:srgbClr val="1B1D20"/>
            </a:solidFill>
            <a:prstDash val="solid"/>
          </a:ln>
        </p:spPr>
        <p:txBody>
          <a:bodyPr wrap="square" lIns="0" tIns="9525" rIns="0" bIns="9525" rtlCol="0" anchor="ctr">
            <a:normAutofit/>
          </a:bodyPr>
          <a:lstStyle/>
          <a:p>
            <a:pPr marL="0" indent="0" algn="ctr">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pc2</a:t>
            </a:r>
            <a:endParaRPr lang="it-IT" sz="1600" noProof="0" dirty="0"/>
          </a:p>
        </p:txBody>
      </p:sp>
      <p:sp>
        <p:nvSpPr>
          <p:cNvPr id="200" name="Shape 3">
            <a:extLst>
              <a:ext uri="{FF2B5EF4-FFF2-40B4-BE49-F238E27FC236}">
                <a16:creationId xmlns:a16="http://schemas.microsoft.com/office/drawing/2014/main" id="{A241A78A-3491-539C-C802-54100B3E735A}"/>
              </a:ext>
            </a:extLst>
          </p:cNvPr>
          <p:cNvSpPr/>
          <p:nvPr/>
        </p:nvSpPr>
        <p:spPr>
          <a:xfrm>
            <a:off x="1003300" y="3632200"/>
            <a:ext cx="2349500" cy="1143000"/>
          </a:xfrm>
          <a:prstGeom prst="rect">
            <a:avLst/>
          </a:prstGeom>
          <a:solidFill>
            <a:srgbClr val="E9E7E0"/>
          </a:solidFill>
          <a:ln/>
        </p:spPr>
        <p:txBody>
          <a:bodyPr/>
          <a:lstStyle/>
          <a:p>
            <a:endParaRPr lang="it-IT" noProof="0" dirty="0"/>
          </a:p>
        </p:txBody>
      </p:sp>
      <p:sp>
        <p:nvSpPr>
          <p:cNvPr id="201" name="Text 5">
            <a:extLst>
              <a:ext uri="{FF2B5EF4-FFF2-40B4-BE49-F238E27FC236}">
                <a16:creationId xmlns:a16="http://schemas.microsoft.com/office/drawing/2014/main" id="{3B8C40C1-0456-0E86-7B16-DCD801D4508D}"/>
              </a:ext>
            </a:extLst>
          </p:cNvPr>
          <p:cNvSpPr/>
          <p:nvPr/>
        </p:nvSpPr>
        <p:spPr>
          <a:xfrm>
            <a:off x="1155700" y="3721100"/>
            <a:ext cx="2021014"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worker 3</a:t>
            </a:r>
            <a:endParaRPr lang="it-IT" sz="1600" noProof="0" dirty="0"/>
          </a:p>
        </p:txBody>
      </p:sp>
      <p:sp>
        <p:nvSpPr>
          <p:cNvPr id="202" name="Text 10">
            <a:extLst>
              <a:ext uri="{FF2B5EF4-FFF2-40B4-BE49-F238E27FC236}">
                <a16:creationId xmlns:a16="http://schemas.microsoft.com/office/drawing/2014/main" id="{54E5F974-080F-4335-282C-4A67F3456F2C}"/>
              </a:ext>
            </a:extLst>
          </p:cNvPr>
          <p:cNvSpPr/>
          <p:nvPr/>
        </p:nvSpPr>
        <p:spPr>
          <a:xfrm>
            <a:off x="1219200" y="4064000"/>
            <a:ext cx="850900" cy="495300"/>
          </a:xfrm>
          <a:prstGeom prst="rect">
            <a:avLst/>
          </a:prstGeom>
          <a:solidFill>
            <a:srgbClr val="E37E5F"/>
          </a:solidFill>
          <a:ln w="19050">
            <a:solidFill>
              <a:srgbClr val="1B1D20"/>
            </a:solidFill>
            <a:prstDash val="solid"/>
          </a:ln>
        </p:spPr>
        <p:txBody>
          <a:bodyPr wrap="square" lIns="0" tIns="9525" rIns="0" bIns="9525" rtlCol="0" anchor="ctr">
            <a:normAutofit/>
          </a:bodyPr>
          <a:lstStyle/>
          <a:p>
            <a:pPr marL="0" indent="0" algn="ctr">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r3</a:t>
            </a:r>
            <a:endParaRPr lang="it-IT" sz="1600" noProof="0" dirty="0"/>
          </a:p>
        </p:txBody>
      </p:sp>
      <p:sp>
        <p:nvSpPr>
          <p:cNvPr id="203" name="Text 9">
            <a:extLst>
              <a:ext uri="{FF2B5EF4-FFF2-40B4-BE49-F238E27FC236}">
                <a16:creationId xmlns:a16="http://schemas.microsoft.com/office/drawing/2014/main" id="{402147B9-5B62-FC97-BF69-D9D165375F54}"/>
              </a:ext>
            </a:extLst>
          </p:cNvPr>
          <p:cNvSpPr/>
          <p:nvPr/>
        </p:nvSpPr>
        <p:spPr>
          <a:xfrm>
            <a:off x="2298700" y="4064000"/>
            <a:ext cx="850900" cy="495300"/>
          </a:xfrm>
          <a:prstGeom prst="rect">
            <a:avLst/>
          </a:prstGeom>
          <a:solidFill>
            <a:srgbClr val="60A5E3"/>
          </a:solidFill>
          <a:ln w="19050">
            <a:solidFill>
              <a:srgbClr val="1B1D20"/>
            </a:solidFill>
            <a:prstDash val="solid"/>
          </a:ln>
        </p:spPr>
        <p:txBody>
          <a:bodyPr wrap="square" lIns="0" tIns="9525" rIns="0" bIns="9525" rtlCol="0" anchor="ctr">
            <a:normAutofit/>
          </a:bodyPr>
          <a:lstStyle/>
          <a:p>
            <a:pPr marL="0" indent="0" algn="ctr">
              <a:lnSpc>
                <a:spcPts val="2240"/>
              </a:lnSpc>
              <a:buNone/>
            </a:pPr>
            <a:r>
              <a:rPr lang="it-IT" sz="1600" b="1" noProof="0" dirty="0">
                <a:solidFill>
                  <a:srgbClr val="1B1D20"/>
                </a:solidFill>
                <a:latin typeface="JetBrains Mono" pitchFamily="49" charset="0"/>
                <a:ea typeface="JetBrains Mono" pitchFamily="49" charset="-122"/>
                <a:cs typeface="JetBrains Mono" pitchFamily="49" charset="-120"/>
              </a:rPr>
              <a:t>pc3</a:t>
            </a:r>
            <a:endParaRPr lang="it-IT" sz="1600" noProof="0" dirty="0"/>
          </a:p>
        </p:txBody>
      </p:sp>
      <p:sp>
        <p:nvSpPr>
          <p:cNvPr id="204" name="Shape 4">
            <a:extLst>
              <a:ext uri="{FF2B5EF4-FFF2-40B4-BE49-F238E27FC236}">
                <a16:creationId xmlns:a16="http://schemas.microsoft.com/office/drawing/2014/main" id="{3F8FCB7F-3477-36C3-ECCC-A5FFB9E29FEA}"/>
              </a:ext>
            </a:extLst>
          </p:cNvPr>
          <p:cNvSpPr/>
          <p:nvPr/>
        </p:nvSpPr>
        <p:spPr>
          <a:xfrm>
            <a:off x="3733800" y="3632200"/>
            <a:ext cx="2349500" cy="1143000"/>
          </a:xfrm>
          <a:prstGeom prst="rect">
            <a:avLst/>
          </a:prstGeom>
          <a:noFill/>
          <a:ln w="15875">
            <a:solidFill>
              <a:srgbClr val="8A8F96"/>
            </a:solidFill>
            <a:prstDash val="dash"/>
          </a:ln>
        </p:spPr>
        <p:txBody>
          <a:bodyPr/>
          <a:lstStyle/>
          <a:p>
            <a:endParaRPr lang="it-IT" noProof="0" dirty="0"/>
          </a:p>
        </p:txBody>
      </p:sp>
      <p:sp>
        <p:nvSpPr>
          <p:cNvPr id="205" name="Text 6">
            <a:extLst>
              <a:ext uri="{FF2B5EF4-FFF2-40B4-BE49-F238E27FC236}">
                <a16:creationId xmlns:a16="http://schemas.microsoft.com/office/drawing/2014/main" id="{EAC0DFC0-733F-69FE-C955-31534FE9AC27}"/>
              </a:ext>
            </a:extLst>
          </p:cNvPr>
          <p:cNvSpPr/>
          <p:nvPr/>
        </p:nvSpPr>
        <p:spPr>
          <a:xfrm>
            <a:off x="3886200" y="3721100"/>
            <a:ext cx="2021014"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 nuovo worker</a:t>
            </a:r>
            <a:endParaRPr lang="it-IT" sz="1600" noProof="0" dirty="0"/>
          </a:p>
        </p:txBody>
      </p:sp>
      <p:sp>
        <p:nvSpPr>
          <p:cNvPr id="25" name="Text 20">
            <a:extLst>
              <a:ext uri="{FF2B5EF4-FFF2-40B4-BE49-F238E27FC236}">
                <a16:creationId xmlns:a16="http://schemas.microsoft.com/office/drawing/2014/main" id="{84DA8BF2-9D3F-F749-054B-CA4362FC69C5}"/>
              </a:ext>
            </a:extLst>
          </p:cNvPr>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Lo stesso lab su </a:t>
            </a:r>
            <a:r>
              <a:rPr lang="it-IT" sz="4000" b="1" i="0" noProof="0" dirty="0" err="1">
                <a:solidFill>
                  <a:srgbClr val="1B1D20"/>
                </a:solidFill>
                <a:latin typeface="IBM Plex Sans" pitchFamily="34" charset="0"/>
                <a:ea typeface="IBM Plex Sans" pitchFamily="34" charset="-122"/>
                <a:cs typeface="IBM Plex Sans" pitchFamily="34" charset="-120"/>
              </a:rPr>
              <a:t>Kubernetes</a:t>
            </a:r>
            <a:r>
              <a:rPr lang="it-IT" sz="4000" b="1" i="0" noProof="0" dirty="0">
                <a:solidFill>
                  <a:srgbClr val="1B1D20"/>
                </a:solidFill>
                <a:latin typeface="IBM Plex Sans" pitchFamily="34" charset="0"/>
                <a:ea typeface="IBM Plex Sans" pitchFamily="34" charset="-122"/>
                <a:cs typeface="IBM Plex Sans" pitchFamily="34" charset="-120"/>
              </a:rPr>
              <a:t>: Megalos</a:t>
            </a:r>
            <a:endParaRPr lang="it-IT" sz="4000" noProof="0" dirty="0"/>
          </a:p>
        </p:txBody>
      </p:sp>
      <p:sp>
        <p:nvSpPr>
          <p:cNvPr id="26" name="Text 21">
            <a:extLst>
              <a:ext uri="{FF2B5EF4-FFF2-40B4-BE49-F238E27FC236}">
                <a16:creationId xmlns:a16="http://schemas.microsoft.com/office/drawing/2014/main" id="{678E360A-156F-DE9F-3C76-70324A4A9A89}"/>
              </a:ext>
            </a:extLst>
          </p:cNvPr>
          <p:cNvSpPr/>
          <p:nvPr/>
        </p:nvSpPr>
        <p:spPr>
          <a:xfrm>
            <a:off x="6604000" y="1892300"/>
            <a:ext cx="4918456" cy="594360"/>
          </a:xfrm>
          <a:prstGeom prst="rect">
            <a:avLst/>
          </a:prstGeom>
          <a:noFill/>
          <a:ln/>
        </p:spPr>
        <p:txBody>
          <a:bodyPr wrap="square" lIns="0" tIns="0" rIns="0" bIns="0" rtlCol="0" anchor="t">
            <a:normAutofit fontScale="92500"/>
          </a:bodyPr>
          <a:lstStyle/>
          <a:p>
            <a:pPr marL="0" indent="0" algn="l">
              <a:lnSpc>
                <a:spcPts val="2200"/>
              </a:lnSpc>
              <a:buNone/>
            </a:pPr>
            <a:r>
              <a:rPr lang="it-IT" sz="1600" b="1" noProof="0" dirty="0">
                <a:solidFill>
                  <a:srgbClr val="1B1D20"/>
                </a:solidFill>
                <a:latin typeface="IBM Plex Sans" pitchFamily="34" charset="0"/>
                <a:ea typeface="IBM Plex Sans" pitchFamily="34" charset="-122"/>
                <a:cs typeface="IBM Plex Sans" pitchFamily="34" charset="-120"/>
              </a:rPr>
              <a:t>Stesso lab, nessuna riscrittura. </a:t>
            </a:r>
            <a:r>
              <a:rPr lang="it-IT" sz="1600" noProof="0" dirty="0">
                <a:solidFill>
                  <a:srgbClr val="5B5F66"/>
                </a:solidFill>
                <a:latin typeface="IBM Plex Sans" pitchFamily="34" charset="0"/>
                <a:ea typeface="IBM Plex Sans" pitchFamily="34" charset="-122"/>
                <a:cs typeface="IBM Plex Sans" pitchFamily="34" charset="-120"/>
              </a:rPr>
              <a:t>Con kathara settings si sceglie Kubernetes come manager; lab.conf resta quello.</a:t>
            </a:r>
          </a:p>
        </p:txBody>
      </p:sp>
      <p:sp>
        <p:nvSpPr>
          <p:cNvPr id="27" name="Text 22">
            <a:extLst>
              <a:ext uri="{FF2B5EF4-FFF2-40B4-BE49-F238E27FC236}">
                <a16:creationId xmlns:a16="http://schemas.microsoft.com/office/drawing/2014/main" id="{6E623E75-2FD0-C92F-C4BF-DC50DBB8CBE4}"/>
              </a:ext>
            </a:extLst>
          </p:cNvPr>
          <p:cNvSpPr/>
          <p:nvPr/>
        </p:nvSpPr>
        <p:spPr>
          <a:xfrm>
            <a:off x="6604000" y="2806700"/>
            <a:ext cx="4918456" cy="594360"/>
          </a:xfrm>
          <a:prstGeom prst="rect">
            <a:avLst/>
          </a:prstGeom>
          <a:noFill/>
          <a:ln/>
        </p:spPr>
        <p:txBody>
          <a:bodyPr wrap="square" lIns="0" tIns="0" rIns="0" bIns="0" rtlCol="0" anchor="t">
            <a:normAutofit/>
          </a:bodyPr>
          <a:lstStyle/>
          <a:p>
            <a:pPr marL="0" indent="0" algn="l">
              <a:lnSpc>
                <a:spcPts val="2200"/>
              </a:lnSpc>
              <a:buNone/>
            </a:pPr>
            <a:r>
              <a:rPr lang="it-IT" sz="1600" b="1" noProof="0" dirty="0">
                <a:solidFill>
                  <a:srgbClr val="1B1D20"/>
                </a:solidFill>
                <a:latin typeface="IBM Plex Sans" pitchFamily="34" charset="0"/>
                <a:ea typeface="IBM Plex Sans" pitchFamily="34" charset="-122"/>
                <a:cs typeface="IBM Plex Sans" pitchFamily="34" charset="-120"/>
              </a:rPr>
              <a:t>Scala con il cluster. </a:t>
            </a:r>
            <a:r>
              <a:rPr lang="it-IT" sz="1600" noProof="0" dirty="0">
                <a:solidFill>
                  <a:srgbClr val="5B5F66"/>
                </a:solidFill>
                <a:latin typeface="IBM Plex Sans" pitchFamily="34" charset="0"/>
                <a:ea typeface="IBM Plex Sans" pitchFamily="34" charset="-122"/>
                <a:cs typeface="IBM Plex Sans" pitchFamily="34" charset="-120"/>
              </a:rPr>
              <a:t>Per emulare centinaia di device basta aggiungere worker.</a:t>
            </a:r>
          </a:p>
        </p:txBody>
      </p:sp>
      <p:sp>
        <p:nvSpPr>
          <p:cNvPr id="28" name="Text 23">
            <a:extLst>
              <a:ext uri="{FF2B5EF4-FFF2-40B4-BE49-F238E27FC236}">
                <a16:creationId xmlns:a16="http://schemas.microsoft.com/office/drawing/2014/main" id="{94FC2C6A-91DD-B016-1AB2-DA330441632C}"/>
              </a:ext>
            </a:extLst>
          </p:cNvPr>
          <p:cNvSpPr/>
          <p:nvPr/>
        </p:nvSpPr>
        <p:spPr>
          <a:xfrm>
            <a:off x="6604000" y="3721100"/>
            <a:ext cx="4918456" cy="594360"/>
          </a:xfrm>
          <a:prstGeom prst="rect">
            <a:avLst/>
          </a:prstGeom>
          <a:noFill/>
          <a:ln/>
        </p:spPr>
        <p:txBody>
          <a:bodyPr wrap="square" lIns="0" tIns="0" rIns="0" bIns="0" rtlCol="0" anchor="t">
            <a:normAutofit/>
          </a:bodyPr>
          <a:lstStyle/>
          <a:p>
            <a:pPr marL="0" indent="0" algn="l">
              <a:lnSpc>
                <a:spcPts val="2200"/>
              </a:lnSpc>
              <a:buNone/>
            </a:pPr>
            <a:r>
              <a:rPr lang="it-IT" sz="1600" b="1" noProof="0" dirty="0">
                <a:solidFill>
                  <a:srgbClr val="1B1D20"/>
                </a:solidFill>
                <a:latin typeface="IBM Plex Sans" pitchFamily="34" charset="0"/>
                <a:ea typeface="IBM Plex Sans" pitchFamily="34" charset="-122"/>
                <a:cs typeface="IBM Plex Sans" pitchFamily="34" charset="-120"/>
              </a:rPr>
              <a:t>Distribuzione automatica. </a:t>
            </a:r>
            <a:r>
              <a:rPr lang="it-IT" sz="1600" noProof="0" dirty="0">
                <a:solidFill>
                  <a:srgbClr val="5B5F66"/>
                </a:solidFill>
                <a:latin typeface="IBM Plex Sans" pitchFamily="34" charset="0"/>
                <a:ea typeface="IBM Plex Sans" pitchFamily="34" charset="-122"/>
                <a:cs typeface="IBM Plex Sans" pitchFamily="34" charset="-120"/>
              </a:rPr>
              <a:t>I device si dividono tra i worker e restano collegati come in un unico host.</a:t>
            </a:r>
          </a:p>
        </p:txBody>
      </p:sp>
      <p:sp>
        <p:nvSpPr>
          <p:cNvPr id="206" name="Caption"/>
          <p:cNvSpPr txBox="1"/>
          <p:nvPr/>
        </p:nvSpPr>
        <p:spPr>
          <a:xfrm>
            <a:off x="1016000" y="4978400"/>
            <a:ext cx="5080000" cy="4572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Kubernetes sceglie su quale worker</a:t>
            </a:r>
          </a:p>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far girare ogni device</a:t>
            </a:r>
          </a:p>
        </p:txBody>
      </p:sp>
    </p:spTree>
    <p:extLst>
      <p:ext uri="{BB962C8B-B14F-4D97-AF65-F5344CB8AC3E}">
        <p14:creationId xmlns:p14="http://schemas.microsoft.com/office/powerpoint/2010/main" val="3967232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a:bodyPr>
          <a:lstStyle/>
          <a:p>
            <a:pPr marL="0" indent="0" algn="l">
              <a:lnSpc>
                <a:spcPts val="4500"/>
              </a:lnSpc>
              <a:buNone/>
            </a:pPr>
            <a:r>
              <a:rPr lang="it-IT" sz="3600" b="1" i="0" noProof="0" dirty="0">
                <a:solidFill>
                  <a:srgbClr val="1B1D20"/>
                </a:solidFill>
                <a:latin typeface="IBM Plex Sans" pitchFamily="34" charset="0"/>
                <a:ea typeface="IBM Plex Sans" pitchFamily="34" charset="-122"/>
                <a:cs typeface="IBM Plex Sans" pitchFamily="34" charset="-120"/>
              </a:rPr>
              <a:t>Perché Kathará e non un altro emulatore?</a:t>
            </a:r>
            <a:endParaRPr lang="it-IT" sz="3600" noProof="0" dirty="0"/>
          </a:p>
        </p:txBody>
      </p:sp>
      <p:sp>
        <p:nvSpPr>
          <p:cNvPr id="120" name="Text 121"/>
          <p:cNvSpPr txBox="1"/>
          <p:nvPr/>
        </p:nvSpPr>
        <p:spPr>
          <a:xfrm>
            <a:off x="812800" y="1803400"/>
            <a:ext cx="10566400" cy="355600"/>
          </a:xfrm>
          <a:prstGeom prst="rect">
            <a:avLst/>
          </a:prstGeom>
          <a:noFill/>
          <a:ln/>
        </p:spPr>
        <p:txBody>
          <a:bodyPr wrap="square" lIns="0" tIns="0" rIns="0" bIns="0" rtlCol="0" anchor="t">
            <a:noAutofit/>
          </a:bodyPr>
          <a:lstStyle/>
          <a:p>
            <a:pPr marL="0" indent="0" algn="l">
              <a:lnSpc>
                <a:spcPts val="2500"/>
              </a:lnSpc>
              <a:buNone/>
            </a:pPr>
            <a:r>
              <a:rPr lang="it-IT" sz="1800" noProof="0" dirty="0">
                <a:solidFill>
                  <a:srgbClr val="5B5F66"/>
                </a:solidFill>
                <a:latin typeface="IBM Plex Sans" pitchFamily="34" charset="0"/>
                <a:ea typeface="IBM Plex Sans" pitchFamily="34" charset="-122"/>
                <a:cs typeface="IBM Plex Sans" pitchFamily="34" charset="-120"/>
              </a:rPr>
              <a:t>GNS3, containerlab e Mininet sono emulatori validi. </a:t>
            </a:r>
            <a:r>
              <a:rPr lang="it-IT" sz="1800" b="1" noProof="0" dirty="0">
                <a:solidFill>
                  <a:srgbClr val="1B1D20"/>
                </a:solidFill>
                <a:latin typeface="IBM Plex Sans" pitchFamily="34" charset="0"/>
                <a:ea typeface="IBM Plex Sans" pitchFamily="34" charset="-122"/>
                <a:cs typeface="IBM Plex Sans" pitchFamily="34" charset="-120"/>
              </a:rPr>
              <a:t>Solo Kathará offre tutto questo insieme:</a:t>
            </a:r>
          </a:p>
        </p:txBody>
      </p:sp>
      <p:sp>
        <p:nvSpPr>
          <p:cNvPr id="122" name="Text 123"/>
          <p:cNvSpPr txBox="1"/>
          <p:nvPr/>
        </p:nvSpPr>
        <p:spPr>
          <a:xfrm>
            <a:off x="889000" y="3860800"/>
            <a:ext cx="1960880" cy="660400"/>
          </a:xfrm>
          <a:prstGeom prst="rect">
            <a:avLst/>
          </a:prstGeom>
          <a:noFill/>
          <a:ln/>
        </p:spPr>
        <p:txBody>
          <a:bodyPr wrap="square" lIns="0" tIns="0" rIns="0" bIns="0" rtlCol="0" anchor="t" anchorCtr="0">
            <a:noAutofit/>
          </a:bodyPr>
          <a:lstStyle/>
          <a:p>
            <a:pPr marL="0" indent="0" algn="ctr">
              <a:lnSpc>
                <a:spcPts val="2300"/>
              </a:lnSpc>
              <a:buNone/>
            </a:pPr>
            <a:r>
              <a:rPr lang="it-IT" b="1" noProof="0" dirty="0">
                <a:solidFill>
                  <a:srgbClr val="1B1D20"/>
                </a:solidFill>
                <a:latin typeface="IBM Plex Sans" pitchFamily="34" charset="0"/>
                <a:ea typeface="IBM Plex Sans" pitchFamily="34" charset="-122"/>
                <a:cs typeface="IBM Plex Sans" pitchFamily="34" charset="-120"/>
              </a:rPr>
              <a:t>Domini di collisione L2</a:t>
            </a:r>
          </a:p>
        </p:txBody>
      </p:sp>
      <p:sp>
        <p:nvSpPr>
          <p:cNvPr id="125" name="Text 126"/>
          <p:cNvSpPr txBox="1"/>
          <p:nvPr/>
        </p:nvSpPr>
        <p:spPr>
          <a:xfrm>
            <a:off x="3002280" y="3860800"/>
            <a:ext cx="1960880" cy="660400"/>
          </a:xfrm>
          <a:prstGeom prst="rect">
            <a:avLst/>
          </a:prstGeom>
          <a:noFill/>
          <a:ln/>
        </p:spPr>
        <p:txBody>
          <a:bodyPr wrap="square" lIns="0" tIns="0" rIns="0" bIns="0" rtlCol="0" anchor="t" anchorCtr="0">
            <a:noAutofit/>
          </a:bodyPr>
          <a:lstStyle/>
          <a:p>
            <a:pPr marL="0" indent="0" algn="ctr">
              <a:lnSpc>
                <a:spcPts val="2300"/>
              </a:lnSpc>
              <a:buNone/>
            </a:pPr>
            <a:r>
              <a:rPr lang="it-IT" b="1" noProof="0" dirty="0">
                <a:solidFill>
                  <a:srgbClr val="1B1D20"/>
                </a:solidFill>
                <a:latin typeface="IBM Plex Sans" pitchFamily="34" charset="0"/>
                <a:ea typeface="IBM Plex Sans" pitchFamily="34" charset="-122"/>
                <a:cs typeface="IBM Plex Sans" pitchFamily="34" charset="-120"/>
              </a:rPr>
              <a:t>Nessun codice da scrivere</a:t>
            </a:r>
          </a:p>
        </p:txBody>
      </p:sp>
      <p:sp>
        <p:nvSpPr>
          <p:cNvPr id="128" name="Text 129"/>
          <p:cNvSpPr txBox="1"/>
          <p:nvPr/>
        </p:nvSpPr>
        <p:spPr>
          <a:xfrm>
            <a:off x="5115560" y="3860800"/>
            <a:ext cx="1960880" cy="660400"/>
          </a:xfrm>
          <a:prstGeom prst="rect">
            <a:avLst/>
          </a:prstGeom>
          <a:noFill/>
          <a:ln/>
        </p:spPr>
        <p:txBody>
          <a:bodyPr wrap="square" lIns="0" tIns="0" rIns="0" bIns="0" rtlCol="0" anchor="t" anchorCtr="0">
            <a:noAutofit/>
          </a:bodyPr>
          <a:lstStyle/>
          <a:p>
            <a:pPr marL="0" indent="0" algn="ctr">
              <a:lnSpc>
                <a:spcPts val="2300"/>
              </a:lnSpc>
              <a:buNone/>
            </a:pPr>
            <a:r>
              <a:rPr lang="it-IT" b="1" noProof="0" dirty="0">
                <a:solidFill>
                  <a:srgbClr val="1B1D20"/>
                </a:solidFill>
                <a:latin typeface="IBM Plex Sans" pitchFamily="34" charset="0"/>
                <a:ea typeface="IBM Plex Sans" pitchFamily="34" charset="-122"/>
                <a:cs typeface="IBM Plex Sans" pitchFamily="34" charset="-120"/>
              </a:rPr>
              <a:t>Ogni sistema operativo</a:t>
            </a:r>
          </a:p>
        </p:txBody>
      </p:sp>
      <p:sp>
        <p:nvSpPr>
          <p:cNvPr id="131" name="Text 132"/>
          <p:cNvSpPr txBox="1"/>
          <p:nvPr/>
        </p:nvSpPr>
        <p:spPr>
          <a:xfrm>
            <a:off x="7228840" y="3860800"/>
            <a:ext cx="1960880" cy="660400"/>
          </a:xfrm>
          <a:prstGeom prst="rect">
            <a:avLst/>
          </a:prstGeom>
          <a:noFill/>
          <a:ln/>
        </p:spPr>
        <p:txBody>
          <a:bodyPr wrap="square" lIns="0" tIns="0" rIns="0" bIns="0" rtlCol="0" anchor="t" anchorCtr="0">
            <a:noAutofit/>
          </a:bodyPr>
          <a:lstStyle/>
          <a:p>
            <a:pPr marL="0" indent="0" algn="ctr">
              <a:lnSpc>
                <a:spcPts val="2300"/>
              </a:lnSpc>
              <a:buNone/>
            </a:pPr>
            <a:r>
              <a:rPr lang="it-IT" b="1" noProof="0" dirty="0">
                <a:solidFill>
                  <a:srgbClr val="1B1D20"/>
                </a:solidFill>
                <a:latin typeface="IBM Plex Sans" pitchFamily="34" charset="0"/>
                <a:ea typeface="IBM Plex Sans" pitchFamily="34" charset="-122"/>
                <a:cs typeface="IBM Plex Sans" pitchFamily="34" charset="-120"/>
              </a:rPr>
              <a:t>API Python complete</a:t>
            </a:r>
          </a:p>
        </p:txBody>
      </p:sp>
      <p:sp>
        <p:nvSpPr>
          <p:cNvPr id="150" name="Vendor band"/>
          <p:cNvSpPr/>
          <p:nvPr/>
        </p:nvSpPr>
        <p:spPr>
          <a:xfrm>
            <a:off x="812800" y="5359400"/>
            <a:ext cx="10566400" cy="558800"/>
          </a:xfrm>
          <a:prstGeom prst="rect">
            <a:avLst/>
          </a:prstGeom>
          <a:noFill/>
          <a:ln>
            <a:noFill/>
          </a:ln>
        </p:spPr>
        <p:txBody>
          <a:bodyPr wrap="square" lIns="1397000" tIns="0" rIns="0" bIns="0" rtlCol="0" anchor="ctr">
            <a:noAutofit/>
          </a:bodyPr>
          <a:lstStyle/>
          <a:p>
            <a:pPr marL="0" indent="0" algn="l">
              <a:lnSpc>
                <a:spcPct val="100000"/>
              </a:lnSpc>
              <a:buNone/>
            </a:pPr>
            <a:r>
              <a:rPr lang="it-IT" sz="1600" b="1" noProof="0" dirty="0">
                <a:solidFill>
                  <a:srgbClr val="1B1D20"/>
                </a:solidFill>
                <a:latin typeface="IBM Plex Sans" pitchFamily="34" charset="0"/>
                <a:ea typeface="IBM Plex Sans" pitchFamily="34" charset="-122"/>
                <a:cs typeface="IBM Plex Sans" pitchFamily="34" charset="-120"/>
              </a:rPr>
              <a:t>Immagini vendor via vrnetlab</a:t>
            </a:r>
            <a:r>
              <a:rPr lang="it-IT" sz="1600" noProof="0" dirty="0">
                <a:solidFill>
                  <a:srgbClr val="5B5F66"/>
                </a:solidFill>
                <a:latin typeface="IBM Plex Sans" pitchFamily="34" charset="0"/>
                <a:ea typeface="IBM Plex Sans" pitchFamily="34" charset="-122"/>
                <a:cs typeface="IBM Plex Sans" pitchFamily="34" charset="-120"/>
              </a:rPr>
              <a:t> </a:t>
            </a:r>
            <a:r>
              <a:rPr lang="it-IT" sz="1600" noProof="0" dirty="0">
                <a:latin typeface="IBM Plex Sans" pitchFamily="34" charset="0"/>
                <a:ea typeface="IBM Plex Sans" pitchFamily="34" charset="-122"/>
                <a:cs typeface="IBM Plex Sans" pitchFamily="34" charset="-120"/>
              </a:rPr>
              <a:t>come in </a:t>
            </a:r>
            <a:r>
              <a:rPr lang="it-IT" sz="1600" noProof="0" dirty="0" err="1">
                <a:latin typeface="IBM Plex Sans" pitchFamily="34" charset="0"/>
                <a:ea typeface="IBM Plex Sans" pitchFamily="34" charset="-122"/>
                <a:cs typeface="IBM Plex Sans" pitchFamily="34" charset="-120"/>
              </a:rPr>
              <a:t>containerlab</a:t>
            </a:r>
            <a:r>
              <a:rPr lang="it-IT" sz="1600" dirty="0">
                <a:latin typeface="IBM Plex Sans" pitchFamily="34" charset="0"/>
                <a:ea typeface="IBM Plex Sans" pitchFamily="34" charset="-122"/>
                <a:cs typeface="IBM Plex Sans" pitchFamily="34" charset="-120"/>
              </a:rPr>
              <a:t>. Già utilizzabili e utilizzate in diversi progetti, ma stiamo lavorando alla </a:t>
            </a:r>
            <a:r>
              <a:rPr lang="it-IT" sz="1600" noProof="0" dirty="0">
                <a:latin typeface="IBM Plex Sans" pitchFamily="34" charset="0"/>
                <a:ea typeface="IBM Plex Sans" pitchFamily="34" charset="-122"/>
                <a:cs typeface="IBM Plex Sans" pitchFamily="34" charset="-120"/>
              </a:rPr>
              <a:t>documentazione</a:t>
            </a:r>
            <a:r>
              <a:rPr lang="it-IT" sz="1600" dirty="0">
                <a:latin typeface="IBM Plex Sans" pitchFamily="34" charset="0"/>
                <a:ea typeface="IBM Plex Sans" pitchFamily="34" charset="-122"/>
                <a:cs typeface="IBM Plex Sans" pitchFamily="34" charset="-120"/>
              </a:rPr>
              <a:t> (che verrà pubblicata presto).</a:t>
            </a:r>
            <a:endParaRPr lang="it-IT" sz="1600" noProof="0" dirty="0">
              <a:latin typeface="IBM Plex Sans" pitchFamily="34" charset="0"/>
              <a:ea typeface="IBM Plex Sans" pitchFamily="34" charset="-122"/>
              <a:cs typeface="IBM Plex Sans" pitchFamily="34" charset="-120"/>
            </a:endParaRPr>
          </a:p>
        </p:txBody>
      </p:sp>
      <p:sp>
        <p:nvSpPr>
          <p:cNvPr id="151" name="Vendor tag"/>
          <p:cNvSpPr/>
          <p:nvPr/>
        </p:nvSpPr>
        <p:spPr>
          <a:xfrm>
            <a:off x="812800" y="5486400"/>
            <a:ext cx="1346200" cy="304800"/>
          </a:xfrm>
          <a:prstGeom prst="roundRect">
            <a:avLst/>
          </a:prstGeom>
          <a:noFill/>
          <a:ln>
            <a:noFill/>
          </a:ln>
        </p:spPr>
        <p:txBody>
          <a:bodyPr wrap="square" lIns="0" tIns="0" rIns="0" bIns="0" rtlCol="0" anchor="ctr">
            <a:noAutofit/>
          </a:bodyPr>
          <a:lstStyle/>
          <a:p>
            <a:pPr marL="0" indent="0">
              <a:lnSpc>
                <a:spcPct val="100000"/>
              </a:lnSpc>
              <a:buNone/>
            </a:pPr>
            <a:r>
              <a:rPr lang="it-IT" sz="1600" b="1" noProof="0" dirty="0">
                <a:solidFill>
                  <a:srgbClr val="2B6CA3"/>
                </a:solidFill>
                <a:latin typeface="JetBrains Mono" pitchFamily="49" charset="0"/>
                <a:ea typeface="JetBrains Mono" pitchFamily="49" charset="-122"/>
                <a:cs typeface="JetBrains Mono" pitchFamily="49" charset="-120"/>
              </a:rPr>
              <a:t>in arrivo</a:t>
            </a:r>
          </a:p>
        </p:txBody>
      </p:sp>
      <p:grpSp>
        <p:nvGrpSpPr>
          <p:cNvPr id="169" name="Icon L2 shared segment"/>
          <p:cNvGrpSpPr/>
          <p:nvPr/>
        </p:nvGrpSpPr>
        <p:grpSpPr>
          <a:xfrm>
            <a:off x="1513839" y="3142671"/>
            <a:ext cx="711200" cy="420254"/>
            <a:chOff x="1016000" y="2692400"/>
            <a:chExt cx="558800" cy="323850"/>
          </a:xfrm>
        </p:grpSpPr>
        <p:sp>
          <p:nvSpPr>
            <p:cNvPr id="160" name="L2 host"/>
            <p:cNvSpPr/>
            <p:nvPr/>
          </p:nvSpPr>
          <p:spPr>
            <a:xfrm>
              <a:off x="1028700" y="2692400"/>
              <a:ext cx="127000" cy="101600"/>
            </a:xfrm>
            <a:prstGeom prst="roundRect">
              <a:avLst>
                <a:gd name="adj" fmla="val 15000"/>
              </a:avLst>
            </a:prstGeom>
            <a:noFill/>
            <a:ln w="15875" cap="rnd">
              <a:solidFill>
                <a:srgbClr val="2B6CA3"/>
              </a:solidFill>
              <a:round/>
            </a:ln>
          </p:spPr>
          <p:txBody>
            <a:bodyPr/>
            <a:lstStyle/>
            <a:p>
              <a:endParaRPr lang="en-US"/>
            </a:p>
          </p:txBody>
        </p:sp>
        <p:cxnSp>
          <p:nvCxnSpPr>
            <p:cNvPr id="161" name="L2 link"/>
            <p:cNvCxnSpPr/>
            <p:nvPr/>
          </p:nvCxnSpPr>
          <p:spPr>
            <a:xfrm>
              <a:off x="1092200" y="2794000"/>
              <a:ext cx="0" cy="177800"/>
            </a:xfrm>
            <a:prstGeom prst="line">
              <a:avLst/>
            </a:prstGeom>
            <a:ln w="15875" cap="rnd">
              <a:solidFill>
                <a:srgbClr val="2B6CA3"/>
              </a:solidFill>
              <a:round/>
            </a:ln>
          </p:spPr>
        </p:cxnSp>
        <p:sp>
          <p:nvSpPr>
            <p:cNvPr id="162" name="L2 host"/>
            <p:cNvSpPr/>
            <p:nvPr/>
          </p:nvSpPr>
          <p:spPr>
            <a:xfrm>
              <a:off x="1231900" y="2692400"/>
              <a:ext cx="127000" cy="101600"/>
            </a:xfrm>
            <a:prstGeom prst="roundRect">
              <a:avLst>
                <a:gd name="adj" fmla="val 15000"/>
              </a:avLst>
            </a:prstGeom>
            <a:noFill/>
            <a:ln w="15875" cap="rnd">
              <a:solidFill>
                <a:srgbClr val="2B6CA3"/>
              </a:solidFill>
              <a:round/>
            </a:ln>
          </p:spPr>
          <p:txBody>
            <a:bodyPr/>
            <a:lstStyle/>
            <a:p>
              <a:endParaRPr lang="en-US"/>
            </a:p>
          </p:txBody>
        </p:sp>
        <p:cxnSp>
          <p:nvCxnSpPr>
            <p:cNvPr id="163" name="L2 link"/>
            <p:cNvCxnSpPr/>
            <p:nvPr/>
          </p:nvCxnSpPr>
          <p:spPr>
            <a:xfrm>
              <a:off x="1295400" y="2794000"/>
              <a:ext cx="0" cy="177800"/>
            </a:xfrm>
            <a:prstGeom prst="line">
              <a:avLst/>
            </a:prstGeom>
            <a:ln w="15875" cap="rnd">
              <a:solidFill>
                <a:srgbClr val="2B6CA3"/>
              </a:solidFill>
              <a:round/>
            </a:ln>
          </p:spPr>
        </p:cxnSp>
        <p:sp>
          <p:nvSpPr>
            <p:cNvPr id="164" name="L2 host"/>
            <p:cNvSpPr/>
            <p:nvPr/>
          </p:nvSpPr>
          <p:spPr>
            <a:xfrm>
              <a:off x="1435100" y="2692400"/>
              <a:ext cx="127000" cy="101600"/>
            </a:xfrm>
            <a:prstGeom prst="roundRect">
              <a:avLst>
                <a:gd name="adj" fmla="val 15000"/>
              </a:avLst>
            </a:prstGeom>
            <a:noFill/>
            <a:ln w="15875" cap="rnd">
              <a:solidFill>
                <a:srgbClr val="2B6CA3"/>
              </a:solidFill>
              <a:round/>
            </a:ln>
          </p:spPr>
          <p:txBody>
            <a:bodyPr/>
            <a:lstStyle/>
            <a:p>
              <a:endParaRPr lang="en-US"/>
            </a:p>
          </p:txBody>
        </p:sp>
        <p:cxnSp>
          <p:nvCxnSpPr>
            <p:cNvPr id="165" name="L2 link"/>
            <p:cNvCxnSpPr/>
            <p:nvPr/>
          </p:nvCxnSpPr>
          <p:spPr>
            <a:xfrm>
              <a:off x="1498600" y="2794000"/>
              <a:ext cx="0" cy="177800"/>
            </a:xfrm>
            <a:prstGeom prst="line">
              <a:avLst/>
            </a:prstGeom>
            <a:ln w="15875" cap="rnd">
              <a:solidFill>
                <a:srgbClr val="2B6CA3"/>
              </a:solidFill>
              <a:round/>
            </a:ln>
          </p:spPr>
        </p:cxnSp>
        <p:cxnSp>
          <p:nvCxnSpPr>
            <p:cNvPr id="166" name="L2 link"/>
            <p:cNvCxnSpPr/>
            <p:nvPr/>
          </p:nvCxnSpPr>
          <p:spPr>
            <a:xfrm>
              <a:off x="1016000" y="2971800"/>
              <a:ext cx="558800" cy="0"/>
            </a:xfrm>
            <a:prstGeom prst="line">
              <a:avLst/>
            </a:prstGeom>
            <a:ln w="15875" cap="rnd">
              <a:solidFill>
                <a:srgbClr val="2B6CA3"/>
              </a:solidFill>
              <a:round/>
            </a:ln>
          </p:spPr>
        </p:cxnSp>
        <p:cxnSp>
          <p:nvCxnSpPr>
            <p:cNvPr id="167" name="L2 link"/>
            <p:cNvCxnSpPr/>
            <p:nvPr/>
          </p:nvCxnSpPr>
          <p:spPr>
            <a:xfrm>
              <a:off x="1016000" y="2927350"/>
              <a:ext cx="0" cy="88900"/>
            </a:xfrm>
            <a:prstGeom prst="line">
              <a:avLst/>
            </a:prstGeom>
            <a:ln w="15875" cap="rnd">
              <a:solidFill>
                <a:srgbClr val="2B6CA3"/>
              </a:solidFill>
              <a:round/>
            </a:ln>
          </p:spPr>
        </p:cxnSp>
        <p:cxnSp>
          <p:nvCxnSpPr>
            <p:cNvPr id="168" name="L2 link"/>
            <p:cNvCxnSpPr/>
            <p:nvPr/>
          </p:nvCxnSpPr>
          <p:spPr>
            <a:xfrm>
              <a:off x="1574800" y="2927350"/>
              <a:ext cx="0" cy="88900"/>
            </a:xfrm>
            <a:prstGeom prst="line">
              <a:avLst/>
            </a:prstGeom>
            <a:ln w="15875" cap="rnd">
              <a:solidFill>
                <a:srgbClr val="2B6CA3"/>
              </a:solidFill>
              <a:round/>
            </a:ln>
          </p:spPr>
        </p:cxnSp>
      </p:grpSp>
      <p:pic>
        <p:nvPicPr>
          <p:cNvPr id="301" name="Graphic 301" descr="Cartella"/>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27120" y="2997200"/>
            <a:ext cx="711200" cy="711200"/>
          </a:xfrm>
          <a:prstGeom prst="rect">
            <a:avLst/>
          </a:prstGeom>
        </p:spPr>
      </p:pic>
      <p:pic>
        <p:nvPicPr>
          <p:cNvPr id="302" name="Graphic 302" descr="Lapto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0400" y="2997200"/>
            <a:ext cx="711200" cy="711200"/>
          </a:xfrm>
          <a:prstGeom prst="rect">
            <a:avLst/>
          </a:prstGeom>
        </p:spPr>
      </p:pic>
      <p:pic>
        <p:nvPicPr>
          <p:cNvPr id="5" name="Graphic 9" descr="Snake with solid fill">
            <a:extLst>
              <a:ext uri="{FF2B5EF4-FFF2-40B4-BE49-F238E27FC236}">
                <a16:creationId xmlns:a16="http://schemas.microsoft.com/office/drawing/2014/main" id="{9B854F47-87DD-04B3-B4AC-71EE9D95AD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853680" y="2997200"/>
            <a:ext cx="711200" cy="711200"/>
          </a:xfrm>
          <a:prstGeom prst="rect">
            <a:avLst/>
          </a:prstGeom>
        </p:spPr>
      </p:pic>
      <p:grpSp>
        <p:nvGrpSpPr>
          <p:cNvPr id="8" name="Group 26">
            <a:extLst>
              <a:ext uri="{FF2B5EF4-FFF2-40B4-BE49-F238E27FC236}">
                <a16:creationId xmlns:a16="http://schemas.microsoft.com/office/drawing/2014/main" id="{60B09B92-B4F9-E412-18F4-42F37E54DED3}"/>
              </a:ext>
            </a:extLst>
          </p:cNvPr>
          <p:cNvGrpSpPr/>
          <p:nvPr/>
        </p:nvGrpSpPr>
        <p:grpSpPr>
          <a:xfrm>
            <a:off x="9966960" y="3014474"/>
            <a:ext cx="711200" cy="676648"/>
            <a:chOff x="8360095" y="2626392"/>
            <a:chExt cx="1713595" cy="1380689"/>
          </a:xfrm>
          <a:solidFill>
            <a:schemeClr val="accent2"/>
          </a:solidFill>
        </p:grpSpPr>
        <p:pic>
          <p:nvPicPr>
            <p:cNvPr id="9" name="Graphic 15" descr="Server with solid fill">
              <a:extLst>
                <a:ext uri="{FF2B5EF4-FFF2-40B4-BE49-F238E27FC236}">
                  <a16:creationId xmlns:a16="http://schemas.microsoft.com/office/drawing/2014/main" id="{8B98C0DF-DE87-C622-7C6A-E32B5ADEBE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8773744" y="2626392"/>
              <a:ext cx="984272" cy="984272"/>
            </a:xfrm>
            <a:prstGeom prst="rect">
              <a:avLst/>
            </a:prstGeom>
          </p:spPr>
        </p:pic>
        <p:pic>
          <p:nvPicPr>
            <p:cNvPr id="10" name="Graphic 12" descr="Server with solid fill">
              <a:extLst>
                <a:ext uri="{FF2B5EF4-FFF2-40B4-BE49-F238E27FC236}">
                  <a16:creationId xmlns:a16="http://schemas.microsoft.com/office/drawing/2014/main" id="{E3B3A55C-3B31-FEC5-0208-63DD298824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8360095" y="3022809"/>
              <a:ext cx="984272" cy="984272"/>
            </a:xfrm>
            <a:prstGeom prst="rect">
              <a:avLst/>
            </a:prstGeom>
          </p:spPr>
        </p:pic>
        <p:pic>
          <p:nvPicPr>
            <p:cNvPr id="11" name="Graphic 14" descr="Server with solid fill">
              <a:extLst>
                <a:ext uri="{FF2B5EF4-FFF2-40B4-BE49-F238E27FC236}">
                  <a16:creationId xmlns:a16="http://schemas.microsoft.com/office/drawing/2014/main" id="{40BE740A-44C6-DAD1-AE0E-C712E02FCF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9089418" y="3022809"/>
              <a:ext cx="984272" cy="984272"/>
            </a:xfrm>
            <a:prstGeom prst="rect">
              <a:avLst/>
            </a:prstGeom>
          </p:spPr>
        </p:pic>
      </p:grpSp>
      <p:sp>
        <p:nvSpPr>
          <p:cNvPr id="13" name="Text 132">
            <a:extLst>
              <a:ext uri="{FF2B5EF4-FFF2-40B4-BE49-F238E27FC236}">
                <a16:creationId xmlns:a16="http://schemas.microsoft.com/office/drawing/2014/main" id="{47B03E46-9CE0-0E33-AB2C-69AAB52C54B4}"/>
              </a:ext>
            </a:extLst>
          </p:cNvPr>
          <p:cNvSpPr txBox="1"/>
          <p:nvPr/>
        </p:nvSpPr>
        <p:spPr>
          <a:xfrm>
            <a:off x="9342120" y="3860800"/>
            <a:ext cx="1960880" cy="660400"/>
          </a:xfrm>
          <a:prstGeom prst="rect">
            <a:avLst/>
          </a:prstGeom>
          <a:noFill/>
          <a:ln/>
        </p:spPr>
        <p:txBody>
          <a:bodyPr wrap="square" lIns="0" tIns="0" rIns="0" bIns="0" rtlCol="0" anchor="t" anchorCtr="0">
            <a:noAutofit/>
          </a:bodyPr>
          <a:lstStyle/>
          <a:p>
            <a:pPr marL="0" indent="0" algn="ctr">
              <a:lnSpc>
                <a:spcPts val="2300"/>
              </a:lnSpc>
              <a:buNone/>
            </a:pPr>
            <a:r>
              <a:rPr lang="it-IT" b="1" noProof="0" dirty="0">
                <a:solidFill>
                  <a:srgbClr val="1B1D20"/>
                </a:solidFill>
                <a:latin typeface="IBM Plex Sans" pitchFamily="34" charset="0"/>
                <a:ea typeface="IBM Plex Sans" pitchFamily="34" charset="-122"/>
                <a:cs typeface="IBM Plex Sans" pitchFamily="34" charset="-120"/>
              </a:rPr>
              <a:t>Scalabile</a:t>
            </a:r>
          </a:p>
        </p:txBody>
      </p:sp>
    </p:spTree>
    <p:extLst>
      <p:ext uri="{BB962C8B-B14F-4D97-AF65-F5344CB8AC3E}">
        <p14:creationId xmlns:p14="http://schemas.microsoft.com/office/powerpoint/2010/main" val="326709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p:tgtEl>
                                          <p:spTgt spid="8"/>
                                        </p:tgtEl>
                                        <p:attrNameLst>
                                          <p:attrName>ppt_y</p:attrName>
                                        </p:attrNameLst>
                                      </p:cBhvr>
                                      <p:tavLst>
                                        <p:tav tm="0">
                                          <p:val>
                                            <p:strVal val="#ppt_y+#ppt_h*1.125000"/>
                                          </p:val>
                                        </p:tav>
                                        <p:tav tm="100000">
                                          <p:val>
                                            <p:strVal val="#ppt_y"/>
                                          </p:val>
                                        </p:tav>
                                      </p:tavLst>
                                    </p:anim>
                                    <p:animEffect transition="in" filter="wipe(up)">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Kathará nella didattica e nella ricerca</a:t>
            </a:r>
            <a:endParaRPr lang="it-IT" sz="4000" noProof="0" dirty="0"/>
          </a:p>
        </p:txBody>
      </p:sp>
      <p:sp>
        <p:nvSpPr>
          <p:cNvPr id="700" name="Label numeri"/>
          <p:cNvSpPr txBox="1"/>
          <p:nvPr/>
        </p:nvSpPr>
        <p:spPr>
          <a:xfrm>
            <a:off x="812800" y="1905000"/>
            <a:ext cx="4826000" cy="254000"/>
          </a:xfrm>
          <a:prstGeom prst="rect">
            <a:avLst/>
          </a:prstGeom>
          <a:noFill/>
        </p:spPr>
        <p:txBody>
          <a:bodyPr wrap="square" lIns="0" tIns="0" rIns="0" bIns="0" rtlCol="0" anchor="t">
            <a:noAutofit/>
          </a:bodyPr>
          <a:lstStyle/>
          <a:p>
            <a:pPr marL="0" indent="0" algn="l">
              <a:lnSpc>
                <a:spcPts val="2000"/>
              </a:lnSpc>
              <a:buNone/>
            </a:pPr>
            <a:r>
              <a:rPr lang="it-IT" sz="1400" b="1" dirty="0">
                <a:solidFill>
                  <a:srgbClr val="2B6CA3"/>
                </a:solidFill>
                <a:latin typeface="JetBrains Mono"/>
                <a:ea typeface="JetBrains Mono"/>
                <a:cs typeface="JetBrains Mono"/>
              </a:rPr>
              <a:t>nella didattica</a:t>
            </a:r>
          </a:p>
        </p:txBody>
      </p:sp>
      <p:sp>
        <p:nvSpPr>
          <p:cNvPr id="701" name="Stat num paesi"/>
          <p:cNvSpPr txBox="1"/>
          <p:nvPr/>
        </p:nvSpPr>
        <p:spPr>
          <a:xfrm>
            <a:off x="812800" y="2286000"/>
            <a:ext cx="1905000" cy="939800"/>
          </a:xfrm>
          <a:prstGeom prst="rect">
            <a:avLst/>
          </a:prstGeom>
          <a:noFill/>
        </p:spPr>
        <p:txBody>
          <a:bodyPr wrap="square" lIns="0" tIns="0" rIns="0" bIns="0" rtlCol="0" anchor="ctr">
            <a:noAutofit/>
          </a:bodyPr>
          <a:lstStyle/>
          <a:p>
            <a:pPr marL="0" indent="0" algn="l">
              <a:lnSpc>
                <a:spcPts val="6600"/>
              </a:lnSpc>
              <a:buNone/>
            </a:pPr>
            <a:r>
              <a:rPr lang="it-IT" sz="6000" b="1" dirty="0">
                <a:solidFill>
                  <a:srgbClr val="2B6CA3"/>
                </a:solidFill>
                <a:latin typeface="IBM Plex Sans"/>
                <a:ea typeface="IBM Plex Sans"/>
                <a:cs typeface="IBM Plex Sans"/>
              </a:rPr>
              <a:t>16</a:t>
            </a:r>
          </a:p>
        </p:txBody>
      </p:sp>
      <p:sp>
        <p:nvSpPr>
          <p:cNvPr id="702" name="Stat label paesi"/>
          <p:cNvSpPr txBox="1"/>
          <p:nvPr/>
        </p:nvSpPr>
        <p:spPr>
          <a:xfrm>
            <a:off x="2286000" y="2286000"/>
            <a:ext cx="3048000" cy="889000"/>
          </a:xfrm>
          <a:prstGeom prst="rect">
            <a:avLst/>
          </a:prstGeom>
          <a:noFill/>
        </p:spPr>
        <p:txBody>
          <a:bodyPr wrap="square" lIns="0" tIns="0" rIns="0" bIns="0" rtlCol="0" anchor="ctr">
            <a:noAutofit/>
          </a:bodyPr>
          <a:lstStyle/>
          <a:p>
            <a:pPr marL="0" indent="0" algn="l">
              <a:lnSpc>
                <a:spcPts val="2600"/>
              </a:lnSpc>
              <a:buNone/>
            </a:pPr>
            <a:r>
              <a:rPr lang="it-IT" sz="2000" b="0" dirty="0">
                <a:solidFill>
                  <a:srgbClr val="5B5F66"/>
                </a:solidFill>
                <a:latin typeface="JetBrains Mono"/>
                <a:ea typeface="JetBrains Mono"/>
                <a:cs typeface="JetBrains Mono"/>
              </a:rPr>
              <a:t>paesi</a:t>
            </a:r>
          </a:p>
        </p:txBody>
      </p:sp>
      <p:sp>
        <p:nvSpPr>
          <p:cNvPr id="703" name="Stat num università"/>
          <p:cNvSpPr txBox="1"/>
          <p:nvPr/>
        </p:nvSpPr>
        <p:spPr>
          <a:xfrm>
            <a:off x="812800" y="3302000"/>
            <a:ext cx="1905000" cy="939800"/>
          </a:xfrm>
          <a:prstGeom prst="rect">
            <a:avLst/>
          </a:prstGeom>
          <a:noFill/>
        </p:spPr>
        <p:txBody>
          <a:bodyPr wrap="square" lIns="0" tIns="0" rIns="0" bIns="0" rtlCol="0" anchor="ctr">
            <a:noAutofit/>
          </a:bodyPr>
          <a:lstStyle/>
          <a:p>
            <a:pPr marL="0" indent="0" algn="l">
              <a:lnSpc>
                <a:spcPts val="6600"/>
              </a:lnSpc>
              <a:buNone/>
            </a:pPr>
            <a:r>
              <a:rPr lang="it-IT" sz="6000" b="1" dirty="0">
                <a:solidFill>
                  <a:srgbClr val="2B6CA3"/>
                </a:solidFill>
                <a:latin typeface="IBM Plex Sans"/>
                <a:ea typeface="IBM Plex Sans"/>
                <a:cs typeface="IBM Plex Sans"/>
              </a:rPr>
              <a:t>30</a:t>
            </a:r>
          </a:p>
        </p:txBody>
      </p:sp>
      <p:sp>
        <p:nvSpPr>
          <p:cNvPr id="704" name="Stat label università"/>
          <p:cNvSpPr txBox="1"/>
          <p:nvPr/>
        </p:nvSpPr>
        <p:spPr>
          <a:xfrm>
            <a:off x="2286000" y="3302000"/>
            <a:ext cx="3048000" cy="889000"/>
          </a:xfrm>
          <a:prstGeom prst="rect">
            <a:avLst/>
          </a:prstGeom>
          <a:noFill/>
        </p:spPr>
        <p:txBody>
          <a:bodyPr wrap="square" lIns="0" tIns="0" rIns="0" bIns="0" rtlCol="0" anchor="ctr">
            <a:noAutofit/>
          </a:bodyPr>
          <a:lstStyle/>
          <a:p>
            <a:pPr marL="0" indent="0" algn="l">
              <a:lnSpc>
                <a:spcPts val="2600"/>
              </a:lnSpc>
              <a:buNone/>
            </a:pPr>
            <a:r>
              <a:rPr lang="it-IT" sz="2000" b="0" dirty="0">
                <a:solidFill>
                  <a:srgbClr val="5B5F66"/>
                </a:solidFill>
                <a:latin typeface="JetBrains Mono"/>
                <a:ea typeface="JetBrains Mono"/>
                <a:cs typeface="JetBrains Mono"/>
              </a:rPr>
              <a:t>università</a:t>
            </a:r>
          </a:p>
        </p:txBody>
      </p:sp>
      <p:sp>
        <p:nvSpPr>
          <p:cNvPr id="705" name="Stat num corsi"/>
          <p:cNvSpPr txBox="1"/>
          <p:nvPr/>
        </p:nvSpPr>
        <p:spPr>
          <a:xfrm>
            <a:off x="812800" y="4318000"/>
            <a:ext cx="1905000" cy="939800"/>
          </a:xfrm>
          <a:prstGeom prst="rect">
            <a:avLst/>
          </a:prstGeom>
          <a:noFill/>
        </p:spPr>
        <p:txBody>
          <a:bodyPr wrap="square" lIns="0" tIns="0" rIns="0" bIns="0" rtlCol="0" anchor="ctr">
            <a:noAutofit/>
          </a:bodyPr>
          <a:lstStyle/>
          <a:p>
            <a:pPr marL="0" indent="0" algn="l">
              <a:lnSpc>
                <a:spcPts val="6600"/>
              </a:lnSpc>
              <a:buNone/>
            </a:pPr>
            <a:r>
              <a:rPr lang="it-IT" sz="6000" b="1" dirty="0">
                <a:solidFill>
                  <a:srgbClr val="2B6CA3"/>
                </a:solidFill>
                <a:latin typeface="IBM Plex Sans"/>
                <a:ea typeface="IBM Plex Sans"/>
                <a:cs typeface="IBM Plex Sans"/>
              </a:rPr>
              <a:t>41</a:t>
            </a:r>
          </a:p>
        </p:txBody>
      </p:sp>
      <p:sp>
        <p:nvSpPr>
          <p:cNvPr id="706" name="Stat label corsi"/>
          <p:cNvSpPr txBox="1"/>
          <p:nvPr/>
        </p:nvSpPr>
        <p:spPr>
          <a:xfrm>
            <a:off x="2286000" y="4318000"/>
            <a:ext cx="3048000" cy="889000"/>
          </a:xfrm>
          <a:prstGeom prst="rect">
            <a:avLst/>
          </a:prstGeom>
          <a:noFill/>
        </p:spPr>
        <p:txBody>
          <a:bodyPr wrap="square" lIns="0" tIns="0" rIns="0" bIns="0" rtlCol="0" anchor="ctr">
            <a:noAutofit/>
          </a:bodyPr>
          <a:lstStyle/>
          <a:p>
            <a:pPr marL="0" indent="0" algn="l">
              <a:lnSpc>
                <a:spcPts val="2600"/>
              </a:lnSpc>
              <a:buNone/>
            </a:pPr>
            <a:r>
              <a:rPr lang="it-IT" sz="2000" b="0" dirty="0">
                <a:solidFill>
                  <a:srgbClr val="5B5F66"/>
                </a:solidFill>
                <a:latin typeface="JetBrains Mono"/>
                <a:ea typeface="JetBrains Mono"/>
                <a:cs typeface="JetBrains Mono"/>
              </a:rPr>
              <a:t>corsi</a:t>
            </a:r>
          </a:p>
        </p:txBody>
      </p:sp>
      <p:sp>
        <p:nvSpPr>
          <p:cNvPr id="708" name="Punto didattica"/>
          <p:cNvSpPr txBox="1"/>
          <p:nvPr/>
        </p:nvSpPr>
        <p:spPr>
          <a:xfrm>
            <a:off x="6604000" y="2336800"/>
            <a:ext cx="4775200" cy="1270000"/>
          </a:xfrm>
          <a:prstGeom prst="rect">
            <a:avLst/>
          </a:prstGeom>
          <a:noFill/>
        </p:spPr>
        <p:txBody>
          <a:bodyPr wrap="square" lIns="0" tIns="0" rIns="0" bIns="0" rtlCol="0" anchor="t">
            <a:noAutofit/>
          </a:bodyPr>
          <a:lstStyle/>
          <a:p>
            <a:pPr marL="0" indent="0" algn="l">
              <a:lnSpc>
                <a:spcPts val="2400"/>
              </a:lnSpc>
              <a:buNone/>
            </a:pPr>
            <a:r>
              <a:rPr lang="it-IT" sz="1800" b="1" dirty="0">
                <a:solidFill>
                  <a:srgbClr val="1B1D20"/>
                </a:solidFill>
                <a:latin typeface="IBM Plex Sans"/>
                <a:ea typeface="IBM Plex Sans"/>
                <a:cs typeface="IBM Plex Sans"/>
              </a:rPr>
              <a:t>Didattica</a:t>
            </a:r>
          </a:p>
          <a:p>
            <a:pPr marL="0" indent="0" algn="l">
              <a:lnSpc>
                <a:spcPts val="2300"/>
              </a:lnSpc>
              <a:spcBef>
                <a:spcPts val="400"/>
              </a:spcBef>
              <a:buNone/>
            </a:pPr>
            <a:r>
              <a:rPr lang="it-IT" sz="1600" b="0" dirty="0">
                <a:solidFill>
                  <a:srgbClr val="5B5F66"/>
                </a:solidFill>
                <a:latin typeface="IBM Plex Sans"/>
                <a:ea typeface="IBM Plex Sans"/>
                <a:cs typeface="IBM Plex Sans"/>
              </a:rPr>
              <a:t>Kathará è usato nei corsi di reti in 16 paesi, 30 università e 41 corsi.</a:t>
            </a:r>
          </a:p>
        </p:txBody>
      </p:sp>
      <p:sp>
        <p:nvSpPr>
          <p:cNvPr id="709" name="Punto ricerca"/>
          <p:cNvSpPr txBox="1"/>
          <p:nvPr/>
        </p:nvSpPr>
        <p:spPr>
          <a:xfrm>
            <a:off x="6604000" y="3810000"/>
            <a:ext cx="4775200" cy="1270000"/>
          </a:xfrm>
          <a:prstGeom prst="rect">
            <a:avLst/>
          </a:prstGeom>
          <a:noFill/>
        </p:spPr>
        <p:txBody>
          <a:bodyPr wrap="square" lIns="0" tIns="0" rIns="0" bIns="0" rtlCol="0" anchor="t">
            <a:noAutofit/>
          </a:bodyPr>
          <a:lstStyle/>
          <a:p>
            <a:pPr marL="0" indent="0" algn="l">
              <a:lnSpc>
                <a:spcPts val="2400"/>
              </a:lnSpc>
              <a:buNone/>
            </a:pPr>
            <a:r>
              <a:rPr lang="it-IT" sz="1800" b="1" dirty="0">
                <a:solidFill>
                  <a:srgbClr val="1B1D20"/>
                </a:solidFill>
                <a:latin typeface="IBM Plex Sans"/>
                <a:ea typeface="IBM Plex Sans"/>
                <a:cs typeface="IBM Plex Sans"/>
              </a:rPr>
              <a:t>Ricerca</a:t>
            </a:r>
          </a:p>
          <a:p>
            <a:pPr marL="0" indent="0" algn="l">
              <a:lnSpc>
                <a:spcPts val="2300"/>
              </a:lnSpc>
              <a:spcBef>
                <a:spcPts val="400"/>
              </a:spcBef>
              <a:buNone/>
            </a:pPr>
            <a:r>
              <a:rPr lang="it-IT" sz="1600" b="0" dirty="0">
                <a:solidFill>
                  <a:srgbClr val="5B5F66"/>
                </a:solidFill>
                <a:latin typeface="IBM Plex Sans"/>
                <a:ea typeface="IBM Plex Sans"/>
                <a:cs typeface="IBM Plex Sans"/>
              </a:rPr>
              <a:t>I ricercatori lo usano come piattaforma per sperimentare e validare nuovi protocolli e architetture di rete.</a:t>
            </a:r>
          </a:p>
        </p:txBody>
      </p:sp>
      <p:sp>
        <p:nvSpPr>
          <p:cNvPr id="710" name="Source"/>
          <p:cNvSpPr txBox="1"/>
          <p:nvPr/>
        </p:nvSpPr>
        <p:spPr>
          <a:xfrm>
            <a:off x="3810000" y="6273800"/>
            <a:ext cx="6807200" cy="203200"/>
          </a:xfrm>
          <a:prstGeom prst="rect">
            <a:avLst/>
          </a:prstGeom>
          <a:noFill/>
        </p:spPr>
        <p:txBody>
          <a:bodyPr wrap="square" lIns="0" tIns="0" rIns="0" bIns="0" rtlCol="0" anchor="t">
            <a:noAutofit/>
          </a:bodyPr>
          <a:lstStyle/>
          <a:p>
            <a:pPr marL="0" indent="0" algn="r">
              <a:buNone/>
            </a:pPr>
            <a:r>
              <a:rPr lang="it-IT" sz="1000" b="0" dirty="0">
                <a:solidFill>
                  <a:srgbClr val="6F737A"/>
                </a:solidFill>
                <a:latin typeface="IBM Plex Sans"/>
                <a:ea typeface="IBM Plex Sans"/>
                <a:cs typeface="IBM Plex Sans"/>
              </a:rPr>
              <a:t>Fonte: kathara.org, success stories</a:t>
            </a:r>
          </a:p>
        </p:txBody>
      </p:sp>
    </p:spTree>
    <p:extLst>
      <p:ext uri="{BB962C8B-B14F-4D97-AF65-F5344CB8AC3E}">
        <p14:creationId xmlns:p14="http://schemas.microsoft.com/office/powerpoint/2010/main" val="1385644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10BC1-437D-E89B-3913-D36A0C5BDF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8CF6478-01ED-2E2B-B76D-011B5A0AFF57}"/>
              </a:ext>
            </a:extLst>
          </p:cNvPr>
          <p:cNvSpPr/>
          <p:nvPr/>
        </p:nvSpPr>
        <p:spPr>
          <a:xfrm>
            <a:off x="0" y="0"/>
            <a:ext cx="152400" cy="6858000"/>
          </a:xfrm>
          <a:prstGeom prst="rect">
            <a:avLst/>
          </a:prstGeom>
          <a:solidFill>
            <a:srgbClr val="60A5E3"/>
          </a:solidFill>
          <a:ln/>
        </p:spPr>
        <p:txBody>
          <a:bodyPr/>
          <a:lstStyle/>
          <a:p>
            <a:endParaRPr lang="it-IT" noProof="0" dirty="0"/>
          </a:p>
        </p:txBody>
      </p:sp>
      <p:sp>
        <p:nvSpPr>
          <p:cNvPr id="4" name="Text 2">
            <a:extLst>
              <a:ext uri="{FF2B5EF4-FFF2-40B4-BE49-F238E27FC236}">
                <a16:creationId xmlns:a16="http://schemas.microsoft.com/office/drawing/2014/main" id="{5BD9D729-000D-B985-C250-0FB2B432FF20}"/>
              </a:ext>
            </a:extLst>
          </p:cNvPr>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Kathará nei progetti reali</a:t>
            </a:r>
            <a:endParaRPr lang="it-IT" sz="4000" noProof="0" dirty="0"/>
          </a:p>
        </p:txBody>
      </p:sp>
      <p:sp>
        <p:nvSpPr>
          <p:cNvPr id="5" name="Text 3">
            <a:extLst>
              <a:ext uri="{FF2B5EF4-FFF2-40B4-BE49-F238E27FC236}">
                <a16:creationId xmlns:a16="http://schemas.microsoft.com/office/drawing/2014/main" id="{78FF141E-3E80-9682-6579-17A0B796DB7B}"/>
              </a:ext>
            </a:extLst>
          </p:cNvPr>
          <p:cNvSpPr/>
          <p:nvPr/>
        </p:nvSpPr>
        <p:spPr>
          <a:xfrm>
            <a:off x="812800" y="1661158"/>
            <a:ext cx="10883392" cy="327660"/>
          </a:xfrm>
          <a:prstGeom prst="rect">
            <a:avLst/>
          </a:prstGeom>
          <a:noFill/>
          <a:ln/>
        </p:spPr>
        <p:txBody>
          <a:bodyPr wrap="square" lIns="0" tIns="0" rIns="0" bIns="0" rtlCol="0" anchor="t">
            <a:normAutofit/>
          </a:bodyPr>
          <a:lstStyle/>
          <a:p>
            <a:pPr>
              <a:lnSpc>
                <a:spcPts val="2380"/>
              </a:lnSpc>
            </a:pPr>
            <a:r>
              <a:rPr lang="it-IT" noProof="0" dirty="0">
                <a:solidFill>
                  <a:srgbClr val="5B5F66"/>
                </a:solidFill>
                <a:latin typeface="IBM Plex Sans" pitchFamily="34" charset="0"/>
                <a:ea typeface="IBM Plex Sans" pitchFamily="34" charset="-122"/>
                <a:cs typeface="IBM Plex Sans" pitchFamily="34" charset="-120"/>
              </a:rPr>
              <a:t>Tre progetti open-source che usano</a:t>
            </a:r>
            <a:r>
              <a:rPr lang="it-IT" b="1" dirty="0">
                <a:solidFill>
                  <a:srgbClr val="1B1D20"/>
                </a:solidFill>
                <a:latin typeface="IBM Plex Sans" pitchFamily="34" charset="0"/>
                <a:ea typeface="IBM Plex Sans" pitchFamily="34" charset="-122"/>
                <a:cs typeface="IBM Plex Sans" pitchFamily="34" charset="-120"/>
              </a:rPr>
              <a:t> </a:t>
            </a:r>
            <a:r>
              <a:rPr lang="it-IT" dirty="0">
                <a:solidFill>
                  <a:schemeClr val="tx2"/>
                </a:solidFill>
                <a:latin typeface="IBM Plex Sans" pitchFamily="34" charset="0"/>
                <a:ea typeface="IBM Plex Sans" pitchFamily="34" charset="-122"/>
                <a:cs typeface="IBM Plex Sans" pitchFamily="34" charset="-120"/>
              </a:rPr>
              <a:t>Kathará</a:t>
            </a:r>
            <a:r>
              <a:rPr lang="it-IT" noProof="0" dirty="0">
                <a:solidFill>
                  <a:srgbClr val="5B5F66"/>
                </a:solidFill>
                <a:latin typeface="IBM Plex Sans" pitchFamily="34" charset="0"/>
                <a:ea typeface="IBM Plex Sans" pitchFamily="34" charset="-122"/>
                <a:cs typeface="IBM Plex Sans" pitchFamily="34" charset="-120"/>
              </a:rPr>
              <a:t>.</a:t>
            </a:r>
            <a:endParaRPr lang="it-IT" noProof="0" dirty="0"/>
          </a:p>
        </p:txBody>
      </p:sp>
      <p:sp>
        <p:nvSpPr>
          <p:cNvPr id="162" name="Text 163">
            <a:extLst>
              <a:ext uri="{FF2B5EF4-FFF2-40B4-BE49-F238E27FC236}">
                <a16:creationId xmlns:a16="http://schemas.microsoft.com/office/drawing/2014/main" id="{35E91582-2C90-561A-18D8-2B22C1B729C9}"/>
              </a:ext>
            </a:extLst>
          </p:cNvPr>
          <p:cNvSpPr txBox="1"/>
          <p:nvPr/>
        </p:nvSpPr>
        <p:spPr>
          <a:xfrm>
            <a:off x="1041400" y="2641600"/>
            <a:ext cx="2997200" cy="406400"/>
          </a:xfrm>
          <a:prstGeom prst="rect">
            <a:avLst/>
          </a:prstGeom>
          <a:noFill/>
          <a:ln/>
        </p:spPr>
        <p:txBody>
          <a:bodyPr wrap="square" lIns="0" tIns="0" rIns="0" bIns="0" rtlCol="0" anchor="t">
            <a:noAutofit/>
          </a:bodyPr>
          <a:lstStyle/>
          <a:p>
            <a:pPr marL="0" indent="0" algn="l">
              <a:lnSpc>
                <a:spcPts val="3000"/>
              </a:lnSpc>
              <a:buNone/>
            </a:pPr>
            <a:r>
              <a:rPr lang="it-IT" sz="2400" b="1" noProof="0" dirty="0">
                <a:solidFill>
                  <a:srgbClr val="1B1D20"/>
                </a:solidFill>
                <a:latin typeface="IBM Plex Sans" pitchFamily="34" charset="0"/>
                <a:ea typeface="IBM Plex Sans" pitchFamily="34" charset="-122"/>
                <a:cs typeface="IBM Plex Sans" pitchFamily="34" charset="-120"/>
              </a:rPr>
              <a:t>IXP Digital Twin</a:t>
            </a:r>
          </a:p>
        </p:txBody>
      </p:sp>
      <p:sp>
        <p:nvSpPr>
          <p:cNvPr id="163" name="Text 164">
            <a:extLst>
              <a:ext uri="{FF2B5EF4-FFF2-40B4-BE49-F238E27FC236}">
                <a16:creationId xmlns:a16="http://schemas.microsoft.com/office/drawing/2014/main" id="{F55AFB8C-908C-A519-CE2F-7915E06D3512}"/>
              </a:ext>
            </a:extLst>
          </p:cNvPr>
          <p:cNvSpPr txBox="1"/>
          <p:nvPr/>
        </p:nvSpPr>
        <p:spPr>
          <a:xfrm>
            <a:off x="1041400" y="3124200"/>
            <a:ext cx="2997200" cy="863600"/>
          </a:xfrm>
          <a:prstGeom prst="rect">
            <a:avLst/>
          </a:prstGeom>
          <a:noFill/>
          <a:ln/>
        </p:spPr>
        <p:txBody>
          <a:bodyPr wrap="square" lIns="0" tIns="0" rIns="0" bIns="0" rtlCol="0" anchor="t">
            <a:noAutofit/>
          </a:bodyPr>
          <a:lstStyle/>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Digital Twin di IXP creati dalle configurazioni di produzione.</a:t>
            </a:r>
          </a:p>
        </p:txBody>
      </p:sp>
      <p:cxnSp>
        <p:nvCxnSpPr>
          <p:cNvPr id="164" name="Rule 165">
            <a:extLst>
              <a:ext uri="{FF2B5EF4-FFF2-40B4-BE49-F238E27FC236}">
                <a16:creationId xmlns:a16="http://schemas.microsoft.com/office/drawing/2014/main" id="{B0456F97-2F2E-8A67-4515-7FADF6C35435}"/>
              </a:ext>
            </a:extLst>
          </p:cNvPr>
          <p:cNvCxnSpPr/>
          <p:nvPr/>
        </p:nvCxnSpPr>
        <p:spPr>
          <a:xfrm>
            <a:off x="1041400" y="4013200"/>
            <a:ext cx="2997200" cy="0"/>
          </a:xfrm>
          <a:prstGeom prst="line">
            <a:avLst/>
          </a:prstGeom>
          <a:ln w="12700">
            <a:solidFill>
              <a:srgbClr val="D3D2CE"/>
            </a:solidFill>
          </a:ln>
        </p:spPr>
      </p:cxnSp>
      <p:sp>
        <p:nvSpPr>
          <p:cNvPr id="165" name="Text 166">
            <a:extLst>
              <a:ext uri="{FF2B5EF4-FFF2-40B4-BE49-F238E27FC236}">
                <a16:creationId xmlns:a16="http://schemas.microsoft.com/office/drawing/2014/main" id="{F8814F4D-01B9-B898-EACC-85226A13A4B8}"/>
              </a:ext>
            </a:extLst>
          </p:cNvPr>
          <p:cNvSpPr txBox="1"/>
          <p:nvPr/>
        </p:nvSpPr>
        <p:spPr>
          <a:xfrm>
            <a:off x="1041400" y="4140200"/>
            <a:ext cx="2997200" cy="254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in collaborazione con</a:t>
            </a:r>
          </a:p>
        </p:txBody>
      </p:sp>
      <p:sp>
        <p:nvSpPr>
          <p:cNvPr id="166" name="Text 167">
            <a:extLst>
              <a:ext uri="{FF2B5EF4-FFF2-40B4-BE49-F238E27FC236}">
                <a16:creationId xmlns:a16="http://schemas.microsoft.com/office/drawing/2014/main" id="{FF81EFAC-D304-E5F8-AA30-05E4CF1F00F5}"/>
              </a:ext>
            </a:extLst>
          </p:cNvPr>
          <p:cNvSpPr txBox="1"/>
          <p:nvPr/>
        </p:nvSpPr>
        <p:spPr>
          <a:xfrm>
            <a:off x="1041400" y="4419600"/>
            <a:ext cx="2997200" cy="1651000"/>
          </a:xfrm>
          <a:prstGeom prst="rect">
            <a:avLst/>
          </a:prstGeom>
          <a:noFill/>
          <a:ln/>
        </p:spPr>
        <p:txBody>
          <a:bodyPr wrap="square" lIns="0" tIns="0" rIns="0" bIns="0" rtlCol="0" anchor="t">
            <a:noAutofit/>
          </a:bodyPr>
          <a:lstStyle/>
          <a:p>
            <a:pPr marL="0" indent="0" algn="l">
              <a:lnSpc>
                <a:spcPts val="2000"/>
              </a:lnSpc>
              <a:buNone/>
            </a:pPr>
            <a:r>
              <a:rPr lang="it-IT" sz="1400" b="1" noProof="0" dirty="0">
                <a:solidFill>
                  <a:srgbClr val="1B1D20"/>
                </a:solidFill>
                <a:latin typeface="IBM Plex Sans" pitchFamily="34" charset="0"/>
                <a:ea typeface="IBM Plex Sans" pitchFamily="34" charset="-122"/>
                <a:cs typeface="IBM Plex Sans" pitchFamily="34" charset="-120"/>
              </a:rPr>
              <a:t>NAMEX · IXP di Roma</a:t>
            </a:r>
          </a:p>
          <a:p>
            <a:pPr marL="0" indent="0" algn="l">
              <a:lnSpc>
                <a:spcPts val="2000"/>
              </a:lnSpc>
              <a:spcBef>
                <a:spcPts val="400"/>
              </a:spcBef>
              <a:buNone/>
            </a:pPr>
            <a:r>
              <a:rPr lang="it-IT" sz="1400" b="1" noProof="0" dirty="0">
                <a:solidFill>
                  <a:srgbClr val="1B1D20"/>
                </a:solidFill>
                <a:latin typeface="IBM Plex Sans" pitchFamily="34" charset="0"/>
                <a:ea typeface="IBM Plex Sans" pitchFamily="34" charset="-122"/>
                <a:cs typeface="IBM Plex Sans" pitchFamily="34" charset="-120"/>
              </a:rPr>
              <a:t>VSIX · IXP di Padova</a:t>
            </a:r>
          </a:p>
        </p:txBody>
      </p:sp>
      <p:sp>
        <p:nvSpPr>
          <p:cNvPr id="169" name="Text 170">
            <a:extLst>
              <a:ext uri="{FF2B5EF4-FFF2-40B4-BE49-F238E27FC236}">
                <a16:creationId xmlns:a16="http://schemas.microsoft.com/office/drawing/2014/main" id="{02BE4DA4-A721-7EBB-91B6-77FBE639DFEE}"/>
              </a:ext>
            </a:extLst>
          </p:cNvPr>
          <p:cNvSpPr txBox="1"/>
          <p:nvPr/>
        </p:nvSpPr>
        <p:spPr>
          <a:xfrm>
            <a:off x="4749800" y="2641600"/>
            <a:ext cx="2997200" cy="406400"/>
          </a:xfrm>
          <a:prstGeom prst="rect">
            <a:avLst/>
          </a:prstGeom>
          <a:noFill/>
          <a:ln/>
        </p:spPr>
        <p:txBody>
          <a:bodyPr wrap="square" lIns="0" tIns="0" rIns="0" bIns="0" rtlCol="0" anchor="t">
            <a:noAutofit/>
          </a:bodyPr>
          <a:lstStyle/>
          <a:p>
            <a:pPr marL="0" indent="0" algn="l">
              <a:lnSpc>
                <a:spcPts val="3000"/>
              </a:lnSpc>
              <a:buNone/>
            </a:pPr>
            <a:r>
              <a:rPr lang="it-IT" sz="2400" b="1" noProof="0" dirty="0">
                <a:solidFill>
                  <a:srgbClr val="1B1D20"/>
                </a:solidFill>
                <a:latin typeface="IBM Plex Sans" pitchFamily="34" charset="0"/>
                <a:ea typeface="IBM Plex Sans" pitchFamily="34" charset="-122"/>
                <a:cs typeface="IBM Plex Sans" pitchFamily="34" charset="-120"/>
              </a:rPr>
              <a:t>ROSE-T</a:t>
            </a:r>
          </a:p>
        </p:txBody>
      </p:sp>
      <p:sp>
        <p:nvSpPr>
          <p:cNvPr id="170" name="Text 171">
            <a:extLst>
              <a:ext uri="{FF2B5EF4-FFF2-40B4-BE49-F238E27FC236}">
                <a16:creationId xmlns:a16="http://schemas.microsoft.com/office/drawing/2014/main" id="{EDB78E80-7530-A33E-1C23-1FDB4C214F83}"/>
              </a:ext>
            </a:extLst>
          </p:cNvPr>
          <p:cNvSpPr txBox="1"/>
          <p:nvPr/>
        </p:nvSpPr>
        <p:spPr>
          <a:xfrm>
            <a:off x="4749800" y="3124200"/>
            <a:ext cx="2997200" cy="863600"/>
          </a:xfrm>
          <a:prstGeom prst="rect">
            <a:avLst/>
          </a:prstGeom>
          <a:noFill/>
          <a:ln/>
        </p:spPr>
        <p:txBody>
          <a:bodyPr wrap="square" lIns="0" tIns="0" rIns="0" bIns="0" rtlCol="0" anchor="t">
            <a:noAutofit/>
          </a:bodyPr>
          <a:lstStyle/>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Verifica che la configurazione di un router rispetti le norme MANRS.</a:t>
            </a:r>
          </a:p>
        </p:txBody>
      </p:sp>
      <p:cxnSp>
        <p:nvCxnSpPr>
          <p:cNvPr id="171" name="Rule 172">
            <a:extLst>
              <a:ext uri="{FF2B5EF4-FFF2-40B4-BE49-F238E27FC236}">
                <a16:creationId xmlns:a16="http://schemas.microsoft.com/office/drawing/2014/main" id="{762BB796-1CC1-83FC-B8E7-CB889EC8BA8A}"/>
              </a:ext>
            </a:extLst>
          </p:cNvPr>
          <p:cNvCxnSpPr/>
          <p:nvPr/>
        </p:nvCxnSpPr>
        <p:spPr>
          <a:xfrm>
            <a:off x="4749800" y="4013200"/>
            <a:ext cx="2997200" cy="0"/>
          </a:xfrm>
          <a:prstGeom prst="line">
            <a:avLst/>
          </a:prstGeom>
          <a:ln w="12700">
            <a:solidFill>
              <a:srgbClr val="D3D2CE"/>
            </a:solidFill>
          </a:ln>
        </p:spPr>
      </p:cxnSp>
      <p:sp>
        <p:nvSpPr>
          <p:cNvPr id="172" name="Text 173">
            <a:extLst>
              <a:ext uri="{FF2B5EF4-FFF2-40B4-BE49-F238E27FC236}">
                <a16:creationId xmlns:a16="http://schemas.microsoft.com/office/drawing/2014/main" id="{FAAFFB14-D410-E585-E408-2109547915B5}"/>
              </a:ext>
            </a:extLst>
          </p:cNvPr>
          <p:cNvSpPr txBox="1"/>
          <p:nvPr/>
        </p:nvSpPr>
        <p:spPr>
          <a:xfrm>
            <a:off x="4749800" y="4140200"/>
            <a:ext cx="2997200" cy="254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in collaborazione con</a:t>
            </a:r>
          </a:p>
        </p:txBody>
      </p:sp>
      <p:sp>
        <p:nvSpPr>
          <p:cNvPr id="173" name="Text 174">
            <a:extLst>
              <a:ext uri="{FF2B5EF4-FFF2-40B4-BE49-F238E27FC236}">
                <a16:creationId xmlns:a16="http://schemas.microsoft.com/office/drawing/2014/main" id="{8B966612-3940-A654-E458-7E3B0FBF1922}"/>
              </a:ext>
            </a:extLst>
          </p:cNvPr>
          <p:cNvSpPr txBox="1"/>
          <p:nvPr/>
        </p:nvSpPr>
        <p:spPr>
          <a:xfrm>
            <a:off x="4749800" y="4419600"/>
            <a:ext cx="2997200" cy="1651000"/>
          </a:xfrm>
          <a:prstGeom prst="rect">
            <a:avLst/>
          </a:prstGeom>
          <a:noFill/>
          <a:ln/>
        </p:spPr>
        <p:txBody>
          <a:bodyPr wrap="square" lIns="0" tIns="0" rIns="0" bIns="0" rtlCol="0" anchor="t">
            <a:noAutofit/>
          </a:bodyPr>
          <a:lstStyle/>
          <a:p>
            <a:pPr marL="0" indent="0" algn="l">
              <a:lnSpc>
                <a:spcPts val="2000"/>
              </a:lnSpc>
              <a:buNone/>
            </a:pPr>
            <a:r>
              <a:rPr lang="it-IT" sz="1400" b="1" noProof="0" dirty="0">
                <a:solidFill>
                  <a:srgbClr val="1B1D20"/>
                </a:solidFill>
                <a:latin typeface="IBM Plex Sans" pitchFamily="34" charset="0"/>
                <a:ea typeface="IBM Plex Sans" pitchFamily="34" charset="-122"/>
                <a:cs typeface="IBM Plex Sans" pitchFamily="34" charset="-120"/>
              </a:rPr>
              <a:t>Antonio Prado</a:t>
            </a:r>
          </a:p>
          <a:p>
            <a:pPr marL="0" indent="0" algn="l">
              <a:lnSpc>
                <a:spcPts val="2000"/>
              </a:lnSpc>
              <a:spcBef>
                <a:spcPts val="400"/>
              </a:spcBef>
              <a:buNone/>
            </a:pPr>
            <a:r>
              <a:rPr lang="it-IT" sz="1400" b="1" noProof="0" dirty="0">
                <a:solidFill>
                  <a:srgbClr val="1B1D20"/>
                </a:solidFill>
                <a:latin typeface="IBM Plex Sans" pitchFamily="34" charset="0"/>
                <a:ea typeface="IBM Plex Sans" pitchFamily="34" charset="-122"/>
                <a:cs typeface="IBM Plex Sans" pitchFamily="34" charset="-120"/>
              </a:rPr>
              <a:t>Università degli Studi “G. d’Annunzio” Chieti-Pescara</a:t>
            </a:r>
          </a:p>
        </p:txBody>
      </p:sp>
      <p:sp>
        <p:nvSpPr>
          <p:cNvPr id="176" name="Text 177">
            <a:extLst>
              <a:ext uri="{FF2B5EF4-FFF2-40B4-BE49-F238E27FC236}">
                <a16:creationId xmlns:a16="http://schemas.microsoft.com/office/drawing/2014/main" id="{23AFE5CA-C6E6-1C7A-E8F5-3C4A35F2BC6E}"/>
              </a:ext>
            </a:extLst>
          </p:cNvPr>
          <p:cNvSpPr txBox="1"/>
          <p:nvPr/>
        </p:nvSpPr>
        <p:spPr>
          <a:xfrm>
            <a:off x="8458200" y="2641600"/>
            <a:ext cx="2997200" cy="406400"/>
          </a:xfrm>
          <a:prstGeom prst="rect">
            <a:avLst/>
          </a:prstGeom>
          <a:noFill/>
          <a:ln/>
        </p:spPr>
        <p:txBody>
          <a:bodyPr wrap="square" lIns="0" tIns="0" rIns="0" bIns="0" rtlCol="0" anchor="t">
            <a:noAutofit/>
          </a:bodyPr>
          <a:lstStyle/>
          <a:p>
            <a:pPr marL="0" indent="0" algn="l">
              <a:lnSpc>
                <a:spcPts val="3000"/>
              </a:lnSpc>
              <a:buNone/>
            </a:pPr>
            <a:r>
              <a:rPr lang="it-IT" sz="2400" b="1" noProof="0" dirty="0">
                <a:solidFill>
                  <a:srgbClr val="1B1D20"/>
                </a:solidFill>
                <a:latin typeface="IBM Plex Sans" pitchFamily="34" charset="0"/>
                <a:ea typeface="IBM Plex Sans" pitchFamily="34" charset="-122"/>
                <a:cs typeface="IBM Plex Sans" pitchFamily="34" charset="-120"/>
              </a:rPr>
              <a:t>NIKA</a:t>
            </a:r>
          </a:p>
        </p:txBody>
      </p:sp>
      <p:sp>
        <p:nvSpPr>
          <p:cNvPr id="177" name="Text 178">
            <a:extLst>
              <a:ext uri="{FF2B5EF4-FFF2-40B4-BE49-F238E27FC236}">
                <a16:creationId xmlns:a16="http://schemas.microsoft.com/office/drawing/2014/main" id="{BDDB492C-414D-5E94-A186-2E9018BC92B7}"/>
              </a:ext>
            </a:extLst>
          </p:cNvPr>
          <p:cNvSpPr txBox="1"/>
          <p:nvPr/>
        </p:nvSpPr>
        <p:spPr>
          <a:xfrm>
            <a:off x="8458200" y="3124200"/>
            <a:ext cx="2997200" cy="863600"/>
          </a:xfrm>
          <a:prstGeom prst="rect">
            <a:avLst/>
          </a:prstGeom>
          <a:noFill/>
          <a:ln/>
        </p:spPr>
        <p:txBody>
          <a:bodyPr wrap="square" lIns="0" tIns="0" rIns="0" bIns="0" rtlCol="0" anchor="t">
            <a:noAutofit/>
          </a:bodyPr>
          <a:lstStyle/>
          <a:p>
            <a:pPr marL="0" indent="0" algn="l">
              <a:lnSpc>
                <a:spcPts val="2200"/>
              </a:lnSpc>
              <a:buNone/>
            </a:pPr>
            <a:r>
              <a:rPr lang="it-IT" sz="1600" noProof="0" dirty="0">
                <a:solidFill>
                  <a:srgbClr val="5B5F66"/>
                </a:solidFill>
                <a:latin typeface="IBM Plex Sans" pitchFamily="34" charset="0"/>
                <a:ea typeface="IBM Plex Sans" pitchFamily="34" charset="-122"/>
                <a:cs typeface="IBM Plex Sans" pitchFamily="34" charset="-120"/>
              </a:rPr>
              <a:t>Mette alla prova gli agenti AI nel troubleshooting di rete.</a:t>
            </a:r>
          </a:p>
        </p:txBody>
      </p:sp>
      <p:cxnSp>
        <p:nvCxnSpPr>
          <p:cNvPr id="178" name="Rule 179">
            <a:extLst>
              <a:ext uri="{FF2B5EF4-FFF2-40B4-BE49-F238E27FC236}">
                <a16:creationId xmlns:a16="http://schemas.microsoft.com/office/drawing/2014/main" id="{E6598D13-CF0C-ACA1-8B5D-02F81B8320DB}"/>
              </a:ext>
            </a:extLst>
          </p:cNvPr>
          <p:cNvCxnSpPr/>
          <p:nvPr/>
        </p:nvCxnSpPr>
        <p:spPr>
          <a:xfrm>
            <a:off x="8458200" y="4013200"/>
            <a:ext cx="2997200" cy="0"/>
          </a:xfrm>
          <a:prstGeom prst="line">
            <a:avLst/>
          </a:prstGeom>
          <a:ln w="12700">
            <a:solidFill>
              <a:srgbClr val="D3D2CE"/>
            </a:solidFill>
          </a:ln>
        </p:spPr>
      </p:cxnSp>
      <p:sp>
        <p:nvSpPr>
          <p:cNvPr id="179" name="Text 180">
            <a:extLst>
              <a:ext uri="{FF2B5EF4-FFF2-40B4-BE49-F238E27FC236}">
                <a16:creationId xmlns:a16="http://schemas.microsoft.com/office/drawing/2014/main" id="{98D2846E-BE02-484B-9D0B-343C8C5FCDBD}"/>
              </a:ext>
            </a:extLst>
          </p:cNvPr>
          <p:cNvSpPr txBox="1"/>
          <p:nvPr/>
        </p:nvSpPr>
        <p:spPr>
          <a:xfrm>
            <a:off x="8458200" y="4140200"/>
            <a:ext cx="2997200" cy="254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in collaborazione con</a:t>
            </a:r>
          </a:p>
        </p:txBody>
      </p:sp>
      <p:sp>
        <p:nvSpPr>
          <p:cNvPr id="180" name="Text 181">
            <a:extLst>
              <a:ext uri="{FF2B5EF4-FFF2-40B4-BE49-F238E27FC236}">
                <a16:creationId xmlns:a16="http://schemas.microsoft.com/office/drawing/2014/main" id="{44054FFF-7F22-2FAA-5BD4-EB537E593AD0}"/>
              </a:ext>
            </a:extLst>
          </p:cNvPr>
          <p:cNvSpPr txBox="1"/>
          <p:nvPr/>
        </p:nvSpPr>
        <p:spPr>
          <a:xfrm>
            <a:off x="8458200" y="4419600"/>
            <a:ext cx="2997200" cy="1651000"/>
          </a:xfrm>
          <a:prstGeom prst="rect">
            <a:avLst/>
          </a:prstGeom>
          <a:noFill/>
          <a:ln/>
        </p:spPr>
        <p:txBody>
          <a:bodyPr wrap="square" lIns="0" tIns="0" rIns="0" bIns="0" rtlCol="0" anchor="t">
            <a:noAutofit/>
          </a:bodyPr>
          <a:lstStyle/>
          <a:p>
            <a:pPr marL="0" indent="0" algn="l">
              <a:lnSpc>
                <a:spcPts val="2000"/>
              </a:lnSpc>
              <a:buNone/>
            </a:pPr>
            <a:r>
              <a:rPr lang="it-IT" sz="1400" b="1" noProof="0" dirty="0">
                <a:solidFill>
                  <a:srgbClr val="1B1D20"/>
                </a:solidFill>
                <a:latin typeface="IBM Plex Sans" pitchFamily="34" charset="0"/>
                <a:ea typeface="IBM Plex Sans" pitchFamily="34" charset="-122"/>
                <a:cs typeface="IBM Plex Sans" pitchFamily="34" charset="-120"/>
              </a:rPr>
              <a:t>King Abdullah University of Science and Technology</a:t>
            </a:r>
          </a:p>
          <a:p>
            <a:pPr marL="0" indent="0" algn="l">
              <a:lnSpc>
                <a:spcPts val="2000"/>
              </a:lnSpc>
              <a:spcBef>
                <a:spcPts val="400"/>
              </a:spcBef>
              <a:buNone/>
            </a:pPr>
            <a:r>
              <a:rPr lang="it-IT" sz="1400" b="1" noProof="0" dirty="0">
                <a:solidFill>
                  <a:srgbClr val="1B1D20"/>
                </a:solidFill>
                <a:latin typeface="IBM Plex Sans" pitchFamily="34" charset="0"/>
                <a:ea typeface="IBM Plex Sans" pitchFamily="34" charset="-122"/>
                <a:cs typeface="IBM Plex Sans" pitchFamily="34" charset="-120"/>
              </a:rPr>
              <a:t>Politecnico di Torino</a:t>
            </a:r>
          </a:p>
          <a:p>
            <a:pPr marL="0" indent="0" algn="l">
              <a:lnSpc>
                <a:spcPts val="2000"/>
              </a:lnSpc>
              <a:spcBef>
                <a:spcPts val="400"/>
              </a:spcBef>
              <a:buNone/>
            </a:pPr>
            <a:r>
              <a:rPr lang="it-IT" sz="1400" b="1" noProof="0" dirty="0">
                <a:solidFill>
                  <a:srgbClr val="1B1D20"/>
                </a:solidFill>
                <a:latin typeface="IBM Plex Sans" pitchFamily="34" charset="0"/>
                <a:ea typeface="IBM Plex Sans" pitchFamily="34" charset="-122"/>
                <a:cs typeface="IBM Plex Sans" pitchFamily="34" charset="-120"/>
              </a:rPr>
              <a:t>University of Electronic Science and Technology of China</a:t>
            </a:r>
          </a:p>
          <a:p>
            <a:pPr marL="0" indent="0" algn="l">
              <a:lnSpc>
                <a:spcPts val="2000"/>
              </a:lnSpc>
              <a:spcBef>
                <a:spcPts val="400"/>
              </a:spcBef>
              <a:buNone/>
            </a:pPr>
            <a:r>
              <a:rPr lang="it-IT" sz="1400" b="1" noProof="0" dirty="0">
                <a:solidFill>
                  <a:srgbClr val="1B1D20"/>
                </a:solidFill>
                <a:latin typeface="IBM Plex Sans" pitchFamily="34" charset="0"/>
                <a:ea typeface="IBM Plex Sans" pitchFamily="34" charset="-122"/>
                <a:cs typeface="IBM Plex Sans" pitchFamily="34" charset="-120"/>
              </a:rPr>
              <a:t>University of L'Aquila</a:t>
            </a:r>
          </a:p>
          <a:p>
            <a:pPr marL="0" indent="0" algn="l">
              <a:lnSpc>
                <a:spcPts val="2000"/>
              </a:lnSpc>
              <a:spcBef>
                <a:spcPts val="400"/>
              </a:spcBef>
              <a:buNone/>
            </a:pPr>
            <a:endParaRPr lang="it-IT" sz="1400" b="1" noProof="0" dirty="0">
              <a:solidFill>
                <a:srgbClr val="1B1D20"/>
              </a:solidFill>
              <a:latin typeface="IBM Plex Sans" pitchFamily="34" charset="0"/>
              <a:ea typeface="IBM Plex Sans" pitchFamily="34" charset="-122"/>
              <a:cs typeface="IBM Plex Sans" pitchFamily="34" charset="-120"/>
            </a:endParaRPr>
          </a:p>
        </p:txBody>
      </p:sp>
    </p:spTree>
    <p:extLst>
      <p:ext uri="{BB962C8B-B14F-4D97-AF65-F5344CB8AC3E}">
        <p14:creationId xmlns:p14="http://schemas.microsoft.com/office/powerpoint/2010/main" val="2099667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IXP Digital Twin</a:t>
            </a:r>
            <a:endParaRPr lang="it-IT" sz="4000" noProof="0" dirty="0"/>
          </a:p>
        </p:txBody>
      </p:sp>
      <p:sp>
        <p:nvSpPr>
          <p:cNvPr id="5" name="Text 3"/>
          <p:cNvSpPr/>
          <p:nvPr/>
        </p:nvSpPr>
        <p:spPr>
          <a:xfrm>
            <a:off x="812800" y="1889758"/>
            <a:ext cx="327461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01 dalla produzione →</a:t>
            </a:r>
            <a:endParaRPr lang="it-IT" sz="1600" noProof="0" dirty="0"/>
          </a:p>
        </p:txBody>
      </p:sp>
      <p:sp>
        <p:nvSpPr>
          <p:cNvPr id="6" name="Text 4"/>
          <p:cNvSpPr/>
          <p:nvPr/>
        </p:nvSpPr>
        <p:spPr>
          <a:xfrm>
            <a:off x="812800" y="2235200"/>
            <a:ext cx="327461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Configurazioni e stato</a:t>
            </a:r>
            <a:endParaRPr lang="it-IT" sz="2000" noProof="0" dirty="0"/>
          </a:p>
        </p:txBody>
      </p:sp>
      <p:sp>
        <p:nvSpPr>
          <p:cNvPr id="7" name="Text 5"/>
          <p:cNvSpPr/>
          <p:nvPr/>
        </p:nvSpPr>
        <p:spPr>
          <a:xfrm>
            <a:off x="812800" y="2692400"/>
            <a:ext cx="3175000" cy="609600"/>
          </a:xfrm>
          <a:prstGeom prst="rect">
            <a:avLst/>
          </a:prstGeom>
          <a:noFill/>
          <a:ln/>
        </p:spPr>
        <p:txBody>
          <a:bodyPr wrap="square" lIns="0" tIns="0" rIns="0" bIns="0" rtlCol="0" anchor="t">
            <a:normAutofit/>
          </a:bodyPr>
          <a:lstStyle/>
          <a:p>
            <a:pPr marL="0" indent="0" algn="l">
              <a:lnSpc>
                <a:spcPts val="2200"/>
              </a:lnSpc>
              <a:spcBef>
                <a:spcPts val="0"/>
              </a:spcBef>
              <a:buNone/>
            </a:pPr>
            <a:r>
              <a:rPr lang="it-IT" sz="1600" dirty="0">
                <a:solidFill>
                  <a:srgbClr val="5B5F66"/>
                </a:solidFill>
                <a:latin typeface="IBM Plex Sans" pitchFamily="34" charset="0"/>
                <a:ea typeface="IBM Plex Sans" pitchFamily="34" charset="-122"/>
                <a:cs typeface="IBM Plex Sans" pitchFamily="34" charset="-120"/>
              </a:rPr>
              <a:t>twin generato in pochi minuti dalle configurazioni in produzione</a:t>
            </a:r>
          </a:p>
        </p:txBody>
      </p:sp>
      <p:sp>
        <p:nvSpPr>
          <p:cNvPr id="8" name="Shape 6"/>
          <p:cNvSpPr/>
          <p:nvPr/>
        </p:nvSpPr>
        <p:spPr>
          <a:xfrm>
            <a:off x="4249208" y="1892300"/>
            <a:ext cx="0" cy="1422400"/>
          </a:xfrm>
          <a:prstGeom prst="line">
            <a:avLst/>
          </a:prstGeom>
          <a:noFill/>
          <a:ln w="6350">
            <a:solidFill>
              <a:srgbClr val="CFCCC4"/>
            </a:solidFill>
            <a:prstDash val="solid"/>
          </a:ln>
        </p:spPr>
        <p:txBody>
          <a:bodyPr/>
          <a:lstStyle/>
          <a:p>
            <a:endParaRPr lang="it-IT" noProof="0" dirty="0"/>
          </a:p>
        </p:txBody>
      </p:sp>
      <p:sp>
        <p:nvSpPr>
          <p:cNvPr id="9" name="Text 7"/>
          <p:cNvSpPr/>
          <p:nvPr/>
        </p:nvSpPr>
        <p:spPr>
          <a:xfrm>
            <a:off x="4506383" y="1889758"/>
            <a:ext cx="327461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02 </a:t>
            </a:r>
            <a:r>
              <a:rPr lang="it-IT" sz="1600" noProof="0" dirty="0" err="1">
                <a:solidFill>
                  <a:srgbClr val="2B6CA3"/>
                </a:solidFill>
                <a:latin typeface="JetBrains Mono" pitchFamily="49" charset="0"/>
                <a:ea typeface="JetBrains Mono" pitchFamily="49" charset="-122"/>
                <a:cs typeface="JetBrains Mono" pitchFamily="49" charset="-120"/>
              </a:rPr>
              <a:t>kathará</a:t>
            </a:r>
            <a:r>
              <a:rPr lang="it-IT" sz="1600" noProof="0" dirty="0">
                <a:solidFill>
                  <a:srgbClr val="2B6CA3"/>
                </a:solidFill>
                <a:latin typeface="JetBrains Mono" pitchFamily="49" charset="0"/>
                <a:ea typeface="JetBrains Mono" pitchFamily="49" charset="-122"/>
                <a:cs typeface="JetBrains Mono" pitchFamily="49" charset="-120"/>
              </a:rPr>
              <a:t> →</a:t>
            </a:r>
            <a:endParaRPr lang="it-IT" sz="1600" noProof="0" dirty="0"/>
          </a:p>
        </p:txBody>
      </p:sp>
      <p:sp>
        <p:nvSpPr>
          <p:cNvPr id="10" name="Text 8"/>
          <p:cNvSpPr/>
          <p:nvPr/>
        </p:nvSpPr>
        <p:spPr>
          <a:xfrm>
            <a:off x="4508500" y="2235200"/>
            <a:ext cx="327461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Il twin dell'IXP</a:t>
            </a:r>
            <a:endParaRPr lang="it-IT" sz="2000" noProof="0" dirty="0"/>
          </a:p>
        </p:txBody>
      </p:sp>
      <p:sp>
        <p:nvSpPr>
          <p:cNvPr id="11" name="Text 9"/>
          <p:cNvSpPr/>
          <p:nvPr/>
        </p:nvSpPr>
        <p:spPr>
          <a:xfrm>
            <a:off x="4508500" y="2692400"/>
            <a:ext cx="3175000" cy="609600"/>
          </a:xfrm>
          <a:prstGeom prst="rect">
            <a:avLst/>
          </a:prstGeom>
          <a:noFill/>
          <a:ln/>
        </p:spPr>
        <p:txBody>
          <a:bodyPr wrap="square" lIns="0" tIns="0" rIns="0" bIns="0" rtlCol="0" anchor="t">
            <a:normAutofit/>
          </a:bodyPr>
          <a:lstStyle/>
          <a:p>
            <a:pPr marL="0" indent="0" algn="l">
              <a:lnSpc>
                <a:spcPts val="2200"/>
              </a:lnSpc>
              <a:spcBef>
                <a:spcPts val="0"/>
              </a:spcBef>
              <a:buNone/>
            </a:pPr>
            <a:r>
              <a:rPr lang="it-IT" sz="1600" dirty="0">
                <a:solidFill>
                  <a:srgbClr val="5B5F66"/>
                </a:solidFill>
                <a:latin typeface="IBM Plex Sans" pitchFamily="34" charset="0"/>
                <a:ea typeface="IBM Plex Sans" pitchFamily="34" charset="-122"/>
                <a:cs typeface="IBM Plex Sans" pitchFamily="34" charset="-120"/>
              </a:rPr>
              <a:t>stesso software del route server, control plane BGP fedele</a:t>
            </a:r>
          </a:p>
        </p:txBody>
      </p:sp>
      <p:sp>
        <p:nvSpPr>
          <p:cNvPr id="12" name="Shape 10"/>
          <p:cNvSpPr/>
          <p:nvPr/>
        </p:nvSpPr>
        <p:spPr>
          <a:xfrm>
            <a:off x="7942792" y="1892300"/>
            <a:ext cx="0" cy="1422400"/>
          </a:xfrm>
          <a:prstGeom prst="line">
            <a:avLst/>
          </a:prstGeom>
          <a:noFill/>
          <a:ln w="6350">
            <a:solidFill>
              <a:srgbClr val="CFCCC4"/>
            </a:solidFill>
            <a:prstDash val="solid"/>
          </a:ln>
        </p:spPr>
        <p:txBody>
          <a:bodyPr/>
          <a:lstStyle/>
          <a:p>
            <a:endParaRPr lang="it-IT" noProof="0" dirty="0"/>
          </a:p>
        </p:txBody>
      </p:sp>
      <p:sp>
        <p:nvSpPr>
          <p:cNvPr id="13" name="Text 11"/>
          <p:cNvSpPr/>
          <p:nvPr/>
        </p:nvSpPr>
        <p:spPr>
          <a:xfrm>
            <a:off x="8199967" y="1889758"/>
            <a:ext cx="327461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03 verifiche</a:t>
            </a:r>
            <a:endParaRPr lang="it-IT" sz="1600" noProof="0" dirty="0"/>
          </a:p>
        </p:txBody>
      </p:sp>
      <p:sp>
        <p:nvSpPr>
          <p:cNvPr id="14" name="Text 12"/>
          <p:cNvSpPr/>
          <p:nvPr/>
        </p:nvSpPr>
        <p:spPr>
          <a:xfrm>
            <a:off x="8204200" y="2235200"/>
            <a:ext cx="3274610" cy="330200"/>
          </a:xfrm>
          <a:prstGeom prst="rect">
            <a:avLst/>
          </a:prstGeom>
          <a:noFill/>
          <a:ln/>
        </p:spPr>
        <p:txBody>
          <a:bodyPr wrap="square" lIns="0" tIns="0" rIns="0" bIns="0" rtlCol="0" anchor="t">
            <a:normAutofit fontScale="92500"/>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Test prima della produzione</a:t>
            </a:r>
            <a:endParaRPr lang="it-IT" sz="2000" noProof="0" dirty="0"/>
          </a:p>
        </p:txBody>
      </p:sp>
      <p:sp>
        <p:nvSpPr>
          <p:cNvPr id="15" name="Text 13"/>
          <p:cNvSpPr/>
          <p:nvPr/>
        </p:nvSpPr>
        <p:spPr>
          <a:xfrm>
            <a:off x="8204200" y="2692400"/>
            <a:ext cx="3175000" cy="609600"/>
          </a:xfrm>
          <a:prstGeom prst="rect">
            <a:avLst/>
          </a:prstGeom>
          <a:noFill/>
          <a:ln/>
        </p:spPr>
        <p:txBody>
          <a:bodyPr wrap="square" lIns="0" tIns="0" rIns="0" bIns="0" rtlCol="0" anchor="t">
            <a:normAutofit/>
          </a:bodyPr>
          <a:lstStyle/>
          <a:p>
            <a:pPr marL="0" indent="0" algn="l">
              <a:lnSpc>
                <a:spcPts val="2200"/>
              </a:lnSpc>
              <a:spcBef>
                <a:spcPts val="0"/>
              </a:spcBef>
              <a:buNone/>
            </a:pPr>
            <a:r>
              <a:rPr lang="it-IT" sz="1600" dirty="0">
                <a:solidFill>
                  <a:srgbClr val="5B5F66"/>
                </a:solidFill>
                <a:latin typeface="IBM Plex Sans" pitchFamily="34" charset="0"/>
                <a:ea typeface="IBM Plex Sans" pitchFamily="34" charset="-122"/>
                <a:cs typeface="IBM Plex Sans" pitchFamily="34" charset="-120"/>
              </a:rPr>
              <a:t>ogni modifica provata nel twin, sincronizzato ogni giorno</a:t>
            </a:r>
          </a:p>
        </p:txBody>
      </p:sp>
      <p:sp>
        <p:nvSpPr>
          <p:cNvPr id="18" name="Text 16"/>
          <p:cNvSpPr/>
          <p:nvPr/>
        </p:nvSpPr>
        <p:spPr>
          <a:xfrm>
            <a:off x="812800" y="6238242"/>
            <a:ext cx="9810750" cy="238760"/>
          </a:xfrm>
          <a:prstGeom prst="rect">
            <a:avLst/>
          </a:prstGeom>
          <a:noFill/>
          <a:ln/>
        </p:spPr>
        <p:txBody>
          <a:bodyPr wrap="square" lIns="0" tIns="0" rIns="0" bIns="0" rtlCol="0" anchor="t">
            <a:normAutofit/>
          </a:bodyPr>
          <a:lstStyle/>
          <a:p>
            <a:pPr marL="0" indent="0" algn="l">
              <a:lnSpc>
                <a:spcPts val="1680"/>
              </a:lnSpc>
              <a:buNone/>
            </a:pPr>
            <a:r>
              <a:rPr lang="it-IT" sz="1200" noProof="0" dirty="0">
                <a:solidFill>
                  <a:srgbClr val="1B1D20"/>
                </a:solidFill>
                <a:latin typeface="JetBrains Mono" pitchFamily="49" charset="0"/>
                <a:ea typeface="JetBrains Mono" pitchFamily="49" charset="-122"/>
                <a:cs typeface="JetBrains Mono" pitchFamily="49" charset="-120"/>
              </a:rPr>
              <a:t>github.com/</a:t>
            </a:r>
            <a:r>
              <a:rPr lang="it-IT" sz="1200" noProof="0" dirty="0" err="1">
                <a:solidFill>
                  <a:srgbClr val="1B1D20"/>
                </a:solidFill>
                <a:latin typeface="JetBrains Mono" pitchFamily="49" charset="0"/>
                <a:ea typeface="JetBrains Mono" pitchFamily="49" charset="-122"/>
                <a:cs typeface="JetBrains Mono" pitchFamily="49" charset="-120"/>
              </a:rPr>
              <a:t>KatharaFramework</a:t>
            </a:r>
            <a:r>
              <a:rPr lang="it-IT" sz="1200" noProof="0" dirty="0">
                <a:solidFill>
                  <a:srgbClr val="1B1D20"/>
                </a:solidFill>
                <a:latin typeface="JetBrains Mono" pitchFamily="49" charset="0"/>
                <a:ea typeface="JetBrains Mono" pitchFamily="49" charset="-122"/>
                <a:cs typeface="JetBrains Mono" pitchFamily="49" charset="-120"/>
              </a:rPr>
              <a:t>/</a:t>
            </a:r>
            <a:r>
              <a:rPr lang="it-IT" sz="1200" noProof="0" dirty="0" err="1">
                <a:solidFill>
                  <a:srgbClr val="1B1D20"/>
                </a:solidFill>
                <a:latin typeface="JetBrains Mono" pitchFamily="49" charset="0"/>
                <a:ea typeface="JetBrains Mono" pitchFamily="49" charset="-122"/>
                <a:cs typeface="JetBrains Mono" pitchFamily="49" charset="-120"/>
              </a:rPr>
              <a:t>ixp</a:t>
            </a:r>
            <a:r>
              <a:rPr lang="it-IT" sz="1200" noProof="0" dirty="0">
                <a:solidFill>
                  <a:srgbClr val="1B1D20"/>
                </a:solidFill>
                <a:latin typeface="JetBrains Mono" pitchFamily="49" charset="0"/>
                <a:ea typeface="JetBrains Mono" pitchFamily="49" charset="-122"/>
                <a:cs typeface="JetBrains Mono" pitchFamily="49" charset="-120"/>
              </a:rPr>
              <a:t>-</a:t>
            </a:r>
            <a:r>
              <a:rPr lang="it-IT" sz="1200" noProof="0" dirty="0" err="1">
                <a:solidFill>
                  <a:srgbClr val="1B1D20"/>
                </a:solidFill>
                <a:latin typeface="JetBrains Mono" pitchFamily="49" charset="0"/>
                <a:ea typeface="JetBrains Mono" pitchFamily="49" charset="-122"/>
                <a:cs typeface="JetBrains Mono" pitchFamily="49" charset="-120"/>
              </a:rPr>
              <a:t>digital</a:t>
            </a:r>
            <a:r>
              <a:rPr lang="it-IT" sz="1200" noProof="0" dirty="0">
                <a:solidFill>
                  <a:srgbClr val="1B1D20"/>
                </a:solidFill>
                <a:latin typeface="JetBrains Mono" pitchFamily="49" charset="0"/>
                <a:ea typeface="JetBrains Mono" pitchFamily="49" charset="-122"/>
                <a:cs typeface="JetBrains Mono" pitchFamily="49" charset="-120"/>
              </a:rPr>
              <a:t>-twin</a:t>
            </a:r>
            <a:endParaRPr lang="it-IT" sz="1200" noProof="0" dirty="0"/>
          </a:p>
        </p:txBody>
      </p:sp>
      <p:cxnSp>
        <p:nvCxnSpPr>
          <p:cNvPr id="220" name="Onb line 221"/>
          <p:cNvCxnSpPr/>
          <p:nvPr/>
        </p:nvCxnSpPr>
        <p:spPr>
          <a:xfrm>
            <a:off x="812800" y="3759200"/>
            <a:ext cx="10566400" cy="0"/>
          </a:xfrm>
          <a:prstGeom prst="line">
            <a:avLst/>
          </a:prstGeom>
          <a:ln w="12700">
            <a:solidFill>
              <a:srgbClr val="E1E0DD"/>
            </a:solidFill>
          </a:ln>
        </p:spPr>
      </p:cxnSp>
      <p:sp>
        <p:nvSpPr>
          <p:cNvPr id="221" name="Onb 222"/>
          <p:cNvSpPr txBox="1"/>
          <p:nvPr/>
        </p:nvSpPr>
        <p:spPr>
          <a:xfrm>
            <a:off x="812800" y="3886200"/>
            <a:ext cx="10566400" cy="355600"/>
          </a:xfrm>
          <a:prstGeom prst="rect">
            <a:avLst/>
          </a:prstGeom>
          <a:noFill/>
          <a:ln>
            <a:noFill/>
          </a:ln>
        </p:spPr>
        <p:txBody>
          <a:bodyPr wrap="square" lIns="0" tIns="0" rIns="0" bIns="0" rtlCol="0" anchor="t">
            <a:noAutofit/>
          </a:bodyPr>
          <a:lstStyle/>
          <a:p>
            <a:pPr marL="0" indent="0" algn="l">
              <a:lnSpc>
                <a:spcPts val="2600"/>
              </a:lnSpc>
              <a:buNone/>
            </a:pPr>
            <a:r>
              <a:rPr lang="it-IT" sz="1600" noProof="0" dirty="0">
                <a:solidFill>
                  <a:srgbClr val="2B6CA3"/>
                </a:solidFill>
                <a:latin typeface="JetBrains Mono" pitchFamily="49" charset="0"/>
                <a:ea typeface="JetBrains Mono" pitchFamily="49" charset="-122"/>
                <a:cs typeface="JetBrains Mono" pitchFamily="49" charset="-120"/>
              </a:rPr>
              <a:t>04 onboarding  </a:t>
            </a:r>
            <a:r>
              <a:rPr lang="it-IT" sz="2000" b="1" noProof="0" dirty="0">
                <a:solidFill>
                  <a:srgbClr val="1B1D20"/>
                </a:solidFill>
                <a:latin typeface="IBM Plex Sans" pitchFamily="34" charset="0"/>
                <a:ea typeface="IBM Plex Sans" pitchFamily="34" charset="-122"/>
                <a:cs typeface="IBM Plex Sans" pitchFamily="34" charset="-120"/>
              </a:rPr>
              <a:t>Test di onboarding dei clienti</a:t>
            </a:r>
          </a:p>
        </p:txBody>
      </p:sp>
      <p:sp>
        <p:nvSpPr>
          <p:cNvPr id="222" name="Onb 223"/>
          <p:cNvSpPr/>
          <p:nvPr/>
        </p:nvSpPr>
        <p:spPr>
          <a:xfrm>
            <a:off x="812800" y="4876800"/>
            <a:ext cx="2921000" cy="660400"/>
          </a:xfrm>
          <a:prstGeom prst="rect">
            <a:avLst/>
          </a:prstGeom>
          <a:noFill/>
          <a:ln>
            <a:noFill/>
          </a:ln>
        </p:spPr>
        <p:txBody>
          <a:bodyPr wrap="square" lIns="0" tIns="0" rIns="0" bIns="0" rtlCol="0" anchor="t">
            <a:noAutofit/>
          </a:bodyPr>
          <a:lstStyle/>
          <a:p>
            <a:pPr marL="0" indent="0" algn="l">
              <a:lnSpc>
                <a:spcPts val="2000"/>
              </a:lnSpc>
              <a:spcBef>
                <a:spcPts val="0"/>
              </a:spcBef>
              <a:buNone/>
            </a:pPr>
            <a:r>
              <a:rPr lang="it-IT" sz="1400" dirty="0">
                <a:solidFill>
                  <a:srgbClr val="2B6CA3"/>
                </a:solidFill>
                <a:latin typeface="JetBrains Mono" pitchFamily="49" charset="0"/>
                <a:ea typeface="JetBrains Mono" pitchFamily="49" charset="-122"/>
                <a:cs typeface="JetBrains Mono" pitchFamily="49" charset="-120"/>
              </a:rPr>
              <a:t>dispositivo fisico</a:t>
            </a:r>
          </a:p>
          <a:p>
            <a:pPr marL="0" indent="0" algn="l">
              <a:lnSpc>
                <a:spcPts val="2400"/>
              </a:lnSpc>
              <a:spcBef>
                <a:spcPts val="0"/>
              </a:spcBef>
              <a:buNone/>
            </a:pPr>
            <a:r>
              <a:rPr lang="it-IT" sz="1800" b="1" dirty="0">
                <a:solidFill>
                  <a:srgbClr val="1B1D20"/>
                </a:solidFill>
                <a:latin typeface="IBM Plex Sans" pitchFamily="34" charset="0"/>
                <a:ea typeface="IBM Plex Sans" pitchFamily="34" charset="-122"/>
                <a:cs typeface="IBM Plex Sans" pitchFamily="34" charset="-120"/>
              </a:rPr>
              <a:t>Router del cliente</a:t>
            </a:r>
          </a:p>
        </p:txBody>
      </p:sp>
      <p:sp>
        <p:nvSpPr>
          <p:cNvPr id="223" name="Onb 224"/>
          <p:cNvSpPr/>
          <p:nvPr/>
        </p:nvSpPr>
        <p:spPr>
          <a:xfrm>
            <a:off x="4572000" y="4876800"/>
            <a:ext cx="3175000" cy="660400"/>
          </a:xfrm>
          <a:prstGeom prst="rect">
            <a:avLst/>
          </a:prstGeom>
          <a:noFill/>
          <a:ln>
            <a:noFill/>
          </a:ln>
        </p:spPr>
        <p:txBody>
          <a:bodyPr wrap="square" lIns="0" tIns="0" rIns="0" bIns="0" rtlCol="0" anchor="t">
            <a:noAutofit/>
          </a:bodyPr>
          <a:lstStyle/>
          <a:p>
            <a:pPr marL="0" indent="0" algn="l">
              <a:lnSpc>
                <a:spcPts val="2000"/>
              </a:lnSpc>
              <a:spcBef>
                <a:spcPts val="0"/>
              </a:spcBef>
              <a:buNone/>
            </a:pPr>
            <a:r>
              <a:rPr lang="it-IT" sz="1400" dirty="0">
                <a:solidFill>
                  <a:srgbClr val="2B6CA3"/>
                </a:solidFill>
                <a:latin typeface="JetBrains Mono" pitchFamily="49" charset="0"/>
                <a:ea typeface="JetBrains Mono" pitchFamily="49" charset="-122"/>
                <a:cs typeface="JetBrains Mono" pitchFamily="49" charset="-120"/>
              </a:rPr>
              <a:t>digital twin</a:t>
            </a:r>
          </a:p>
          <a:p>
            <a:pPr marL="0" indent="0" algn="l">
              <a:lnSpc>
                <a:spcPts val="2400"/>
              </a:lnSpc>
              <a:spcBef>
                <a:spcPts val="0"/>
              </a:spcBef>
              <a:buNone/>
            </a:pPr>
            <a:r>
              <a:rPr lang="it-IT" sz="1800" b="1" dirty="0">
                <a:solidFill>
                  <a:srgbClr val="1B1D20"/>
                </a:solidFill>
                <a:latin typeface="IBM Plex Sans" pitchFamily="34" charset="0"/>
                <a:ea typeface="IBM Plex Sans" pitchFamily="34" charset="-122"/>
                <a:cs typeface="IBM Plex Sans" pitchFamily="34" charset="-120"/>
              </a:rPr>
              <a:t>Test delle regole dell’IXP</a:t>
            </a:r>
          </a:p>
        </p:txBody>
      </p:sp>
      <p:sp>
        <p:nvSpPr>
          <p:cNvPr id="224" name="Onb 225"/>
          <p:cNvSpPr/>
          <p:nvPr/>
        </p:nvSpPr>
        <p:spPr>
          <a:xfrm>
            <a:off x="8763000" y="4876800"/>
            <a:ext cx="2616200" cy="660400"/>
          </a:xfrm>
          <a:prstGeom prst="rect">
            <a:avLst/>
          </a:prstGeom>
          <a:noFill/>
          <a:ln>
            <a:noFill/>
          </a:ln>
        </p:spPr>
        <p:txBody>
          <a:bodyPr wrap="square" lIns="0" tIns="0" rIns="0" bIns="0" rtlCol="0" anchor="t">
            <a:noAutofit/>
          </a:bodyPr>
          <a:lstStyle/>
          <a:p>
            <a:pPr marL="0" indent="0" algn="l">
              <a:lnSpc>
                <a:spcPts val="2000"/>
              </a:lnSpc>
              <a:spcBef>
                <a:spcPts val="0"/>
              </a:spcBef>
              <a:buNone/>
            </a:pPr>
            <a:r>
              <a:rPr lang="it-IT" sz="1400" dirty="0">
                <a:solidFill>
                  <a:srgbClr val="2B6CA3"/>
                </a:solidFill>
                <a:latin typeface="JetBrains Mono" pitchFamily="49" charset="0"/>
                <a:ea typeface="JetBrains Mono" pitchFamily="49" charset="-122"/>
                <a:cs typeface="JetBrains Mono" pitchFamily="49" charset="-120"/>
              </a:rPr>
              <a:t>produzione</a:t>
            </a:r>
          </a:p>
          <a:p>
            <a:pPr marL="0" indent="0" algn="l">
              <a:lnSpc>
                <a:spcPts val="2400"/>
              </a:lnSpc>
              <a:spcBef>
                <a:spcPts val="0"/>
              </a:spcBef>
              <a:buNone/>
            </a:pPr>
            <a:r>
              <a:rPr lang="it-IT" sz="1800" b="1" dirty="0">
                <a:solidFill>
                  <a:srgbClr val="1B1D20"/>
                </a:solidFill>
                <a:latin typeface="IBM Plex Sans" pitchFamily="34" charset="0"/>
                <a:ea typeface="IBM Plex Sans" pitchFamily="34" charset="-122"/>
                <a:cs typeface="IBM Plex Sans" pitchFamily="34" charset="-120"/>
              </a:rPr>
              <a:t>Collegamento all’IXP</a:t>
            </a:r>
          </a:p>
        </p:txBody>
      </p:sp>
      <p:cxnSp>
        <p:nvCxnSpPr>
          <p:cNvPr id="225" name="Onb line 226"/>
          <p:cNvCxnSpPr/>
          <p:nvPr/>
        </p:nvCxnSpPr>
        <p:spPr>
          <a:xfrm>
            <a:off x="3175000" y="5283200"/>
            <a:ext cx="939800" cy="127"/>
          </a:xfrm>
          <a:prstGeom prst="line">
            <a:avLst/>
          </a:prstGeom>
          <a:ln w="19050">
            <a:solidFill>
              <a:srgbClr val="2B6CA3"/>
            </a:solidFill>
            <a:tailEnd type="triangle" w="med" len="med"/>
          </a:ln>
        </p:spPr>
      </p:cxnSp>
      <p:cxnSp>
        <p:nvCxnSpPr>
          <p:cNvPr id="226" name="Onb line 227"/>
          <p:cNvCxnSpPr/>
          <p:nvPr/>
        </p:nvCxnSpPr>
        <p:spPr>
          <a:xfrm>
            <a:off x="7594600" y="5283200"/>
            <a:ext cx="812800" cy="127"/>
          </a:xfrm>
          <a:prstGeom prst="line">
            <a:avLst/>
          </a:prstGeom>
          <a:ln w="19050">
            <a:solidFill>
              <a:srgbClr val="2B6CA3"/>
            </a:solidFill>
            <a:tailEnd type="triangle" w="med" len="med"/>
          </a:ln>
        </p:spPr>
      </p:cxnSp>
      <p:sp>
        <p:nvSpPr>
          <p:cNvPr id="227" name="Onb 228"/>
          <p:cNvSpPr txBox="1"/>
          <p:nvPr/>
        </p:nvSpPr>
        <p:spPr>
          <a:xfrm>
            <a:off x="3175000" y="4876800"/>
            <a:ext cx="939800" cy="254000"/>
          </a:xfrm>
          <a:prstGeom prst="rect">
            <a:avLst/>
          </a:prstGeom>
          <a:noFill/>
          <a:ln>
            <a:noFill/>
          </a:ln>
        </p:spPr>
        <p:txBody>
          <a:bodyPr wrap="square" lIns="0" tIns="0" rIns="0" bIns="0" rtlCol="0" anchor="t">
            <a:noAutofit/>
          </a:bodyPr>
          <a:lstStyle/>
          <a:p>
            <a:pPr marL="0" indent="0" algn="ctr">
              <a:lnSpc>
                <a:spcPts val="2000"/>
              </a:lnSpc>
              <a:buNone/>
            </a:pPr>
            <a:r>
              <a:rPr lang="it-IT" sz="1400" dirty="0">
                <a:solidFill>
                  <a:srgbClr val="8A8F96"/>
                </a:solidFill>
                <a:latin typeface="JetBrains Mono" pitchFamily="49" charset="0"/>
                <a:ea typeface="JetBrains Mono" pitchFamily="49" charset="-122"/>
                <a:cs typeface="JetBrains Mono" pitchFamily="49" charset="-120"/>
              </a:rPr>
              <a:t>collega</a:t>
            </a:r>
          </a:p>
        </p:txBody>
      </p:sp>
      <p:sp>
        <p:nvSpPr>
          <p:cNvPr id="228" name="Onb 229"/>
          <p:cNvSpPr txBox="1"/>
          <p:nvPr/>
        </p:nvSpPr>
        <p:spPr>
          <a:xfrm>
            <a:off x="7493000" y="4876800"/>
            <a:ext cx="1016000" cy="254000"/>
          </a:xfrm>
          <a:prstGeom prst="rect">
            <a:avLst/>
          </a:prstGeom>
          <a:noFill/>
          <a:ln>
            <a:noFill/>
          </a:ln>
        </p:spPr>
        <p:txBody>
          <a:bodyPr wrap="square" lIns="0" tIns="0" rIns="0" bIns="0" rtlCol="0" anchor="t">
            <a:noAutofit/>
          </a:bodyPr>
          <a:lstStyle/>
          <a:p>
            <a:pPr marL="0" indent="0" algn="ctr">
              <a:lnSpc>
                <a:spcPts val="2000"/>
              </a:lnSpc>
              <a:buNone/>
            </a:pPr>
            <a:r>
              <a:rPr lang="it-IT" sz="1400" dirty="0">
                <a:solidFill>
                  <a:srgbClr val="8A8F96"/>
                </a:solidFill>
                <a:latin typeface="JetBrains Mono" pitchFamily="49" charset="0"/>
                <a:ea typeface="JetBrains Mono" pitchFamily="49" charset="-122"/>
                <a:cs typeface="JetBrains Mono" pitchFamily="49" charset="-120"/>
              </a:rPr>
              <a:t>test ok</a:t>
            </a:r>
          </a:p>
        </p:txBody>
      </p:sp>
      <p:pic>
        <p:nvPicPr>
          <p:cNvPr id="16" name="Immagine 15" descr="Article lead image">
            <a:extLst>
              <a:ext uri="{FF2B5EF4-FFF2-40B4-BE49-F238E27FC236}">
                <a16:creationId xmlns:a16="http://schemas.microsoft.com/office/drawing/2014/main" id="{A92712BC-9471-0667-1606-91058F2E595C}"/>
              </a:ext>
            </a:extLst>
          </p:cNvPr>
          <p:cNvPicPr>
            <a:picLocks noChangeAspect="1"/>
          </p:cNvPicPr>
          <p:nvPr/>
        </p:nvPicPr>
        <p:blipFill>
          <a:blip r:embed="rId3"/>
          <a:stretch>
            <a:fillRect/>
          </a:stretch>
        </p:blipFill>
        <p:spPr>
          <a:xfrm>
            <a:off x="10431304" y="380998"/>
            <a:ext cx="947896" cy="1422400"/>
          </a:xfrm>
          <a:prstGeom prst="rect">
            <a:avLst/>
          </a:prstGeom>
        </p:spPr>
      </p:pic>
    </p:spTree>
    <p:extLst>
      <p:ext uri="{BB962C8B-B14F-4D97-AF65-F5344CB8AC3E}">
        <p14:creationId xmlns:p14="http://schemas.microsoft.com/office/powerpoint/2010/main" val="17274265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ROSE-T: testare MANRS prima dell’audit</a:t>
            </a:r>
            <a:endParaRPr lang="it-IT" sz="4000" noProof="0" dirty="0"/>
          </a:p>
        </p:txBody>
      </p:sp>
      <p:sp>
        <p:nvSpPr>
          <p:cNvPr id="18" name="Text 16"/>
          <p:cNvSpPr/>
          <p:nvPr/>
        </p:nvSpPr>
        <p:spPr>
          <a:xfrm>
            <a:off x="812800" y="6238242"/>
            <a:ext cx="9810750" cy="238760"/>
          </a:xfrm>
          <a:prstGeom prst="rect">
            <a:avLst/>
          </a:prstGeom>
          <a:noFill/>
          <a:ln/>
        </p:spPr>
        <p:txBody>
          <a:bodyPr wrap="square" lIns="0" tIns="0" rIns="0" bIns="0" rtlCol="0" anchor="t">
            <a:normAutofit/>
          </a:bodyPr>
          <a:lstStyle/>
          <a:p>
            <a:pPr marL="0" indent="0" algn="l">
              <a:lnSpc>
                <a:spcPts val="1680"/>
              </a:lnSpc>
              <a:buNone/>
            </a:pPr>
            <a:r>
              <a:rPr lang="it-IT" sz="1200" noProof="0" dirty="0">
                <a:solidFill>
                  <a:srgbClr val="1B1D20"/>
                </a:solidFill>
                <a:latin typeface="JetBrains Mono" pitchFamily="49" charset="0"/>
                <a:ea typeface="JetBrains Mono" pitchFamily="49" charset="-122"/>
                <a:cs typeface="JetBrains Mono" pitchFamily="49" charset="-120"/>
              </a:rPr>
              <a:t>github.com/rose-tool/</a:t>
            </a:r>
            <a:r>
              <a:rPr lang="it-IT" sz="1200" noProof="0" dirty="0" err="1">
                <a:solidFill>
                  <a:srgbClr val="1B1D20"/>
                </a:solidFill>
                <a:latin typeface="JetBrains Mono" pitchFamily="49" charset="0"/>
                <a:ea typeface="JetBrains Mono" pitchFamily="49" charset="-122"/>
                <a:cs typeface="JetBrains Mono" pitchFamily="49" charset="-120"/>
              </a:rPr>
              <a:t>roset</a:t>
            </a:r>
            <a:r>
              <a:rPr lang="it-IT" sz="1200" noProof="0" dirty="0">
                <a:solidFill>
                  <a:srgbClr val="8A8F96"/>
                </a:solidFill>
                <a:latin typeface="JetBrains Mono" pitchFamily="49" charset="0"/>
                <a:ea typeface="JetBrains Mono" pitchFamily="49" charset="-122"/>
                <a:cs typeface="JetBrains Mono" pitchFamily="49" charset="-120"/>
              </a:rPr>
              <a:t> · RIPE 87 </a:t>
            </a:r>
            <a:endParaRPr lang="it-IT" sz="1200" noProof="0" dirty="0"/>
          </a:p>
        </p:txBody>
      </p:sp>
      <p:sp>
        <p:nvSpPr>
          <p:cNvPr id="240" name="Text 241"/>
          <p:cNvSpPr txBox="1"/>
          <p:nvPr/>
        </p:nvSpPr>
        <p:spPr>
          <a:xfrm>
            <a:off x="812800" y="1905000"/>
            <a:ext cx="5207000" cy="254000"/>
          </a:xfrm>
          <a:prstGeom prst="rect">
            <a:avLst/>
          </a:prstGeom>
          <a:noFill/>
          <a:ln/>
        </p:spPr>
        <p:txBody>
          <a:bodyPr wrap="square" lIns="0" tIns="0" rIns="0" bIns="0" rtlCol="0" anchor="t">
            <a:no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cos’è manrs</a:t>
            </a:r>
          </a:p>
        </p:txBody>
      </p:sp>
      <p:sp>
        <p:nvSpPr>
          <p:cNvPr id="241" name="Text 242"/>
          <p:cNvSpPr txBox="1"/>
          <p:nvPr/>
        </p:nvSpPr>
        <p:spPr>
          <a:xfrm>
            <a:off x="812800" y="2209800"/>
            <a:ext cx="5207000" cy="381000"/>
          </a:xfrm>
          <a:prstGeom prst="rect">
            <a:avLst/>
          </a:prstGeom>
          <a:noFill/>
          <a:ln/>
        </p:spPr>
        <p:txBody>
          <a:bodyPr wrap="square" lIns="0" tIns="0" rIns="0" bIns="0" rtlCol="0" anchor="t">
            <a:noAutofit/>
          </a:bodyPr>
          <a:lstStyle/>
          <a:p>
            <a:pPr marL="0" indent="0" algn="l">
              <a:lnSpc>
                <a:spcPts val="2600"/>
              </a:lnSpc>
              <a:buNone/>
            </a:pPr>
            <a:r>
              <a:rPr lang="it-IT" sz="2000" b="1" noProof="0" dirty="0">
                <a:solidFill>
                  <a:srgbClr val="1B1D20"/>
                </a:solidFill>
                <a:latin typeface="IBM Plex Sans" pitchFamily="34" charset="0"/>
                <a:ea typeface="IBM Plex Sans" pitchFamily="34" charset="-122"/>
                <a:cs typeface="IBM Plex Sans" pitchFamily="34" charset="-120"/>
              </a:rPr>
              <a:t>Regole condivise per un routing sicuro</a:t>
            </a:r>
          </a:p>
        </p:txBody>
      </p:sp>
      <p:sp>
        <p:nvSpPr>
          <p:cNvPr id="242" name="Text 243"/>
          <p:cNvSpPr txBox="1"/>
          <p:nvPr/>
        </p:nvSpPr>
        <p:spPr>
          <a:xfrm>
            <a:off x="812800" y="2667000"/>
            <a:ext cx="5207000" cy="1168400"/>
          </a:xfrm>
          <a:prstGeom prst="rect">
            <a:avLst/>
          </a:prstGeom>
          <a:noFill/>
          <a:ln/>
        </p:spPr>
        <p:txBody>
          <a:bodyPr wrap="square" lIns="0" tIns="0" rIns="0" bIns="0" rtlCol="0" anchor="t">
            <a:noAutofit/>
          </a:bodyPr>
          <a:lstStyle/>
          <a:p>
            <a:pPr marL="0" indent="0" algn="l">
              <a:lnSpc>
                <a:spcPts val="2300"/>
              </a:lnSpc>
              <a:buNone/>
            </a:pPr>
            <a:r>
              <a:rPr lang="it-IT" sz="1600" noProof="0" dirty="0">
                <a:solidFill>
                  <a:srgbClr val="5B5F66"/>
                </a:solidFill>
                <a:latin typeface="IBM Plex Sans" pitchFamily="34" charset="0"/>
                <a:ea typeface="IBM Plex Sans" pitchFamily="34" charset="-122"/>
                <a:cs typeface="IBM Plex Sans" pitchFamily="34" charset="-120"/>
              </a:rPr>
              <a:t>MANRS (Mutually Agreed Norms for Routing Security) chiede agli operatori pratiche di base: </a:t>
            </a:r>
            <a:r>
              <a:rPr lang="it-IT" sz="1600" b="1" noProof="0" dirty="0">
                <a:solidFill>
                  <a:srgbClr val="1B1D20"/>
                </a:solidFill>
                <a:latin typeface="IBM Plex Sans" pitchFamily="34" charset="0"/>
                <a:ea typeface="IBM Plex Sans" pitchFamily="34" charset="-122"/>
                <a:cs typeface="IBM Plex Sans" pitchFamily="34" charset="-120"/>
              </a:rPr>
              <a:t>filtrare gli annunci, bloccare lo spoofing, pubblicare dati di routing corretti.</a:t>
            </a:r>
          </a:p>
        </p:txBody>
      </p:sp>
      <p:cxnSp>
        <p:nvCxnSpPr>
          <p:cNvPr id="243" name="Rule"/>
          <p:cNvCxnSpPr/>
          <p:nvPr/>
        </p:nvCxnSpPr>
        <p:spPr>
          <a:xfrm>
            <a:off x="812800" y="4013200"/>
            <a:ext cx="5207000" cy="0"/>
          </a:xfrm>
          <a:prstGeom prst="line">
            <a:avLst/>
          </a:prstGeom>
          <a:ln w="12700">
            <a:solidFill>
              <a:srgbClr val="E1E0DD"/>
            </a:solidFill>
          </a:ln>
        </p:spPr>
      </p:cxnSp>
      <p:sp>
        <p:nvSpPr>
          <p:cNvPr id="244" name="Text 245"/>
          <p:cNvSpPr txBox="1"/>
          <p:nvPr/>
        </p:nvSpPr>
        <p:spPr>
          <a:xfrm>
            <a:off x="812800" y="4191000"/>
            <a:ext cx="5207000" cy="254000"/>
          </a:xfrm>
          <a:prstGeom prst="rect">
            <a:avLst/>
          </a:prstGeom>
          <a:noFill/>
          <a:ln/>
        </p:spPr>
        <p:txBody>
          <a:bodyPr wrap="square" lIns="0" tIns="0" rIns="0" bIns="0" rtlCol="0" anchor="t">
            <a:noAutofit/>
          </a:bodyPr>
          <a:lstStyle/>
          <a:p>
            <a:pPr marL="0" indent="0" algn="l">
              <a:lnSpc>
                <a:spcPts val="2000"/>
              </a:lnSpc>
              <a:buNone/>
            </a:pPr>
            <a:r>
              <a:rPr lang="it-IT" sz="1600" b="1" noProof="0" dirty="0">
                <a:solidFill>
                  <a:srgbClr val="2B6CA3"/>
                </a:solidFill>
                <a:latin typeface="JetBrains Mono" pitchFamily="49" charset="0"/>
                <a:ea typeface="JetBrains Mono" pitchFamily="49" charset="-122"/>
                <a:cs typeface="JetBrains Mono" pitchFamily="49" charset="-120"/>
              </a:rPr>
              <a:t>il problema</a:t>
            </a:r>
          </a:p>
        </p:txBody>
      </p:sp>
      <p:sp>
        <p:nvSpPr>
          <p:cNvPr id="245" name="Text 246"/>
          <p:cNvSpPr txBox="1"/>
          <p:nvPr/>
        </p:nvSpPr>
        <p:spPr>
          <a:xfrm>
            <a:off x="812800" y="4495800"/>
            <a:ext cx="5207000" cy="381000"/>
          </a:xfrm>
          <a:prstGeom prst="rect">
            <a:avLst/>
          </a:prstGeom>
          <a:noFill/>
          <a:ln/>
        </p:spPr>
        <p:txBody>
          <a:bodyPr wrap="square" lIns="0" tIns="0" rIns="0" bIns="0" rtlCol="0" anchor="t">
            <a:noAutofit/>
          </a:bodyPr>
          <a:lstStyle/>
          <a:p>
            <a:pPr marL="0" indent="0" algn="l">
              <a:lnSpc>
                <a:spcPts val="2600"/>
              </a:lnSpc>
              <a:buNone/>
            </a:pPr>
            <a:r>
              <a:rPr lang="it-IT" sz="2000" b="1" noProof="0" dirty="0">
                <a:solidFill>
                  <a:srgbClr val="1B1D20"/>
                </a:solidFill>
                <a:latin typeface="IBM Plex Sans" pitchFamily="34" charset="0"/>
                <a:ea typeface="IBM Plex Sans" pitchFamily="34" charset="-122"/>
                <a:cs typeface="IBM Plex Sans" pitchFamily="34" charset="-120"/>
              </a:rPr>
              <a:t>Verificare la conformità è costoso</a:t>
            </a:r>
          </a:p>
        </p:txBody>
      </p:sp>
      <p:sp>
        <p:nvSpPr>
          <p:cNvPr id="246" name="Text 247"/>
          <p:cNvSpPr txBox="1"/>
          <p:nvPr/>
        </p:nvSpPr>
        <p:spPr>
          <a:xfrm>
            <a:off x="812800" y="4953000"/>
            <a:ext cx="5207000" cy="889000"/>
          </a:xfrm>
          <a:prstGeom prst="rect">
            <a:avLst/>
          </a:prstGeom>
          <a:noFill/>
          <a:ln/>
        </p:spPr>
        <p:txBody>
          <a:bodyPr wrap="square" lIns="0" tIns="0" rIns="0" bIns="0" rtlCol="0" anchor="t">
            <a:noAutofit/>
          </a:bodyPr>
          <a:lstStyle/>
          <a:p>
            <a:pPr marL="0" indent="0" algn="l">
              <a:lnSpc>
                <a:spcPts val="2300"/>
              </a:lnSpc>
              <a:buNone/>
            </a:pPr>
            <a:r>
              <a:rPr lang="it-IT" sz="1600" noProof="0" dirty="0">
                <a:solidFill>
                  <a:srgbClr val="5B5F66"/>
                </a:solidFill>
                <a:latin typeface="IBM Plex Sans" pitchFamily="34" charset="0"/>
                <a:ea typeface="IBM Plex Sans" pitchFamily="34" charset="-122"/>
                <a:cs typeface="IBM Plex Sans" pitchFamily="34" charset="-120"/>
              </a:rPr>
              <a:t>Oggi serve un audit: un processo complesso e manuale, fatto quando il router è già in produzione.</a:t>
            </a:r>
          </a:p>
        </p:txBody>
      </p:sp>
      <p:cxnSp>
        <p:nvCxnSpPr>
          <p:cNvPr id="247" name="Bar"/>
          <p:cNvCxnSpPr/>
          <p:nvPr/>
        </p:nvCxnSpPr>
        <p:spPr>
          <a:xfrm>
            <a:off x="6883400" y="3810000"/>
            <a:ext cx="0" cy="1905000"/>
          </a:xfrm>
          <a:prstGeom prst="line">
            <a:avLst/>
          </a:prstGeom>
          <a:ln w="38100">
            <a:solidFill>
              <a:srgbClr val="60A5E3"/>
            </a:solidFill>
          </a:ln>
        </p:spPr>
      </p:cxnSp>
      <p:sp>
        <p:nvSpPr>
          <p:cNvPr id="248" name="Text 249"/>
          <p:cNvSpPr txBox="1"/>
          <p:nvPr/>
        </p:nvSpPr>
        <p:spPr>
          <a:xfrm>
            <a:off x="7112000" y="3810000"/>
            <a:ext cx="4572000" cy="2032000"/>
          </a:xfrm>
          <a:prstGeom prst="rect">
            <a:avLst/>
          </a:prstGeom>
          <a:noFill/>
          <a:ln/>
        </p:spPr>
        <p:txBody>
          <a:bodyPr wrap="square" lIns="0" tIns="0" rIns="0" bIns="0" rtlCol="0" anchor="t">
            <a:noAutofit/>
          </a:bodyPr>
          <a:lstStyle/>
          <a:p>
            <a:pPr marL="0" indent="0" algn="l">
              <a:lnSpc>
                <a:spcPts val="2500"/>
              </a:lnSpc>
              <a:spcAft>
                <a:spcPts val="400"/>
              </a:spcAft>
              <a:buNone/>
            </a:pPr>
            <a:r>
              <a:rPr lang="it-IT" sz="1800" noProof="0" dirty="0">
                <a:solidFill>
                  <a:srgbClr val="1B1D20"/>
                </a:solidFill>
                <a:latin typeface="IBM Plex Sans" pitchFamily="34" charset="0"/>
                <a:ea typeface="IBM Plex Sans" pitchFamily="34" charset="-122"/>
                <a:cs typeface="IBM Plex Sans" pitchFamily="34" charset="-120"/>
              </a:rPr>
              <a:t>ROSE-T costruisce un ambiente emulato </a:t>
            </a:r>
            <a:r>
              <a:rPr lang="it-IT" dirty="0">
                <a:solidFill>
                  <a:srgbClr val="1B1D20"/>
                </a:solidFill>
                <a:latin typeface="IBM Plex Sans" pitchFamily="34" charset="0"/>
                <a:ea typeface="IBM Plex Sans" pitchFamily="34" charset="-122"/>
                <a:cs typeface="IBM Plex Sans" pitchFamily="34" charset="-120"/>
              </a:rPr>
              <a:t>e </a:t>
            </a:r>
            <a:r>
              <a:rPr lang="it-IT" sz="1800" b="1" noProof="0" dirty="0">
                <a:solidFill>
                  <a:srgbClr val="1B1D20"/>
                </a:solidFill>
                <a:latin typeface="IBM Plex Sans" pitchFamily="34" charset="0"/>
                <a:ea typeface="IBM Plex Sans" pitchFamily="34" charset="-122"/>
                <a:cs typeface="IBM Plex Sans" pitchFamily="34" charset="-120"/>
              </a:rPr>
              <a:t>testa la configurazione prima dell’audit</a:t>
            </a:r>
            <a:r>
              <a:rPr lang="it-IT" sz="1800" noProof="0" dirty="0">
                <a:solidFill>
                  <a:srgbClr val="1B1D20"/>
                </a:solidFill>
                <a:latin typeface="IBM Plex Sans" pitchFamily="34" charset="0"/>
                <a:ea typeface="IBM Plex Sans" pitchFamily="34" charset="-122"/>
                <a:cs typeface="IBM Plex Sans" pitchFamily="34" charset="-120"/>
              </a:rPr>
              <a:t>:</a:t>
            </a:r>
          </a:p>
          <a:p>
            <a:pPr marL="228600" indent="-228600" algn="l">
              <a:lnSpc>
                <a:spcPts val="2200"/>
              </a:lnSpc>
              <a:spcAft>
                <a:spcPts val="300"/>
              </a:spcAft>
              <a:buClr>
                <a:srgbClr val="2B6CA3"/>
              </a:buClr>
              <a:buFont typeface="JetBrains Mono"/>
              <a:buChar char="›"/>
            </a:pPr>
            <a:r>
              <a:rPr lang="it-IT" sz="1600" b="1" noProof="0" dirty="0">
                <a:solidFill>
                  <a:srgbClr val="1B1D20"/>
                </a:solidFill>
                <a:latin typeface="IBM Plex Sans" pitchFamily="34" charset="0"/>
                <a:ea typeface="IBM Plex Sans" pitchFamily="34" charset="-122"/>
                <a:cs typeface="IBM Plex Sans" pitchFamily="34" charset="-120"/>
              </a:rPr>
              <a:t>Immagini e configurazioni di produzione:</a:t>
            </a:r>
            <a:r>
              <a:rPr lang="it-IT" sz="1600" noProof="0" dirty="0">
                <a:solidFill>
                  <a:srgbClr val="5B5F66"/>
                </a:solidFill>
                <a:latin typeface="IBM Plex Sans" pitchFamily="34" charset="0"/>
                <a:ea typeface="IBM Plex Sans" pitchFamily="34" charset="-122"/>
                <a:cs typeface="IBM Plex Sans" pitchFamily="34" charset="-120"/>
              </a:rPr>
              <a:t> il router emulato è identico a quello reale.</a:t>
            </a:r>
          </a:p>
          <a:p>
            <a:pPr marL="228600" indent="-228600" algn="l">
              <a:lnSpc>
                <a:spcPts val="2200"/>
              </a:lnSpc>
              <a:spcAft>
                <a:spcPts val="300"/>
              </a:spcAft>
              <a:buClr>
                <a:srgbClr val="2B6CA3"/>
              </a:buClr>
              <a:buFont typeface="JetBrains Mono"/>
              <a:buChar char="›"/>
            </a:pPr>
            <a:r>
              <a:rPr lang="it-IT" sz="1600" b="1" noProof="0" dirty="0">
                <a:solidFill>
                  <a:srgbClr val="1B1D20"/>
                </a:solidFill>
                <a:latin typeface="IBM Plex Sans" pitchFamily="34" charset="0"/>
                <a:ea typeface="IBM Plex Sans" pitchFamily="34" charset="-122"/>
                <a:cs typeface="IBM Plex Sans" pitchFamily="34" charset="-120"/>
              </a:rPr>
              <a:t>L’intorno del provider ricostruito</a:t>
            </a:r>
            <a:r>
              <a:rPr lang="it-IT" sz="1600" noProof="0" dirty="0">
                <a:solidFill>
                  <a:srgbClr val="5B5F66"/>
                </a:solidFill>
                <a:latin typeface="IBM Plex Sans" pitchFamily="34" charset="0"/>
                <a:ea typeface="IBM Plex Sans" pitchFamily="34" charset="-122"/>
                <a:cs typeface="IBM Plex Sans" pitchFamily="34" charset="-120"/>
              </a:rPr>
              <a:t> con dati presi da Internet: annunci, IRR, peer reali.</a:t>
            </a:r>
          </a:p>
        </p:txBody>
      </p:sp>
      <p:pic>
        <p:nvPicPr>
          <p:cNvPr id="5" name="Immagine 4">
            <a:extLst>
              <a:ext uri="{FF2B5EF4-FFF2-40B4-BE49-F238E27FC236}">
                <a16:creationId xmlns:a16="http://schemas.microsoft.com/office/drawing/2014/main" id="{EF5FC7E1-CD8C-4162-6117-9C3B5F2A932A}"/>
              </a:ext>
            </a:extLst>
          </p:cNvPr>
          <p:cNvPicPr>
            <a:picLocks noChangeAspect="1"/>
          </p:cNvPicPr>
          <p:nvPr/>
        </p:nvPicPr>
        <p:blipFill>
          <a:blip r:embed="rId3"/>
          <a:stretch>
            <a:fillRect/>
          </a:stretch>
        </p:blipFill>
        <p:spPr>
          <a:xfrm>
            <a:off x="7112000" y="1981200"/>
            <a:ext cx="3302000" cy="1536700"/>
          </a:xfrm>
          <a:prstGeom prst="rect">
            <a:avLst/>
          </a:prstGeom>
        </p:spPr>
      </p:pic>
    </p:spTree>
    <p:extLst>
      <p:ext uri="{BB962C8B-B14F-4D97-AF65-F5344CB8AC3E}">
        <p14:creationId xmlns:p14="http://schemas.microsoft.com/office/powerpoint/2010/main" val="32245910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NIKA: un'arena per agenti AI</a:t>
            </a:r>
            <a:endParaRPr lang="it-IT" sz="4000" noProof="0" dirty="0"/>
          </a:p>
        </p:txBody>
      </p:sp>
      <p:sp>
        <p:nvSpPr>
          <p:cNvPr id="5" name="Text 3"/>
          <p:cNvSpPr/>
          <p:nvPr/>
        </p:nvSpPr>
        <p:spPr>
          <a:xfrm>
            <a:off x="812800" y="2794000"/>
            <a:ext cx="2401999"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01 ambienti →</a:t>
            </a:r>
            <a:endParaRPr lang="it-IT" sz="1600" noProof="0" dirty="0"/>
          </a:p>
        </p:txBody>
      </p:sp>
      <p:sp>
        <p:nvSpPr>
          <p:cNvPr id="6" name="Text 4"/>
          <p:cNvSpPr/>
          <p:nvPr/>
        </p:nvSpPr>
        <p:spPr>
          <a:xfrm>
            <a:off x="812800" y="3149600"/>
            <a:ext cx="2413000" cy="406400"/>
          </a:xfrm>
          <a:prstGeom prst="rect">
            <a:avLst/>
          </a:prstGeom>
          <a:noFill/>
          <a:ln/>
        </p:spPr>
        <p:txBody>
          <a:bodyPr wrap="square" lIns="0" tIns="0" rIns="0" bIns="0" rtlCol="0" anchor="t">
            <a:normAutofit/>
          </a:bodyPr>
          <a:lstStyle/>
          <a:p>
            <a:pPr marL="0" indent="0" algn="l">
              <a:lnSpc>
                <a:spcPts val="3000"/>
              </a:lnSpc>
              <a:buNone/>
            </a:pPr>
            <a:r>
              <a:rPr lang="it-IT" sz="2400" b="1" dirty="0">
                <a:solidFill>
                  <a:srgbClr val="1B1D20"/>
                </a:solidFill>
                <a:latin typeface="IBM Plex Sans" pitchFamily="34" charset="0"/>
                <a:ea typeface="IBM Plex Sans" pitchFamily="34" charset="-122"/>
                <a:cs typeface="IBM Plex Sans" pitchFamily="34" charset="-120"/>
              </a:rPr>
              <a:t>6 tipi di rete</a:t>
            </a:r>
          </a:p>
        </p:txBody>
      </p:sp>
      <p:sp>
        <p:nvSpPr>
          <p:cNvPr id="7" name="Text 5"/>
          <p:cNvSpPr/>
          <p:nvPr/>
        </p:nvSpPr>
        <p:spPr>
          <a:xfrm>
            <a:off x="812800" y="3657600"/>
            <a:ext cx="2336800" cy="609600"/>
          </a:xfrm>
          <a:prstGeom prst="rect">
            <a:avLst/>
          </a:prstGeom>
          <a:noFill/>
          <a:ln/>
        </p:spPr>
        <p:txBody>
          <a:bodyPr wrap="square" lIns="0" tIns="0" rIns="0" bIns="0" rtlCol="0" anchor="t">
            <a:normAutofit/>
          </a:bodyPr>
          <a:lstStyle/>
          <a:p>
            <a:pPr marL="0" indent="0" algn="l">
              <a:lnSpc>
                <a:spcPts val="2200"/>
              </a:lnSpc>
              <a:buNone/>
            </a:pPr>
            <a:r>
              <a:rPr lang="it-IT" sz="1600" dirty="0">
                <a:solidFill>
                  <a:srgbClr val="5B5F66"/>
                </a:solidFill>
                <a:latin typeface="IBM Plex Sans" pitchFamily="34" charset="0"/>
                <a:ea typeface="IBM Plex Sans" pitchFamily="34" charset="-122"/>
                <a:cs typeface="IBM Plex Sans" pitchFamily="34" charset="-120"/>
              </a:rPr>
              <a:t>dal data center al backbone ISP</a:t>
            </a:r>
          </a:p>
        </p:txBody>
      </p:sp>
      <p:sp>
        <p:nvSpPr>
          <p:cNvPr id="8" name="Shape 6"/>
          <p:cNvSpPr/>
          <p:nvPr/>
        </p:nvSpPr>
        <p:spPr>
          <a:xfrm>
            <a:off x="3351213" y="2794000"/>
            <a:ext cx="0" cy="1498600"/>
          </a:xfrm>
          <a:prstGeom prst="line">
            <a:avLst/>
          </a:prstGeom>
          <a:noFill/>
          <a:ln w="6350">
            <a:solidFill>
              <a:srgbClr val="CFCCC4"/>
            </a:solidFill>
            <a:prstDash val="solid"/>
          </a:ln>
        </p:spPr>
        <p:txBody>
          <a:bodyPr/>
          <a:lstStyle/>
          <a:p>
            <a:endParaRPr lang="it-IT" noProof="0" dirty="0"/>
          </a:p>
        </p:txBody>
      </p:sp>
      <p:sp>
        <p:nvSpPr>
          <p:cNvPr id="9" name="Text 7"/>
          <p:cNvSpPr/>
          <p:nvPr/>
        </p:nvSpPr>
        <p:spPr>
          <a:xfrm>
            <a:off x="3557588" y="2794000"/>
            <a:ext cx="2401999"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02 incidenti →</a:t>
            </a:r>
            <a:endParaRPr lang="it-IT" sz="1600" noProof="0" dirty="0"/>
          </a:p>
        </p:txBody>
      </p:sp>
      <p:sp>
        <p:nvSpPr>
          <p:cNvPr id="10" name="Text 8"/>
          <p:cNvSpPr/>
          <p:nvPr/>
        </p:nvSpPr>
        <p:spPr>
          <a:xfrm>
            <a:off x="3556000" y="3149600"/>
            <a:ext cx="2413000" cy="406400"/>
          </a:xfrm>
          <a:prstGeom prst="rect">
            <a:avLst/>
          </a:prstGeom>
          <a:noFill/>
          <a:ln/>
        </p:spPr>
        <p:txBody>
          <a:bodyPr wrap="square" lIns="0" tIns="0" rIns="0" bIns="0" rtlCol="0" anchor="t">
            <a:normAutofit/>
          </a:bodyPr>
          <a:lstStyle/>
          <a:p>
            <a:pPr marL="0" indent="0" algn="l">
              <a:lnSpc>
                <a:spcPts val="3000"/>
              </a:lnSpc>
              <a:buNone/>
            </a:pPr>
            <a:r>
              <a:rPr lang="it-IT" sz="2400" b="1" dirty="0">
                <a:solidFill>
                  <a:srgbClr val="1B1D20"/>
                </a:solidFill>
                <a:latin typeface="IBM Plex Sans" pitchFamily="34" charset="0"/>
                <a:ea typeface="IBM Plex Sans" pitchFamily="34" charset="-122"/>
                <a:cs typeface="IBM Plex Sans" pitchFamily="34" charset="-120"/>
              </a:rPr>
              <a:t>60 tipi di guasto</a:t>
            </a:r>
          </a:p>
        </p:txBody>
      </p:sp>
      <p:sp>
        <p:nvSpPr>
          <p:cNvPr id="11" name="Text 9"/>
          <p:cNvSpPr/>
          <p:nvPr/>
        </p:nvSpPr>
        <p:spPr>
          <a:xfrm>
            <a:off x="3556000" y="3657600"/>
            <a:ext cx="2336800" cy="609600"/>
          </a:xfrm>
          <a:prstGeom prst="rect">
            <a:avLst/>
          </a:prstGeom>
          <a:noFill/>
          <a:ln/>
        </p:spPr>
        <p:txBody>
          <a:bodyPr wrap="square" lIns="0" tIns="0" rIns="0" bIns="0" rtlCol="0" anchor="t">
            <a:normAutofit/>
          </a:bodyPr>
          <a:lstStyle/>
          <a:p>
            <a:pPr marL="0" indent="0" algn="l">
              <a:lnSpc>
                <a:spcPts val="2200"/>
              </a:lnSpc>
              <a:buNone/>
            </a:pPr>
            <a:r>
              <a:rPr lang="it-IT" sz="1600" dirty="0">
                <a:solidFill>
                  <a:srgbClr val="5B5F66"/>
                </a:solidFill>
                <a:latin typeface="IBM Plex Sans" pitchFamily="34" charset="0"/>
                <a:ea typeface="IBM Plex Sans" pitchFamily="34" charset="-122"/>
                <a:cs typeface="IBM Plex Sans" pitchFamily="34" charset="-120"/>
              </a:rPr>
              <a:t>727 varianti, iniettate dal vivo</a:t>
            </a:r>
          </a:p>
        </p:txBody>
      </p:sp>
      <p:sp>
        <p:nvSpPr>
          <p:cNvPr id="12" name="Shape 10"/>
          <p:cNvSpPr/>
          <p:nvPr/>
        </p:nvSpPr>
        <p:spPr>
          <a:xfrm>
            <a:off x="6096000" y="2794000"/>
            <a:ext cx="0" cy="1498600"/>
          </a:xfrm>
          <a:prstGeom prst="line">
            <a:avLst/>
          </a:prstGeom>
          <a:noFill/>
          <a:ln w="6350">
            <a:solidFill>
              <a:srgbClr val="CFCCC4"/>
            </a:solidFill>
            <a:prstDash val="solid"/>
          </a:ln>
        </p:spPr>
        <p:txBody>
          <a:bodyPr/>
          <a:lstStyle/>
          <a:p>
            <a:endParaRPr lang="it-IT" noProof="0" dirty="0"/>
          </a:p>
        </p:txBody>
      </p:sp>
      <p:sp>
        <p:nvSpPr>
          <p:cNvPr id="13" name="Text 11"/>
          <p:cNvSpPr/>
          <p:nvPr/>
        </p:nvSpPr>
        <p:spPr>
          <a:xfrm>
            <a:off x="6302375" y="2794000"/>
            <a:ext cx="2401999"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03 agente ai →</a:t>
            </a:r>
            <a:endParaRPr lang="it-IT" sz="1600" noProof="0" dirty="0"/>
          </a:p>
        </p:txBody>
      </p:sp>
      <p:sp>
        <p:nvSpPr>
          <p:cNvPr id="14" name="Text 12"/>
          <p:cNvSpPr/>
          <p:nvPr/>
        </p:nvSpPr>
        <p:spPr>
          <a:xfrm>
            <a:off x="6299200" y="3149600"/>
            <a:ext cx="2413000" cy="406400"/>
          </a:xfrm>
          <a:prstGeom prst="rect">
            <a:avLst/>
          </a:prstGeom>
          <a:noFill/>
          <a:ln/>
        </p:spPr>
        <p:txBody>
          <a:bodyPr wrap="square" lIns="0" tIns="0" rIns="0" bIns="0" rtlCol="0" anchor="t">
            <a:normAutofit/>
          </a:bodyPr>
          <a:lstStyle/>
          <a:p>
            <a:pPr marL="0" indent="0" algn="l">
              <a:lnSpc>
                <a:spcPts val="3000"/>
              </a:lnSpc>
              <a:buNone/>
            </a:pPr>
            <a:r>
              <a:rPr lang="it-IT" sz="2400" b="1" dirty="0">
                <a:solidFill>
                  <a:srgbClr val="1B1D20"/>
                </a:solidFill>
                <a:latin typeface="IBM Plex Sans" pitchFamily="34" charset="0"/>
                <a:ea typeface="IBM Plex Sans" pitchFamily="34" charset="-122"/>
                <a:cs typeface="IBM Plex Sans" pitchFamily="34" charset="-120"/>
              </a:rPr>
              <a:t>Qualsiasi agente</a:t>
            </a:r>
          </a:p>
        </p:txBody>
      </p:sp>
      <p:sp>
        <p:nvSpPr>
          <p:cNvPr id="15" name="Text 13"/>
          <p:cNvSpPr/>
          <p:nvPr/>
        </p:nvSpPr>
        <p:spPr>
          <a:xfrm>
            <a:off x="6299200" y="3657600"/>
            <a:ext cx="2336800" cy="609600"/>
          </a:xfrm>
          <a:prstGeom prst="rect">
            <a:avLst/>
          </a:prstGeom>
          <a:noFill/>
          <a:ln/>
        </p:spPr>
        <p:txBody>
          <a:bodyPr wrap="square" lIns="0" tIns="0" rIns="0" bIns="0" rtlCol="0" anchor="t">
            <a:normAutofit/>
          </a:bodyPr>
          <a:lstStyle/>
          <a:p>
            <a:pPr marL="0" indent="0" algn="l">
              <a:lnSpc>
                <a:spcPts val="2200"/>
              </a:lnSpc>
              <a:buNone/>
            </a:pPr>
            <a:r>
              <a:rPr lang="it-IT" sz="1600" dirty="0">
                <a:solidFill>
                  <a:srgbClr val="5B5F66"/>
                </a:solidFill>
                <a:latin typeface="IBM Plex Sans" pitchFamily="34" charset="0"/>
                <a:ea typeface="IBM Plex Sans" pitchFamily="34" charset="-122"/>
                <a:cs typeface="IBM Plex Sans" pitchFamily="34" charset="-120"/>
              </a:rPr>
              <a:t>collegato alla rete via MCP</a:t>
            </a:r>
          </a:p>
        </p:txBody>
      </p:sp>
      <p:sp>
        <p:nvSpPr>
          <p:cNvPr id="16" name="Shape 14"/>
          <p:cNvSpPr/>
          <p:nvPr/>
        </p:nvSpPr>
        <p:spPr>
          <a:xfrm>
            <a:off x="8840788" y="2794000"/>
            <a:ext cx="0" cy="1498600"/>
          </a:xfrm>
          <a:prstGeom prst="line">
            <a:avLst/>
          </a:prstGeom>
          <a:noFill/>
          <a:ln w="6350">
            <a:solidFill>
              <a:srgbClr val="CFCCC4"/>
            </a:solidFill>
            <a:prstDash val="solid"/>
          </a:ln>
        </p:spPr>
        <p:txBody>
          <a:bodyPr/>
          <a:lstStyle/>
          <a:p>
            <a:endParaRPr lang="it-IT" noProof="0" dirty="0"/>
          </a:p>
        </p:txBody>
      </p:sp>
      <p:sp>
        <p:nvSpPr>
          <p:cNvPr id="17" name="Text 15"/>
          <p:cNvSpPr/>
          <p:nvPr/>
        </p:nvSpPr>
        <p:spPr>
          <a:xfrm>
            <a:off x="9047163" y="2794000"/>
            <a:ext cx="2401999"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04 valutazione</a:t>
            </a:r>
            <a:endParaRPr lang="it-IT" sz="1600" noProof="0" dirty="0"/>
          </a:p>
        </p:txBody>
      </p:sp>
      <p:sp>
        <p:nvSpPr>
          <p:cNvPr id="18" name="Text 16"/>
          <p:cNvSpPr/>
          <p:nvPr/>
        </p:nvSpPr>
        <p:spPr>
          <a:xfrm>
            <a:off x="9042400" y="3149600"/>
            <a:ext cx="2413000" cy="406400"/>
          </a:xfrm>
          <a:prstGeom prst="rect">
            <a:avLst/>
          </a:prstGeom>
          <a:noFill/>
          <a:ln/>
        </p:spPr>
        <p:txBody>
          <a:bodyPr wrap="square" lIns="0" tIns="0" rIns="0" bIns="0" rtlCol="0" anchor="t">
            <a:normAutofit/>
          </a:bodyPr>
          <a:lstStyle/>
          <a:p>
            <a:pPr marL="0" indent="0" algn="l">
              <a:lnSpc>
                <a:spcPts val="3000"/>
              </a:lnSpc>
              <a:buNone/>
            </a:pPr>
            <a:r>
              <a:rPr lang="it-IT" sz="2400" b="1" dirty="0">
                <a:solidFill>
                  <a:srgbClr val="1B1D20"/>
                </a:solidFill>
                <a:latin typeface="IBM Plex Sans" pitchFamily="34" charset="0"/>
                <a:ea typeface="IBM Plex Sans" pitchFamily="34" charset="-122"/>
                <a:cs typeface="IBM Plex Sans" pitchFamily="34" charset="-120"/>
              </a:rPr>
              <a:t>Tre capacità</a:t>
            </a:r>
          </a:p>
        </p:txBody>
      </p:sp>
      <p:sp>
        <p:nvSpPr>
          <p:cNvPr id="19" name="Text 17"/>
          <p:cNvSpPr/>
          <p:nvPr/>
        </p:nvSpPr>
        <p:spPr>
          <a:xfrm>
            <a:off x="9042400" y="3657600"/>
            <a:ext cx="2336800" cy="609600"/>
          </a:xfrm>
          <a:prstGeom prst="rect">
            <a:avLst/>
          </a:prstGeom>
          <a:noFill/>
          <a:ln/>
        </p:spPr>
        <p:txBody>
          <a:bodyPr wrap="square" lIns="0" tIns="0" rIns="0" bIns="0" rtlCol="0" anchor="t">
            <a:normAutofit/>
          </a:bodyPr>
          <a:lstStyle/>
          <a:p>
            <a:pPr marL="0" indent="0" algn="l">
              <a:lnSpc>
                <a:spcPts val="2200"/>
              </a:lnSpc>
              <a:buNone/>
            </a:pPr>
            <a:r>
              <a:rPr lang="it-IT" sz="1600" dirty="0">
                <a:solidFill>
                  <a:srgbClr val="5B5F66"/>
                </a:solidFill>
                <a:latin typeface="IBM Plex Sans" pitchFamily="34" charset="0"/>
                <a:ea typeface="IBM Plex Sans" pitchFamily="34" charset="-122"/>
                <a:cs typeface="IBM Plex Sans" pitchFamily="34" charset="-120"/>
              </a:rPr>
              <a:t>rilevare, localizzare, diagnosticare</a:t>
            </a:r>
          </a:p>
        </p:txBody>
      </p:sp>
      <p:sp>
        <p:nvSpPr>
          <p:cNvPr id="22" name="Text 20"/>
          <p:cNvSpPr/>
          <p:nvPr/>
        </p:nvSpPr>
        <p:spPr>
          <a:xfrm>
            <a:off x="812800" y="6238242"/>
            <a:ext cx="10072370" cy="238760"/>
          </a:xfrm>
          <a:prstGeom prst="rect">
            <a:avLst/>
          </a:prstGeom>
          <a:noFill/>
          <a:ln/>
        </p:spPr>
        <p:txBody>
          <a:bodyPr wrap="square" lIns="0" tIns="0" rIns="0" bIns="0" rtlCol="0" anchor="t">
            <a:normAutofit/>
          </a:bodyPr>
          <a:lstStyle/>
          <a:p>
            <a:pPr marL="0" indent="0" algn="l">
              <a:lnSpc>
                <a:spcPts val="1680"/>
              </a:lnSpc>
              <a:buNone/>
            </a:pPr>
            <a:r>
              <a:rPr lang="it-IT" sz="1200" noProof="0" dirty="0">
                <a:solidFill>
                  <a:srgbClr val="1B1D20"/>
                </a:solidFill>
                <a:latin typeface="JetBrains Mono" pitchFamily="49" charset="0"/>
                <a:ea typeface="JetBrains Mono" pitchFamily="49" charset="-122"/>
                <a:cs typeface="JetBrains Mono" pitchFamily="49" charset="-120"/>
              </a:rPr>
              <a:t>github.com/</a:t>
            </a:r>
            <a:r>
              <a:rPr lang="it-IT" sz="1200" noProof="0" dirty="0" err="1">
                <a:solidFill>
                  <a:srgbClr val="1B1D20"/>
                </a:solidFill>
                <a:latin typeface="JetBrains Mono" pitchFamily="49" charset="0"/>
                <a:ea typeface="JetBrains Mono" pitchFamily="49" charset="-122"/>
                <a:cs typeface="JetBrains Mono" pitchFamily="49" charset="-120"/>
              </a:rPr>
              <a:t>sands</a:t>
            </a:r>
            <a:r>
              <a:rPr lang="it-IT" sz="1200" noProof="0" dirty="0">
                <a:solidFill>
                  <a:srgbClr val="1B1D20"/>
                </a:solidFill>
                <a:latin typeface="JetBrains Mono" pitchFamily="49" charset="0"/>
                <a:ea typeface="JetBrains Mono" pitchFamily="49" charset="-122"/>
                <a:cs typeface="JetBrains Mono" pitchFamily="49" charset="-120"/>
              </a:rPr>
              <a:t>-lab/</a:t>
            </a:r>
            <a:r>
              <a:rPr lang="it-IT" sz="1200" noProof="0" dirty="0" err="1">
                <a:solidFill>
                  <a:srgbClr val="1B1D20"/>
                </a:solidFill>
                <a:latin typeface="JetBrains Mono" pitchFamily="49" charset="0"/>
                <a:ea typeface="JetBrains Mono" pitchFamily="49" charset="-122"/>
                <a:cs typeface="JetBrains Mono" pitchFamily="49" charset="-120"/>
              </a:rPr>
              <a:t>nika</a:t>
            </a:r>
            <a:endParaRPr lang="it-IT" sz="1200" noProof="0" dirty="0"/>
          </a:p>
        </p:txBody>
      </p:sp>
      <p:sp>
        <p:nvSpPr>
          <p:cNvPr id="260" name="Nika 260"/>
          <p:cNvSpPr txBox="1"/>
          <p:nvPr/>
        </p:nvSpPr>
        <p:spPr>
          <a:xfrm>
            <a:off x="812800" y="1803400"/>
            <a:ext cx="7620000" cy="609600"/>
          </a:xfrm>
          <a:prstGeom prst="rect">
            <a:avLst/>
          </a:prstGeom>
          <a:noFill/>
          <a:ln/>
        </p:spPr>
        <p:txBody>
          <a:bodyPr wrap="square" lIns="0" tIns="0" rIns="0" bIns="0" rtlCol="0" anchor="t">
            <a:noAutofit/>
          </a:bodyPr>
          <a:lstStyle/>
          <a:p>
            <a:pPr marL="0" indent="0" algn="l">
              <a:lnSpc>
                <a:spcPts val="2400"/>
              </a:lnSpc>
              <a:buNone/>
            </a:pPr>
            <a:r>
              <a:rPr lang="it-IT" sz="1800" b="1" noProof="0" dirty="0">
                <a:solidFill>
                  <a:srgbClr val="1B1D20"/>
                </a:solidFill>
                <a:latin typeface="IBM Plex Sans" pitchFamily="34" charset="0"/>
                <a:ea typeface="IBM Plex Sans" pitchFamily="34" charset="-122"/>
                <a:cs typeface="IBM Plex Sans" pitchFamily="34" charset="-120"/>
              </a:rPr>
              <a:t>NIKA (Network Incident Benchmark for AI Agents) </a:t>
            </a:r>
            <a:r>
              <a:rPr lang="it-IT" sz="1800" noProof="0" dirty="0">
                <a:solidFill>
                  <a:srgbClr val="5B5F66"/>
                </a:solidFill>
                <a:latin typeface="IBM Plex Sans" pitchFamily="34" charset="0"/>
                <a:ea typeface="IBM Plex Sans" pitchFamily="34" charset="-122"/>
                <a:cs typeface="IBM Plex Sans" pitchFamily="34" charset="-120"/>
              </a:rPr>
              <a:t>valuta gli agenti AI su incidenti dal vivo in reti emulate.</a:t>
            </a:r>
          </a:p>
        </p:txBody>
      </p:sp>
      <p:cxnSp>
        <p:nvCxnSpPr>
          <p:cNvPr id="261" name="Nika bar"/>
          <p:cNvCxnSpPr/>
          <p:nvPr/>
        </p:nvCxnSpPr>
        <p:spPr>
          <a:xfrm>
            <a:off x="838200" y="4826000"/>
            <a:ext cx="0" cy="660400"/>
          </a:xfrm>
          <a:prstGeom prst="line">
            <a:avLst/>
          </a:prstGeom>
          <a:ln w="38100">
            <a:solidFill>
              <a:srgbClr val="60A5E3"/>
            </a:solidFill>
          </a:ln>
        </p:spPr>
      </p:cxnSp>
      <p:sp>
        <p:nvSpPr>
          <p:cNvPr id="262" name="Nika 262"/>
          <p:cNvSpPr txBox="1"/>
          <p:nvPr/>
        </p:nvSpPr>
        <p:spPr>
          <a:xfrm>
            <a:off x="1066800" y="4826000"/>
            <a:ext cx="10312400" cy="685800"/>
          </a:xfrm>
          <a:prstGeom prst="rect">
            <a:avLst/>
          </a:prstGeom>
          <a:noFill/>
          <a:ln/>
        </p:spPr>
        <p:txBody>
          <a:bodyPr wrap="square" lIns="0" tIns="0" rIns="0" bIns="0" rtlCol="0" anchor="t">
            <a:noAutofit/>
          </a:bodyPr>
          <a:lstStyle/>
          <a:p>
            <a:pPr marL="0" indent="0" algn="l">
              <a:lnSpc>
                <a:spcPts val="2400"/>
              </a:lnSpc>
              <a:buNone/>
            </a:pPr>
            <a:r>
              <a:rPr lang="it-IT" sz="2000" noProof="0" dirty="0">
                <a:solidFill>
                  <a:srgbClr val="1B1D20"/>
                </a:solidFill>
                <a:latin typeface="IBM Plex Sans" pitchFamily="34" charset="0"/>
                <a:ea typeface="IBM Plex Sans" pitchFamily="34" charset="-122"/>
                <a:cs typeface="IBM Plex Sans" pitchFamily="34" charset="-120"/>
              </a:rPr>
              <a:t>Kathará è il backend di emulazione: </a:t>
            </a:r>
            <a:r>
              <a:rPr lang="it-IT" sz="2000" b="1" noProof="0" dirty="0">
                <a:solidFill>
                  <a:srgbClr val="1B1D20"/>
                </a:solidFill>
                <a:latin typeface="IBM Plex Sans" pitchFamily="34" charset="0"/>
                <a:ea typeface="IBM Plex Sans" pitchFamily="34" charset="-122"/>
                <a:cs typeface="IBM Plex Sans" pitchFamily="34" charset="-120"/>
              </a:rPr>
              <a:t>NIKA crea la rete, inietta il guasto e collega l’agente durante l’incidente.</a:t>
            </a:r>
          </a:p>
        </p:txBody>
      </p:sp>
      <p:pic>
        <p:nvPicPr>
          <p:cNvPr id="21" name="Immagine 20" descr="NIKA's advertisement encourages breaking the network and contacting an agent for live network operations.&#10;&#10;Il contenuto generato dall'IA potrebbe non essere corretto.">
            <a:extLst>
              <a:ext uri="{FF2B5EF4-FFF2-40B4-BE49-F238E27FC236}">
                <a16:creationId xmlns:a16="http://schemas.microsoft.com/office/drawing/2014/main" id="{EE9C9C40-0490-E87F-27C0-12617A698EAF}"/>
              </a:ext>
            </a:extLst>
          </p:cNvPr>
          <p:cNvPicPr>
            <a:picLocks noChangeAspect="1"/>
          </p:cNvPicPr>
          <p:nvPr/>
        </p:nvPicPr>
        <p:blipFill>
          <a:blip r:embed="rId3"/>
          <a:stretch>
            <a:fillRect/>
          </a:stretch>
        </p:blipFill>
        <p:spPr>
          <a:xfrm>
            <a:off x="8520497" y="949960"/>
            <a:ext cx="2743200" cy="1502229"/>
          </a:xfrm>
          <a:prstGeom prst="rect">
            <a:avLst/>
          </a:prstGeom>
        </p:spPr>
      </p:pic>
    </p:spTree>
    <p:extLst>
      <p:ext uri="{BB962C8B-B14F-4D97-AF65-F5344CB8AC3E}">
        <p14:creationId xmlns:p14="http://schemas.microsoft.com/office/powerpoint/2010/main" val="2671597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0A5E3"/>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Riferimenti utili</a:t>
            </a:r>
            <a:endParaRPr lang="it-IT" sz="4000" noProof="0" dirty="0"/>
          </a:p>
        </p:txBody>
      </p:sp>
      <p:sp>
        <p:nvSpPr>
          <p:cNvPr id="5" name="Text 3"/>
          <p:cNvSpPr/>
          <p:nvPr/>
        </p:nvSpPr>
        <p:spPr>
          <a:xfrm>
            <a:off x="812800" y="1838958"/>
            <a:ext cx="3348736"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documentazione</a:t>
            </a:r>
            <a:endParaRPr lang="it-IT" sz="1600" noProof="0" dirty="0"/>
          </a:p>
        </p:txBody>
      </p:sp>
      <p:sp>
        <p:nvSpPr>
          <p:cNvPr id="6" name="Text 4"/>
          <p:cNvSpPr/>
          <p:nvPr/>
        </p:nvSpPr>
        <p:spPr>
          <a:xfrm>
            <a:off x="812800" y="2209800"/>
            <a:ext cx="3348736" cy="295275"/>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Sito ufficiale</a:t>
            </a:r>
            <a:endParaRPr lang="it-IT" sz="1800" noProof="0" dirty="0"/>
          </a:p>
        </p:txBody>
      </p:sp>
      <p:sp>
        <p:nvSpPr>
          <p:cNvPr id="7" name="Text 5"/>
          <p:cNvSpPr/>
          <p:nvPr/>
        </p:nvSpPr>
        <p:spPr>
          <a:xfrm>
            <a:off x="812800" y="2489200"/>
            <a:ext cx="3348736" cy="256540"/>
          </a:xfrm>
          <a:prstGeom prst="rect">
            <a:avLst/>
          </a:prstGeom>
          <a:noFill/>
          <a:ln/>
        </p:spPr>
        <p:txBody>
          <a:bodyPr wrap="square" lIns="0" tIns="0" rIns="0" bIns="0" rtlCol="0" anchor="t">
            <a:normAutofit/>
          </a:bodyPr>
          <a:lstStyle/>
          <a:p>
            <a:pPr marL="0" indent="0" algn="l">
              <a:lnSpc>
                <a:spcPts val="2000"/>
              </a:lnSpc>
              <a:buNone/>
            </a:pPr>
            <a:r>
              <a:rPr lang="it-IT" sz="1600" u="sng" noProof="0" dirty="0">
                <a:solidFill>
                  <a:srgbClr val="2B6CA3"/>
                </a:solidFill>
                <a:latin typeface="JetBrains Mono" pitchFamily="49" charset="0"/>
                <a:ea typeface="JetBrains Mono" pitchFamily="49" charset="-122"/>
                <a:cs typeface="JetBrains Mono" pitchFamily="49" charset="-120"/>
                <a:hlinkClick r:id="rId3">
                  <a:extLst>
                    <a:ext uri="{A12FA001-AC4F-418D-AE19-62706E023703}">
                      <ahyp:hlinkClr xmlns:ahyp="http://schemas.microsoft.com/office/drawing/2018/hyperlinkcolor" val="tx"/>
                    </a:ext>
                  </a:extLst>
                </a:hlinkClick>
              </a:rPr>
              <a:t>kathara.org</a:t>
            </a:r>
            <a:endParaRPr lang="it-IT" sz="1600" noProof="0" dirty="0"/>
          </a:p>
        </p:txBody>
      </p:sp>
      <p:sp>
        <p:nvSpPr>
          <p:cNvPr id="8" name="Text 6"/>
          <p:cNvSpPr/>
          <p:nvPr/>
        </p:nvSpPr>
        <p:spPr>
          <a:xfrm>
            <a:off x="812800" y="2730500"/>
            <a:ext cx="3348736" cy="26543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Installazione, novità, casi d’uso</a:t>
            </a:r>
            <a:endParaRPr lang="it-IT" sz="1600" noProof="0" dirty="0"/>
          </a:p>
        </p:txBody>
      </p:sp>
      <p:sp>
        <p:nvSpPr>
          <p:cNvPr id="9" name="Text 7"/>
          <p:cNvSpPr/>
          <p:nvPr/>
        </p:nvSpPr>
        <p:spPr>
          <a:xfrm>
            <a:off x="812800" y="3124200"/>
            <a:ext cx="3348736" cy="295275"/>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Man page</a:t>
            </a:r>
            <a:endParaRPr lang="it-IT" sz="1800" noProof="0" dirty="0"/>
          </a:p>
        </p:txBody>
      </p:sp>
      <p:sp>
        <p:nvSpPr>
          <p:cNvPr id="10" name="Text 8"/>
          <p:cNvSpPr/>
          <p:nvPr/>
        </p:nvSpPr>
        <p:spPr>
          <a:xfrm>
            <a:off x="812800" y="3403600"/>
            <a:ext cx="3348736" cy="256540"/>
          </a:xfrm>
          <a:prstGeom prst="rect">
            <a:avLst/>
          </a:prstGeom>
          <a:noFill/>
          <a:ln/>
        </p:spPr>
        <p:txBody>
          <a:bodyPr wrap="square" lIns="0" tIns="0" rIns="0" bIns="0" rtlCol="0" anchor="t">
            <a:normAutofit/>
          </a:bodyPr>
          <a:lstStyle/>
          <a:p>
            <a:pPr marL="0" indent="0" algn="l">
              <a:lnSpc>
                <a:spcPts val="2000"/>
              </a:lnSpc>
              <a:buNone/>
            </a:pPr>
            <a:r>
              <a:rPr lang="it-IT" sz="1600" u="sng" noProof="0" dirty="0">
                <a:solidFill>
                  <a:srgbClr val="2B6CA3"/>
                </a:solidFill>
                <a:latin typeface="JetBrains Mono" pitchFamily="49" charset="0"/>
                <a:ea typeface="JetBrains Mono" pitchFamily="49" charset="-122"/>
                <a:cs typeface="JetBrains Mono" pitchFamily="49" charset="-120"/>
                <a:hlinkClick r:id="rId4">
                  <a:extLst>
                    <a:ext uri="{A12FA001-AC4F-418D-AE19-62706E023703}">
                      <ahyp:hlinkClr xmlns:ahyp="http://schemas.microsoft.com/office/drawing/2018/hyperlinkcolor" val="tx"/>
                    </a:ext>
                  </a:extLst>
                </a:hlinkClick>
              </a:rPr>
              <a:t>kathara.org/man-pages</a:t>
            </a:r>
            <a:endParaRPr lang="it-IT" sz="1600" noProof="0" dirty="0"/>
          </a:p>
        </p:txBody>
      </p:sp>
      <p:sp>
        <p:nvSpPr>
          <p:cNvPr id="11" name="Text 9"/>
          <p:cNvSpPr/>
          <p:nvPr/>
        </p:nvSpPr>
        <p:spPr>
          <a:xfrm>
            <a:off x="812800" y="3644900"/>
            <a:ext cx="3348736" cy="26543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Comandi, </a:t>
            </a:r>
            <a:r>
              <a:rPr lang="it-IT" sz="1600" noProof="0" dirty="0" err="1">
                <a:solidFill>
                  <a:srgbClr val="5B5F66"/>
                </a:solidFill>
                <a:latin typeface="IBM Plex Sans" pitchFamily="34" charset="0"/>
                <a:ea typeface="IBM Plex Sans" pitchFamily="34" charset="-122"/>
                <a:cs typeface="IBM Plex Sans" pitchFamily="34" charset="-120"/>
              </a:rPr>
              <a:t>lab.conf</a:t>
            </a:r>
            <a:r>
              <a:rPr lang="it-IT" sz="1600" noProof="0" dirty="0">
                <a:solidFill>
                  <a:srgbClr val="5B5F66"/>
                </a:solidFill>
                <a:latin typeface="IBM Plex Sans" pitchFamily="34" charset="0"/>
                <a:ea typeface="IBM Plex Sans" pitchFamily="34" charset="-122"/>
                <a:cs typeface="IBM Plex Sans" pitchFamily="34" charset="-120"/>
              </a:rPr>
              <a:t>, </a:t>
            </a:r>
            <a:r>
              <a:rPr lang="it-IT" sz="1600" noProof="0" dirty="0" err="1">
                <a:solidFill>
                  <a:srgbClr val="5B5F66"/>
                </a:solidFill>
                <a:latin typeface="IBM Plex Sans" pitchFamily="34" charset="0"/>
                <a:ea typeface="IBM Plex Sans" pitchFamily="34" charset="-122"/>
                <a:cs typeface="IBM Plex Sans" pitchFamily="34" charset="-120"/>
              </a:rPr>
              <a:t>lab.ext</a:t>
            </a:r>
            <a:endParaRPr lang="it-IT" sz="1600" noProof="0" dirty="0"/>
          </a:p>
        </p:txBody>
      </p:sp>
      <p:sp>
        <p:nvSpPr>
          <p:cNvPr id="12" name="Text 10"/>
          <p:cNvSpPr/>
          <p:nvPr/>
        </p:nvSpPr>
        <p:spPr>
          <a:xfrm>
            <a:off x="812800" y="4038600"/>
            <a:ext cx="3348736" cy="295275"/>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Wiki</a:t>
            </a:r>
            <a:endParaRPr lang="it-IT" sz="1800" noProof="0" dirty="0"/>
          </a:p>
        </p:txBody>
      </p:sp>
      <p:sp>
        <p:nvSpPr>
          <p:cNvPr id="13" name="Text 11"/>
          <p:cNvSpPr/>
          <p:nvPr/>
        </p:nvSpPr>
        <p:spPr>
          <a:xfrm>
            <a:off x="812800" y="4330700"/>
            <a:ext cx="3348736" cy="256540"/>
          </a:xfrm>
          <a:prstGeom prst="rect">
            <a:avLst/>
          </a:prstGeom>
          <a:noFill/>
          <a:ln/>
        </p:spPr>
        <p:txBody>
          <a:bodyPr wrap="square" lIns="0" tIns="0" rIns="0" bIns="0" rtlCol="0" anchor="t">
            <a:normAutofit/>
          </a:bodyPr>
          <a:lstStyle/>
          <a:p>
            <a:pPr marL="0" indent="0" algn="l">
              <a:lnSpc>
                <a:spcPts val="2000"/>
              </a:lnSpc>
              <a:buNone/>
            </a:pPr>
            <a:r>
              <a:rPr lang="it-IT" sz="1600" u="sng" noProof="0" dirty="0">
                <a:solidFill>
                  <a:srgbClr val="2B6CA3"/>
                </a:solidFill>
                <a:latin typeface="JetBrains Mono" pitchFamily="49" charset="0"/>
                <a:ea typeface="JetBrains Mono" pitchFamily="49" charset="-122"/>
                <a:cs typeface="JetBrains Mono" pitchFamily="49" charset="-120"/>
                <a:hlinkClick r:id="rId5">
                  <a:extLst>
                    <a:ext uri="{A12FA001-AC4F-418D-AE19-62706E023703}">
                      <ahyp:hlinkClr xmlns:ahyp="http://schemas.microsoft.com/office/drawing/2018/hyperlinkcolor" val="tx"/>
                    </a:ext>
                  </a:extLst>
                </a:hlinkClick>
              </a:rPr>
              <a:t>Kathara/wiki</a:t>
            </a:r>
            <a:endParaRPr lang="it-IT" sz="1600" noProof="0" dirty="0"/>
          </a:p>
        </p:txBody>
      </p:sp>
      <p:sp>
        <p:nvSpPr>
          <p:cNvPr id="14" name="Text 12"/>
          <p:cNvSpPr/>
          <p:nvPr/>
        </p:nvSpPr>
        <p:spPr>
          <a:xfrm>
            <a:off x="812800" y="4572000"/>
            <a:ext cx="3348736" cy="26543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Setup per OS, API Python, Megalos</a:t>
            </a:r>
            <a:endParaRPr lang="it-IT" sz="1600" noProof="0" dirty="0"/>
          </a:p>
        </p:txBody>
      </p:sp>
      <p:sp>
        <p:nvSpPr>
          <p:cNvPr id="15" name="Shape 13"/>
          <p:cNvSpPr/>
          <p:nvPr/>
        </p:nvSpPr>
        <p:spPr>
          <a:xfrm>
            <a:off x="4371975" y="1838958"/>
            <a:ext cx="0" cy="3263900"/>
          </a:xfrm>
          <a:prstGeom prst="line">
            <a:avLst/>
          </a:prstGeom>
          <a:noFill/>
          <a:ln w="6350">
            <a:solidFill>
              <a:srgbClr val="CFCCC4"/>
            </a:solidFill>
            <a:prstDash val="solid"/>
          </a:ln>
        </p:spPr>
        <p:txBody>
          <a:bodyPr/>
          <a:lstStyle/>
          <a:p>
            <a:endParaRPr lang="it-IT" noProof="0" dirty="0"/>
          </a:p>
        </p:txBody>
      </p:sp>
      <p:sp>
        <p:nvSpPr>
          <p:cNvPr id="16" name="Text 14"/>
          <p:cNvSpPr/>
          <p:nvPr/>
        </p:nvSpPr>
        <p:spPr>
          <a:xfrm>
            <a:off x="4679950" y="1838958"/>
            <a:ext cx="6900228"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repository · github.com/</a:t>
            </a:r>
            <a:r>
              <a:rPr lang="it-IT" sz="1600" noProof="0" dirty="0" err="1">
                <a:solidFill>
                  <a:srgbClr val="2B6CA3"/>
                </a:solidFill>
                <a:latin typeface="JetBrains Mono" pitchFamily="49" charset="0"/>
                <a:ea typeface="JetBrains Mono" pitchFamily="49" charset="-122"/>
                <a:cs typeface="JetBrains Mono" pitchFamily="49" charset="-120"/>
              </a:rPr>
              <a:t>KatharaFramework</a:t>
            </a:r>
            <a:endParaRPr lang="it-IT" sz="1600" noProof="0" dirty="0"/>
          </a:p>
        </p:txBody>
      </p:sp>
      <p:sp>
        <p:nvSpPr>
          <p:cNvPr id="17" name="Shape 15"/>
          <p:cNvSpPr/>
          <p:nvPr/>
        </p:nvSpPr>
        <p:spPr>
          <a:xfrm>
            <a:off x="4679950" y="2515865"/>
            <a:ext cx="6699250" cy="0"/>
          </a:xfrm>
          <a:prstGeom prst="line">
            <a:avLst/>
          </a:prstGeom>
          <a:noFill/>
          <a:ln w="6350">
            <a:solidFill>
              <a:srgbClr val="CFCCC4"/>
            </a:solidFill>
            <a:prstDash val="solid"/>
          </a:ln>
        </p:spPr>
        <p:txBody>
          <a:bodyPr/>
          <a:lstStyle/>
          <a:p>
            <a:endParaRPr lang="it-IT" noProof="0" dirty="0"/>
          </a:p>
        </p:txBody>
      </p:sp>
      <p:sp>
        <p:nvSpPr>
          <p:cNvPr id="18" name="Text 16"/>
          <p:cNvSpPr/>
          <p:nvPr/>
        </p:nvSpPr>
        <p:spPr>
          <a:xfrm>
            <a:off x="4679950" y="2192015"/>
            <a:ext cx="2616200" cy="282575"/>
          </a:xfrm>
          <a:prstGeom prst="rect">
            <a:avLst/>
          </a:prstGeom>
          <a:noFill/>
          <a:ln/>
        </p:spPr>
        <p:txBody>
          <a:bodyPr wrap="square" lIns="0" tIns="0" rIns="0" bIns="0" rtlCol="0" anchor="t">
            <a:normAutofit/>
          </a:bodyPr>
          <a:lstStyle/>
          <a:p>
            <a:pPr marL="0" indent="0" algn="l">
              <a:lnSpc>
                <a:spcPts val="2000"/>
              </a:lnSpc>
              <a:buNone/>
            </a:pPr>
            <a:r>
              <a:rPr lang="it-IT" sz="1600" b="1" u="sng" noProof="0" dirty="0">
                <a:solidFill>
                  <a:srgbClr val="1B1D20"/>
                </a:solidFill>
                <a:latin typeface="JetBrains Mono" pitchFamily="49" charset="0"/>
                <a:ea typeface="JetBrains Mono" pitchFamily="49" charset="-122"/>
                <a:cs typeface="JetBrains Mono" pitchFamily="49" charset="-120"/>
                <a:hlinkClick r:id="rId6">
                  <a:extLst>
                    <a:ext uri="{A12FA001-AC4F-418D-AE19-62706E023703}">
                      <ahyp:hlinkClr xmlns:ahyp="http://schemas.microsoft.com/office/drawing/2018/hyperlinkcolor" val="tx"/>
                    </a:ext>
                  </a:extLst>
                </a:hlinkClick>
              </a:rPr>
              <a:t>Kathara</a:t>
            </a:r>
            <a:endParaRPr lang="it-IT" sz="1600" noProof="0" dirty="0"/>
          </a:p>
        </p:txBody>
      </p:sp>
      <p:sp>
        <p:nvSpPr>
          <p:cNvPr id="19" name="Text 17"/>
          <p:cNvSpPr/>
          <p:nvPr/>
        </p:nvSpPr>
        <p:spPr>
          <a:xfrm>
            <a:off x="7372350" y="2192015"/>
            <a:ext cx="4127055" cy="282575"/>
          </a:xfrm>
          <a:prstGeom prst="rect">
            <a:avLst/>
          </a:prstGeom>
          <a:noFill/>
          <a:ln/>
        </p:spPr>
        <p:txBody>
          <a:bodyPr wrap="square" lIns="0" tIns="0" rIns="0" bIns="0" rtlCol="0" anchor="t">
            <a:normAutofit/>
          </a:bodyPr>
          <a:lstStyle/>
          <a:p>
            <a:pPr marL="0" indent="0" algn="l">
              <a:lnSpc>
                <a:spcPts val="2025"/>
              </a:lnSpc>
              <a:buNone/>
            </a:pPr>
            <a:r>
              <a:rPr lang="it-IT" sz="1600" noProof="0" dirty="0">
                <a:solidFill>
                  <a:srgbClr val="5B5F66"/>
                </a:solidFill>
                <a:latin typeface="IBM Plex Sans" pitchFamily="34" charset="0"/>
                <a:ea typeface="IBM Plex Sans" pitchFamily="34" charset="-122"/>
                <a:cs typeface="IBM Plex Sans" pitchFamily="34" charset="-120"/>
              </a:rPr>
              <a:t>Sorgenti, release, </a:t>
            </a:r>
            <a:r>
              <a:rPr lang="it-IT" sz="1600" noProof="0" dirty="0" err="1">
                <a:solidFill>
                  <a:srgbClr val="5B5F66"/>
                </a:solidFill>
                <a:latin typeface="IBM Plex Sans" pitchFamily="34" charset="0"/>
                <a:ea typeface="IBM Plex Sans" pitchFamily="34" charset="-122"/>
                <a:cs typeface="IBM Plex Sans" pitchFamily="34" charset="-120"/>
              </a:rPr>
              <a:t>issue</a:t>
            </a:r>
            <a:r>
              <a:rPr lang="it-IT" sz="1600" noProof="0" dirty="0">
                <a:solidFill>
                  <a:srgbClr val="5B5F66"/>
                </a:solidFill>
                <a:latin typeface="IBM Plex Sans" pitchFamily="34" charset="0"/>
                <a:ea typeface="IBM Plex Sans" pitchFamily="34" charset="-122"/>
                <a:cs typeface="IBM Plex Sans" pitchFamily="34" charset="-120"/>
              </a:rPr>
              <a:t> tracker</a:t>
            </a:r>
            <a:endParaRPr lang="it-IT" sz="1600" noProof="0" dirty="0"/>
          </a:p>
        </p:txBody>
      </p:sp>
      <p:sp>
        <p:nvSpPr>
          <p:cNvPr id="20" name="Shape 18"/>
          <p:cNvSpPr/>
          <p:nvPr/>
        </p:nvSpPr>
        <p:spPr>
          <a:xfrm>
            <a:off x="4679950" y="2906390"/>
            <a:ext cx="6699250" cy="0"/>
          </a:xfrm>
          <a:prstGeom prst="line">
            <a:avLst/>
          </a:prstGeom>
          <a:noFill/>
          <a:ln w="6350">
            <a:solidFill>
              <a:srgbClr val="CFCCC4"/>
            </a:solidFill>
            <a:prstDash val="solid"/>
          </a:ln>
        </p:spPr>
        <p:txBody>
          <a:bodyPr/>
          <a:lstStyle/>
          <a:p>
            <a:endParaRPr lang="it-IT" noProof="0" dirty="0"/>
          </a:p>
        </p:txBody>
      </p:sp>
      <p:sp>
        <p:nvSpPr>
          <p:cNvPr id="21" name="Text 19"/>
          <p:cNvSpPr/>
          <p:nvPr/>
        </p:nvSpPr>
        <p:spPr>
          <a:xfrm>
            <a:off x="4679950" y="2582540"/>
            <a:ext cx="2616200" cy="282575"/>
          </a:xfrm>
          <a:prstGeom prst="rect">
            <a:avLst/>
          </a:prstGeom>
          <a:noFill/>
          <a:ln/>
        </p:spPr>
        <p:txBody>
          <a:bodyPr wrap="square" lIns="0" tIns="0" rIns="0" bIns="0" rtlCol="0" anchor="t">
            <a:normAutofit/>
          </a:bodyPr>
          <a:lstStyle/>
          <a:p>
            <a:pPr marL="0" indent="0" algn="l">
              <a:lnSpc>
                <a:spcPts val="2000"/>
              </a:lnSpc>
              <a:buNone/>
            </a:pPr>
            <a:r>
              <a:rPr lang="it-IT" sz="1600" b="1" u="sng" noProof="0" dirty="0">
                <a:solidFill>
                  <a:srgbClr val="1B1D20"/>
                </a:solidFill>
                <a:latin typeface="JetBrains Mono" pitchFamily="49" charset="0"/>
                <a:ea typeface="JetBrains Mono" pitchFamily="49" charset="-122"/>
                <a:cs typeface="JetBrains Mono" pitchFamily="49" charset="-120"/>
                <a:hlinkClick r:id="rId7">
                  <a:extLst>
                    <a:ext uri="{A12FA001-AC4F-418D-AE19-62706E023703}">
                      <ahyp:hlinkClr xmlns:ahyp="http://schemas.microsoft.com/office/drawing/2018/hyperlinkcolor" val="tx"/>
                    </a:ext>
                  </a:extLst>
                </a:hlinkClick>
              </a:rPr>
              <a:t>Kathara-Labs</a:t>
            </a:r>
            <a:endParaRPr lang="it-IT" sz="1600" noProof="0" dirty="0"/>
          </a:p>
        </p:txBody>
      </p:sp>
      <p:sp>
        <p:nvSpPr>
          <p:cNvPr id="22" name="Text 20"/>
          <p:cNvSpPr/>
          <p:nvPr/>
        </p:nvSpPr>
        <p:spPr>
          <a:xfrm>
            <a:off x="7372350" y="2582540"/>
            <a:ext cx="4127055" cy="282575"/>
          </a:xfrm>
          <a:prstGeom prst="rect">
            <a:avLst/>
          </a:prstGeom>
          <a:noFill/>
          <a:ln/>
        </p:spPr>
        <p:txBody>
          <a:bodyPr wrap="square" lIns="0" tIns="0" rIns="0" bIns="0" rtlCol="0" anchor="t">
            <a:normAutofit/>
          </a:bodyPr>
          <a:lstStyle/>
          <a:p>
            <a:pPr marL="0" indent="0" algn="l">
              <a:lnSpc>
                <a:spcPts val="2025"/>
              </a:lnSpc>
              <a:buNone/>
            </a:pPr>
            <a:r>
              <a:rPr lang="it-IT" sz="1600" noProof="0" dirty="0">
                <a:solidFill>
                  <a:srgbClr val="5B5F66"/>
                </a:solidFill>
                <a:latin typeface="IBM Plex Sans" pitchFamily="34" charset="0"/>
                <a:ea typeface="IBM Plex Sans" pitchFamily="34" charset="-122"/>
                <a:cs typeface="IBM Plex Sans" pitchFamily="34" charset="-120"/>
              </a:rPr>
              <a:t>Lab pronti e tutorial, anche API</a:t>
            </a:r>
            <a:endParaRPr lang="it-IT" sz="1600" noProof="0" dirty="0"/>
          </a:p>
        </p:txBody>
      </p:sp>
      <p:sp>
        <p:nvSpPr>
          <p:cNvPr id="23" name="Shape 21"/>
          <p:cNvSpPr/>
          <p:nvPr/>
        </p:nvSpPr>
        <p:spPr>
          <a:xfrm>
            <a:off x="4679950" y="3296915"/>
            <a:ext cx="6699250" cy="0"/>
          </a:xfrm>
          <a:prstGeom prst="line">
            <a:avLst/>
          </a:prstGeom>
          <a:noFill/>
          <a:ln w="6350">
            <a:solidFill>
              <a:srgbClr val="CFCCC4"/>
            </a:solidFill>
            <a:prstDash val="solid"/>
          </a:ln>
        </p:spPr>
        <p:txBody>
          <a:bodyPr/>
          <a:lstStyle/>
          <a:p>
            <a:endParaRPr lang="it-IT" noProof="0" dirty="0"/>
          </a:p>
        </p:txBody>
      </p:sp>
      <p:sp>
        <p:nvSpPr>
          <p:cNvPr id="24" name="Text 22"/>
          <p:cNvSpPr/>
          <p:nvPr/>
        </p:nvSpPr>
        <p:spPr>
          <a:xfrm>
            <a:off x="4679950" y="2973065"/>
            <a:ext cx="2616200" cy="282575"/>
          </a:xfrm>
          <a:prstGeom prst="rect">
            <a:avLst/>
          </a:prstGeom>
          <a:noFill/>
          <a:ln/>
        </p:spPr>
        <p:txBody>
          <a:bodyPr wrap="square" lIns="0" tIns="0" rIns="0" bIns="0" rtlCol="0" anchor="t">
            <a:normAutofit/>
          </a:bodyPr>
          <a:lstStyle/>
          <a:p>
            <a:pPr marL="0" indent="0" algn="l">
              <a:lnSpc>
                <a:spcPts val="2000"/>
              </a:lnSpc>
              <a:buNone/>
            </a:pPr>
            <a:r>
              <a:rPr lang="it-IT" sz="1600" b="1" u="sng" noProof="0" dirty="0">
                <a:solidFill>
                  <a:srgbClr val="1B1D20"/>
                </a:solidFill>
                <a:latin typeface="JetBrains Mono" pitchFamily="49" charset="0"/>
                <a:ea typeface="JetBrains Mono" pitchFamily="49" charset="-122"/>
                <a:cs typeface="JetBrains Mono" pitchFamily="49" charset="-120"/>
                <a:hlinkClick r:id="rId8">
                  <a:extLst>
                    <a:ext uri="{A12FA001-AC4F-418D-AE19-62706E023703}">
                      <ahyp:hlinkClr xmlns:ahyp="http://schemas.microsoft.com/office/drawing/2018/hyperlinkcolor" val="tx"/>
                    </a:ext>
                  </a:extLst>
                </a:hlinkClick>
              </a:rPr>
              <a:t>kathara-lab-</a:t>
            </a:r>
            <a:r>
              <a:rPr lang="it-IT" sz="1600" b="1" u="sng" noProof="0" dirty="0" err="1">
                <a:solidFill>
                  <a:srgbClr val="1B1D20"/>
                </a:solidFill>
                <a:latin typeface="JetBrains Mono" pitchFamily="49" charset="0"/>
                <a:ea typeface="JetBrains Mono" pitchFamily="49" charset="-122"/>
                <a:cs typeface="JetBrains Mono" pitchFamily="49" charset="-120"/>
                <a:hlinkClick r:id="rId8">
                  <a:extLst>
                    <a:ext uri="{A12FA001-AC4F-418D-AE19-62706E023703}">
                      <ahyp:hlinkClr xmlns:ahyp="http://schemas.microsoft.com/office/drawing/2018/hyperlinkcolor" val="tx"/>
                    </a:ext>
                  </a:extLst>
                </a:hlinkClick>
              </a:rPr>
              <a:t>checker</a:t>
            </a:r>
            <a:endParaRPr lang="it-IT" sz="1600" noProof="0" dirty="0"/>
          </a:p>
        </p:txBody>
      </p:sp>
      <p:sp>
        <p:nvSpPr>
          <p:cNvPr id="25" name="Text 23"/>
          <p:cNvSpPr/>
          <p:nvPr/>
        </p:nvSpPr>
        <p:spPr>
          <a:xfrm>
            <a:off x="7372350" y="2973065"/>
            <a:ext cx="4127055" cy="282575"/>
          </a:xfrm>
          <a:prstGeom prst="rect">
            <a:avLst/>
          </a:prstGeom>
          <a:noFill/>
          <a:ln/>
        </p:spPr>
        <p:txBody>
          <a:bodyPr wrap="square" lIns="0" tIns="0" rIns="0" bIns="0" rtlCol="0" anchor="t">
            <a:normAutofit/>
          </a:bodyPr>
          <a:lstStyle/>
          <a:p>
            <a:pPr marL="0" indent="0" algn="l">
              <a:lnSpc>
                <a:spcPts val="2025"/>
              </a:lnSpc>
              <a:buNone/>
            </a:pPr>
            <a:r>
              <a:rPr lang="it-IT" sz="1600" noProof="0" dirty="0">
                <a:solidFill>
                  <a:srgbClr val="5B5F66"/>
                </a:solidFill>
                <a:latin typeface="IBM Plex Sans" pitchFamily="34" charset="0"/>
                <a:ea typeface="IBM Plex Sans" pitchFamily="34" charset="-122"/>
                <a:cs typeface="IBM Plex Sans" pitchFamily="34" charset="-120"/>
              </a:rPr>
              <a:t>Verifica automatica dei lab</a:t>
            </a:r>
            <a:endParaRPr lang="it-IT" sz="1600" noProof="0" dirty="0"/>
          </a:p>
        </p:txBody>
      </p:sp>
      <p:sp>
        <p:nvSpPr>
          <p:cNvPr id="26" name="Shape 24"/>
          <p:cNvSpPr/>
          <p:nvPr/>
        </p:nvSpPr>
        <p:spPr>
          <a:xfrm>
            <a:off x="4679950" y="3687440"/>
            <a:ext cx="6699250" cy="0"/>
          </a:xfrm>
          <a:prstGeom prst="line">
            <a:avLst/>
          </a:prstGeom>
          <a:noFill/>
          <a:ln w="6350">
            <a:solidFill>
              <a:srgbClr val="CFCCC4"/>
            </a:solidFill>
            <a:prstDash val="solid"/>
          </a:ln>
        </p:spPr>
        <p:txBody>
          <a:bodyPr/>
          <a:lstStyle/>
          <a:p>
            <a:endParaRPr lang="it-IT" noProof="0" dirty="0"/>
          </a:p>
        </p:txBody>
      </p:sp>
      <p:sp>
        <p:nvSpPr>
          <p:cNvPr id="27" name="Text 25"/>
          <p:cNvSpPr/>
          <p:nvPr/>
        </p:nvSpPr>
        <p:spPr>
          <a:xfrm>
            <a:off x="4679950" y="3363590"/>
            <a:ext cx="2616200" cy="282575"/>
          </a:xfrm>
          <a:prstGeom prst="rect">
            <a:avLst/>
          </a:prstGeom>
          <a:noFill/>
          <a:ln/>
        </p:spPr>
        <p:txBody>
          <a:bodyPr wrap="square" lIns="0" tIns="0" rIns="0" bIns="0" rtlCol="0" anchor="t">
            <a:normAutofit/>
          </a:bodyPr>
          <a:lstStyle/>
          <a:p>
            <a:pPr marL="0" indent="0" algn="l">
              <a:lnSpc>
                <a:spcPts val="2000"/>
              </a:lnSpc>
              <a:buNone/>
            </a:pPr>
            <a:r>
              <a:rPr lang="it-IT" sz="1600" b="1" u="sng" noProof="0" dirty="0">
                <a:solidFill>
                  <a:srgbClr val="1B1D20"/>
                </a:solidFill>
                <a:latin typeface="JetBrains Mono" pitchFamily="49" charset="0"/>
                <a:ea typeface="JetBrains Mono" pitchFamily="49" charset="-122"/>
                <a:cs typeface="JetBrains Mono" pitchFamily="49" charset="-120"/>
                <a:hlinkClick r:id="rId9">
                  <a:extLst>
                    <a:ext uri="{A12FA001-AC4F-418D-AE19-62706E023703}">
                      <ahyp:hlinkClr xmlns:ahyp="http://schemas.microsoft.com/office/drawing/2018/hyperlinkcolor" val="tx"/>
                    </a:ext>
                  </a:extLst>
                </a:hlinkClick>
              </a:rPr>
              <a:t>Docker-Images</a:t>
            </a:r>
            <a:endParaRPr lang="it-IT" sz="1600" noProof="0" dirty="0"/>
          </a:p>
        </p:txBody>
      </p:sp>
      <p:sp>
        <p:nvSpPr>
          <p:cNvPr id="28" name="Text 26"/>
          <p:cNvSpPr/>
          <p:nvPr/>
        </p:nvSpPr>
        <p:spPr>
          <a:xfrm>
            <a:off x="7372350" y="3363590"/>
            <a:ext cx="4127055" cy="282575"/>
          </a:xfrm>
          <a:prstGeom prst="rect">
            <a:avLst/>
          </a:prstGeom>
          <a:noFill/>
          <a:ln/>
        </p:spPr>
        <p:txBody>
          <a:bodyPr wrap="square" lIns="0" tIns="0" rIns="0" bIns="0" rtlCol="0" anchor="t">
            <a:normAutofit/>
          </a:bodyPr>
          <a:lstStyle/>
          <a:p>
            <a:pPr marL="0" indent="0" algn="l">
              <a:lnSpc>
                <a:spcPts val="2025"/>
              </a:lnSpc>
              <a:buNone/>
            </a:pPr>
            <a:r>
              <a:rPr lang="it-IT" sz="1600" noProof="0" dirty="0" err="1">
                <a:solidFill>
                  <a:srgbClr val="5B5F66"/>
                </a:solidFill>
                <a:latin typeface="IBM Plex Sans" pitchFamily="34" charset="0"/>
                <a:ea typeface="IBM Plex Sans" pitchFamily="34" charset="-122"/>
                <a:cs typeface="IBM Plex Sans" pitchFamily="34" charset="-120"/>
              </a:rPr>
              <a:t>Dockerfile</a:t>
            </a:r>
            <a:r>
              <a:rPr lang="it-IT" sz="1600" noProof="0" dirty="0">
                <a:solidFill>
                  <a:srgbClr val="5B5F66"/>
                </a:solidFill>
                <a:latin typeface="IBM Plex Sans" pitchFamily="34" charset="0"/>
                <a:ea typeface="IBM Plex Sans" pitchFamily="34" charset="-122"/>
                <a:cs typeface="IBM Plex Sans" pitchFamily="34" charset="-120"/>
              </a:rPr>
              <a:t> delle immagini kathara/*</a:t>
            </a:r>
            <a:endParaRPr lang="it-IT" sz="1600" noProof="0" dirty="0"/>
          </a:p>
        </p:txBody>
      </p:sp>
      <p:sp>
        <p:nvSpPr>
          <p:cNvPr id="29" name="Shape 27"/>
          <p:cNvSpPr/>
          <p:nvPr/>
        </p:nvSpPr>
        <p:spPr>
          <a:xfrm>
            <a:off x="4679950" y="4077965"/>
            <a:ext cx="6699250" cy="0"/>
          </a:xfrm>
          <a:prstGeom prst="line">
            <a:avLst/>
          </a:prstGeom>
          <a:noFill/>
          <a:ln w="6350">
            <a:solidFill>
              <a:srgbClr val="CFCCC4"/>
            </a:solidFill>
            <a:prstDash val="solid"/>
          </a:ln>
        </p:spPr>
        <p:txBody>
          <a:bodyPr/>
          <a:lstStyle/>
          <a:p>
            <a:endParaRPr lang="it-IT" noProof="0" dirty="0"/>
          </a:p>
        </p:txBody>
      </p:sp>
      <p:sp>
        <p:nvSpPr>
          <p:cNvPr id="30" name="Text 28"/>
          <p:cNvSpPr/>
          <p:nvPr/>
        </p:nvSpPr>
        <p:spPr>
          <a:xfrm>
            <a:off x="4679950" y="3754115"/>
            <a:ext cx="2616200" cy="282575"/>
          </a:xfrm>
          <a:prstGeom prst="rect">
            <a:avLst/>
          </a:prstGeom>
          <a:noFill/>
          <a:ln/>
        </p:spPr>
        <p:txBody>
          <a:bodyPr wrap="square" lIns="0" tIns="0" rIns="0" bIns="0" rtlCol="0" anchor="t">
            <a:normAutofit/>
          </a:bodyPr>
          <a:lstStyle/>
          <a:p>
            <a:pPr marL="0" indent="0" algn="l">
              <a:lnSpc>
                <a:spcPts val="2000"/>
              </a:lnSpc>
              <a:buNone/>
            </a:pPr>
            <a:r>
              <a:rPr lang="it-IT" sz="1600" b="1" u="sng" noProof="0" dirty="0" err="1">
                <a:solidFill>
                  <a:srgbClr val="1B1D20"/>
                </a:solidFill>
                <a:latin typeface="JetBrains Mono" pitchFamily="49" charset="0"/>
                <a:ea typeface="JetBrains Mono" pitchFamily="49" charset="-122"/>
                <a:cs typeface="JetBrains Mono" pitchFamily="49" charset="-120"/>
                <a:hlinkClick r:id="rId10">
                  <a:extLst>
                    <a:ext uri="{A12FA001-AC4F-418D-AE19-62706E023703}">
                      <ahyp:hlinkClr xmlns:ahyp="http://schemas.microsoft.com/office/drawing/2018/hyperlinkcolor" val="tx"/>
                    </a:ext>
                  </a:extLst>
                </a:hlinkClick>
              </a:rPr>
              <a:t>NetworkPlugin</a:t>
            </a:r>
            <a:endParaRPr lang="it-IT" sz="1600" noProof="0" dirty="0"/>
          </a:p>
        </p:txBody>
      </p:sp>
      <p:sp>
        <p:nvSpPr>
          <p:cNvPr id="31" name="Text 29"/>
          <p:cNvSpPr/>
          <p:nvPr/>
        </p:nvSpPr>
        <p:spPr>
          <a:xfrm>
            <a:off x="7372350" y="3754115"/>
            <a:ext cx="4127055" cy="282575"/>
          </a:xfrm>
          <a:prstGeom prst="rect">
            <a:avLst/>
          </a:prstGeom>
          <a:noFill/>
          <a:ln/>
        </p:spPr>
        <p:txBody>
          <a:bodyPr wrap="square" lIns="0" tIns="0" rIns="0" bIns="0" rtlCol="0" anchor="t">
            <a:normAutofit/>
          </a:bodyPr>
          <a:lstStyle/>
          <a:p>
            <a:pPr marL="0" indent="0" algn="l">
              <a:lnSpc>
                <a:spcPts val="2025"/>
              </a:lnSpc>
              <a:buNone/>
            </a:pPr>
            <a:r>
              <a:rPr lang="it-IT" sz="1600" noProof="0" dirty="0">
                <a:solidFill>
                  <a:srgbClr val="5B5F66"/>
                </a:solidFill>
                <a:latin typeface="IBM Plex Sans" pitchFamily="34" charset="0"/>
                <a:ea typeface="IBM Plex Sans" pitchFamily="34" charset="-122"/>
                <a:cs typeface="IBM Plex Sans" pitchFamily="34" charset="-120"/>
              </a:rPr>
              <a:t>Plugin </a:t>
            </a:r>
            <a:r>
              <a:rPr lang="it-IT" sz="1600" noProof="0" dirty="0" err="1">
                <a:solidFill>
                  <a:srgbClr val="5B5F66"/>
                </a:solidFill>
                <a:latin typeface="IBM Plex Sans" pitchFamily="34" charset="0"/>
                <a:ea typeface="IBM Plex Sans" pitchFamily="34" charset="-122"/>
                <a:cs typeface="IBM Plex Sans" pitchFamily="34" charset="-120"/>
              </a:rPr>
              <a:t>katharanp</a:t>
            </a:r>
            <a:r>
              <a:rPr lang="it-IT" sz="1600" noProof="0" dirty="0">
                <a:solidFill>
                  <a:srgbClr val="5B5F66"/>
                </a:solidFill>
                <a:latin typeface="IBM Plex Sans" pitchFamily="34" charset="0"/>
                <a:ea typeface="IBM Plex Sans" pitchFamily="34" charset="-122"/>
                <a:cs typeface="IBM Plex Sans" pitchFamily="34" charset="-120"/>
              </a:rPr>
              <a:t>: VDE e bridge</a:t>
            </a:r>
            <a:endParaRPr lang="it-IT" sz="1600" noProof="0" dirty="0"/>
          </a:p>
        </p:txBody>
      </p:sp>
      <p:sp>
        <p:nvSpPr>
          <p:cNvPr id="32" name="Shape 30"/>
          <p:cNvSpPr/>
          <p:nvPr/>
        </p:nvSpPr>
        <p:spPr>
          <a:xfrm>
            <a:off x="4679950" y="4468490"/>
            <a:ext cx="6699250" cy="0"/>
          </a:xfrm>
          <a:prstGeom prst="line">
            <a:avLst/>
          </a:prstGeom>
          <a:noFill/>
          <a:ln w="6350">
            <a:solidFill>
              <a:srgbClr val="CFCCC4"/>
            </a:solidFill>
            <a:prstDash val="solid"/>
          </a:ln>
        </p:spPr>
        <p:txBody>
          <a:bodyPr/>
          <a:lstStyle/>
          <a:p>
            <a:endParaRPr lang="it-IT" noProof="0" dirty="0"/>
          </a:p>
        </p:txBody>
      </p:sp>
      <p:sp>
        <p:nvSpPr>
          <p:cNvPr id="33" name="Text 31"/>
          <p:cNvSpPr/>
          <p:nvPr/>
        </p:nvSpPr>
        <p:spPr>
          <a:xfrm>
            <a:off x="4679950" y="4144640"/>
            <a:ext cx="2616200" cy="282575"/>
          </a:xfrm>
          <a:prstGeom prst="rect">
            <a:avLst/>
          </a:prstGeom>
          <a:noFill/>
          <a:ln/>
        </p:spPr>
        <p:txBody>
          <a:bodyPr wrap="square" lIns="0" tIns="0" rIns="0" bIns="0" rtlCol="0" anchor="t">
            <a:normAutofit/>
          </a:bodyPr>
          <a:lstStyle/>
          <a:p>
            <a:pPr marL="0" indent="0" algn="l">
              <a:lnSpc>
                <a:spcPts val="2000"/>
              </a:lnSpc>
              <a:buNone/>
            </a:pPr>
            <a:r>
              <a:rPr lang="it-IT" sz="1600" b="1" u="sng" noProof="0" dirty="0">
                <a:solidFill>
                  <a:srgbClr val="1B1D20"/>
                </a:solidFill>
                <a:latin typeface="JetBrains Mono" pitchFamily="49" charset="0"/>
                <a:ea typeface="JetBrains Mono" pitchFamily="49" charset="-122"/>
                <a:cs typeface="JetBrains Mono" pitchFamily="49" charset="-120"/>
                <a:hlinkClick r:id="rId11">
                  <a:extLst>
                    <a:ext uri="{A12FA001-AC4F-418D-AE19-62706E023703}">
                      <ahyp:hlinkClr xmlns:ahyp="http://schemas.microsoft.com/office/drawing/2018/hyperlinkcolor" val="tx"/>
                    </a:ext>
                  </a:extLst>
                </a:hlinkClick>
              </a:rPr>
              <a:t>Megalos-CNI</a:t>
            </a:r>
            <a:endParaRPr lang="it-IT" sz="1600" noProof="0" dirty="0"/>
          </a:p>
        </p:txBody>
      </p:sp>
      <p:sp>
        <p:nvSpPr>
          <p:cNvPr id="34" name="Text 32"/>
          <p:cNvSpPr/>
          <p:nvPr/>
        </p:nvSpPr>
        <p:spPr>
          <a:xfrm>
            <a:off x="7372350" y="4144640"/>
            <a:ext cx="4127055" cy="282575"/>
          </a:xfrm>
          <a:prstGeom prst="rect">
            <a:avLst/>
          </a:prstGeom>
          <a:noFill/>
          <a:ln/>
        </p:spPr>
        <p:txBody>
          <a:bodyPr wrap="square" lIns="0" tIns="0" rIns="0" bIns="0" rtlCol="0" anchor="t">
            <a:normAutofit/>
          </a:bodyPr>
          <a:lstStyle/>
          <a:p>
            <a:pPr marL="0" indent="0" algn="l">
              <a:lnSpc>
                <a:spcPts val="2025"/>
              </a:lnSpc>
              <a:buNone/>
            </a:pPr>
            <a:r>
              <a:rPr lang="it-IT" sz="1600" noProof="0" dirty="0">
                <a:solidFill>
                  <a:srgbClr val="5B5F66"/>
                </a:solidFill>
                <a:latin typeface="IBM Plex Sans" pitchFamily="34" charset="0"/>
                <a:ea typeface="IBM Plex Sans" pitchFamily="34" charset="-122"/>
                <a:cs typeface="IBM Plex Sans" pitchFamily="34" charset="-120"/>
              </a:rPr>
              <a:t>CNI per Kathará su </a:t>
            </a:r>
            <a:r>
              <a:rPr lang="it-IT" sz="1600" noProof="0" dirty="0" err="1">
                <a:solidFill>
                  <a:srgbClr val="5B5F66"/>
                </a:solidFill>
                <a:latin typeface="IBM Plex Sans" pitchFamily="34" charset="0"/>
                <a:ea typeface="IBM Plex Sans" pitchFamily="34" charset="-122"/>
                <a:cs typeface="IBM Plex Sans" pitchFamily="34" charset="-120"/>
              </a:rPr>
              <a:t>Kubernetes</a:t>
            </a:r>
            <a:endParaRPr lang="it-IT" sz="1600" noProof="0" dirty="0"/>
          </a:p>
        </p:txBody>
      </p:sp>
      <p:sp>
        <p:nvSpPr>
          <p:cNvPr id="35" name="Text 33"/>
          <p:cNvSpPr/>
          <p:nvPr/>
        </p:nvSpPr>
        <p:spPr>
          <a:xfrm>
            <a:off x="4679950" y="4624065"/>
            <a:ext cx="2616200" cy="289560"/>
          </a:xfrm>
          <a:prstGeom prst="rect">
            <a:avLst/>
          </a:prstGeom>
          <a:noFill/>
          <a:ln/>
        </p:spPr>
        <p:txBody>
          <a:bodyPr wrap="square" lIns="0" tIns="0" rIns="0" bIns="0" rtlCol="0" anchor="t">
            <a:normAutofit/>
          </a:bodyPr>
          <a:lstStyle/>
          <a:p>
            <a:pPr marL="0" indent="0" algn="l">
              <a:lnSpc>
                <a:spcPts val="2080"/>
              </a:lnSpc>
              <a:buNone/>
            </a:pPr>
            <a:r>
              <a:rPr lang="it-IT" sz="1600" b="1" noProof="0" dirty="0">
                <a:solidFill>
                  <a:srgbClr val="1B1D20"/>
                </a:solidFill>
                <a:latin typeface="IBM Plex Sans" pitchFamily="34" charset="0"/>
                <a:ea typeface="IBM Plex Sans" pitchFamily="34" charset="-122"/>
                <a:cs typeface="IBM Plex Sans" pitchFamily="34" charset="-120"/>
              </a:rPr>
              <a:t>LinkedIn</a:t>
            </a:r>
            <a:endParaRPr lang="it-IT" sz="1600" noProof="0" dirty="0"/>
          </a:p>
        </p:txBody>
      </p:sp>
      <p:sp>
        <p:nvSpPr>
          <p:cNvPr id="36" name="Text 34"/>
          <p:cNvSpPr/>
          <p:nvPr/>
        </p:nvSpPr>
        <p:spPr>
          <a:xfrm>
            <a:off x="7372350" y="4671690"/>
            <a:ext cx="4127055" cy="452120"/>
          </a:xfrm>
          <a:prstGeom prst="rect">
            <a:avLst/>
          </a:prstGeom>
          <a:noFill/>
          <a:ln/>
        </p:spPr>
        <p:txBody>
          <a:bodyPr wrap="square" lIns="0" tIns="0" rIns="0" bIns="0" rtlCol="0" anchor="t">
            <a:normAutofit fontScale="70000" lnSpcReduction="20000"/>
          </a:bodyPr>
          <a:lstStyle/>
          <a:p>
            <a:pPr marL="0" indent="0" algn="l">
              <a:lnSpc>
                <a:spcPts val="2000"/>
              </a:lnSpc>
              <a:buNone/>
            </a:pPr>
            <a:r>
              <a:rPr lang="it-IT" sz="1600" u="sng" noProof="0" dirty="0">
                <a:solidFill>
                  <a:srgbClr val="2B6CA3"/>
                </a:solidFill>
                <a:latin typeface="JetBrains Mono" pitchFamily="49" charset="0"/>
                <a:ea typeface="JetBrains Mono" pitchFamily="49" charset="-122"/>
                <a:cs typeface="JetBrains Mono" pitchFamily="49" charset="-120"/>
                <a:hlinkClick r:id="rId12">
                  <a:extLst>
                    <a:ext uri="{A12FA001-AC4F-418D-AE19-62706E023703}">
                      <ahyp:hlinkClr xmlns:ahyp="http://schemas.microsoft.com/office/drawing/2018/hyperlinkcolor" val="tx"/>
                    </a:ext>
                  </a:extLst>
                </a:hlinkClick>
              </a:rPr>
              <a:t>linkedin.com/company/kathara</a:t>
            </a:r>
            <a:r>
              <a:rPr lang="it-IT" sz="1600" noProof="0" dirty="0">
                <a:solidFill>
                  <a:srgbClr val="2B6CA3"/>
                </a:solidFill>
                <a:latin typeface="JetBrains Mono" pitchFamily="49" charset="0"/>
                <a:ea typeface="JetBrains Mono" pitchFamily="49" charset="-122"/>
                <a:cs typeface="JetBrains Mono" pitchFamily="49" charset="-120"/>
              </a:rPr>
              <a:t> </a:t>
            </a:r>
            <a:r>
              <a:rPr lang="it-IT" sz="1600" noProof="0" dirty="0">
                <a:solidFill>
                  <a:srgbClr val="5B5F66"/>
                </a:solidFill>
                <a:latin typeface="JetBrains Mono" pitchFamily="49" charset="0"/>
                <a:ea typeface="JetBrains Mono" pitchFamily="49" charset="-122"/>
                <a:cs typeface="JetBrains Mono" pitchFamily="49" charset="-120"/>
              </a:rPr>
              <a:t>· Release e novità</a:t>
            </a:r>
            <a:endParaRPr lang="it-IT" sz="1600" noProof="0" dirty="0"/>
          </a:p>
        </p:txBody>
      </p:sp>
      <p:sp>
        <p:nvSpPr>
          <p:cNvPr id="37" name="Shape 35"/>
          <p:cNvSpPr/>
          <p:nvPr/>
        </p:nvSpPr>
        <p:spPr>
          <a:xfrm>
            <a:off x="831850" y="5384800"/>
            <a:ext cx="0" cy="787400"/>
          </a:xfrm>
          <a:prstGeom prst="line">
            <a:avLst/>
          </a:prstGeom>
          <a:noFill/>
          <a:ln w="38100">
            <a:solidFill>
              <a:srgbClr val="60A5E3"/>
            </a:solidFill>
            <a:prstDash val="solid"/>
          </a:ln>
        </p:spPr>
        <p:txBody>
          <a:bodyPr/>
          <a:lstStyle/>
          <a:p>
            <a:endParaRPr lang="it-IT" noProof="0" dirty="0"/>
          </a:p>
        </p:txBody>
      </p:sp>
      <p:sp>
        <p:nvSpPr>
          <p:cNvPr id="38" name="Text 36"/>
          <p:cNvSpPr/>
          <p:nvPr/>
        </p:nvSpPr>
        <p:spPr>
          <a:xfrm>
            <a:off x="1028700" y="5384800"/>
            <a:ext cx="10661015" cy="812166"/>
          </a:xfrm>
          <a:prstGeom prst="rect">
            <a:avLst/>
          </a:prstGeom>
          <a:noFill/>
          <a:ln/>
        </p:spPr>
        <p:txBody>
          <a:bodyPr wrap="square" lIns="0" tIns="0" rIns="0" bIns="0" rtlCol="0" anchor="t">
            <a:noAutofit/>
          </a:bodyPr>
          <a:lstStyle/>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Kathará Development Association O.D.V.:</a:t>
            </a:r>
            <a:r>
              <a:rPr lang="it-IT" sz="1600" noProof="0" dirty="0">
                <a:solidFill>
                  <a:srgbClr val="1B1D20"/>
                </a:solidFill>
                <a:latin typeface="IBM Plex Sans" pitchFamily="34" charset="0"/>
                <a:ea typeface="IBM Plex Sans" pitchFamily="34" charset="-122"/>
                <a:cs typeface="IBM Plex Sans" pitchFamily="34" charset="-120"/>
              </a:rPr>
              <a:t> associazione no profit che sviluppa e mantiene Kathará · kathara.org/association</a:t>
            </a:r>
          </a:p>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Contatti:</a:t>
            </a:r>
            <a:r>
              <a:rPr lang="it-IT" sz="1600" noProof="0" dirty="0">
                <a:solidFill>
                  <a:srgbClr val="1B1D20"/>
                </a:solidFill>
                <a:latin typeface="IBM Plex Sans" pitchFamily="34" charset="0"/>
                <a:ea typeface="IBM Plex Sans" pitchFamily="34" charset="-122"/>
                <a:cs typeface="IBM Plex Sans" pitchFamily="34" charset="-120"/>
              </a:rPr>
              <a:t> </a:t>
            </a:r>
            <a:r>
              <a:rPr lang="it-IT" sz="1600" noProof="0" dirty="0">
                <a:solidFill>
                  <a:srgbClr val="5B5F66"/>
                </a:solidFill>
                <a:latin typeface="IBM Plex Sans" pitchFamily="34" charset="0"/>
                <a:ea typeface="IBM Plex Sans" pitchFamily="34" charset="-122"/>
                <a:cs typeface="IBM Plex Sans" pitchFamily="34" charset="-120"/>
              </a:rPr>
              <a:t>contact@kathara.org</a:t>
            </a:r>
            <a:endParaRPr lang="it-IT" sz="1600" noProof="0" dirty="0"/>
          </a:p>
        </p:txBody>
      </p:sp>
    </p:spTree>
    <p:extLst>
      <p:ext uri="{BB962C8B-B14F-4D97-AF65-F5344CB8AC3E}">
        <p14:creationId xmlns:p14="http://schemas.microsoft.com/office/powerpoint/2010/main" val="2189369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9F44-A991-BB67-A0B3-55F56A116474}"/>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0B62484-AB2B-45D5-8E24-19C41410379D}"/>
              </a:ext>
            </a:extLst>
          </p:cNvPr>
          <p:cNvSpPr/>
          <p:nvPr/>
        </p:nvSpPr>
        <p:spPr>
          <a:xfrm>
            <a:off x="812800" y="1714500"/>
            <a:ext cx="10883900" cy="30480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2B6CA3"/>
                </a:solidFill>
                <a:latin typeface="JetBrains Mono" pitchFamily="49" charset="0"/>
                <a:ea typeface="JetBrains Mono" pitchFamily="49" charset="-122"/>
                <a:cs typeface="JetBrains Mono" pitchFamily="49" charset="-120"/>
              </a:rPr>
              <a:t>laboratorio /</a:t>
            </a:r>
            <a:endParaRPr lang="it-IT" sz="1600" noProof="0" dirty="0"/>
          </a:p>
        </p:txBody>
      </p:sp>
      <p:sp>
        <p:nvSpPr>
          <p:cNvPr id="5" name="Text 3">
            <a:extLst>
              <a:ext uri="{FF2B5EF4-FFF2-40B4-BE49-F238E27FC236}">
                <a16:creationId xmlns:a16="http://schemas.microsoft.com/office/drawing/2014/main" id="{2FEC5788-2EB9-B763-54F7-6F6095629661}"/>
              </a:ext>
            </a:extLst>
          </p:cNvPr>
          <p:cNvSpPr>
            <a:spLocks noGrp="1"/>
          </p:cNvSpPr>
          <p:nvPr>
            <p:ph type="title"/>
          </p:nvPr>
        </p:nvSpPr>
        <p:spPr>
          <a:xfrm>
            <a:off x="812800" y="2451100"/>
            <a:ext cx="10566400" cy="558800"/>
          </a:xfrm>
          <a:prstGeom prst="rect">
            <a:avLst/>
          </a:prstGeom>
          <a:noFill/>
          <a:ln/>
        </p:spPr>
        <p:txBody>
          <a:bodyPr wrap="square" lIns="0" tIns="0" rIns="0" bIns="0" rtlCol="0" anchor="t">
            <a:normAutofit fontScale="90000"/>
          </a:bodyPr>
          <a:lstStyle/>
          <a:p>
            <a:pPr marL="0" indent="0" algn="l">
              <a:lnSpc>
                <a:spcPts val="6300"/>
              </a:lnSpc>
              <a:buNone/>
            </a:pPr>
            <a:r>
              <a:rPr lang="it-IT" sz="6000" b="1" i="0" noProof="0" dirty="0">
                <a:solidFill>
                  <a:srgbClr val="1B1D20"/>
                </a:solidFill>
                <a:latin typeface="IBM Plex Sans" pitchFamily="34" charset="0"/>
                <a:ea typeface="IBM Plex Sans" pitchFamily="34" charset="-122"/>
                <a:cs typeface="IBM Plex Sans" pitchFamily="34" charset="-120"/>
              </a:rPr>
              <a:t>Parte pratica</a:t>
            </a:r>
            <a:endParaRPr lang="it-IT" sz="6000" noProof="0" dirty="0">
              <a:solidFill>
                <a:srgbClr val="1B1D20"/>
              </a:solidFill>
            </a:endParaRPr>
          </a:p>
        </p:txBody>
      </p:sp>
      <p:sp>
        <p:nvSpPr>
          <p:cNvPr id="6" name="Text 4">
            <a:extLst>
              <a:ext uri="{FF2B5EF4-FFF2-40B4-BE49-F238E27FC236}">
                <a16:creationId xmlns:a16="http://schemas.microsoft.com/office/drawing/2014/main" id="{A42ACE35-4E42-C06F-33A9-6D6AC513E009}"/>
              </a:ext>
            </a:extLst>
          </p:cNvPr>
          <p:cNvSpPr/>
          <p:nvPr/>
        </p:nvSpPr>
        <p:spPr>
          <a:xfrm>
            <a:off x="812800" y="3200400"/>
            <a:ext cx="8745086" cy="1155700"/>
          </a:xfrm>
          <a:prstGeom prst="rect">
            <a:avLst/>
          </a:prstGeom>
          <a:noFill/>
          <a:ln/>
        </p:spPr>
        <p:txBody>
          <a:bodyPr wrap="square" lIns="0" tIns="0" rIns="0" bIns="0" rtlCol="0" anchor="t">
            <a:normAutofit/>
          </a:bodyPr>
          <a:lstStyle/>
          <a:p>
            <a:pPr marL="0" indent="0" algn="l">
              <a:lnSpc>
                <a:spcPts val="2970"/>
              </a:lnSpc>
              <a:buNone/>
            </a:pPr>
            <a:r>
              <a:rPr lang="it-IT" sz="2200" noProof="0" dirty="0">
                <a:solidFill>
                  <a:srgbClr val="1B1D20"/>
                </a:solidFill>
                <a:latin typeface="IBM Plex Sans" pitchFamily="34" charset="0"/>
                <a:ea typeface="IBM Plex Sans" pitchFamily="34" charset="-122"/>
                <a:cs typeface="IBM Plex Sans" pitchFamily="34" charset="-120"/>
              </a:rPr>
              <a:t>Dalla configurazione di un semplice laboratorio alla creazione di un </a:t>
            </a:r>
            <a:r>
              <a:rPr lang="it-IT" sz="2200" noProof="0" dirty="0" err="1">
                <a:solidFill>
                  <a:srgbClr val="1B1D20"/>
                </a:solidFill>
                <a:latin typeface="IBM Plex Sans" pitchFamily="34" charset="0"/>
                <a:ea typeface="IBM Plex Sans" pitchFamily="34" charset="-122"/>
                <a:cs typeface="IBM Plex Sans" pitchFamily="34" charset="-120"/>
              </a:rPr>
              <a:t>digital</a:t>
            </a:r>
            <a:r>
              <a:rPr lang="it-IT" sz="2200" noProof="0" dirty="0">
                <a:solidFill>
                  <a:srgbClr val="1B1D20"/>
                </a:solidFill>
                <a:latin typeface="IBM Plex Sans" pitchFamily="34" charset="0"/>
                <a:ea typeface="IBM Plex Sans" pitchFamily="34" charset="-122"/>
                <a:cs typeface="IBM Plex Sans" pitchFamily="34" charset="-120"/>
              </a:rPr>
              <a:t> twin di esempio</a:t>
            </a:r>
            <a:endParaRPr lang="it-IT" sz="2200" noProof="0" dirty="0">
              <a:solidFill>
                <a:srgbClr val="1B1D20"/>
              </a:solidFill>
            </a:endParaRPr>
          </a:p>
        </p:txBody>
      </p:sp>
      <p:sp>
        <p:nvSpPr>
          <p:cNvPr id="11" name="Shape 0">
            <a:extLst>
              <a:ext uri="{FF2B5EF4-FFF2-40B4-BE49-F238E27FC236}">
                <a16:creationId xmlns:a16="http://schemas.microsoft.com/office/drawing/2014/main" id="{6AE8EB38-50AB-A1A5-EE97-E7E8E371FE77}"/>
              </a:ext>
            </a:extLst>
          </p:cNvPr>
          <p:cNvSpPr/>
          <p:nvPr/>
        </p:nvSpPr>
        <p:spPr>
          <a:xfrm>
            <a:off x="0" y="0"/>
            <a:ext cx="152400" cy="6858000"/>
          </a:xfrm>
          <a:prstGeom prst="rect">
            <a:avLst/>
          </a:prstGeom>
          <a:solidFill>
            <a:srgbClr val="1B1D20"/>
          </a:solidFill>
          <a:ln/>
        </p:spPr>
        <p:txBody>
          <a:bodyPr/>
          <a:lstStyle/>
          <a:p>
            <a:endParaRPr lang="it-IT" noProof="0" dirty="0"/>
          </a:p>
        </p:txBody>
      </p:sp>
    </p:spTree>
    <p:extLst>
      <p:ext uri="{BB962C8B-B14F-4D97-AF65-F5344CB8AC3E}">
        <p14:creationId xmlns:p14="http://schemas.microsoft.com/office/powerpoint/2010/main" val="42389844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B1D20"/>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b="1" dirty="0"/>
              <a:t>Setup: repository ed editor</a:t>
            </a:r>
            <a:endParaRPr lang="it-IT" sz="4000" noProof="0" dirty="0"/>
          </a:p>
        </p:txBody>
      </p:sp>
      <p:sp>
        <p:nvSpPr>
          <p:cNvPr id="22" name="Shape 20"/>
          <p:cNvSpPr/>
          <p:nvPr/>
        </p:nvSpPr>
        <p:spPr>
          <a:xfrm>
            <a:off x="831850" y="5689600"/>
            <a:ext cx="0" cy="370840"/>
          </a:xfrm>
          <a:prstGeom prst="line">
            <a:avLst/>
          </a:prstGeom>
          <a:noFill/>
          <a:ln w="38100">
            <a:solidFill>
              <a:srgbClr val="1B1D20"/>
            </a:solidFill>
            <a:prstDash val="solid"/>
          </a:ln>
        </p:spPr>
        <p:txBody>
          <a:bodyPr/>
          <a:lstStyle/>
          <a:p>
            <a:endParaRPr lang="it-IT" noProof="0" dirty="0"/>
          </a:p>
        </p:txBody>
      </p:sp>
      <p:sp>
        <p:nvSpPr>
          <p:cNvPr id="23" name="Text 21"/>
          <p:cNvSpPr/>
          <p:nvPr/>
        </p:nvSpPr>
        <p:spPr>
          <a:xfrm>
            <a:off x="1054100" y="5715000"/>
            <a:ext cx="10634853" cy="345440"/>
          </a:xfrm>
          <a:prstGeom prst="rect">
            <a:avLst/>
          </a:prstGeom>
          <a:noFill/>
          <a:ln/>
        </p:spPr>
        <p:txBody>
          <a:bodyPr wrap="square" lIns="0" tIns="0" rIns="0" bIns="0" rtlCol="0" anchor="t">
            <a:normAutofit/>
          </a:bodyPr>
          <a:lstStyle/>
          <a:p>
            <a:pPr marL="0" indent="0" algn="l">
              <a:lnSpc>
                <a:spcPts val="2520"/>
              </a:lnSpc>
              <a:buNone/>
            </a:pPr>
            <a:r>
              <a:rPr lang="it-IT" sz="1800" b="1" noProof="0" dirty="0">
                <a:solidFill>
                  <a:srgbClr val="1B1D20"/>
                </a:solidFill>
                <a:latin typeface="IBM Plex Sans" pitchFamily="34" charset="0"/>
                <a:ea typeface="IBM Plex Sans" pitchFamily="34" charset="-122"/>
                <a:cs typeface="IBM Plex Sans" pitchFamily="34" charset="-120"/>
              </a:rPr>
              <a:t>Lavoriamo sempre dalla radice del repository:</a:t>
            </a:r>
            <a:r>
              <a:rPr lang="it-IT" sz="1800" noProof="0" dirty="0">
                <a:solidFill>
                  <a:srgbClr val="1B1D20"/>
                </a:solidFill>
                <a:latin typeface="IBM Plex Sans" pitchFamily="34" charset="0"/>
                <a:ea typeface="IBM Plex Sans" pitchFamily="34" charset="-122"/>
                <a:cs typeface="IBM Plex Sans" pitchFamily="34" charset="-120"/>
              </a:rPr>
              <a:t> tutti i comandi delle tracce partono da lì.</a:t>
            </a:r>
            <a:endParaRPr lang="it-IT" sz="1800" noProof="0" dirty="0"/>
          </a:p>
        </p:txBody>
      </p:sp>
      <p:cxnSp>
        <p:nvCxnSpPr>
          <p:cNvPr id="700" name="Rule 701"/>
          <p:cNvCxnSpPr/>
          <p:nvPr/>
        </p:nvCxnSpPr>
        <p:spPr>
          <a:xfrm>
            <a:off x="812800" y="1854200"/>
            <a:ext cx="10871200" cy="0"/>
          </a:xfrm>
          <a:prstGeom prst="line">
            <a:avLst/>
          </a:prstGeom>
          <a:ln w="12700">
            <a:solidFill>
              <a:srgbClr val="E1E0DD"/>
            </a:solidFill>
          </a:ln>
        </p:spPr>
      </p:cxnSp>
      <p:sp>
        <p:nvSpPr>
          <p:cNvPr id="701" name="Step 702"/>
          <p:cNvSpPr txBox="1"/>
          <p:nvPr/>
        </p:nvSpPr>
        <p:spPr>
          <a:xfrm>
            <a:off x="812800" y="2057400"/>
            <a:ext cx="508000" cy="406400"/>
          </a:xfrm>
          <a:prstGeom prst="rect">
            <a:avLst/>
          </a:prstGeom>
          <a:noFill/>
          <a:ln>
            <a:noFill/>
          </a:ln>
        </p:spPr>
        <p:txBody>
          <a:bodyPr wrap="square" lIns="0" tIns="0" rIns="0" bIns="0" rtlCol="0" anchor="ctr">
            <a:noAutofit/>
          </a:bodyPr>
          <a:lstStyle/>
          <a:p>
            <a:pPr marL="0" indent="0" algn="l">
              <a:lnSpc>
                <a:spcPct val="100000"/>
              </a:lnSpc>
              <a:buNone/>
            </a:pPr>
            <a:r>
              <a:rPr lang="it-IT" sz="1600" noProof="0" dirty="0">
                <a:solidFill>
                  <a:srgbClr val="2B6CA3"/>
                </a:solidFill>
                <a:latin typeface="JetBrains Mono" pitchFamily="49" charset="0"/>
                <a:ea typeface="JetBrains Mono" pitchFamily="49" charset="-122"/>
                <a:cs typeface="JetBrains Mono" pitchFamily="49" charset="-120"/>
              </a:rPr>
              <a:t>01</a:t>
            </a:r>
          </a:p>
        </p:txBody>
      </p:sp>
      <p:sp>
        <p:nvSpPr>
          <p:cNvPr id="702" name="Step 703"/>
          <p:cNvSpPr txBox="1"/>
          <p:nvPr/>
        </p:nvSpPr>
        <p:spPr>
          <a:xfrm>
            <a:off x="1371600" y="2057400"/>
            <a:ext cx="3683000" cy="406400"/>
          </a:xfrm>
          <a:prstGeom prst="rect">
            <a:avLst/>
          </a:prstGeom>
          <a:noFill/>
          <a:ln>
            <a:noFill/>
          </a:ln>
        </p:spPr>
        <p:txBody>
          <a:bodyPr wrap="square" lIns="0" tIns="0" rIns="0" bIns="0" rtlCol="0" anchor="ctr">
            <a:noAutofit/>
          </a:bodyPr>
          <a:lstStyle/>
          <a:p>
            <a:pPr marL="0" indent="0" algn="l">
              <a:lnSpc>
                <a:spcPct val="100000"/>
              </a:lnSpc>
              <a:buNone/>
            </a:pPr>
            <a:r>
              <a:rPr lang="it-IT" sz="1800" b="1" noProof="0" dirty="0">
                <a:solidFill>
                  <a:srgbClr val="1B1D20"/>
                </a:solidFill>
                <a:latin typeface="IBM Plex Sans" pitchFamily="34" charset="0"/>
                <a:ea typeface="IBM Plex Sans" pitchFamily="34" charset="-122"/>
                <a:cs typeface="IBM Plex Sans" pitchFamily="34" charset="-120"/>
              </a:rPr>
              <a:t>Cloniamo il repository</a:t>
            </a:r>
          </a:p>
        </p:txBody>
      </p:sp>
      <p:sp>
        <p:nvSpPr>
          <p:cNvPr id="703" name="Step 704"/>
          <p:cNvSpPr/>
          <p:nvPr/>
        </p:nvSpPr>
        <p:spPr>
          <a:xfrm>
            <a:off x="5130800" y="2057400"/>
            <a:ext cx="6553200" cy="965200"/>
          </a:xfrm>
          <a:prstGeom prst="rect">
            <a:avLst/>
          </a:prstGeom>
          <a:solidFill>
            <a:srgbClr val="17191C"/>
          </a:solidFill>
          <a:ln>
            <a:noFill/>
          </a:ln>
        </p:spPr>
        <p:txBody>
          <a:bodyPr wrap="square" lIns="152400" tIns="0" rIns="50800" bIns="0" rtlCol="0" anchor="ctr">
            <a:noAutofit/>
          </a:bodyPr>
          <a:lstStyle/>
          <a:p>
            <a:pPr marL="0" indent="0" algn="l">
              <a:lnSpc>
                <a:spcPct val="100000"/>
              </a:lnSpc>
              <a:buNone/>
            </a:pPr>
            <a:r>
              <a:rPr lang="it-IT" sz="1600" noProof="0" dirty="0">
                <a:solidFill>
                  <a:srgbClr val="A8DC6E"/>
                </a:solidFill>
                <a:latin typeface="JetBrains Mono" pitchFamily="49" charset="0"/>
                <a:ea typeface="JetBrains Mono" pitchFamily="49" charset="-122"/>
                <a:cs typeface="JetBrains Mono" pitchFamily="49" charset="-120"/>
              </a:rPr>
              <a:t>$ </a:t>
            </a:r>
            <a:r>
              <a:rPr lang="it-IT" sz="1600" noProof="0" dirty="0">
                <a:solidFill>
                  <a:srgbClr val="F2F1EC"/>
                </a:solidFill>
                <a:latin typeface="JetBrains Mono" pitchFamily="49" charset="0"/>
                <a:ea typeface="JetBrains Mono" pitchFamily="49" charset="-122"/>
                <a:cs typeface="JetBrains Mono" pitchFamily="49" charset="-120"/>
              </a:rPr>
              <a:t>git clone \</a:t>
            </a:r>
          </a:p>
          <a:p>
            <a:pPr marL="0" indent="0" algn="l">
              <a:lnSpc>
                <a:spcPct val="100000"/>
              </a:lnSpc>
              <a:buNone/>
            </a:pPr>
            <a:r>
              <a:rPr lang="it-IT" sz="1600" noProof="0" dirty="0">
                <a:solidFill>
                  <a:srgbClr val="F2F1EC"/>
                </a:solidFill>
                <a:latin typeface="JetBrains Mono" pitchFamily="49" charset="0"/>
                <a:ea typeface="JetBrains Mono" pitchFamily="49" charset="-122"/>
                <a:cs typeface="JetBrains Mono" pitchFamily="49" charset="-120"/>
              </a:rPr>
              <a:t>  https://github.com/tcaiazzi/garr-kathara-seminar</a:t>
            </a:r>
          </a:p>
          <a:p>
            <a:pPr marL="0" indent="0" algn="l">
              <a:lnSpc>
                <a:spcPct val="100000"/>
              </a:lnSpc>
              <a:buNone/>
            </a:pPr>
            <a:r>
              <a:rPr lang="it-IT" sz="1600" noProof="0" dirty="0">
                <a:solidFill>
                  <a:srgbClr val="A8DC6E"/>
                </a:solidFill>
                <a:latin typeface="JetBrains Mono" pitchFamily="49" charset="0"/>
                <a:ea typeface="JetBrains Mono" pitchFamily="49" charset="-122"/>
                <a:cs typeface="JetBrains Mono" pitchFamily="49" charset="-120"/>
              </a:rPr>
              <a:t>$ </a:t>
            </a:r>
            <a:r>
              <a:rPr lang="it-IT" sz="1600" noProof="0" dirty="0">
                <a:solidFill>
                  <a:srgbClr val="F2F1EC"/>
                </a:solidFill>
                <a:latin typeface="JetBrains Mono" pitchFamily="49" charset="0"/>
                <a:ea typeface="JetBrains Mono" pitchFamily="49" charset="-122"/>
                <a:cs typeface="JetBrains Mono" pitchFamily="49" charset="-120"/>
              </a:rPr>
              <a:t>cd garr-kathara-seminar</a:t>
            </a:r>
          </a:p>
        </p:txBody>
      </p:sp>
      <p:cxnSp>
        <p:nvCxnSpPr>
          <p:cNvPr id="704" name="Rule 705"/>
          <p:cNvCxnSpPr/>
          <p:nvPr/>
        </p:nvCxnSpPr>
        <p:spPr>
          <a:xfrm>
            <a:off x="812800" y="3683000"/>
            <a:ext cx="10871200" cy="0"/>
          </a:xfrm>
          <a:prstGeom prst="line">
            <a:avLst/>
          </a:prstGeom>
          <a:ln w="12700">
            <a:solidFill>
              <a:srgbClr val="E1E0DD"/>
            </a:solidFill>
          </a:ln>
        </p:spPr>
      </p:cxnSp>
      <p:sp>
        <p:nvSpPr>
          <p:cNvPr id="705" name="Step 706"/>
          <p:cNvSpPr txBox="1"/>
          <p:nvPr/>
        </p:nvSpPr>
        <p:spPr>
          <a:xfrm>
            <a:off x="812800" y="3886200"/>
            <a:ext cx="508000" cy="406400"/>
          </a:xfrm>
          <a:prstGeom prst="rect">
            <a:avLst/>
          </a:prstGeom>
          <a:noFill/>
          <a:ln>
            <a:noFill/>
          </a:ln>
        </p:spPr>
        <p:txBody>
          <a:bodyPr wrap="square" lIns="0" tIns="0" rIns="0" bIns="0" rtlCol="0" anchor="ctr">
            <a:noAutofit/>
          </a:bodyPr>
          <a:lstStyle/>
          <a:p>
            <a:pPr marL="0" indent="0" algn="l">
              <a:lnSpc>
                <a:spcPct val="100000"/>
              </a:lnSpc>
              <a:buNone/>
            </a:pPr>
            <a:r>
              <a:rPr lang="it-IT" sz="1600" noProof="0" dirty="0">
                <a:solidFill>
                  <a:srgbClr val="2B6CA3"/>
                </a:solidFill>
                <a:latin typeface="JetBrains Mono" pitchFamily="49" charset="0"/>
                <a:ea typeface="JetBrains Mono" pitchFamily="49" charset="-122"/>
                <a:cs typeface="JetBrains Mono" pitchFamily="49" charset="-120"/>
              </a:rPr>
              <a:t>02</a:t>
            </a:r>
          </a:p>
        </p:txBody>
      </p:sp>
      <p:sp>
        <p:nvSpPr>
          <p:cNvPr id="706" name="Step 707"/>
          <p:cNvSpPr txBox="1"/>
          <p:nvPr/>
        </p:nvSpPr>
        <p:spPr>
          <a:xfrm>
            <a:off x="1371600" y="3886200"/>
            <a:ext cx="3683000" cy="406400"/>
          </a:xfrm>
          <a:prstGeom prst="rect">
            <a:avLst/>
          </a:prstGeom>
          <a:noFill/>
          <a:ln>
            <a:noFill/>
          </a:ln>
        </p:spPr>
        <p:txBody>
          <a:bodyPr wrap="square" lIns="0" tIns="0" rIns="0" bIns="0" rtlCol="0" anchor="ctr">
            <a:noAutofit/>
          </a:bodyPr>
          <a:lstStyle/>
          <a:p>
            <a:pPr marL="0" indent="0" algn="l">
              <a:lnSpc>
                <a:spcPct val="100000"/>
              </a:lnSpc>
              <a:buNone/>
            </a:pPr>
            <a:r>
              <a:rPr lang="it-IT" sz="1800" b="1" noProof="0" dirty="0">
                <a:solidFill>
                  <a:srgbClr val="1B1D20"/>
                </a:solidFill>
                <a:latin typeface="IBM Plex Sans" pitchFamily="34" charset="0"/>
                <a:ea typeface="IBM Plex Sans" pitchFamily="34" charset="-122"/>
                <a:cs typeface="IBM Plex Sans" pitchFamily="34" charset="-120"/>
              </a:rPr>
              <a:t>Apriamolo in un editor</a:t>
            </a:r>
          </a:p>
        </p:txBody>
      </p:sp>
      <p:sp>
        <p:nvSpPr>
          <p:cNvPr id="707" name="Step 708"/>
          <p:cNvSpPr/>
          <p:nvPr/>
        </p:nvSpPr>
        <p:spPr>
          <a:xfrm>
            <a:off x="5130800" y="3886200"/>
            <a:ext cx="6553200" cy="406400"/>
          </a:xfrm>
          <a:prstGeom prst="rect">
            <a:avLst/>
          </a:prstGeom>
          <a:solidFill>
            <a:srgbClr val="17191C"/>
          </a:solidFill>
          <a:ln>
            <a:noFill/>
          </a:ln>
        </p:spPr>
        <p:txBody>
          <a:bodyPr wrap="square" lIns="152400" tIns="0" rIns="152400" bIns="0" rtlCol="0" anchor="ctr">
            <a:noAutofit/>
          </a:bodyPr>
          <a:lstStyle/>
          <a:p>
            <a:pPr marL="0" indent="0" algn="l">
              <a:lnSpc>
                <a:spcPct val="100000"/>
              </a:lnSpc>
              <a:buNone/>
            </a:pPr>
            <a:r>
              <a:rPr lang="it-IT" sz="1600" noProof="0" dirty="0">
                <a:solidFill>
                  <a:srgbClr val="A8DC6E"/>
                </a:solidFill>
                <a:latin typeface="JetBrains Mono" pitchFamily="49" charset="0"/>
                <a:ea typeface="JetBrains Mono" pitchFamily="49" charset="-122"/>
                <a:cs typeface="JetBrains Mono" pitchFamily="49" charset="-120"/>
              </a:rPr>
              <a:t>$ </a:t>
            </a:r>
            <a:r>
              <a:rPr lang="it-IT" sz="1600" noProof="0" dirty="0">
                <a:solidFill>
                  <a:srgbClr val="F2F1EC"/>
                </a:solidFill>
                <a:latin typeface="JetBrains Mono" pitchFamily="49" charset="0"/>
                <a:ea typeface="JetBrains Mono" pitchFamily="49" charset="-122"/>
                <a:cs typeface="JetBrains Mono" pitchFamily="49" charset="-120"/>
              </a:rPr>
              <a:t>code .</a:t>
            </a:r>
            <a:r>
              <a:rPr lang="it-IT" sz="1600" noProof="0" dirty="0">
                <a:solidFill>
                  <a:srgbClr val="B9BDC3"/>
                </a:solidFill>
                <a:latin typeface="JetBrains Mono" pitchFamily="49" charset="0"/>
                <a:ea typeface="JetBrains Mono" pitchFamily="49" charset="-122"/>
                <a:cs typeface="JetBrains Mono" pitchFamily="49" charset="-120"/>
              </a:rPr>
              <a:t>  # o Sublime, …</a:t>
            </a:r>
          </a:p>
        </p:txBody>
      </p:sp>
      <p:sp>
        <p:nvSpPr>
          <p:cNvPr id="730" name="Desc 730"/>
          <p:cNvSpPr txBox="1"/>
          <p:nvPr/>
        </p:nvSpPr>
        <p:spPr>
          <a:xfrm>
            <a:off x="1371600" y="2565400"/>
            <a:ext cx="3556000" cy="1016000"/>
          </a:xfrm>
          <a:prstGeom prst="rect">
            <a:avLst/>
          </a:prstGeom>
          <a:noFill/>
          <a:ln>
            <a:noFill/>
          </a:ln>
        </p:spPr>
        <p:txBody>
          <a:bodyPr wrap="square" lIns="0" tIns="0" rIns="0" bIns="0" rtlCol="0" anchor="t">
            <a:noAutofit/>
          </a:bodyPr>
          <a:lstStyle/>
          <a:p>
            <a:pPr marL="0" indent="0" algn="l">
              <a:lnSpc>
                <a:spcPct val="110000"/>
              </a:lnSpc>
              <a:buNone/>
            </a:pPr>
            <a:r>
              <a:rPr lang="it-IT" sz="1600" noProof="0" dirty="0">
                <a:solidFill>
                  <a:srgbClr val="525355"/>
                </a:solidFill>
                <a:latin typeface="IBM Plex Sans" pitchFamily="34" charset="0"/>
                <a:ea typeface="IBM Plex Sans" pitchFamily="34" charset="-122"/>
                <a:cs typeface="IBM Plex Sans" pitchFamily="34" charset="-120"/>
              </a:rPr>
              <a:t>Tracce dei lab, file di partenza e script di setup.</a:t>
            </a:r>
          </a:p>
        </p:txBody>
      </p:sp>
      <p:sp>
        <p:nvSpPr>
          <p:cNvPr id="731" name="Desc 731"/>
          <p:cNvSpPr txBox="1"/>
          <p:nvPr/>
        </p:nvSpPr>
        <p:spPr>
          <a:xfrm>
            <a:off x="1371600" y="4394200"/>
            <a:ext cx="3556000" cy="914400"/>
          </a:xfrm>
          <a:prstGeom prst="rect">
            <a:avLst/>
          </a:prstGeom>
          <a:noFill/>
          <a:ln>
            <a:noFill/>
          </a:ln>
        </p:spPr>
        <p:txBody>
          <a:bodyPr wrap="square" lIns="0" tIns="0" rIns="0" bIns="0" rtlCol="0" anchor="t">
            <a:noAutofit/>
          </a:bodyPr>
          <a:lstStyle/>
          <a:p>
            <a:pPr marL="0" indent="0" algn="l">
              <a:lnSpc>
                <a:spcPct val="110000"/>
              </a:lnSpc>
              <a:buNone/>
            </a:pPr>
            <a:r>
              <a:rPr lang="it-IT" sz="1600" noProof="0" dirty="0">
                <a:solidFill>
                  <a:srgbClr val="525355"/>
                </a:solidFill>
                <a:latin typeface="IBM Plex Sans" pitchFamily="34" charset="0"/>
                <a:ea typeface="IBM Plex Sans" pitchFamily="34" charset="-122"/>
                <a:cs typeface="IBM Plex Sans" pitchFamily="34" charset="-120"/>
              </a:rPr>
              <a:t>Qualsiasi editor va bene. Ci servirà per modificare lab.conf, i file .startup e frr.conf.</a:t>
            </a:r>
          </a:p>
        </p:txBody>
      </p:sp>
      <p:cxnSp>
        <p:nvCxnSpPr>
          <p:cNvPr id="732" name="Rule 732"/>
          <p:cNvCxnSpPr/>
          <p:nvPr/>
        </p:nvCxnSpPr>
        <p:spPr>
          <a:xfrm>
            <a:off x="812800" y="5461000"/>
            <a:ext cx="10871200" cy="0"/>
          </a:xfrm>
          <a:prstGeom prst="line">
            <a:avLst/>
          </a:prstGeom>
          <a:ln w="12700">
            <a:solidFill>
              <a:srgbClr val="E1E0DD"/>
            </a:solidFill>
          </a:ln>
        </p:spPr>
      </p:cxnSp>
      <p:sp>
        <p:nvSpPr>
          <p:cNvPr id="733" name="Zip 733"/>
          <p:cNvSpPr txBox="1"/>
          <p:nvPr/>
        </p:nvSpPr>
        <p:spPr>
          <a:xfrm>
            <a:off x="5130800" y="3124200"/>
            <a:ext cx="6553200" cy="330200"/>
          </a:xfrm>
          <a:prstGeom prst="rect">
            <a:avLst/>
          </a:prstGeom>
          <a:noFill/>
          <a:ln>
            <a:noFill/>
          </a:ln>
        </p:spPr>
        <p:txBody>
          <a:bodyPr wrap="square" lIns="0" tIns="0" rIns="0" bIns="0" rtlCol="0" anchor="t">
            <a:noAutofit/>
          </a:bodyPr>
          <a:lstStyle/>
          <a:p>
            <a:pPr marL="0" indent="0" algn="l">
              <a:lnSpc>
                <a:spcPct val="110000"/>
              </a:lnSpc>
              <a:buNone/>
            </a:pPr>
            <a:r>
              <a:rPr lang="it-IT" sz="1600" b="1" noProof="0" dirty="0">
                <a:solidFill>
                  <a:srgbClr val="525355"/>
                </a:solidFill>
                <a:latin typeface="IBM Plex Sans" pitchFamily="34" charset="0"/>
                <a:ea typeface="IBM Plex Sans" pitchFamily="34" charset="-122"/>
                <a:cs typeface="IBM Plex Sans" pitchFamily="34" charset="-120"/>
              </a:rPr>
              <a:t>Senza git: </a:t>
            </a:r>
            <a:r>
              <a:rPr lang="it-IT" sz="1600" noProof="0" dirty="0">
                <a:solidFill>
                  <a:srgbClr val="525355"/>
                </a:solidFill>
                <a:latin typeface="IBM Plex Sans" pitchFamily="34" charset="0"/>
                <a:ea typeface="IBM Plex Sans" pitchFamily="34" charset="-122"/>
                <a:cs typeface="IBM Plex Sans" pitchFamily="34" charset="-120"/>
              </a:rPr>
              <a:t>su GitHub, Code → Download ZIP.</a:t>
            </a:r>
          </a:p>
        </p:txBody>
      </p:sp>
    </p:spTree>
    <p:extLst>
      <p:ext uri="{BB962C8B-B14F-4D97-AF65-F5344CB8AC3E}">
        <p14:creationId xmlns:p14="http://schemas.microsoft.com/office/powerpoint/2010/main" val="1403261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B1D20"/>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b="1" dirty="0"/>
              <a:t>Setup: virtual environment Python</a:t>
            </a:r>
            <a:endParaRPr lang="it-IT" sz="4000" noProof="0" dirty="0"/>
          </a:p>
        </p:txBody>
      </p:sp>
      <p:sp>
        <p:nvSpPr>
          <p:cNvPr id="22" name="Shape 20"/>
          <p:cNvSpPr/>
          <p:nvPr/>
        </p:nvSpPr>
        <p:spPr>
          <a:xfrm>
            <a:off x="831850" y="5800815"/>
            <a:ext cx="0" cy="370840"/>
          </a:xfrm>
          <a:prstGeom prst="line">
            <a:avLst/>
          </a:prstGeom>
          <a:noFill/>
          <a:ln w="38100">
            <a:solidFill>
              <a:srgbClr val="1B1D20"/>
            </a:solidFill>
            <a:prstDash val="solid"/>
          </a:ln>
        </p:spPr>
        <p:txBody>
          <a:bodyPr/>
          <a:lstStyle/>
          <a:p>
            <a:endParaRPr lang="it-IT" noProof="0" dirty="0"/>
          </a:p>
        </p:txBody>
      </p:sp>
      <p:sp>
        <p:nvSpPr>
          <p:cNvPr id="23" name="Text 21"/>
          <p:cNvSpPr/>
          <p:nvPr/>
        </p:nvSpPr>
        <p:spPr>
          <a:xfrm>
            <a:off x="1054100" y="5826215"/>
            <a:ext cx="10634853" cy="345440"/>
          </a:xfrm>
          <a:prstGeom prst="rect">
            <a:avLst/>
          </a:prstGeom>
          <a:noFill/>
          <a:ln/>
        </p:spPr>
        <p:txBody>
          <a:bodyPr wrap="square" lIns="0" tIns="0" rIns="0" bIns="0" rtlCol="0" anchor="t">
            <a:normAutofit/>
          </a:bodyPr>
          <a:lstStyle/>
          <a:p>
            <a:pPr marL="0" indent="0" algn="l">
              <a:lnSpc>
                <a:spcPts val="2520"/>
              </a:lnSpc>
              <a:buNone/>
            </a:pPr>
            <a:r>
              <a:rPr lang="it-IT" sz="1800" b="1" noProof="0" dirty="0">
                <a:solidFill>
                  <a:srgbClr val="1B1D20"/>
                </a:solidFill>
                <a:latin typeface="IBM Plex Sans" pitchFamily="34" charset="0"/>
                <a:ea typeface="IBM Plex Sans" pitchFamily="34" charset="-122"/>
                <a:cs typeface="IBM Plex Sans" pitchFamily="34" charset="-120"/>
              </a:rPr>
              <a:t>Il venv isola le dipendenze:</a:t>
            </a:r>
            <a:r>
              <a:rPr lang="it-IT" sz="1800" noProof="0" dirty="0">
                <a:solidFill>
                  <a:srgbClr val="1B1D20"/>
                </a:solidFill>
                <a:latin typeface="IBM Plex Sans" pitchFamily="34" charset="0"/>
                <a:ea typeface="IBM Plex Sans" pitchFamily="34" charset="-122"/>
                <a:cs typeface="IBM Plex Sans" pitchFamily="34" charset="-120"/>
              </a:rPr>
              <a:t> i pacchetti del workshop non toccano il Python di sistema.</a:t>
            </a:r>
            <a:endParaRPr lang="it-IT" sz="1800" noProof="0" dirty="0"/>
          </a:p>
        </p:txBody>
      </p:sp>
      <p:cxnSp>
        <p:nvCxnSpPr>
          <p:cNvPr id="708" name="Rule 709"/>
          <p:cNvCxnSpPr/>
          <p:nvPr/>
        </p:nvCxnSpPr>
        <p:spPr>
          <a:xfrm>
            <a:off x="812800" y="2667000"/>
            <a:ext cx="10871200" cy="0"/>
          </a:xfrm>
          <a:prstGeom prst="line">
            <a:avLst/>
          </a:prstGeom>
          <a:ln w="12700">
            <a:solidFill>
              <a:srgbClr val="E1E0DD"/>
            </a:solidFill>
          </a:ln>
        </p:spPr>
      </p:cxnSp>
      <p:sp>
        <p:nvSpPr>
          <p:cNvPr id="709" name="Step 710"/>
          <p:cNvSpPr txBox="1"/>
          <p:nvPr/>
        </p:nvSpPr>
        <p:spPr>
          <a:xfrm>
            <a:off x="812800" y="2743200"/>
            <a:ext cx="508000" cy="406400"/>
          </a:xfrm>
          <a:prstGeom prst="rect">
            <a:avLst/>
          </a:prstGeom>
          <a:noFill/>
          <a:ln>
            <a:noFill/>
          </a:ln>
        </p:spPr>
        <p:txBody>
          <a:bodyPr wrap="square" lIns="0" tIns="0" rIns="0" bIns="0" rtlCol="0" anchor="ctr">
            <a:noAutofit/>
          </a:bodyPr>
          <a:lstStyle/>
          <a:p>
            <a:pPr marL="0" indent="0" algn="l">
              <a:lnSpc>
                <a:spcPct val="100000"/>
              </a:lnSpc>
              <a:buNone/>
            </a:pPr>
            <a:r>
              <a:rPr lang="it-IT" sz="1600" dirty="0">
                <a:solidFill>
                  <a:srgbClr val="2B6CA3"/>
                </a:solidFill>
                <a:latin typeface="JetBrains Mono" pitchFamily="49" charset="0"/>
                <a:ea typeface="JetBrains Mono" pitchFamily="49" charset="-122"/>
                <a:cs typeface="JetBrains Mono" pitchFamily="49" charset="-120"/>
              </a:rPr>
              <a:t>01</a:t>
            </a:r>
            <a:endParaRPr lang="it-IT" sz="1600" noProof="0" dirty="0">
              <a:solidFill>
                <a:srgbClr val="2B6CA3"/>
              </a:solidFill>
              <a:latin typeface="JetBrains Mono" pitchFamily="49" charset="0"/>
              <a:ea typeface="JetBrains Mono" pitchFamily="49" charset="-122"/>
              <a:cs typeface="JetBrains Mono" pitchFamily="49" charset="-120"/>
            </a:endParaRPr>
          </a:p>
        </p:txBody>
      </p:sp>
      <p:sp>
        <p:nvSpPr>
          <p:cNvPr id="710" name="Step 711"/>
          <p:cNvSpPr txBox="1"/>
          <p:nvPr/>
        </p:nvSpPr>
        <p:spPr>
          <a:xfrm>
            <a:off x="1371600" y="2743200"/>
            <a:ext cx="3683000" cy="406400"/>
          </a:xfrm>
          <a:prstGeom prst="rect">
            <a:avLst/>
          </a:prstGeom>
          <a:noFill/>
          <a:ln>
            <a:noFill/>
          </a:ln>
        </p:spPr>
        <p:txBody>
          <a:bodyPr wrap="square" lIns="0" tIns="0" rIns="0" bIns="0" rtlCol="0" anchor="ctr">
            <a:noAutofit/>
          </a:bodyPr>
          <a:lstStyle/>
          <a:p>
            <a:pPr marL="0" indent="0" algn="l">
              <a:lnSpc>
                <a:spcPct val="100000"/>
              </a:lnSpc>
              <a:buNone/>
            </a:pPr>
            <a:r>
              <a:rPr lang="it-IT" sz="1800" b="1" noProof="0" dirty="0">
                <a:solidFill>
                  <a:srgbClr val="1B1D20"/>
                </a:solidFill>
                <a:latin typeface="IBM Plex Sans" pitchFamily="34" charset="0"/>
                <a:ea typeface="IBM Plex Sans" pitchFamily="34" charset="-122"/>
                <a:cs typeface="IBM Plex Sans" pitchFamily="34" charset="-120"/>
              </a:rPr>
              <a:t>Creiamo il virtual environment</a:t>
            </a:r>
          </a:p>
        </p:txBody>
      </p:sp>
      <p:sp>
        <p:nvSpPr>
          <p:cNvPr id="711" name="Step 712"/>
          <p:cNvSpPr/>
          <p:nvPr/>
        </p:nvSpPr>
        <p:spPr>
          <a:xfrm>
            <a:off x="5130800" y="2743200"/>
            <a:ext cx="6553200" cy="983114"/>
          </a:xfrm>
          <a:prstGeom prst="rect">
            <a:avLst/>
          </a:prstGeom>
          <a:solidFill>
            <a:srgbClr val="17191C"/>
          </a:solidFill>
          <a:ln>
            <a:noFill/>
          </a:ln>
        </p:spPr>
        <p:txBody>
          <a:bodyPr wrap="square" lIns="152400" tIns="0" rIns="152400" bIns="0" rtlCol="0" anchor="ctr">
            <a:noAutofit/>
          </a:bodyPr>
          <a:lstStyle/>
          <a:p>
            <a:r>
              <a:rPr lang="it-IT" sz="1600" noProof="0" dirty="0">
                <a:solidFill>
                  <a:srgbClr val="A8DC6E"/>
                </a:solidFill>
                <a:latin typeface="JetBrains Mono" pitchFamily="49" charset="0"/>
                <a:ea typeface="JetBrains Mono" pitchFamily="49" charset="-122"/>
                <a:cs typeface="JetBrains Mono" pitchFamily="49" charset="-120"/>
              </a:rPr>
              <a:t>$ </a:t>
            </a:r>
            <a:r>
              <a:rPr lang="it-IT" sz="1600" noProof="0" dirty="0">
                <a:solidFill>
                  <a:srgbClr val="F2F1EC"/>
                </a:solidFill>
                <a:latin typeface="JetBrains Mono" pitchFamily="49" charset="0"/>
                <a:ea typeface="JetBrains Mono" pitchFamily="49" charset="-122"/>
                <a:cs typeface="JetBrains Mono" pitchFamily="49" charset="-120"/>
              </a:rPr>
              <a:t>python3 -m venv .</a:t>
            </a:r>
            <a:r>
              <a:rPr lang="it-IT" sz="1600" noProof="0" dirty="0" err="1">
                <a:solidFill>
                  <a:srgbClr val="F2F1EC"/>
                </a:solidFill>
                <a:latin typeface="JetBrains Mono" pitchFamily="49" charset="0"/>
                <a:ea typeface="JetBrains Mono" pitchFamily="49" charset="-122"/>
                <a:cs typeface="JetBrains Mono" pitchFamily="49" charset="-120"/>
              </a:rPr>
              <a:t>venv</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dirty="0">
                <a:solidFill>
                  <a:srgbClr val="B9BDC3"/>
                </a:solidFill>
                <a:latin typeface="JetBrains Mono" pitchFamily="49" charset="0"/>
                <a:ea typeface="JetBrains Mono" pitchFamily="49" charset="-122"/>
                <a:cs typeface="JetBrains Mono" pitchFamily="49" charset="-120"/>
              </a:rPr>
              <a:t># Linux/</a:t>
            </a:r>
            <a:r>
              <a:rPr lang="it-IT" sz="1600" dirty="0" err="1">
                <a:solidFill>
                  <a:srgbClr val="B9BDC3"/>
                </a:solidFill>
                <a:latin typeface="JetBrains Mono" pitchFamily="49" charset="0"/>
                <a:ea typeface="JetBrains Mono" pitchFamily="49" charset="-122"/>
                <a:cs typeface="JetBrains Mono" pitchFamily="49" charset="-120"/>
              </a:rPr>
              <a:t>macOS</a:t>
            </a:r>
            <a:r>
              <a:rPr lang="it-IT" sz="1600" noProof="0" dirty="0">
                <a:solidFill>
                  <a:srgbClr val="F2F1EC"/>
                </a:solidFill>
                <a:latin typeface="JetBrains Mono" pitchFamily="49" charset="0"/>
                <a:ea typeface="JetBrains Mono" pitchFamily="49" charset="-122"/>
                <a:cs typeface="JetBrains Mono" pitchFamily="49" charset="-120"/>
              </a:rPr>
              <a:t> </a:t>
            </a:r>
          </a:p>
          <a:p>
            <a:r>
              <a:rPr lang="it-IT" sz="1600" dirty="0">
                <a:solidFill>
                  <a:srgbClr val="A8DC6E"/>
                </a:solidFill>
                <a:latin typeface="JetBrains Mono" pitchFamily="49" charset="0"/>
                <a:ea typeface="JetBrains Mono" pitchFamily="49" charset="-122"/>
                <a:cs typeface="JetBrains Mono" pitchFamily="49" charset="-120"/>
              </a:rPr>
              <a:t>&gt; </a:t>
            </a:r>
            <a:r>
              <a:rPr lang="it-IT" sz="1600" dirty="0" err="1">
                <a:solidFill>
                  <a:srgbClr val="F2F1EC"/>
                </a:solidFill>
                <a:latin typeface="JetBrains Mono" pitchFamily="49" charset="0"/>
                <a:ea typeface="JetBrains Mono" pitchFamily="49" charset="-122"/>
                <a:cs typeface="JetBrains Mono" pitchFamily="49" charset="-120"/>
              </a:rPr>
              <a:t>python</a:t>
            </a:r>
            <a:r>
              <a:rPr lang="it-IT" sz="1600" dirty="0">
                <a:solidFill>
                  <a:srgbClr val="F2F1EC"/>
                </a:solidFill>
                <a:latin typeface="JetBrains Mono" pitchFamily="49" charset="0"/>
                <a:ea typeface="JetBrains Mono" pitchFamily="49" charset="-122"/>
                <a:cs typeface="JetBrains Mono" pitchFamily="49" charset="-120"/>
              </a:rPr>
              <a:t> -m </a:t>
            </a:r>
            <a:r>
              <a:rPr lang="it-IT" sz="1600" dirty="0" err="1">
                <a:solidFill>
                  <a:srgbClr val="F2F1EC"/>
                </a:solidFill>
                <a:latin typeface="JetBrains Mono" pitchFamily="49" charset="0"/>
                <a:ea typeface="JetBrains Mono" pitchFamily="49" charset="-122"/>
                <a:cs typeface="JetBrains Mono" pitchFamily="49" charset="-120"/>
              </a:rPr>
              <a:t>venv</a:t>
            </a:r>
            <a:r>
              <a:rPr lang="it-IT" sz="1600" dirty="0">
                <a:solidFill>
                  <a:srgbClr val="F2F1EC"/>
                </a:solidFill>
                <a:latin typeface="JetBrains Mono" pitchFamily="49" charset="0"/>
                <a:ea typeface="JetBrains Mono" pitchFamily="49" charset="-122"/>
                <a:cs typeface="JetBrains Mono" pitchFamily="49" charset="-120"/>
              </a:rPr>
              <a:t> .</a:t>
            </a:r>
            <a:r>
              <a:rPr lang="it-IT" sz="1600" dirty="0" err="1">
                <a:solidFill>
                  <a:srgbClr val="F2F1EC"/>
                </a:solidFill>
                <a:latin typeface="JetBrains Mono" pitchFamily="49" charset="0"/>
                <a:ea typeface="JetBrains Mono" pitchFamily="49" charset="-122"/>
                <a:cs typeface="JetBrains Mono" pitchFamily="49" charset="-120"/>
              </a:rPr>
              <a:t>venv</a:t>
            </a:r>
            <a:r>
              <a:rPr lang="it-IT" sz="1600" dirty="0">
                <a:solidFill>
                  <a:srgbClr val="F2F1EC"/>
                </a:solidFill>
                <a:latin typeface="JetBrains Mono" pitchFamily="49" charset="0"/>
                <a:ea typeface="JetBrains Mono" pitchFamily="49" charset="-122"/>
                <a:cs typeface="JetBrains Mono" pitchFamily="49" charset="-120"/>
              </a:rPr>
              <a:t>    </a:t>
            </a:r>
            <a:r>
              <a:rPr lang="it-IT" sz="1600" dirty="0">
                <a:solidFill>
                  <a:srgbClr val="B9BDC3"/>
                </a:solidFill>
                <a:latin typeface="JetBrains Mono" pitchFamily="49" charset="0"/>
                <a:ea typeface="JetBrains Mono" pitchFamily="49" charset="-122"/>
                <a:cs typeface="JetBrains Mono" pitchFamily="49" charset="-120"/>
              </a:rPr>
              <a:t># Windows</a:t>
            </a:r>
            <a:endParaRPr lang="it-IT" sz="1600" noProof="0" dirty="0">
              <a:solidFill>
                <a:srgbClr val="F2F1EC"/>
              </a:solidFill>
              <a:latin typeface="JetBrains Mono" pitchFamily="49" charset="0"/>
              <a:ea typeface="JetBrains Mono" pitchFamily="49" charset="-122"/>
              <a:cs typeface="JetBrains Mono" pitchFamily="49" charset="-120"/>
            </a:endParaRPr>
          </a:p>
        </p:txBody>
      </p:sp>
      <p:cxnSp>
        <p:nvCxnSpPr>
          <p:cNvPr id="712" name="Rule 713"/>
          <p:cNvCxnSpPr/>
          <p:nvPr/>
        </p:nvCxnSpPr>
        <p:spPr>
          <a:xfrm>
            <a:off x="812800" y="3726314"/>
            <a:ext cx="10871200" cy="0"/>
          </a:xfrm>
          <a:prstGeom prst="line">
            <a:avLst/>
          </a:prstGeom>
          <a:ln w="12700">
            <a:solidFill>
              <a:srgbClr val="E1E0DD"/>
            </a:solidFill>
          </a:ln>
        </p:spPr>
      </p:cxnSp>
      <p:sp>
        <p:nvSpPr>
          <p:cNvPr id="713" name="Step 714"/>
          <p:cNvSpPr txBox="1"/>
          <p:nvPr/>
        </p:nvSpPr>
        <p:spPr>
          <a:xfrm>
            <a:off x="812800" y="3802514"/>
            <a:ext cx="508000" cy="660400"/>
          </a:xfrm>
          <a:prstGeom prst="rect">
            <a:avLst/>
          </a:prstGeom>
          <a:noFill/>
          <a:ln>
            <a:noFill/>
          </a:ln>
        </p:spPr>
        <p:txBody>
          <a:bodyPr wrap="square" lIns="0" tIns="0" rIns="0" bIns="0" rtlCol="0" anchor="ctr">
            <a:noAutofit/>
          </a:bodyPr>
          <a:lstStyle/>
          <a:p>
            <a:pPr marL="0" indent="0" algn="l">
              <a:lnSpc>
                <a:spcPct val="100000"/>
              </a:lnSpc>
              <a:buNone/>
            </a:pPr>
            <a:r>
              <a:rPr lang="it-IT" sz="1600" noProof="0" dirty="0">
                <a:solidFill>
                  <a:srgbClr val="2B6CA3"/>
                </a:solidFill>
                <a:latin typeface="JetBrains Mono" pitchFamily="49" charset="0"/>
                <a:ea typeface="JetBrains Mono" pitchFamily="49" charset="-122"/>
                <a:cs typeface="JetBrains Mono" pitchFamily="49" charset="-120"/>
              </a:rPr>
              <a:t>02</a:t>
            </a:r>
          </a:p>
        </p:txBody>
      </p:sp>
      <p:sp>
        <p:nvSpPr>
          <p:cNvPr id="714" name="Step 715"/>
          <p:cNvSpPr txBox="1"/>
          <p:nvPr/>
        </p:nvSpPr>
        <p:spPr>
          <a:xfrm>
            <a:off x="1371600" y="3802514"/>
            <a:ext cx="3683000" cy="660400"/>
          </a:xfrm>
          <a:prstGeom prst="rect">
            <a:avLst/>
          </a:prstGeom>
          <a:noFill/>
          <a:ln>
            <a:noFill/>
          </a:ln>
        </p:spPr>
        <p:txBody>
          <a:bodyPr wrap="square" lIns="0" tIns="0" rIns="0" bIns="0" rtlCol="0" anchor="ctr">
            <a:noAutofit/>
          </a:bodyPr>
          <a:lstStyle/>
          <a:p>
            <a:pPr marL="0" indent="0" algn="l">
              <a:lnSpc>
                <a:spcPct val="100000"/>
              </a:lnSpc>
              <a:buNone/>
            </a:pPr>
            <a:r>
              <a:rPr lang="it-IT" sz="1800" b="1" noProof="0" dirty="0">
                <a:solidFill>
                  <a:srgbClr val="1B1D20"/>
                </a:solidFill>
                <a:latin typeface="IBM Plex Sans" pitchFamily="34" charset="0"/>
                <a:ea typeface="IBM Plex Sans" pitchFamily="34" charset="-122"/>
                <a:cs typeface="IBM Plex Sans" pitchFamily="34" charset="-120"/>
              </a:rPr>
              <a:t>Attiviamo il venv</a:t>
            </a:r>
          </a:p>
        </p:txBody>
      </p:sp>
      <p:sp>
        <p:nvSpPr>
          <p:cNvPr id="715" name="Step 716"/>
          <p:cNvSpPr/>
          <p:nvPr/>
        </p:nvSpPr>
        <p:spPr>
          <a:xfrm>
            <a:off x="5130800" y="3802514"/>
            <a:ext cx="6553200" cy="660400"/>
          </a:xfrm>
          <a:prstGeom prst="rect">
            <a:avLst/>
          </a:prstGeom>
          <a:solidFill>
            <a:srgbClr val="17191C"/>
          </a:solidFill>
          <a:ln>
            <a:noFill/>
          </a:ln>
        </p:spPr>
        <p:txBody>
          <a:bodyPr wrap="square" lIns="152400" tIns="0" rIns="152400" bIns="0" rtlCol="0" anchor="ctr">
            <a:noAutofit/>
          </a:bodyPr>
          <a:lstStyle/>
          <a:p>
            <a:pPr marL="0" indent="0" algn="l">
              <a:lnSpc>
                <a:spcPct val="100000"/>
              </a:lnSpc>
              <a:buNone/>
            </a:pPr>
            <a:r>
              <a:rPr lang="it-IT" sz="1600" noProof="0" dirty="0">
                <a:solidFill>
                  <a:srgbClr val="A8DC6E"/>
                </a:solidFill>
                <a:latin typeface="JetBrains Mono" pitchFamily="49" charset="0"/>
                <a:ea typeface="JetBrains Mono" pitchFamily="49" charset="-122"/>
                <a:cs typeface="JetBrains Mono" pitchFamily="49" charset="-120"/>
              </a:rPr>
              <a:t>$ </a:t>
            </a:r>
            <a:r>
              <a:rPr lang="it-IT" sz="1600" noProof="0" dirty="0">
                <a:solidFill>
                  <a:srgbClr val="F2F1EC"/>
                </a:solidFill>
                <a:latin typeface="JetBrains Mono" pitchFamily="49" charset="0"/>
                <a:ea typeface="JetBrains Mono" pitchFamily="49" charset="-122"/>
                <a:cs typeface="JetBrains Mono" pitchFamily="49" charset="-120"/>
              </a:rPr>
              <a:t>source .venv/bin/activate</a:t>
            </a:r>
            <a:r>
              <a:rPr lang="it-IT" sz="1600" noProof="0" dirty="0">
                <a:solidFill>
                  <a:srgbClr val="B9BDC3"/>
                </a:solidFill>
                <a:latin typeface="JetBrains Mono" pitchFamily="49" charset="0"/>
                <a:ea typeface="JetBrains Mono" pitchFamily="49" charset="-122"/>
                <a:cs typeface="JetBrains Mono" pitchFamily="49" charset="-120"/>
              </a:rPr>
              <a:t>  # Linux/macOS</a:t>
            </a:r>
          </a:p>
          <a:p>
            <a:pPr marL="0" indent="0" algn="l">
              <a:lnSpc>
                <a:spcPct val="100000"/>
              </a:lnSpc>
              <a:buNone/>
            </a:pPr>
            <a:r>
              <a:rPr lang="it-IT" sz="1600" noProof="0" dirty="0">
                <a:solidFill>
                  <a:srgbClr val="A8DC6E"/>
                </a:solidFill>
                <a:latin typeface="JetBrains Mono" pitchFamily="49" charset="0"/>
                <a:ea typeface="JetBrains Mono" pitchFamily="49" charset="-122"/>
                <a:cs typeface="JetBrains Mono" pitchFamily="49" charset="-120"/>
              </a:rPr>
              <a:t>&gt; </a:t>
            </a:r>
            <a:r>
              <a:rPr lang="it-IT" sz="1600" noProof="0" dirty="0">
                <a:solidFill>
                  <a:srgbClr val="F2F1EC"/>
                </a:solidFill>
                <a:latin typeface="JetBrains Mono" pitchFamily="49" charset="0"/>
                <a:ea typeface="JetBrains Mono" pitchFamily="49" charset="-122"/>
                <a:cs typeface="JetBrains Mono" pitchFamily="49" charset="-120"/>
              </a:rPr>
              <a:t>.venv\Scripts\Activate.ps1</a:t>
            </a:r>
            <a:r>
              <a:rPr lang="it-IT" sz="1600" noProof="0" dirty="0">
                <a:solidFill>
                  <a:srgbClr val="B9BDC3"/>
                </a:solidFill>
                <a:latin typeface="JetBrains Mono" pitchFamily="49" charset="0"/>
                <a:ea typeface="JetBrains Mono" pitchFamily="49" charset="-122"/>
                <a:cs typeface="JetBrains Mono" pitchFamily="49" charset="-120"/>
              </a:rPr>
              <a:t>  # Windows</a:t>
            </a:r>
          </a:p>
        </p:txBody>
      </p:sp>
      <p:cxnSp>
        <p:nvCxnSpPr>
          <p:cNvPr id="716" name="Rule 717"/>
          <p:cNvCxnSpPr/>
          <p:nvPr/>
        </p:nvCxnSpPr>
        <p:spPr>
          <a:xfrm>
            <a:off x="812800" y="4539114"/>
            <a:ext cx="10871200" cy="0"/>
          </a:xfrm>
          <a:prstGeom prst="line">
            <a:avLst/>
          </a:prstGeom>
          <a:ln w="12700">
            <a:solidFill>
              <a:srgbClr val="E1E0DD"/>
            </a:solidFill>
          </a:ln>
        </p:spPr>
      </p:cxnSp>
      <p:sp>
        <p:nvSpPr>
          <p:cNvPr id="717" name="Step 718"/>
          <p:cNvSpPr txBox="1"/>
          <p:nvPr/>
        </p:nvSpPr>
        <p:spPr>
          <a:xfrm>
            <a:off x="812800" y="4615314"/>
            <a:ext cx="508000" cy="406400"/>
          </a:xfrm>
          <a:prstGeom prst="rect">
            <a:avLst/>
          </a:prstGeom>
          <a:noFill/>
          <a:ln>
            <a:noFill/>
          </a:ln>
        </p:spPr>
        <p:txBody>
          <a:bodyPr wrap="square" lIns="0" tIns="0" rIns="0" bIns="0" rtlCol="0" anchor="ctr">
            <a:noAutofit/>
          </a:bodyPr>
          <a:lstStyle/>
          <a:p>
            <a:pPr marL="0" indent="0" algn="l">
              <a:lnSpc>
                <a:spcPct val="100000"/>
              </a:lnSpc>
              <a:buNone/>
            </a:pPr>
            <a:r>
              <a:rPr lang="it-IT" sz="1600" noProof="0" dirty="0">
                <a:solidFill>
                  <a:srgbClr val="2B6CA3"/>
                </a:solidFill>
                <a:latin typeface="JetBrains Mono" pitchFamily="49" charset="0"/>
                <a:ea typeface="JetBrains Mono" pitchFamily="49" charset="-122"/>
                <a:cs typeface="JetBrains Mono" pitchFamily="49" charset="-120"/>
              </a:rPr>
              <a:t>03</a:t>
            </a:r>
          </a:p>
        </p:txBody>
      </p:sp>
      <p:sp>
        <p:nvSpPr>
          <p:cNvPr id="718" name="Step 719"/>
          <p:cNvSpPr txBox="1"/>
          <p:nvPr/>
        </p:nvSpPr>
        <p:spPr>
          <a:xfrm>
            <a:off x="1371600" y="4615314"/>
            <a:ext cx="3683000" cy="406400"/>
          </a:xfrm>
          <a:prstGeom prst="rect">
            <a:avLst/>
          </a:prstGeom>
          <a:noFill/>
          <a:ln>
            <a:noFill/>
          </a:ln>
        </p:spPr>
        <p:txBody>
          <a:bodyPr wrap="square" lIns="0" tIns="0" rIns="0" bIns="0" rtlCol="0" anchor="ctr">
            <a:noAutofit/>
          </a:bodyPr>
          <a:lstStyle/>
          <a:p>
            <a:pPr marL="0" indent="0" algn="l">
              <a:lnSpc>
                <a:spcPct val="100000"/>
              </a:lnSpc>
              <a:buNone/>
            </a:pPr>
            <a:r>
              <a:rPr lang="it-IT" sz="1800" b="1" noProof="0" dirty="0">
                <a:solidFill>
                  <a:srgbClr val="1B1D20"/>
                </a:solidFill>
                <a:latin typeface="IBM Plex Sans" pitchFamily="34" charset="0"/>
                <a:ea typeface="IBM Plex Sans" pitchFamily="34" charset="-122"/>
                <a:cs typeface="IBM Plex Sans" pitchFamily="34" charset="-120"/>
              </a:rPr>
              <a:t>Installiamo i requirements</a:t>
            </a:r>
          </a:p>
        </p:txBody>
      </p:sp>
      <p:sp>
        <p:nvSpPr>
          <p:cNvPr id="719" name="Step 720"/>
          <p:cNvSpPr/>
          <p:nvPr/>
        </p:nvSpPr>
        <p:spPr>
          <a:xfrm>
            <a:off x="5130800" y="4615314"/>
            <a:ext cx="6553200" cy="406400"/>
          </a:xfrm>
          <a:prstGeom prst="rect">
            <a:avLst/>
          </a:prstGeom>
          <a:solidFill>
            <a:srgbClr val="17191C"/>
          </a:solidFill>
          <a:ln>
            <a:noFill/>
          </a:ln>
        </p:spPr>
        <p:txBody>
          <a:bodyPr wrap="square" lIns="152400" tIns="0" rIns="152400" bIns="0" rtlCol="0" anchor="ctr">
            <a:noAutofit/>
          </a:bodyPr>
          <a:lstStyle/>
          <a:p>
            <a:pPr marL="0" indent="0" algn="l">
              <a:lnSpc>
                <a:spcPct val="100000"/>
              </a:lnSpc>
              <a:buNone/>
            </a:pPr>
            <a:r>
              <a:rPr lang="it-IT" sz="1600" noProof="0" dirty="0">
                <a:solidFill>
                  <a:srgbClr val="A8DC6E"/>
                </a:solidFill>
                <a:latin typeface="JetBrains Mono" pitchFamily="49" charset="0"/>
                <a:ea typeface="JetBrains Mono" pitchFamily="49" charset="-122"/>
                <a:cs typeface="JetBrains Mono" pitchFamily="49" charset="-120"/>
              </a:rPr>
              <a:t>$ </a:t>
            </a:r>
            <a:r>
              <a:rPr lang="it-IT" sz="1600" noProof="0" dirty="0">
                <a:solidFill>
                  <a:srgbClr val="F2F1EC"/>
                </a:solidFill>
                <a:latin typeface="JetBrains Mono" pitchFamily="49" charset="0"/>
                <a:ea typeface="JetBrains Mono" pitchFamily="49" charset="-122"/>
                <a:cs typeface="JetBrains Mono" pitchFamily="49" charset="-120"/>
              </a:rPr>
              <a:t>pip install -r requirements.txt</a:t>
            </a:r>
          </a:p>
        </p:txBody>
      </p:sp>
      <p:cxnSp>
        <p:nvCxnSpPr>
          <p:cNvPr id="720" name="Rule 721"/>
          <p:cNvCxnSpPr/>
          <p:nvPr/>
        </p:nvCxnSpPr>
        <p:spPr>
          <a:xfrm>
            <a:off x="812800" y="5097914"/>
            <a:ext cx="10871200" cy="0"/>
          </a:xfrm>
          <a:prstGeom prst="line">
            <a:avLst/>
          </a:prstGeom>
          <a:ln w="12700">
            <a:solidFill>
              <a:srgbClr val="E1E0DD"/>
            </a:solidFill>
          </a:ln>
        </p:spPr>
      </p:cxnSp>
      <p:sp>
        <p:nvSpPr>
          <p:cNvPr id="721" name="Step 722"/>
          <p:cNvSpPr txBox="1"/>
          <p:nvPr/>
        </p:nvSpPr>
        <p:spPr>
          <a:xfrm>
            <a:off x="812800" y="5174114"/>
            <a:ext cx="508000" cy="406400"/>
          </a:xfrm>
          <a:prstGeom prst="rect">
            <a:avLst/>
          </a:prstGeom>
          <a:noFill/>
          <a:ln>
            <a:noFill/>
          </a:ln>
        </p:spPr>
        <p:txBody>
          <a:bodyPr wrap="square" lIns="0" tIns="0" rIns="0" bIns="0" rtlCol="0" anchor="ctr">
            <a:noAutofit/>
          </a:bodyPr>
          <a:lstStyle/>
          <a:p>
            <a:pPr marL="0" indent="0" algn="l">
              <a:lnSpc>
                <a:spcPct val="100000"/>
              </a:lnSpc>
              <a:buNone/>
            </a:pPr>
            <a:r>
              <a:rPr lang="it-IT" sz="1600" noProof="0" dirty="0">
                <a:solidFill>
                  <a:srgbClr val="2B6CA3"/>
                </a:solidFill>
                <a:latin typeface="JetBrains Mono" pitchFamily="49" charset="0"/>
                <a:ea typeface="JetBrains Mono" pitchFamily="49" charset="-122"/>
                <a:cs typeface="JetBrains Mono" pitchFamily="49" charset="-120"/>
              </a:rPr>
              <a:t>04</a:t>
            </a:r>
          </a:p>
        </p:txBody>
      </p:sp>
      <p:sp>
        <p:nvSpPr>
          <p:cNvPr id="722" name="Step 723"/>
          <p:cNvSpPr txBox="1"/>
          <p:nvPr/>
        </p:nvSpPr>
        <p:spPr>
          <a:xfrm>
            <a:off x="1371600" y="5174114"/>
            <a:ext cx="3683000" cy="406400"/>
          </a:xfrm>
          <a:prstGeom prst="rect">
            <a:avLst/>
          </a:prstGeom>
          <a:noFill/>
          <a:ln>
            <a:noFill/>
          </a:ln>
        </p:spPr>
        <p:txBody>
          <a:bodyPr wrap="square" lIns="0" tIns="0" rIns="0" bIns="0" rtlCol="0" anchor="ctr">
            <a:noAutofit/>
          </a:bodyPr>
          <a:lstStyle/>
          <a:p>
            <a:pPr marL="0" indent="0" algn="l">
              <a:lnSpc>
                <a:spcPct val="100000"/>
              </a:lnSpc>
              <a:buNone/>
            </a:pPr>
            <a:r>
              <a:rPr lang="it-IT" sz="1800" b="1" noProof="0" dirty="0">
                <a:solidFill>
                  <a:srgbClr val="1B1D20"/>
                </a:solidFill>
                <a:latin typeface="IBM Plex Sans" pitchFamily="34" charset="0"/>
                <a:ea typeface="IBM Plex Sans" pitchFamily="34" charset="-122"/>
                <a:cs typeface="IBM Plex Sans" pitchFamily="34" charset="-120"/>
              </a:rPr>
              <a:t>Verifichiamo il setup</a:t>
            </a:r>
          </a:p>
        </p:txBody>
      </p:sp>
      <p:sp>
        <p:nvSpPr>
          <p:cNvPr id="723" name="Step 724"/>
          <p:cNvSpPr/>
          <p:nvPr/>
        </p:nvSpPr>
        <p:spPr>
          <a:xfrm>
            <a:off x="5130800" y="5174114"/>
            <a:ext cx="6553200" cy="406400"/>
          </a:xfrm>
          <a:prstGeom prst="rect">
            <a:avLst/>
          </a:prstGeom>
          <a:solidFill>
            <a:srgbClr val="17191C"/>
          </a:solidFill>
          <a:ln>
            <a:noFill/>
          </a:ln>
        </p:spPr>
        <p:txBody>
          <a:bodyPr wrap="square" lIns="152400" tIns="0" rIns="152400" bIns="0" rtlCol="0" anchor="ctr">
            <a:noAutofit/>
          </a:bodyPr>
          <a:lstStyle/>
          <a:p>
            <a:pPr marL="0" indent="0" algn="l">
              <a:lnSpc>
                <a:spcPct val="100000"/>
              </a:lnSpc>
              <a:buNone/>
            </a:pPr>
            <a:r>
              <a:rPr lang="it-IT" sz="1600" noProof="0" dirty="0">
                <a:solidFill>
                  <a:srgbClr val="A8DC6E"/>
                </a:solidFill>
                <a:latin typeface="JetBrains Mono" pitchFamily="49" charset="0"/>
                <a:ea typeface="JetBrains Mono" pitchFamily="49" charset="-122"/>
                <a:cs typeface="JetBrains Mono" pitchFamily="49" charset="-120"/>
              </a:rPr>
              <a:t>$ </a:t>
            </a:r>
            <a:r>
              <a:rPr lang="it-IT" sz="1600" noProof="0" dirty="0">
                <a:solidFill>
                  <a:srgbClr val="F2F1EC"/>
                </a:solidFill>
                <a:latin typeface="JetBrains Mono" pitchFamily="49" charset="0"/>
                <a:ea typeface="JetBrains Mono" pitchFamily="49" charset="-122"/>
                <a:cs typeface="JetBrains Mono" pitchFamily="49" charset="-120"/>
              </a:rPr>
              <a:t>python setup/verifica.py</a:t>
            </a:r>
          </a:p>
        </p:txBody>
      </p:sp>
      <p:cxnSp>
        <p:nvCxnSpPr>
          <p:cNvPr id="724" name="Rule 725"/>
          <p:cNvCxnSpPr/>
          <p:nvPr/>
        </p:nvCxnSpPr>
        <p:spPr>
          <a:xfrm>
            <a:off x="812800" y="5656714"/>
            <a:ext cx="10871200" cy="0"/>
          </a:xfrm>
          <a:prstGeom prst="line">
            <a:avLst/>
          </a:prstGeom>
          <a:ln w="12700">
            <a:solidFill>
              <a:srgbClr val="E1E0DD"/>
            </a:solidFill>
          </a:ln>
        </p:spPr>
      </p:cxnSp>
      <p:sp>
        <p:nvSpPr>
          <p:cNvPr id="740" name="Intro 740"/>
          <p:cNvSpPr txBox="1"/>
          <p:nvPr/>
        </p:nvSpPr>
        <p:spPr>
          <a:xfrm>
            <a:off x="812800" y="1854200"/>
            <a:ext cx="10871200" cy="685800"/>
          </a:xfrm>
          <a:prstGeom prst="rect">
            <a:avLst/>
          </a:prstGeom>
          <a:noFill/>
          <a:ln>
            <a:noFill/>
          </a:ln>
        </p:spPr>
        <p:txBody>
          <a:bodyPr wrap="square" lIns="0" tIns="0" rIns="0" bIns="0" rtlCol="0" anchor="t">
            <a:noAutofit/>
          </a:bodyPr>
          <a:lstStyle/>
          <a:p>
            <a:pPr marL="0" indent="0" algn="l">
              <a:lnSpc>
                <a:spcPct val="100000"/>
              </a:lnSpc>
              <a:buNone/>
            </a:pPr>
            <a:r>
              <a:rPr lang="it-IT" sz="1800" b="1" noProof="0" dirty="0">
                <a:solidFill>
                  <a:srgbClr val="1B1D20"/>
                </a:solidFill>
                <a:latin typeface="IBM Plex Sans" pitchFamily="34" charset="0"/>
                <a:ea typeface="IBM Plex Sans" pitchFamily="34" charset="-122"/>
                <a:cs typeface="IBM Plex Sans" pitchFamily="34" charset="-120"/>
              </a:rPr>
              <a:t>Non è necessario per eseguire Kathará,</a:t>
            </a:r>
            <a:r>
              <a:rPr lang="it-IT" sz="1800" noProof="0" dirty="0">
                <a:solidFill>
                  <a:srgbClr val="1B1D20"/>
                </a:solidFill>
                <a:latin typeface="IBM Plex Sans" pitchFamily="34" charset="0"/>
                <a:ea typeface="IBM Plex Sans" pitchFamily="34" charset="-122"/>
                <a:cs typeface="IBM Plex Sans" pitchFamily="34" charset="-120"/>
              </a:rPr>
              <a:t> ma gli esercizi usano </a:t>
            </a:r>
            <a:r>
              <a:rPr lang="it-IT" sz="1800" b="1" noProof="0" dirty="0">
                <a:solidFill>
                  <a:srgbClr val="1B1D20"/>
                </a:solidFill>
                <a:latin typeface="JetBrains Mono" pitchFamily="49" charset="0"/>
                <a:ea typeface="JetBrains Mono" pitchFamily="49" charset="-122"/>
                <a:cs typeface="JetBrains Mono" pitchFamily="49" charset="-120"/>
              </a:rPr>
              <a:t>kathara-lab-checker</a:t>
            </a:r>
            <a:r>
              <a:rPr lang="it-IT" sz="1800" noProof="0" dirty="0">
                <a:solidFill>
                  <a:srgbClr val="1B1D20"/>
                </a:solidFill>
                <a:latin typeface="IBM Plex Sans" pitchFamily="34" charset="0"/>
                <a:ea typeface="IBM Plex Sans" pitchFamily="34" charset="-122"/>
                <a:cs typeface="IBM Plex Sans" pitchFamily="34" charset="-120"/>
              </a:rPr>
              <a:t>, un tool Python che corregge automaticamente i lab che svolgiamo durante i test.</a:t>
            </a:r>
          </a:p>
        </p:txBody>
      </p:sp>
    </p:spTree>
    <p:extLst>
      <p:ext uri="{BB962C8B-B14F-4D97-AF65-F5344CB8AC3E}">
        <p14:creationId xmlns:p14="http://schemas.microsoft.com/office/powerpoint/2010/main" val="1483330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B1D20"/>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kathara-lab-checker: la correzione automatica</a:t>
            </a:r>
            <a:endParaRPr lang="it-IT" sz="4000" noProof="0" dirty="0"/>
          </a:p>
        </p:txBody>
      </p:sp>
      <p:sp>
        <p:nvSpPr>
          <p:cNvPr id="900" name="Text 900"/>
          <p:cNvSpPr txBox="1"/>
          <p:nvPr/>
        </p:nvSpPr>
        <p:spPr>
          <a:xfrm>
            <a:off x="812800" y="1752600"/>
            <a:ext cx="2794000" cy="228600"/>
          </a:xfrm>
          <a:prstGeom prst="rect">
            <a:avLst/>
          </a:prstGeom>
          <a:noFill/>
          <a:ln>
            <a:noFill/>
          </a:ln>
        </p:spPr>
        <p:txBody>
          <a:bodyPr wrap="square" lIns="0" tIns="0" rIns="0" bIns="0" rtlCol="0" anchor="t">
            <a:noAutofit/>
          </a:bodyPr>
          <a:lstStyle/>
          <a:p>
            <a:pPr marL="0" indent="0" algn="l">
              <a:lnSpc>
                <a:spcPct val="100000"/>
              </a:lnSpc>
              <a:buNone/>
            </a:pPr>
            <a:r>
              <a:rPr lang="it-IT" sz="1200" noProof="0" dirty="0">
                <a:solidFill>
                  <a:srgbClr val="525355"/>
                </a:solidFill>
                <a:latin typeface="JetBrains Mono" pitchFamily="49" charset="0"/>
                <a:ea typeface="JetBrains Mono" pitchFamily="49" charset="-122"/>
                <a:cs typeface="JetBrains Mono" pitchFamily="49" charset="-120"/>
              </a:rPr>
              <a:t>correction.yaml</a:t>
            </a:r>
          </a:p>
        </p:txBody>
      </p:sp>
      <p:sp>
        <p:nvSpPr>
          <p:cNvPr id="901" name="Code yaml 901"/>
          <p:cNvSpPr txBox="1"/>
          <p:nvPr/>
        </p:nvSpPr>
        <p:spPr>
          <a:xfrm>
            <a:off x="812800" y="2006600"/>
            <a:ext cx="3200400" cy="2717800"/>
          </a:xfrm>
          <a:prstGeom prst="rect">
            <a:avLst/>
          </a:prstGeom>
          <a:solidFill>
            <a:srgbClr val="17191C"/>
          </a:solidFill>
          <a:ln>
            <a:noFill/>
          </a:ln>
        </p:spPr>
        <p:txBody>
          <a:bodyPr wrap="square" lIns="152400" tIns="139700" rIns="152400" bIns="139700" rtlCol="0" anchor="t">
            <a:noAutofit/>
          </a:bodyPr>
          <a:lstStyle/>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test:</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ip_mapping:</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pc1:</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"0": </a:t>
            </a:r>
            <a:r>
              <a:rPr lang="it-IT" sz="1300" noProof="0" dirty="0">
                <a:solidFill>
                  <a:srgbClr val="F2F1EC"/>
                </a:solidFill>
                <a:latin typeface="JetBrains Mono" pitchFamily="49" charset="0"/>
                <a:ea typeface="JetBrains Mono" pitchFamily="49" charset="-122"/>
                <a:cs typeface="JetBrains Mono" pitchFamily="49" charset="-120"/>
              </a:rPr>
              <a:t>192.168.1.10/24</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r1:</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"0": </a:t>
            </a:r>
            <a:r>
              <a:rPr lang="it-IT" sz="1300" noProof="0" dirty="0">
                <a:solidFill>
                  <a:srgbClr val="F2F1EC"/>
                </a:solidFill>
                <a:latin typeface="JetBrains Mono" pitchFamily="49" charset="0"/>
                <a:ea typeface="JetBrains Mono" pitchFamily="49" charset="-122"/>
                <a:cs typeface="JetBrains Mono" pitchFamily="49" charset="-120"/>
              </a:rPr>
              <a:t>192.168.1.1/24</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"1": </a:t>
            </a:r>
            <a:r>
              <a:rPr lang="it-IT" sz="1300" noProof="0" dirty="0">
                <a:solidFill>
                  <a:srgbClr val="F2F1EC"/>
                </a:solidFill>
                <a:latin typeface="JetBrains Mono" pitchFamily="49" charset="0"/>
                <a:ea typeface="JetBrains Mono" pitchFamily="49" charset="-122"/>
                <a:cs typeface="JetBrains Mono" pitchFamily="49" charset="-120"/>
              </a:rPr>
              <a:t>10.0.12.1/30</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r2:</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"0": </a:t>
            </a:r>
            <a:r>
              <a:rPr lang="it-IT" sz="1300" noProof="0" dirty="0">
                <a:solidFill>
                  <a:srgbClr val="F2F1EC"/>
                </a:solidFill>
                <a:latin typeface="JetBrains Mono" pitchFamily="49" charset="0"/>
                <a:ea typeface="JetBrains Mono" pitchFamily="49" charset="-122"/>
                <a:cs typeface="JetBrains Mono" pitchFamily="49" charset="-120"/>
              </a:rPr>
              <a:t>10.0.12.2/30</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"1": </a:t>
            </a:r>
            <a:r>
              <a:rPr lang="it-IT" sz="1300" noProof="0" dirty="0">
                <a:solidFill>
                  <a:srgbClr val="F2F1EC"/>
                </a:solidFill>
                <a:latin typeface="JetBrains Mono" pitchFamily="49" charset="0"/>
                <a:ea typeface="JetBrains Mono" pitchFamily="49" charset="-122"/>
                <a:cs typeface="JetBrains Mono" pitchFamily="49" charset="-120"/>
              </a:rPr>
              <a:t>192.168.2.1/24</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pc2:</a:t>
            </a:r>
          </a:p>
          <a:p>
            <a:pPr marL="0" indent="0" algn="l">
              <a:lnSpc>
                <a:spcPct val="100000"/>
              </a:lnSpc>
              <a:buNone/>
            </a:pPr>
            <a:r>
              <a:rPr lang="it-IT" sz="1300" noProof="0" dirty="0">
                <a:solidFill>
                  <a:srgbClr val="8FB8DE"/>
                </a:solidFill>
                <a:latin typeface="JetBrains Mono" pitchFamily="49" charset="0"/>
                <a:ea typeface="JetBrains Mono" pitchFamily="49" charset="-122"/>
                <a:cs typeface="JetBrains Mono" pitchFamily="49" charset="-120"/>
              </a:rPr>
              <a:t>      "0": </a:t>
            </a:r>
            <a:r>
              <a:rPr lang="it-IT" sz="1300" noProof="0" dirty="0">
                <a:solidFill>
                  <a:srgbClr val="F2F1EC"/>
                </a:solidFill>
                <a:latin typeface="JetBrains Mono" pitchFamily="49" charset="0"/>
                <a:ea typeface="JetBrains Mono" pitchFamily="49" charset="-122"/>
                <a:cs typeface="JetBrains Mono" pitchFamily="49" charset="-120"/>
              </a:rPr>
              <a:t>192.168.2.10/24</a:t>
            </a:r>
          </a:p>
        </p:txBody>
      </p:sp>
      <p:sp>
        <p:nvSpPr>
          <p:cNvPr id="902" name="Text 902"/>
          <p:cNvSpPr txBox="1"/>
          <p:nvPr/>
        </p:nvSpPr>
        <p:spPr>
          <a:xfrm>
            <a:off x="4216400" y="1752600"/>
            <a:ext cx="3810000" cy="228600"/>
          </a:xfrm>
          <a:prstGeom prst="rect">
            <a:avLst/>
          </a:prstGeom>
          <a:noFill/>
          <a:ln>
            <a:noFill/>
          </a:ln>
        </p:spPr>
        <p:txBody>
          <a:bodyPr wrap="square" lIns="0" tIns="0" rIns="0" bIns="0" rtlCol="0" anchor="t">
            <a:noAutofit/>
          </a:bodyPr>
          <a:lstStyle/>
          <a:p>
            <a:pPr marL="0" indent="0" algn="l">
              <a:lnSpc>
                <a:spcPct val="100000"/>
              </a:lnSpc>
              <a:buNone/>
            </a:pPr>
            <a:r>
              <a:rPr lang="it-IT" sz="1200" noProof="0" dirty="0">
                <a:solidFill>
                  <a:srgbClr val="525355"/>
                </a:solidFill>
                <a:latin typeface="JetBrains Mono" pitchFamily="49" charset="0"/>
                <a:ea typeface="JetBrains Mono" pitchFamily="49" charset="-122"/>
                <a:cs typeface="JetBrains Mono" pitchFamily="49" charset="-120"/>
              </a:rPr>
              <a:t>output del checker</a:t>
            </a:r>
          </a:p>
        </p:txBody>
      </p:sp>
      <p:sp>
        <p:nvSpPr>
          <p:cNvPr id="903" name="Code output 903"/>
          <p:cNvSpPr txBox="1"/>
          <p:nvPr/>
        </p:nvSpPr>
        <p:spPr>
          <a:xfrm>
            <a:off x="4216400" y="2006600"/>
            <a:ext cx="7467600" cy="2717800"/>
          </a:xfrm>
          <a:prstGeom prst="rect">
            <a:avLst/>
          </a:prstGeom>
          <a:solidFill>
            <a:srgbClr val="17191C"/>
          </a:solidFill>
          <a:ln>
            <a:noFill/>
          </a:ln>
        </p:spPr>
        <p:txBody>
          <a:bodyPr wrap="square" lIns="152400" tIns="139700" rIns="152400" bIns="139700" rtlCol="0" anchor="ctr">
            <a:noAutofit/>
          </a:bodyPr>
          <a:lstStyle/>
          <a:p>
            <a:pPr marL="0" indent="0" algn="l">
              <a:lnSpc>
                <a:spcPct val="100000"/>
              </a:lnSpc>
              <a:buNone/>
            </a:pPr>
            <a:r>
              <a:rPr lang="it-IT" sz="1300" noProof="0" dirty="0">
                <a:solidFill>
                  <a:srgbClr val="8A8F96"/>
                </a:solidFill>
                <a:latin typeface="JetBrains Mono" pitchFamily="49" charset="0"/>
                <a:ea typeface="JetBrains Mono" pitchFamily="49" charset="-122"/>
                <a:cs typeface="JetBrains Mono" pitchFamily="49" charset="-120"/>
              </a:rPr>
              <a:t>Verifying the IP addresses assigned to devices...</a:t>
            </a:r>
          </a:p>
          <a:p>
            <a:pPr marL="0" indent="0" algn="l">
              <a:lnSpc>
                <a:spcPct val="100000"/>
              </a:lnSpc>
              <a:buNone/>
            </a:pPr>
            <a:r>
              <a:rPr lang="it-IT" sz="1300" noProof="0" dirty="0">
                <a:solidFill>
                  <a:srgbClr val="8A8F96"/>
                </a:solidFill>
                <a:latin typeface="JetBrains Mono" pitchFamily="49" charset="0"/>
                <a:ea typeface="JetBrains Mono" pitchFamily="49" charset="-122"/>
                <a:cs typeface="JetBrains Mono" pitchFamily="49" charset="-120"/>
              </a:rPr>
              <a:t>Checking IPs for `pc1`...</a:t>
            </a:r>
          </a:p>
          <a:p>
            <a:r>
              <a:rPr lang="en-GB" sz="1300" dirty="0">
                <a:solidFill>
                  <a:srgbClr val="F2F1EC"/>
                </a:solidFill>
                <a:latin typeface="JetBrains Mono" pitchFamily="49" charset="0"/>
                <a:ea typeface="JetBrains Mono" pitchFamily="49" charset="-122"/>
                <a:cs typeface="JetBrains Mono" pitchFamily="49" charset="-120"/>
              </a:rPr>
              <a:t>Verifying the IP address (192.168.1.10/24) assigned to eth0 of pc1: </a:t>
            </a:r>
            <a:r>
              <a:rPr lang="en-GB" sz="1300" dirty="0">
                <a:solidFill>
                  <a:srgbClr val="FF0000"/>
                </a:solidFill>
                <a:latin typeface="JetBrains Mono" pitchFamily="49" charset="0"/>
                <a:ea typeface="JetBrains Mono" pitchFamily="49" charset="-122"/>
                <a:cs typeface="JetBrains Mono" pitchFamily="49" charset="-120"/>
              </a:rPr>
              <a:t>The interface `eth0` of `pc1` has the following IP addresses: ['192.168.1.12/24’]`</a:t>
            </a:r>
            <a:r>
              <a:rPr lang="en-GB" sz="1300" dirty="0">
                <a:solidFill>
                  <a:srgbClr val="F2F1EC"/>
                </a:solidFill>
                <a:latin typeface="JetBrains Mono" pitchFamily="49" charset="0"/>
                <a:ea typeface="JetBrains Mono" pitchFamily="49" charset="-122"/>
                <a:cs typeface="JetBrains Mono" pitchFamily="49" charset="-120"/>
              </a:rPr>
              <a:t>.</a:t>
            </a:r>
          </a:p>
          <a:p>
            <a:r>
              <a:rPr lang="it-IT" sz="1300" noProof="0" dirty="0">
                <a:solidFill>
                  <a:srgbClr val="8A8F96"/>
                </a:solidFill>
                <a:latin typeface="JetBrains Mono" pitchFamily="49" charset="0"/>
                <a:ea typeface="JetBrains Mono" pitchFamily="49" charset="-122"/>
                <a:cs typeface="JetBrains Mono" pitchFamily="49" charset="-120"/>
              </a:rPr>
              <a:t>Checking IPs for `r1`...</a:t>
            </a:r>
          </a:p>
          <a:p>
            <a:pPr marL="0" indent="0" algn="l">
              <a:lnSpc>
                <a:spcPct val="100000"/>
              </a:lnSpc>
              <a:buNone/>
            </a:pPr>
            <a:r>
              <a:rPr lang="it-IT" sz="1300" noProof="0" dirty="0">
                <a:solidFill>
                  <a:srgbClr val="F2F1EC"/>
                </a:solidFill>
                <a:latin typeface="JetBrains Mono" pitchFamily="49" charset="0"/>
                <a:ea typeface="JetBrains Mono" pitchFamily="49" charset="-122"/>
                <a:cs typeface="JetBrains Mono" pitchFamily="49" charset="-120"/>
              </a:rPr>
              <a:t>Verifying the IP address (192.168.1.1/24) assigned to eth0 of r1:  </a:t>
            </a:r>
            <a:r>
              <a:rPr lang="it-IT" sz="1300" noProof="0" dirty="0">
                <a:solidFill>
                  <a:srgbClr val="A8DC6E"/>
                </a:solidFill>
                <a:latin typeface="JetBrains Mono" pitchFamily="49" charset="0"/>
                <a:ea typeface="JetBrains Mono" pitchFamily="49" charset="-122"/>
                <a:cs typeface="JetBrains Mono" pitchFamily="49" charset="-120"/>
              </a:rPr>
              <a:t>OK</a:t>
            </a:r>
          </a:p>
          <a:p>
            <a:pPr marL="0" indent="0" algn="l">
              <a:lnSpc>
                <a:spcPct val="100000"/>
              </a:lnSpc>
              <a:buNone/>
            </a:pPr>
            <a:r>
              <a:rPr lang="it-IT" sz="1300" noProof="0" dirty="0">
                <a:solidFill>
                  <a:srgbClr val="F2F1EC"/>
                </a:solidFill>
                <a:latin typeface="JetBrains Mono" pitchFamily="49" charset="0"/>
                <a:ea typeface="JetBrains Mono" pitchFamily="49" charset="-122"/>
                <a:cs typeface="JetBrains Mono" pitchFamily="49" charset="-120"/>
              </a:rPr>
              <a:t>Verifying the IP address (10.0.12.1/30) assigned to eth1 of r1:  </a:t>
            </a:r>
            <a:r>
              <a:rPr lang="it-IT" sz="1300" noProof="0" dirty="0">
                <a:solidFill>
                  <a:srgbClr val="A8DC6E"/>
                </a:solidFill>
                <a:latin typeface="JetBrains Mono" pitchFamily="49" charset="0"/>
                <a:ea typeface="JetBrains Mono" pitchFamily="49" charset="-122"/>
                <a:cs typeface="JetBrains Mono" pitchFamily="49" charset="-120"/>
              </a:rPr>
              <a:t>OK</a:t>
            </a:r>
          </a:p>
          <a:p>
            <a:pPr marL="0" indent="0" algn="l">
              <a:lnSpc>
                <a:spcPct val="100000"/>
              </a:lnSpc>
              <a:buNone/>
            </a:pPr>
            <a:r>
              <a:rPr lang="it-IT" sz="1300" noProof="0" dirty="0">
                <a:solidFill>
                  <a:srgbClr val="8A8F96"/>
                </a:solidFill>
                <a:latin typeface="JetBrains Mono" pitchFamily="49" charset="0"/>
                <a:ea typeface="JetBrains Mono" pitchFamily="49" charset="-122"/>
                <a:cs typeface="JetBrains Mono" pitchFamily="49" charset="-120"/>
              </a:rPr>
              <a:t>Checking IPs for `r2`...</a:t>
            </a:r>
          </a:p>
          <a:p>
            <a:pPr marL="0" indent="0" algn="l">
              <a:lnSpc>
                <a:spcPct val="100000"/>
              </a:lnSpc>
              <a:buNone/>
            </a:pPr>
            <a:r>
              <a:rPr lang="it-IT" sz="1300" noProof="0" dirty="0">
                <a:solidFill>
                  <a:srgbClr val="F2F1EC"/>
                </a:solidFill>
                <a:latin typeface="JetBrains Mono" pitchFamily="49" charset="0"/>
                <a:ea typeface="JetBrains Mono" pitchFamily="49" charset="-122"/>
                <a:cs typeface="JetBrains Mono" pitchFamily="49" charset="-120"/>
              </a:rPr>
              <a:t>Verifying the IP address (10.0.12.2/30) assigned to eth0 of r2:  </a:t>
            </a:r>
            <a:r>
              <a:rPr lang="it-IT" sz="1300" noProof="0" dirty="0">
                <a:solidFill>
                  <a:srgbClr val="A8DC6E"/>
                </a:solidFill>
                <a:latin typeface="JetBrains Mono" pitchFamily="49" charset="0"/>
                <a:ea typeface="JetBrains Mono" pitchFamily="49" charset="-122"/>
                <a:cs typeface="JetBrains Mono" pitchFamily="49" charset="-120"/>
              </a:rPr>
              <a:t>OK</a:t>
            </a:r>
          </a:p>
          <a:p>
            <a:pPr marL="0" indent="0" algn="l">
              <a:lnSpc>
                <a:spcPct val="100000"/>
              </a:lnSpc>
              <a:buNone/>
            </a:pPr>
            <a:r>
              <a:rPr lang="it-IT" sz="1300" noProof="0" dirty="0">
                <a:solidFill>
                  <a:srgbClr val="F2F1EC"/>
                </a:solidFill>
                <a:latin typeface="JetBrains Mono" pitchFamily="49" charset="0"/>
                <a:ea typeface="JetBrains Mono" pitchFamily="49" charset="-122"/>
                <a:cs typeface="JetBrains Mono" pitchFamily="49" charset="-120"/>
              </a:rPr>
              <a:t>Verifying the IP address (192.168.2.1/24) assigned to eth1 of r2:  </a:t>
            </a:r>
            <a:r>
              <a:rPr lang="it-IT" sz="1300" noProof="0" dirty="0">
                <a:solidFill>
                  <a:srgbClr val="A8DC6E"/>
                </a:solidFill>
                <a:latin typeface="JetBrains Mono" pitchFamily="49" charset="0"/>
                <a:ea typeface="JetBrains Mono" pitchFamily="49" charset="-122"/>
                <a:cs typeface="JetBrains Mono" pitchFamily="49" charset="-120"/>
              </a:rPr>
              <a:t>OK</a:t>
            </a:r>
          </a:p>
          <a:p>
            <a:pPr marL="0" indent="0" algn="l">
              <a:lnSpc>
                <a:spcPct val="100000"/>
              </a:lnSpc>
              <a:buNone/>
            </a:pPr>
            <a:r>
              <a:rPr lang="it-IT" sz="1300" noProof="0" dirty="0">
                <a:solidFill>
                  <a:srgbClr val="8A8F96"/>
                </a:solidFill>
                <a:latin typeface="JetBrains Mono" pitchFamily="49" charset="0"/>
                <a:ea typeface="JetBrains Mono" pitchFamily="49" charset="-122"/>
                <a:cs typeface="JetBrains Mono" pitchFamily="49" charset="-120"/>
              </a:rPr>
              <a:t>Checking IPs for `pc2`...</a:t>
            </a:r>
          </a:p>
          <a:p>
            <a:pPr marL="0" indent="0" algn="l">
              <a:lnSpc>
                <a:spcPct val="100000"/>
              </a:lnSpc>
              <a:buNone/>
            </a:pPr>
            <a:r>
              <a:rPr lang="it-IT" sz="1300" noProof="0" dirty="0">
                <a:solidFill>
                  <a:srgbClr val="F2F1EC"/>
                </a:solidFill>
                <a:latin typeface="JetBrains Mono" pitchFamily="49" charset="0"/>
                <a:ea typeface="JetBrains Mono" pitchFamily="49" charset="-122"/>
                <a:cs typeface="JetBrains Mono" pitchFamily="49" charset="-120"/>
              </a:rPr>
              <a:t>Verifying the IP address (192.168.2.10/24) assigned to eth0 of pc2:  </a:t>
            </a:r>
            <a:r>
              <a:rPr lang="it-IT" sz="1300" noProof="0" dirty="0">
                <a:solidFill>
                  <a:srgbClr val="A8DC6E"/>
                </a:solidFill>
                <a:latin typeface="JetBrains Mono" pitchFamily="49" charset="0"/>
                <a:ea typeface="JetBrains Mono" pitchFamily="49" charset="-122"/>
                <a:cs typeface="JetBrains Mono" pitchFamily="49" charset="-120"/>
              </a:rPr>
              <a:t>OK</a:t>
            </a:r>
          </a:p>
        </p:txBody>
      </p:sp>
      <p:sp>
        <p:nvSpPr>
          <p:cNvPr id="904" name="Text 904"/>
          <p:cNvSpPr txBox="1"/>
          <p:nvPr/>
        </p:nvSpPr>
        <p:spPr>
          <a:xfrm>
            <a:off x="812800" y="5029200"/>
            <a:ext cx="3200400" cy="228600"/>
          </a:xfrm>
          <a:prstGeom prst="rect">
            <a:avLst/>
          </a:prstGeom>
          <a:noFill/>
          <a:ln>
            <a:noFill/>
          </a:ln>
        </p:spPr>
        <p:txBody>
          <a:bodyPr wrap="square" lIns="0" tIns="0" rIns="0" bIns="0" rtlCol="0" anchor="t">
            <a:noAutofit/>
          </a:bodyPr>
          <a:lstStyle/>
          <a:p>
            <a:pPr marL="0" indent="0" algn="l">
              <a:lnSpc>
                <a:spcPct val="100000"/>
              </a:lnSpc>
              <a:buNone/>
            </a:pPr>
            <a:r>
              <a:rPr lang="it-IT" sz="1400" noProof="0" dirty="0">
                <a:solidFill>
                  <a:srgbClr val="2B6CA3"/>
                </a:solidFill>
                <a:latin typeface="JetBrains Mono" pitchFamily="49" charset="0"/>
                <a:ea typeface="JetBrains Mono" pitchFamily="49" charset="-122"/>
                <a:cs typeface="JetBrains Mono" pitchFamily="49" charset="-120"/>
              </a:rPr>
              <a:t>File di configurazione</a:t>
            </a:r>
          </a:p>
        </p:txBody>
      </p:sp>
      <p:sp>
        <p:nvSpPr>
          <p:cNvPr id="905" name="Text 905"/>
          <p:cNvSpPr txBox="1"/>
          <p:nvPr/>
        </p:nvSpPr>
        <p:spPr>
          <a:xfrm>
            <a:off x="812800" y="5308600"/>
            <a:ext cx="3200400" cy="558800"/>
          </a:xfrm>
          <a:prstGeom prst="rect">
            <a:avLst/>
          </a:prstGeom>
          <a:noFill/>
          <a:ln>
            <a:noFill/>
          </a:ln>
        </p:spPr>
        <p:txBody>
          <a:bodyPr wrap="square" lIns="0" tIns="0" rIns="0" bIns="0" rtlCol="0" anchor="t">
            <a:noAutofit/>
          </a:bodyPr>
          <a:lstStyle/>
          <a:p>
            <a:pPr marL="0" indent="0" algn="l">
              <a:lnSpc>
                <a:spcPct val="105000"/>
              </a:lnSpc>
              <a:buNone/>
            </a:pPr>
            <a:r>
              <a:rPr lang="it-IT" sz="1600" noProof="0" dirty="0">
                <a:solidFill>
                  <a:srgbClr val="525355"/>
                </a:solidFill>
                <a:latin typeface="IBM Plex Sans" pitchFamily="34" charset="0"/>
                <a:ea typeface="IBM Plex Sans" pitchFamily="34" charset="-122"/>
                <a:cs typeface="IBM Plex Sans" pitchFamily="34" charset="-120"/>
              </a:rPr>
              <a:t>Specifica la tipologia di test e i risultati attesi</a:t>
            </a:r>
          </a:p>
        </p:txBody>
      </p:sp>
      <p:sp>
        <p:nvSpPr>
          <p:cNvPr id="906" name="Text 906"/>
          <p:cNvSpPr txBox="1"/>
          <p:nvPr/>
        </p:nvSpPr>
        <p:spPr>
          <a:xfrm>
            <a:off x="4216400" y="5029200"/>
            <a:ext cx="3429000" cy="228600"/>
          </a:xfrm>
          <a:prstGeom prst="rect">
            <a:avLst/>
          </a:prstGeom>
          <a:noFill/>
          <a:ln>
            <a:noFill/>
          </a:ln>
        </p:spPr>
        <p:txBody>
          <a:bodyPr wrap="square" lIns="0" tIns="0" rIns="0" bIns="0" rtlCol="0" anchor="t">
            <a:noAutofit/>
          </a:bodyPr>
          <a:lstStyle/>
          <a:p>
            <a:pPr marL="0" indent="0" algn="l">
              <a:lnSpc>
                <a:spcPct val="100000"/>
              </a:lnSpc>
              <a:buNone/>
            </a:pPr>
            <a:r>
              <a:rPr lang="it-IT" sz="1400" noProof="0" dirty="0">
                <a:solidFill>
                  <a:srgbClr val="2B6CA3"/>
                </a:solidFill>
                <a:latin typeface="JetBrains Mono" pitchFamily="49" charset="0"/>
                <a:ea typeface="JetBrains Mono" pitchFamily="49" charset="-122"/>
                <a:cs typeface="JetBrains Mono" pitchFamily="49" charset="-120"/>
              </a:rPr>
              <a:t>Verifica live</a:t>
            </a:r>
          </a:p>
        </p:txBody>
      </p:sp>
      <p:sp>
        <p:nvSpPr>
          <p:cNvPr id="907" name="Text 907"/>
          <p:cNvSpPr txBox="1"/>
          <p:nvPr/>
        </p:nvSpPr>
        <p:spPr>
          <a:xfrm>
            <a:off x="4216400" y="5308600"/>
            <a:ext cx="3429000" cy="558800"/>
          </a:xfrm>
          <a:prstGeom prst="rect">
            <a:avLst/>
          </a:prstGeom>
          <a:noFill/>
          <a:ln>
            <a:noFill/>
          </a:ln>
        </p:spPr>
        <p:txBody>
          <a:bodyPr wrap="square" lIns="0" tIns="0" rIns="0" bIns="0" rtlCol="0" anchor="t">
            <a:noAutofit/>
          </a:bodyPr>
          <a:lstStyle/>
          <a:p>
            <a:pPr marL="0" indent="0" algn="l">
              <a:lnSpc>
                <a:spcPct val="105000"/>
              </a:lnSpc>
              <a:buNone/>
            </a:pPr>
            <a:r>
              <a:rPr lang="it-IT" sz="1600" noProof="0" dirty="0">
                <a:solidFill>
                  <a:srgbClr val="525355"/>
                </a:solidFill>
                <a:latin typeface="IBM Plex Sans" pitchFamily="34" charset="0"/>
                <a:ea typeface="IBM Plex Sans" pitchFamily="34" charset="-122"/>
                <a:cs typeface="IBM Plex Sans" pitchFamily="34" charset="-120"/>
              </a:rPr>
              <a:t>Il </a:t>
            </a:r>
            <a:r>
              <a:rPr lang="it-IT" sz="1600" noProof="0" dirty="0" err="1">
                <a:solidFill>
                  <a:srgbClr val="525355"/>
                </a:solidFill>
                <a:latin typeface="IBM Plex Sans" pitchFamily="34" charset="0"/>
                <a:ea typeface="IBM Plex Sans" pitchFamily="34" charset="-122"/>
                <a:cs typeface="IBM Plex Sans" pitchFamily="34" charset="-120"/>
              </a:rPr>
              <a:t>checker</a:t>
            </a:r>
            <a:r>
              <a:rPr lang="it-IT" sz="1600" noProof="0" dirty="0">
                <a:solidFill>
                  <a:srgbClr val="525355"/>
                </a:solidFill>
                <a:latin typeface="IBM Plex Sans" pitchFamily="34" charset="0"/>
                <a:ea typeface="IBM Plex Sans" pitchFamily="34" charset="-122"/>
                <a:cs typeface="IBM Plex Sans" pitchFamily="34" charset="-120"/>
              </a:rPr>
              <a:t> avvia il laboratorio e controlla i risultati dei test a </a:t>
            </a:r>
            <a:r>
              <a:rPr lang="it-IT" sz="1600" noProof="0" dirty="0" err="1">
                <a:solidFill>
                  <a:srgbClr val="525355"/>
                </a:solidFill>
                <a:latin typeface="IBM Plex Sans" pitchFamily="34" charset="0"/>
                <a:ea typeface="IBM Plex Sans" pitchFamily="34" charset="-122"/>
                <a:cs typeface="IBM Plex Sans" pitchFamily="34" charset="-120"/>
              </a:rPr>
              <a:t>runtime</a:t>
            </a:r>
            <a:r>
              <a:rPr lang="it-IT" sz="1600" noProof="0" dirty="0">
                <a:solidFill>
                  <a:srgbClr val="525355"/>
                </a:solidFill>
                <a:latin typeface="IBM Plex Sans" pitchFamily="34" charset="0"/>
                <a:ea typeface="IBM Plex Sans" pitchFamily="34" charset="-122"/>
                <a:cs typeface="IBM Plex Sans" pitchFamily="34" charset="-120"/>
              </a:rPr>
              <a:t>.</a:t>
            </a:r>
          </a:p>
        </p:txBody>
      </p:sp>
      <p:sp>
        <p:nvSpPr>
          <p:cNvPr id="908" name="Text 908"/>
          <p:cNvSpPr txBox="1"/>
          <p:nvPr/>
        </p:nvSpPr>
        <p:spPr>
          <a:xfrm>
            <a:off x="7950200" y="5029200"/>
            <a:ext cx="3733800" cy="228600"/>
          </a:xfrm>
          <a:prstGeom prst="rect">
            <a:avLst/>
          </a:prstGeom>
          <a:noFill/>
          <a:ln>
            <a:noFill/>
          </a:ln>
        </p:spPr>
        <p:txBody>
          <a:bodyPr wrap="square" lIns="0" tIns="0" rIns="0" bIns="0" rtlCol="0" anchor="t">
            <a:noAutofit/>
          </a:bodyPr>
          <a:lstStyle/>
          <a:p>
            <a:pPr marL="0" indent="0" algn="l">
              <a:lnSpc>
                <a:spcPct val="100000"/>
              </a:lnSpc>
              <a:buNone/>
            </a:pPr>
            <a:r>
              <a:rPr lang="it-IT" sz="1400" noProof="0" dirty="0">
                <a:solidFill>
                  <a:srgbClr val="2B6CA3"/>
                </a:solidFill>
                <a:latin typeface="JetBrains Mono" pitchFamily="49" charset="0"/>
                <a:ea typeface="JetBrains Mono" pitchFamily="49" charset="-122"/>
                <a:cs typeface="JetBrains Mono" pitchFamily="49" charset="-120"/>
              </a:rPr>
              <a:t>Report per ogni test</a:t>
            </a:r>
          </a:p>
        </p:txBody>
      </p:sp>
      <p:sp>
        <p:nvSpPr>
          <p:cNvPr id="909" name="Text 909"/>
          <p:cNvSpPr txBox="1"/>
          <p:nvPr/>
        </p:nvSpPr>
        <p:spPr>
          <a:xfrm>
            <a:off x="7950200" y="5308600"/>
            <a:ext cx="3733800" cy="558800"/>
          </a:xfrm>
          <a:prstGeom prst="rect">
            <a:avLst/>
          </a:prstGeom>
          <a:noFill/>
          <a:ln>
            <a:noFill/>
          </a:ln>
        </p:spPr>
        <p:txBody>
          <a:bodyPr wrap="square" lIns="0" tIns="0" rIns="0" bIns="0" rtlCol="0" anchor="t">
            <a:noAutofit/>
          </a:bodyPr>
          <a:lstStyle/>
          <a:p>
            <a:pPr marL="0" indent="0" algn="l">
              <a:lnSpc>
                <a:spcPct val="105000"/>
              </a:lnSpc>
              <a:buNone/>
            </a:pPr>
            <a:r>
              <a:rPr lang="it-IT" sz="1600" noProof="0" dirty="0">
                <a:solidFill>
                  <a:srgbClr val="525355"/>
                </a:solidFill>
                <a:latin typeface="IBM Plex Sans" pitchFamily="34" charset="0"/>
                <a:ea typeface="IBM Plex Sans" pitchFamily="34" charset="-122"/>
                <a:cs typeface="IBM Plex Sans" pitchFamily="34" charset="-120"/>
              </a:rPr>
              <a:t>Per ogni test effettuato viene riportato l’esito. In caso di esito negativo viene riportata una motivazione.</a:t>
            </a:r>
          </a:p>
        </p:txBody>
      </p:sp>
    </p:spTree>
    <p:extLst>
      <p:ext uri="{BB962C8B-B14F-4D97-AF65-F5344CB8AC3E}">
        <p14:creationId xmlns:p14="http://schemas.microsoft.com/office/powerpoint/2010/main" val="1752750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3" name="Text 1"/>
          <p:cNvSpPr/>
          <p:nvPr/>
        </p:nvSpPr>
        <p:spPr>
          <a:xfrm>
            <a:off x="7454900" y="609600"/>
            <a:ext cx="3924300" cy="1905000"/>
          </a:xfrm>
          <a:prstGeom prst="rect">
            <a:avLst/>
          </a:prstGeom>
          <a:noFill/>
          <a:ln/>
        </p:spPr>
        <p:txBody>
          <a:bodyPr wrap="square" lIns="0" tIns="0" rIns="0" bIns="0" rtlCol="0" anchor="t">
            <a:normAutofit/>
          </a:bodyPr>
          <a:lstStyle/>
          <a:p>
            <a:pPr marL="0" indent="0" algn="r">
              <a:lnSpc>
                <a:spcPts val="12000"/>
              </a:lnSpc>
              <a:buNone/>
            </a:pPr>
            <a:r>
              <a:rPr lang="it-IT" sz="12000" b="1" noProof="0" dirty="0">
                <a:solidFill>
                  <a:srgbClr val="E1E0DD"/>
                </a:solidFill>
                <a:latin typeface="JetBrains Mono" pitchFamily="49" charset="0"/>
                <a:ea typeface="JetBrains Mono" pitchFamily="49" charset="-122"/>
                <a:cs typeface="JetBrains Mono" pitchFamily="49" charset="-120"/>
              </a:rPr>
              <a:t>01</a:t>
            </a:r>
            <a:endParaRPr lang="it-IT" sz="12000" noProof="0" dirty="0"/>
          </a:p>
        </p:txBody>
      </p:sp>
      <p:sp>
        <p:nvSpPr>
          <p:cNvPr id="4" name="Text 2"/>
          <p:cNvSpPr/>
          <p:nvPr/>
        </p:nvSpPr>
        <p:spPr>
          <a:xfrm>
            <a:off x="812800" y="1714500"/>
            <a:ext cx="10883900" cy="30480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4A7F1C"/>
                </a:solidFill>
                <a:latin typeface="JetBrains Mono" pitchFamily="49" charset="0"/>
                <a:ea typeface="JetBrains Mono" pitchFamily="49" charset="-122"/>
                <a:cs typeface="JetBrains Mono" pitchFamily="49" charset="-120"/>
              </a:rPr>
              <a:t>lab 1 /</a:t>
            </a:r>
            <a:endParaRPr lang="it-IT" sz="1600" noProof="0" dirty="0"/>
          </a:p>
        </p:txBody>
      </p:sp>
      <p:sp>
        <p:nvSpPr>
          <p:cNvPr id="5" name="Text 3"/>
          <p:cNvSpPr>
            <a:spLocks noGrp="1"/>
          </p:cNvSpPr>
          <p:nvPr>
            <p:ph type="title"/>
          </p:nvPr>
        </p:nvSpPr>
        <p:spPr>
          <a:xfrm>
            <a:off x="812800" y="2095500"/>
            <a:ext cx="10566400" cy="1778000"/>
          </a:xfrm>
          <a:prstGeom prst="rect">
            <a:avLst/>
          </a:prstGeom>
          <a:noFill/>
          <a:ln/>
        </p:spPr>
        <p:txBody>
          <a:bodyPr wrap="square" lIns="0" tIns="0" rIns="0" bIns="0" rtlCol="0" anchor="t">
            <a:normAutofit/>
          </a:bodyPr>
          <a:lstStyle/>
          <a:p>
            <a:pPr marL="0" indent="0" algn="l">
              <a:lnSpc>
                <a:spcPts val="7000"/>
              </a:lnSpc>
              <a:buNone/>
            </a:pPr>
            <a:r>
              <a:rPr lang="it-IT" sz="6000" b="1" i="0" noProof="0" dirty="0">
                <a:solidFill>
                  <a:srgbClr val="1B1D20"/>
                </a:solidFill>
                <a:latin typeface="IBM Plex Sans" pitchFamily="34" charset="0"/>
                <a:ea typeface="IBM Plex Sans" pitchFamily="34" charset="-122"/>
                <a:cs typeface="IBM Plex Sans" pitchFamily="34" charset="-120"/>
              </a:rPr>
              <a:t>Warmup</a:t>
            </a:r>
            <a:r>
              <a:rPr lang="it-IT" sz="6000" b="1" dirty="0"/>
              <a:t>: un semplice laboratorio</a:t>
            </a:r>
            <a:endParaRPr lang="it-IT" sz="6000" noProof="0" dirty="0"/>
          </a:p>
        </p:txBody>
      </p:sp>
      <p:sp>
        <p:nvSpPr>
          <p:cNvPr id="6" name="Text 4"/>
          <p:cNvSpPr/>
          <p:nvPr/>
        </p:nvSpPr>
        <p:spPr>
          <a:xfrm>
            <a:off x="812800" y="4152900"/>
            <a:ext cx="9156700" cy="381000"/>
          </a:xfrm>
          <a:prstGeom prst="rect">
            <a:avLst/>
          </a:prstGeom>
          <a:noFill/>
          <a:ln/>
        </p:spPr>
        <p:txBody>
          <a:bodyPr wrap="square" lIns="0" tIns="0" rIns="0" bIns="0" rtlCol="0" anchor="t">
            <a:normAutofit/>
          </a:bodyPr>
          <a:lstStyle/>
          <a:p>
            <a:pPr marL="0" indent="0" algn="l">
              <a:lnSpc>
                <a:spcPts val="2970"/>
              </a:lnSpc>
              <a:buNone/>
            </a:pPr>
            <a:r>
              <a:rPr lang="it-IT" sz="2200" noProof="0" dirty="0">
                <a:solidFill>
                  <a:srgbClr val="5B5F66"/>
                </a:solidFill>
                <a:latin typeface="IBM Plex Sans" pitchFamily="34" charset="0"/>
                <a:ea typeface="IBM Plex Sans" pitchFamily="34" charset="-122"/>
                <a:cs typeface="IBM Plex Sans" pitchFamily="34" charset="-120"/>
              </a:rPr>
              <a:t>Costruiamo un lab da zero con solo rotte statiche.</a:t>
            </a:r>
            <a:endParaRPr lang="it-IT" sz="2200" noProof="0" dirty="0"/>
          </a:p>
        </p:txBody>
      </p:sp>
      <p:sp>
        <p:nvSpPr>
          <p:cNvPr id="7" name="Text 5"/>
          <p:cNvSpPr/>
          <p:nvPr/>
        </p:nvSpPr>
        <p:spPr>
          <a:xfrm>
            <a:off x="812800" y="4838700"/>
            <a:ext cx="10883900" cy="27940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6B7078"/>
                </a:solidFill>
                <a:latin typeface="JetBrains Mono" pitchFamily="49" charset="0"/>
                <a:ea typeface="JetBrains Mono" pitchFamily="49" charset="-122"/>
                <a:cs typeface="JetBrains Mono" pitchFamily="49" charset="-120"/>
              </a:rPr>
              <a:t>lab1-statico/TRACCIA.md</a:t>
            </a:r>
            <a:endParaRPr lang="it-IT" sz="1600" noProof="0" dirty="0"/>
          </a:p>
        </p:txBody>
      </p:sp>
    </p:spTree>
    <p:extLst>
      <p:ext uri="{BB962C8B-B14F-4D97-AF65-F5344CB8AC3E}">
        <p14:creationId xmlns:p14="http://schemas.microsoft.com/office/powerpoint/2010/main" val="3319469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8">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La topologia: quattro dispositivi in linea</a:t>
            </a:r>
            <a:endParaRPr lang="it-IT" sz="4000" noProof="0" dirty="0"/>
          </a:p>
        </p:txBody>
      </p:sp>
      <p:pic>
        <p:nvPicPr>
          <p:cNvPr id="5" name="Image 0" descr="connector"/>
          <p:cNvPicPr>
            <a:picLocks noChangeAspect="1"/>
          </p:cNvPicPr>
          <p:nvPr/>
        </p:nvPicPr>
        <p:blipFill>
          <a:blip r:embed="rId3"/>
          <a:srcRect/>
          <a:stretch/>
        </p:blipFill>
        <p:spPr>
          <a:xfrm>
            <a:off x="2286000" y="2321558"/>
            <a:ext cx="1752600" cy="101600"/>
          </a:xfrm>
          <a:prstGeom prst="rect">
            <a:avLst/>
          </a:prstGeom>
        </p:spPr>
      </p:pic>
      <p:pic>
        <p:nvPicPr>
          <p:cNvPr id="6" name="Image 1" descr="connector"/>
          <p:cNvPicPr>
            <a:picLocks noChangeAspect="1"/>
          </p:cNvPicPr>
          <p:nvPr/>
        </p:nvPicPr>
        <p:blipFill>
          <a:blip r:embed="rId4"/>
          <a:srcRect/>
          <a:stretch/>
        </p:blipFill>
        <p:spPr>
          <a:xfrm>
            <a:off x="5207000" y="2321558"/>
            <a:ext cx="1765300" cy="101600"/>
          </a:xfrm>
          <a:prstGeom prst="rect">
            <a:avLst/>
          </a:prstGeom>
        </p:spPr>
      </p:pic>
      <p:pic>
        <p:nvPicPr>
          <p:cNvPr id="7" name="Image 2" descr="connector"/>
          <p:cNvPicPr>
            <a:picLocks noChangeAspect="1"/>
          </p:cNvPicPr>
          <p:nvPr/>
        </p:nvPicPr>
        <p:blipFill>
          <a:blip r:embed="rId4"/>
          <a:srcRect/>
          <a:stretch/>
        </p:blipFill>
        <p:spPr>
          <a:xfrm>
            <a:off x="8140700" y="2321558"/>
            <a:ext cx="1765300" cy="101600"/>
          </a:xfrm>
          <a:prstGeom prst="rect">
            <a:avLst/>
          </a:prstGeom>
        </p:spPr>
      </p:pic>
      <p:sp>
        <p:nvSpPr>
          <p:cNvPr id="8" name="Shape 3"/>
          <p:cNvSpPr/>
          <p:nvPr/>
        </p:nvSpPr>
        <p:spPr>
          <a:xfrm>
            <a:off x="1076325" y="2000883"/>
            <a:ext cx="1250950" cy="742950"/>
          </a:xfrm>
          <a:prstGeom prst="rect">
            <a:avLst/>
          </a:prstGeom>
          <a:solidFill>
            <a:srgbClr val="F7F6F2"/>
          </a:solidFill>
          <a:ln w="19050">
            <a:solidFill>
              <a:srgbClr val="1B1D20"/>
            </a:solidFill>
            <a:prstDash val="solid"/>
          </a:ln>
        </p:spPr>
        <p:txBody>
          <a:bodyPr/>
          <a:lstStyle/>
          <a:p>
            <a:endParaRPr lang="it-IT" noProof="0" dirty="0"/>
          </a:p>
        </p:txBody>
      </p:sp>
      <p:sp>
        <p:nvSpPr>
          <p:cNvPr id="9" name="Text 4"/>
          <p:cNvSpPr/>
          <p:nvPr/>
        </p:nvSpPr>
        <p:spPr>
          <a:xfrm>
            <a:off x="1414653" y="2112008"/>
            <a:ext cx="5742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1B1D20"/>
                </a:solidFill>
                <a:latin typeface="IBM Plex Sans" pitchFamily="34" charset="0"/>
                <a:ea typeface="IBM Plex Sans" pitchFamily="34" charset="-122"/>
                <a:cs typeface="IBM Plex Sans" pitchFamily="34" charset="-120"/>
              </a:rPr>
              <a:t>pc1</a:t>
            </a:r>
            <a:endParaRPr lang="it-IT" sz="2200" noProof="0" dirty="0"/>
          </a:p>
        </p:txBody>
      </p:sp>
      <p:sp>
        <p:nvSpPr>
          <p:cNvPr id="10" name="Text 5"/>
          <p:cNvSpPr/>
          <p:nvPr/>
        </p:nvSpPr>
        <p:spPr>
          <a:xfrm>
            <a:off x="1482344" y="2419350"/>
            <a:ext cx="438912"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err="1">
                <a:solidFill>
                  <a:srgbClr val="5B5F66"/>
                </a:solidFill>
                <a:latin typeface="JetBrains Mono" pitchFamily="49" charset="0"/>
                <a:ea typeface="JetBrains Mono" pitchFamily="49" charset="-122"/>
                <a:cs typeface="JetBrains Mono" pitchFamily="49" charset="-120"/>
              </a:rPr>
              <a:t>host</a:t>
            </a:r>
            <a:endParaRPr lang="it-IT" sz="1600" noProof="0" dirty="0"/>
          </a:p>
        </p:txBody>
      </p:sp>
      <p:sp>
        <p:nvSpPr>
          <p:cNvPr id="11" name="Shape 6"/>
          <p:cNvSpPr/>
          <p:nvPr/>
        </p:nvSpPr>
        <p:spPr>
          <a:xfrm>
            <a:off x="3987800" y="1991358"/>
            <a:ext cx="1270000" cy="762000"/>
          </a:xfrm>
          <a:prstGeom prst="rect">
            <a:avLst/>
          </a:prstGeom>
          <a:solidFill>
            <a:srgbClr val="1B1D20"/>
          </a:solidFill>
          <a:ln/>
        </p:spPr>
        <p:txBody>
          <a:bodyPr/>
          <a:lstStyle/>
          <a:p>
            <a:endParaRPr lang="it-IT" noProof="0" dirty="0"/>
          </a:p>
        </p:txBody>
      </p:sp>
      <p:sp>
        <p:nvSpPr>
          <p:cNvPr id="12" name="Text 7"/>
          <p:cNvSpPr/>
          <p:nvPr/>
        </p:nvSpPr>
        <p:spPr>
          <a:xfrm>
            <a:off x="4456303" y="2112008"/>
            <a:ext cx="3329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r1</a:t>
            </a:r>
            <a:endParaRPr lang="it-IT" sz="2200" noProof="0" dirty="0"/>
          </a:p>
        </p:txBody>
      </p:sp>
      <p:sp>
        <p:nvSpPr>
          <p:cNvPr id="13" name="Text 8"/>
          <p:cNvSpPr/>
          <p:nvPr/>
        </p:nvSpPr>
        <p:spPr>
          <a:xfrm>
            <a:off x="4293616" y="2419350"/>
            <a:ext cx="658368"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A8DC6E"/>
                </a:solidFill>
                <a:latin typeface="JetBrains Mono" pitchFamily="49" charset="0"/>
                <a:ea typeface="JetBrains Mono" pitchFamily="49" charset="-122"/>
                <a:cs typeface="JetBrains Mono" pitchFamily="49" charset="-120"/>
              </a:rPr>
              <a:t>router</a:t>
            </a:r>
            <a:endParaRPr lang="it-IT" sz="1600" noProof="0" dirty="0"/>
          </a:p>
        </p:txBody>
      </p:sp>
      <p:sp>
        <p:nvSpPr>
          <p:cNvPr id="14" name="Shape 9"/>
          <p:cNvSpPr/>
          <p:nvPr/>
        </p:nvSpPr>
        <p:spPr>
          <a:xfrm>
            <a:off x="6921500" y="1991358"/>
            <a:ext cx="1270000" cy="762000"/>
          </a:xfrm>
          <a:prstGeom prst="rect">
            <a:avLst/>
          </a:prstGeom>
          <a:solidFill>
            <a:srgbClr val="1B1D20"/>
          </a:solidFill>
          <a:ln/>
        </p:spPr>
        <p:txBody>
          <a:bodyPr/>
          <a:lstStyle/>
          <a:p>
            <a:endParaRPr lang="it-IT" noProof="0" dirty="0"/>
          </a:p>
        </p:txBody>
      </p:sp>
      <p:sp>
        <p:nvSpPr>
          <p:cNvPr id="15" name="Text 10"/>
          <p:cNvSpPr/>
          <p:nvPr/>
        </p:nvSpPr>
        <p:spPr>
          <a:xfrm>
            <a:off x="7390003" y="2112008"/>
            <a:ext cx="3329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r2</a:t>
            </a:r>
            <a:endParaRPr lang="it-IT" sz="2200" noProof="0" dirty="0"/>
          </a:p>
        </p:txBody>
      </p:sp>
      <p:sp>
        <p:nvSpPr>
          <p:cNvPr id="16" name="Text 11"/>
          <p:cNvSpPr/>
          <p:nvPr/>
        </p:nvSpPr>
        <p:spPr>
          <a:xfrm>
            <a:off x="7227316" y="2419350"/>
            <a:ext cx="658368"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A8DC6E"/>
                </a:solidFill>
                <a:latin typeface="JetBrains Mono" pitchFamily="49" charset="0"/>
                <a:ea typeface="JetBrains Mono" pitchFamily="49" charset="-122"/>
                <a:cs typeface="JetBrains Mono" pitchFamily="49" charset="-120"/>
              </a:rPr>
              <a:t>router</a:t>
            </a:r>
            <a:endParaRPr lang="it-IT" sz="1600" noProof="0" dirty="0"/>
          </a:p>
        </p:txBody>
      </p:sp>
      <p:sp>
        <p:nvSpPr>
          <p:cNvPr id="17" name="Shape 12"/>
          <p:cNvSpPr/>
          <p:nvPr/>
        </p:nvSpPr>
        <p:spPr>
          <a:xfrm>
            <a:off x="9864725" y="2000883"/>
            <a:ext cx="1250950" cy="742950"/>
          </a:xfrm>
          <a:prstGeom prst="rect">
            <a:avLst/>
          </a:prstGeom>
          <a:solidFill>
            <a:srgbClr val="F7F6F2"/>
          </a:solidFill>
          <a:ln w="19050">
            <a:solidFill>
              <a:srgbClr val="1B1D20"/>
            </a:solidFill>
            <a:prstDash val="solid"/>
          </a:ln>
        </p:spPr>
        <p:txBody>
          <a:bodyPr/>
          <a:lstStyle/>
          <a:p>
            <a:endParaRPr lang="it-IT" noProof="0" dirty="0"/>
          </a:p>
        </p:txBody>
      </p:sp>
      <p:sp>
        <p:nvSpPr>
          <p:cNvPr id="18" name="Text 13"/>
          <p:cNvSpPr/>
          <p:nvPr/>
        </p:nvSpPr>
        <p:spPr>
          <a:xfrm>
            <a:off x="10203053" y="2112008"/>
            <a:ext cx="5742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1B1D20"/>
                </a:solidFill>
                <a:latin typeface="IBM Plex Sans" pitchFamily="34" charset="0"/>
                <a:ea typeface="IBM Plex Sans" pitchFamily="34" charset="-122"/>
                <a:cs typeface="IBM Plex Sans" pitchFamily="34" charset="-120"/>
              </a:rPr>
              <a:t>pc2</a:t>
            </a:r>
            <a:endParaRPr lang="it-IT" sz="2200" noProof="0" dirty="0"/>
          </a:p>
        </p:txBody>
      </p:sp>
      <p:sp>
        <p:nvSpPr>
          <p:cNvPr id="19" name="Text 14"/>
          <p:cNvSpPr/>
          <p:nvPr/>
        </p:nvSpPr>
        <p:spPr>
          <a:xfrm>
            <a:off x="10270744" y="2419350"/>
            <a:ext cx="438912"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err="1">
                <a:solidFill>
                  <a:srgbClr val="5B5F66"/>
                </a:solidFill>
                <a:latin typeface="JetBrains Mono" pitchFamily="49" charset="0"/>
                <a:ea typeface="JetBrains Mono" pitchFamily="49" charset="-122"/>
                <a:cs typeface="JetBrains Mono" pitchFamily="49" charset="-120"/>
              </a:rPr>
              <a:t>host</a:t>
            </a:r>
            <a:endParaRPr lang="it-IT" sz="1600" noProof="0" dirty="0"/>
          </a:p>
        </p:txBody>
      </p:sp>
      <p:sp>
        <p:nvSpPr>
          <p:cNvPr id="20" name="Text 15"/>
          <p:cNvSpPr/>
          <p:nvPr/>
        </p:nvSpPr>
        <p:spPr>
          <a:xfrm>
            <a:off x="2336800" y="2717800"/>
            <a:ext cx="1651000" cy="203200"/>
          </a:xfrm>
          <a:prstGeom prst="rect">
            <a:avLst/>
          </a:prstGeom>
          <a:noFill/>
          <a:ln/>
        </p:spPr>
        <p:txBody>
          <a:bodyPr wrap="none" lIns="0" tIns="0" rIns="0" bIns="0" rtlCol="0" anchor="t">
            <a:noAutofit/>
          </a:bodyPr>
          <a:lstStyle/>
          <a:p>
            <a:pPr marL="0" indent="0" algn="ctr">
              <a:lnSpc>
                <a:spcPct val="100000"/>
              </a:lnSpc>
              <a:buNone/>
            </a:pPr>
            <a:r>
              <a:rPr lang="it-IT" sz="1200" b="1" noProof="0" dirty="0">
                <a:solidFill>
                  <a:srgbClr val="4A7F1C"/>
                </a:solidFill>
                <a:latin typeface="JetBrains Mono" pitchFamily="49" charset="0"/>
                <a:ea typeface="JetBrains Mono" pitchFamily="49" charset="-122"/>
                <a:cs typeface="JetBrains Mono" pitchFamily="49" charset="-120"/>
              </a:rPr>
              <a:t>lanA</a:t>
            </a:r>
          </a:p>
        </p:txBody>
      </p:sp>
      <p:sp>
        <p:nvSpPr>
          <p:cNvPr id="21" name="Text 16"/>
          <p:cNvSpPr/>
          <p:nvPr/>
        </p:nvSpPr>
        <p:spPr>
          <a:xfrm>
            <a:off x="2336800" y="2463800"/>
            <a:ext cx="1651000" cy="215900"/>
          </a:xfrm>
          <a:prstGeom prst="rect">
            <a:avLst/>
          </a:prstGeom>
          <a:noFill/>
          <a:ln/>
        </p:spPr>
        <p:txBody>
          <a:bodyPr wrap="none" lIns="0" tIns="0" rIns="0" bIns="0" rtlCol="0" anchor="t">
            <a:noAutofit/>
          </a:bodyPr>
          <a:lstStyle/>
          <a:p>
            <a:pPr marL="0" indent="0" algn="ctr">
              <a:lnSpc>
                <a:spcPct val="100000"/>
              </a:lnSpc>
              <a:buNone/>
            </a:pPr>
            <a:r>
              <a:rPr lang="it-IT" sz="1200" noProof="0" dirty="0">
                <a:solidFill>
                  <a:srgbClr val="1B1D20"/>
                </a:solidFill>
                <a:latin typeface="JetBrains Mono" pitchFamily="49" charset="0"/>
                <a:ea typeface="JetBrains Mono" pitchFamily="49" charset="-122"/>
                <a:cs typeface="JetBrains Mono" pitchFamily="49" charset="-120"/>
              </a:rPr>
              <a:t>192.168.1.0/24</a:t>
            </a:r>
          </a:p>
        </p:txBody>
      </p:sp>
      <p:sp>
        <p:nvSpPr>
          <p:cNvPr id="22" name="Text 17"/>
          <p:cNvSpPr/>
          <p:nvPr/>
        </p:nvSpPr>
        <p:spPr>
          <a:xfrm>
            <a:off x="5257800" y="2717800"/>
            <a:ext cx="1663700" cy="203200"/>
          </a:xfrm>
          <a:prstGeom prst="rect">
            <a:avLst/>
          </a:prstGeom>
          <a:noFill/>
          <a:ln/>
        </p:spPr>
        <p:txBody>
          <a:bodyPr wrap="none" lIns="0" tIns="0" rIns="0" bIns="0" rtlCol="0" anchor="t">
            <a:noAutofit/>
          </a:bodyPr>
          <a:lstStyle/>
          <a:p>
            <a:pPr marL="0" indent="0" algn="ctr">
              <a:lnSpc>
                <a:spcPct val="100000"/>
              </a:lnSpc>
              <a:buNone/>
            </a:pPr>
            <a:r>
              <a:rPr lang="it-IT" sz="1200" b="1" noProof="0" dirty="0">
                <a:solidFill>
                  <a:srgbClr val="4A7F1C"/>
                </a:solidFill>
                <a:latin typeface="JetBrains Mono" pitchFamily="49" charset="0"/>
                <a:ea typeface="JetBrains Mono" pitchFamily="49" charset="-122"/>
                <a:cs typeface="JetBrains Mono" pitchFamily="49" charset="-120"/>
              </a:rPr>
              <a:t>n12</a:t>
            </a:r>
          </a:p>
        </p:txBody>
      </p:sp>
      <p:sp>
        <p:nvSpPr>
          <p:cNvPr id="23" name="Text 18"/>
          <p:cNvSpPr/>
          <p:nvPr/>
        </p:nvSpPr>
        <p:spPr>
          <a:xfrm>
            <a:off x="5257800" y="2463800"/>
            <a:ext cx="1663700" cy="215900"/>
          </a:xfrm>
          <a:prstGeom prst="rect">
            <a:avLst/>
          </a:prstGeom>
          <a:noFill/>
          <a:ln/>
        </p:spPr>
        <p:txBody>
          <a:bodyPr wrap="none" lIns="0" tIns="0" rIns="0" bIns="0" rtlCol="0" anchor="t">
            <a:noAutofit/>
          </a:bodyPr>
          <a:lstStyle/>
          <a:p>
            <a:pPr marL="0" indent="0" algn="ctr">
              <a:lnSpc>
                <a:spcPct val="100000"/>
              </a:lnSpc>
              <a:buNone/>
            </a:pPr>
            <a:r>
              <a:rPr lang="it-IT" sz="1200" noProof="0" dirty="0">
                <a:solidFill>
                  <a:srgbClr val="1B1D20"/>
                </a:solidFill>
                <a:latin typeface="JetBrains Mono" pitchFamily="49" charset="0"/>
                <a:ea typeface="JetBrains Mono" pitchFamily="49" charset="-122"/>
                <a:cs typeface="JetBrains Mono" pitchFamily="49" charset="-120"/>
              </a:rPr>
              <a:t>10.0.12.0/30</a:t>
            </a:r>
          </a:p>
        </p:txBody>
      </p:sp>
      <p:sp>
        <p:nvSpPr>
          <p:cNvPr id="24" name="Text 19"/>
          <p:cNvSpPr/>
          <p:nvPr/>
        </p:nvSpPr>
        <p:spPr>
          <a:xfrm>
            <a:off x="8191500" y="2717800"/>
            <a:ext cx="1676400" cy="203200"/>
          </a:xfrm>
          <a:prstGeom prst="rect">
            <a:avLst/>
          </a:prstGeom>
          <a:noFill/>
          <a:ln/>
        </p:spPr>
        <p:txBody>
          <a:bodyPr wrap="none" lIns="0" tIns="0" rIns="0" bIns="0" rtlCol="0" anchor="t">
            <a:noAutofit/>
          </a:bodyPr>
          <a:lstStyle/>
          <a:p>
            <a:pPr marL="0" indent="0" algn="ctr">
              <a:lnSpc>
                <a:spcPct val="100000"/>
              </a:lnSpc>
              <a:buNone/>
            </a:pPr>
            <a:r>
              <a:rPr lang="it-IT" sz="1200" b="1" noProof="0" dirty="0">
                <a:solidFill>
                  <a:srgbClr val="4A7F1C"/>
                </a:solidFill>
                <a:latin typeface="JetBrains Mono" pitchFamily="49" charset="0"/>
                <a:ea typeface="JetBrains Mono" pitchFamily="49" charset="-122"/>
                <a:cs typeface="JetBrains Mono" pitchFamily="49" charset="-120"/>
              </a:rPr>
              <a:t>lanB</a:t>
            </a:r>
          </a:p>
        </p:txBody>
      </p:sp>
      <p:sp>
        <p:nvSpPr>
          <p:cNvPr id="25" name="Text 20"/>
          <p:cNvSpPr/>
          <p:nvPr/>
        </p:nvSpPr>
        <p:spPr>
          <a:xfrm>
            <a:off x="8191500" y="2463800"/>
            <a:ext cx="1676400" cy="215900"/>
          </a:xfrm>
          <a:prstGeom prst="rect">
            <a:avLst/>
          </a:prstGeom>
          <a:noFill/>
          <a:ln/>
        </p:spPr>
        <p:txBody>
          <a:bodyPr wrap="none" lIns="0" tIns="0" rIns="0" bIns="0" rtlCol="0" anchor="t">
            <a:noAutofit/>
          </a:bodyPr>
          <a:lstStyle/>
          <a:p>
            <a:pPr marL="0" indent="0" algn="ctr">
              <a:lnSpc>
                <a:spcPct val="100000"/>
              </a:lnSpc>
              <a:buNone/>
            </a:pPr>
            <a:r>
              <a:rPr lang="it-IT" sz="1200" noProof="0" dirty="0">
                <a:solidFill>
                  <a:srgbClr val="1B1D20"/>
                </a:solidFill>
                <a:latin typeface="JetBrains Mono" pitchFamily="49" charset="0"/>
                <a:ea typeface="JetBrains Mono" pitchFamily="49" charset="-122"/>
                <a:cs typeface="JetBrains Mono" pitchFamily="49" charset="-120"/>
              </a:rPr>
              <a:t>192.168.2.0/24</a:t>
            </a:r>
          </a:p>
        </p:txBody>
      </p:sp>
      <p:sp>
        <p:nvSpPr>
          <p:cNvPr id="26" name="Text 21"/>
          <p:cNvSpPr/>
          <p:nvPr/>
        </p:nvSpPr>
        <p:spPr>
          <a:xfrm>
            <a:off x="1079500" y="2946400"/>
            <a:ext cx="1257300" cy="203200"/>
          </a:xfrm>
          <a:prstGeom prst="rect">
            <a:avLst/>
          </a:prstGeom>
          <a:noFill/>
          <a:ln/>
        </p:spPr>
        <p:txBody>
          <a:bodyPr wrap="none" lIns="0" tIns="0" rIns="0" bIns="0" rtlCol="0" anchor="t">
            <a:noAutofit/>
          </a:bodyPr>
          <a:lstStyle/>
          <a:p>
            <a:pPr marL="0" indent="0" algn="ctr">
              <a:lnSpc>
                <a:spcPct val="100000"/>
              </a:lnSpc>
              <a:buNone/>
            </a:pPr>
            <a:r>
              <a:rPr lang="it-IT" sz="1200" noProof="0" dirty="0">
                <a:solidFill>
                  <a:srgbClr val="5B5F66"/>
                </a:solidFill>
                <a:latin typeface="JetBrains Mono" pitchFamily="49" charset="0"/>
                <a:ea typeface="JetBrains Mono" pitchFamily="49" charset="-122"/>
                <a:cs typeface="JetBrains Mono" pitchFamily="49" charset="-120"/>
              </a:rPr>
              <a:t>gw .1</a:t>
            </a:r>
          </a:p>
        </p:txBody>
      </p:sp>
      <p:sp>
        <p:nvSpPr>
          <p:cNvPr id="29" name="Text 24"/>
          <p:cNvSpPr/>
          <p:nvPr/>
        </p:nvSpPr>
        <p:spPr>
          <a:xfrm>
            <a:off x="9867900" y="2946400"/>
            <a:ext cx="1257300" cy="203200"/>
          </a:xfrm>
          <a:prstGeom prst="rect">
            <a:avLst/>
          </a:prstGeom>
          <a:noFill/>
          <a:ln/>
        </p:spPr>
        <p:txBody>
          <a:bodyPr wrap="none" lIns="0" tIns="0" rIns="0" bIns="0" rtlCol="0" anchor="t">
            <a:noAutofit/>
          </a:bodyPr>
          <a:lstStyle/>
          <a:p>
            <a:pPr marL="0" indent="0" algn="ctr">
              <a:lnSpc>
                <a:spcPct val="100000"/>
              </a:lnSpc>
              <a:buNone/>
            </a:pPr>
            <a:r>
              <a:rPr lang="it-IT" sz="1200" noProof="0" dirty="0">
                <a:solidFill>
                  <a:srgbClr val="5B5F66"/>
                </a:solidFill>
                <a:latin typeface="JetBrains Mono" pitchFamily="49" charset="0"/>
                <a:ea typeface="JetBrains Mono" pitchFamily="49" charset="-122"/>
                <a:cs typeface="JetBrains Mono" pitchFamily="49" charset="-120"/>
              </a:rPr>
              <a:t>gw .1</a:t>
            </a:r>
          </a:p>
        </p:txBody>
      </p:sp>
      <p:sp>
        <p:nvSpPr>
          <p:cNvPr id="30" name="Shape 25"/>
          <p:cNvSpPr/>
          <p:nvPr/>
        </p:nvSpPr>
        <p:spPr>
          <a:xfrm>
            <a:off x="812800" y="4177035"/>
            <a:ext cx="10566400" cy="0"/>
          </a:xfrm>
          <a:prstGeom prst="line">
            <a:avLst/>
          </a:prstGeom>
          <a:noFill/>
          <a:ln w="12700">
            <a:solidFill>
              <a:srgbClr val="1B1D20"/>
            </a:solidFill>
            <a:prstDash val="solid"/>
          </a:ln>
        </p:spPr>
        <p:txBody>
          <a:bodyPr/>
          <a:lstStyle/>
          <a:p>
            <a:endParaRPr lang="it-IT" noProof="0" dirty="0"/>
          </a:p>
        </p:txBody>
      </p:sp>
      <p:sp>
        <p:nvSpPr>
          <p:cNvPr id="31" name="Text 26"/>
          <p:cNvSpPr/>
          <p:nvPr/>
        </p:nvSpPr>
        <p:spPr>
          <a:xfrm>
            <a:off x="812800" y="4297685"/>
            <a:ext cx="2747010" cy="345440"/>
          </a:xfrm>
          <a:prstGeom prst="rect">
            <a:avLst/>
          </a:prstGeom>
          <a:noFill/>
          <a:ln/>
        </p:spPr>
        <p:txBody>
          <a:bodyPr wrap="square" lIns="0" tIns="0" rIns="0" bIns="0" rtlCol="0" anchor="t">
            <a:normAutofit/>
          </a:bodyPr>
          <a:lstStyle/>
          <a:p>
            <a:pPr marL="0" indent="0" algn="l">
              <a:lnSpc>
                <a:spcPts val="2520"/>
              </a:lnSpc>
              <a:buNone/>
            </a:pPr>
            <a:r>
              <a:rPr lang="it-IT" sz="1800" b="1" noProof="0" dirty="0">
                <a:solidFill>
                  <a:srgbClr val="1B1D20"/>
                </a:solidFill>
                <a:latin typeface="IBM Plex Sans" pitchFamily="34" charset="0"/>
                <a:ea typeface="IBM Plex Sans" pitchFamily="34" charset="-122"/>
                <a:cs typeface="IBM Plex Sans" pitchFamily="34" charset="-120"/>
              </a:rPr>
              <a:t>Host pc1 e pc2</a:t>
            </a:r>
            <a:endParaRPr lang="it-IT" sz="1800" noProof="0" dirty="0"/>
          </a:p>
        </p:txBody>
      </p:sp>
      <p:sp>
        <p:nvSpPr>
          <p:cNvPr id="32" name="Text 27"/>
          <p:cNvSpPr/>
          <p:nvPr/>
        </p:nvSpPr>
        <p:spPr>
          <a:xfrm>
            <a:off x="3733800" y="4303390"/>
            <a:ext cx="7874762" cy="334010"/>
          </a:xfrm>
          <a:prstGeom prst="rect">
            <a:avLst/>
          </a:prstGeom>
          <a:noFill/>
          <a:ln/>
        </p:spPr>
        <p:txBody>
          <a:bodyPr wrap="square" lIns="0" tIns="0" rIns="0" bIns="0" rtlCol="0" anchor="t">
            <a:normAutofit/>
          </a:bodyPr>
          <a:lstStyle/>
          <a:p>
            <a:pPr marL="0" indent="0" algn="l">
              <a:lnSpc>
                <a:spcPts val="2430"/>
              </a:lnSpc>
              <a:buNone/>
            </a:pPr>
            <a:r>
              <a:rPr lang="it-IT" sz="1800" noProof="0" dirty="0">
                <a:solidFill>
                  <a:srgbClr val="1B1D20"/>
                </a:solidFill>
                <a:latin typeface="IBM Plex Sans" pitchFamily="34" charset="0"/>
                <a:ea typeface="IBM Plex Sans" pitchFamily="34" charset="-122"/>
                <a:cs typeface="IBM Plex Sans" pitchFamily="34" charset="-120"/>
              </a:rPr>
              <a:t>Default </a:t>
            </a:r>
            <a:r>
              <a:rPr lang="it-IT" sz="1800" noProof="0" dirty="0" err="1">
                <a:solidFill>
                  <a:srgbClr val="1B1D20"/>
                </a:solidFill>
                <a:latin typeface="IBM Plex Sans" pitchFamily="34" charset="0"/>
                <a:ea typeface="IBM Plex Sans" pitchFamily="34" charset="-122"/>
                <a:cs typeface="IBM Plex Sans" pitchFamily="34" charset="-120"/>
              </a:rPr>
              <a:t>route</a:t>
            </a:r>
            <a:r>
              <a:rPr lang="it-IT" sz="1800" noProof="0" dirty="0">
                <a:solidFill>
                  <a:srgbClr val="1B1D20"/>
                </a:solidFill>
                <a:latin typeface="IBM Plex Sans" pitchFamily="34" charset="0"/>
                <a:ea typeface="IBM Plex Sans" pitchFamily="34" charset="-122"/>
                <a:cs typeface="IBM Plex Sans" pitchFamily="34" charset="-120"/>
              </a:rPr>
              <a:t> verso il proprio router (.1 della LAN)</a:t>
            </a:r>
            <a:endParaRPr lang="it-IT" sz="1800" noProof="0" dirty="0"/>
          </a:p>
        </p:txBody>
      </p:sp>
      <p:sp>
        <p:nvSpPr>
          <p:cNvPr id="33" name="Shape 28"/>
          <p:cNvSpPr/>
          <p:nvPr/>
        </p:nvSpPr>
        <p:spPr>
          <a:xfrm>
            <a:off x="812800" y="4735190"/>
            <a:ext cx="10566400" cy="0"/>
          </a:xfrm>
          <a:prstGeom prst="line">
            <a:avLst/>
          </a:prstGeom>
          <a:noFill/>
          <a:ln w="6350">
            <a:solidFill>
              <a:srgbClr val="CFCCC4"/>
            </a:solidFill>
            <a:prstDash val="solid"/>
          </a:ln>
        </p:spPr>
        <p:txBody>
          <a:bodyPr/>
          <a:lstStyle/>
          <a:p>
            <a:endParaRPr lang="it-IT" noProof="0" dirty="0"/>
          </a:p>
        </p:txBody>
      </p:sp>
      <p:sp>
        <p:nvSpPr>
          <p:cNvPr id="34" name="Text 29"/>
          <p:cNvSpPr/>
          <p:nvPr/>
        </p:nvSpPr>
        <p:spPr>
          <a:xfrm>
            <a:off x="812800" y="4852665"/>
            <a:ext cx="2747010" cy="345440"/>
          </a:xfrm>
          <a:prstGeom prst="rect">
            <a:avLst/>
          </a:prstGeom>
          <a:noFill/>
          <a:ln/>
        </p:spPr>
        <p:txBody>
          <a:bodyPr wrap="square" lIns="0" tIns="0" rIns="0" bIns="0" rtlCol="0" anchor="t">
            <a:normAutofit/>
          </a:bodyPr>
          <a:lstStyle/>
          <a:p>
            <a:pPr marL="0" indent="0" algn="l">
              <a:lnSpc>
                <a:spcPts val="2520"/>
              </a:lnSpc>
              <a:buNone/>
            </a:pPr>
            <a:r>
              <a:rPr lang="it-IT" sz="1800" b="1" noProof="0" dirty="0">
                <a:solidFill>
                  <a:srgbClr val="1B1D20"/>
                </a:solidFill>
                <a:latin typeface="IBM Plex Sans" pitchFamily="34" charset="0"/>
                <a:ea typeface="IBM Plex Sans" pitchFamily="34" charset="-122"/>
                <a:cs typeface="IBM Plex Sans" pitchFamily="34" charset="-120"/>
              </a:rPr>
              <a:t>Router r1</a:t>
            </a:r>
            <a:endParaRPr lang="it-IT" sz="1800" noProof="0" dirty="0"/>
          </a:p>
        </p:txBody>
      </p:sp>
      <p:sp>
        <p:nvSpPr>
          <p:cNvPr id="35" name="Text 30"/>
          <p:cNvSpPr/>
          <p:nvPr/>
        </p:nvSpPr>
        <p:spPr>
          <a:xfrm>
            <a:off x="3733800" y="4873303"/>
            <a:ext cx="7874762" cy="316865"/>
          </a:xfrm>
          <a:prstGeom prst="rect">
            <a:avLst/>
          </a:prstGeom>
          <a:noFill/>
          <a:ln/>
        </p:spPr>
        <p:txBody>
          <a:bodyPr wrap="square" lIns="0" tIns="0" rIns="0" bIns="0" rtlCol="0" anchor="t">
            <a:normAutofit/>
          </a:bodyPr>
          <a:lstStyle/>
          <a:p>
            <a:pPr marL="0" indent="0" algn="l">
              <a:lnSpc>
                <a:spcPts val="2295"/>
              </a:lnSpc>
              <a:buNone/>
            </a:pPr>
            <a:r>
              <a:rPr lang="it-IT" sz="1800" noProof="0" dirty="0">
                <a:solidFill>
                  <a:srgbClr val="1B1D20"/>
                </a:solidFill>
                <a:latin typeface="JetBrains Mono" pitchFamily="49" charset="0"/>
                <a:ea typeface="JetBrains Mono" pitchFamily="49" charset="-122"/>
                <a:cs typeface="JetBrains Mono" pitchFamily="49" charset="-120"/>
              </a:rPr>
              <a:t>192.168.2.0/24 via 10.0.12.2</a:t>
            </a:r>
            <a:endParaRPr lang="it-IT" sz="1800" noProof="0" dirty="0"/>
          </a:p>
        </p:txBody>
      </p:sp>
      <p:sp>
        <p:nvSpPr>
          <p:cNvPr id="36" name="Shape 31"/>
          <p:cNvSpPr/>
          <p:nvPr/>
        </p:nvSpPr>
        <p:spPr>
          <a:xfrm>
            <a:off x="812800" y="5290183"/>
            <a:ext cx="10566400" cy="0"/>
          </a:xfrm>
          <a:prstGeom prst="line">
            <a:avLst/>
          </a:prstGeom>
          <a:noFill/>
          <a:ln w="6350">
            <a:solidFill>
              <a:srgbClr val="CFCCC4"/>
            </a:solidFill>
            <a:prstDash val="solid"/>
          </a:ln>
        </p:spPr>
        <p:txBody>
          <a:bodyPr/>
          <a:lstStyle/>
          <a:p>
            <a:endParaRPr lang="it-IT" noProof="0" dirty="0"/>
          </a:p>
        </p:txBody>
      </p:sp>
      <p:sp>
        <p:nvSpPr>
          <p:cNvPr id="37" name="Text 32"/>
          <p:cNvSpPr/>
          <p:nvPr/>
        </p:nvSpPr>
        <p:spPr>
          <a:xfrm>
            <a:off x="812800" y="5407658"/>
            <a:ext cx="2747010" cy="345440"/>
          </a:xfrm>
          <a:prstGeom prst="rect">
            <a:avLst/>
          </a:prstGeom>
          <a:noFill/>
          <a:ln/>
        </p:spPr>
        <p:txBody>
          <a:bodyPr wrap="square" lIns="0" tIns="0" rIns="0" bIns="0" rtlCol="0" anchor="t">
            <a:normAutofit/>
          </a:bodyPr>
          <a:lstStyle/>
          <a:p>
            <a:pPr marL="0" indent="0" algn="l">
              <a:lnSpc>
                <a:spcPts val="2520"/>
              </a:lnSpc>
              <a:buNone/>
            </a:pPr>
            <a:r>
              <a:rPr lang="it-IT" sz="1800" b="1" noProof="0" dirty="0">
                <a:solidFill>
                  <a:srgbClr val="1B1D20"/>
                </a:solidFill>
                <a:latin typeface="IBM Plex Sans" pitchFamily="34" charset="0"/>
                <a:ea typeface="IBM Plex Sans" pitchFamily="34" charset="-122"/>
                <a:cs typeface="IBM Plex Sans" pitchFamily="34" charset="-120"/>
              </a:rPr>
              <a:t>Router r2</a:t>
            </a:r>
            <a:endParaRPr lang="it-IT" sz="1800" noProof="0" dirty="0"/>
          </a:p>
        </p:txBody>
      </p:sp>
      <p:sp>
        <p:nvSpPr>
          <p:cNvPr id="38" name="Text 33"/>
          <p:cNvSpPr/>
          <p:nvPr/>
        </p:nvSpPr>
        <p:spPr>
          <a:xfrm>
            <a:off x="3733800" y="5428295"/>
            <a:ext cx="7874762" cy="316865"/>
          </a:xfrm>
          <a:prstGeom prst="rect">
            <a:avLst/>
          </a:prstGeom>
          <a:noFill/>
          <a:ln/>
        </p:spPr>
        <p:txBody>
          <a:bodyPr wrap="square" lIns="0" tIns="0" rIns="0" bIns="0" rtlCol="0" anchor="t">
            <a:normAutofit/>
          </a:bodyPr>
          <a:lstStyle/>
          <a:p>
            <a:pPr marL="0" indent="0" algn="l">
              <a:lnSpc>
                <a:spcPts val="2295"/>
              </a:lnSpc>
              <a:buNone/>
            </a:pPr>
            <a:r>
              <a:rPr lang="it-IT" sz="1800" noProof="0" dirty="0">
                <a:solidFill>
                  <a:srgbClr val="1B1D20"/>
                </a:solidFill>
                <a:latin typeface="JetBrains Mono" pitchFamily="49" charset="0"/>
                <a:ea typeface="JetBrains Mono" pitchFamily="49" charset="-122"/>
                <a:cs typeface="JetBrains Mono" pitchFamily="49" charset="-120"/>
              </a:rPr>
              <a:t>192.168.1.0/24 via 10.0.12.1</a:t>
            </a:r>
            <a:endParaRPr lang="it-IT" sz="1800" noProof="0" dirty="0"/>
          </a:p>
        </p:txBody>
      </p:sp>
      <p:sp>
        <p:nvSpPr>
          <p:cNvPr id="950" name="Endpoint 950"/>
          <p:cNvSpPr txBox="1"/>
          <p:nvPr/>
        </p:nvSpPr>
        <p:spPr>
          <a:xfrm>
            <a:off x="2387600" y="1905000"/>
            <a:ext cx="508000" cy="406400"/>
          </a:xfrm>
          <a:prstGeom prst="rect">
            <a:avLst/>
          </a:prstGeom>
          <a:noFill/>
          <a:ln>
            <a:noFill/>
          </a:ln>
        </p:spPr>
        <p:txBody>
          <a:bodyPr wrap="none" lIns="0" tIns="0" rIns="0" bIns="0" anchor="b">
            <a:noAutofit/>
          </a:bodyPr>
          <a:lstStyle/>
          <a:p>
            <a:pPr marL="0" indent="0" algn="l">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a:p>
            <a:pPr marL="0" indent="0" algn="l">
              <a:lnSpc>
                <a:spcPct val="100000"/>
              </a:lnSpc>
              <a:buNone/>
            </a:pPr>
            <a:r>
              <a:rPr lang="it-IT" sz="1200" b="1" noProof="0" dirty="0">
                <a:solidFill>
                  <a:srgbClr val="2B6CA3"/>
                </a:solidFill>
                <a:latin typeface="JetBrains Mono" pitchFamily="49" charset="0"/>
                <a:ea typeface="JetBrains Mono" pitchFamily="49" charset="-122"/>
                <a:cs typeface="JetBrains Mono" pitchFamily="49" charset="-120"/>
              </a:rPr>
              <a:t>.10</a:t>
            </a:r>
          </a:p>
        </p:txBody>
      </p:sp>
      <p:sp>
        <p:nvSpPr>
          <p:cNvPr id="951" name="Endpoint 951"/>
          <p:cNvSpPr txBox="1"/>
          <p:nvPr/>
        </p:nvSpPr>
        <p:spPr>
          <a:xfrm>
            <a:off x="3429000" y="1905000"/>
            <a:ext cx="508000" cy="406400"/>
          </a:xfrm>
          <a:prstGeom prst="rect">
            <a:avLst/>
          </a:prstGeom>
          <a:noFill/>
          <a:ln>
            <a:noFill/>
          </a:ln>
        </p:spPr>
        <p:txBody>
          <a:bodyPr wrap="none" lIns="0" tIns="0" rIns="0" bIns="0" anchor="b">
            <a:noAutofit/>
          </a:bodyPr>
          <a:lstStyle/>
          <a:p>
            <a:pPr marL="0" indent="0" algn="r">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a:p>
            <a:pPr marL="0" indent="0" algn="r">
              <a:lnSpc>
                <a:spcPct val="100000"/>
              </a:lnSpc>
              <a:buNone/>
            </a:pPr>
            <a:r>
              <a:rPr lang="it-IT" sz="1200" b="1" noProof="0" dirty="0">
                <a:solidFill>
                  <a:srgbClr val="2B6CA3"/>
                </a:solidFill>
                <a:latin typeface="JetBrains Mono" pitchFamily="49" charset="0"/>
                <a:ea typeface="JetBrains Mono" pitchFamily="49" charset="-122"/>
                <a:cs typeface="JetBrains Mono" pitchFamily="49" charset="-120"/>
              </a:rPr>
              <a:t>.1</a:t>
            </a:r>
          </a:p>
        </p:txBody>
      </p:sp>
      <p:sp>
        <p:nvSpPr>
          <p:cNvPr id="952" name="Endpoint 952"/>
          <p:cNvSpPr txBox="1"/>
          <p:nvPr/>
        </p:nvSpPr>
        <p:spPr>
          <a:xfrm>
            <a:off x="5308600" y="1905000"/>
            <a:ext cx="508000" cy="406400"/>
          </a:xfrm>
          <a:prstGeom prst="rect">
            <a:avLst/>
          </a:prstGeom>
          <a:noFill/>
          <a:ln>
            <a:noFill/>
          </a:ln>
        </p:spPr>
        <p:txBody>
          <a:bodyPr wrap="none" lIns="0" tIns="0" rIns="0" bIns="0" anchor="b">
            <a:noAutofit/>
          </a:bodyPr>
          <a:lstStyle/>
          <a:p>
            <a:pPr marL="0" indent="0" algn="l">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eth1</a:t>
            </a:r>
          </a:p>
          <a:p>
            <a:pPr marL="0" indent="0" algn="l">
              <a:lnSpc>
                <a:spcPct val="100000"/>
              </a:lnSpc>
              <a:buNone/>
            </a:pPr>
            <a:r>
              <a:rPr lang="it-IT" sz="1200" b="1" noProof="0" dirty="0">
                <a:solidFill>
                  <a:srgbClr val="2B6CA3"/>
                </a:solidFill>
                <a:latin typeface="JetBrains Mono" pitchFamily="49" charset="0"/>
                <a:ea typeface="JetBrains Mono" pitchFamily="49" charset="-122"/>
                <a:cs typeface="JetBrains Mono" pitchFamily="49" charset="-120"/>
              </a:rPr>
              <a:t>.1</a:t>
            </a:r>
          </a:p>
        </p:txBody>
      </p:sp>
      <p:sp>
        <p:nvSpPr>
          <p:cNvPr id="953" name="Endpoint 953"/>
          <p:cNvSpPr txBox="1"/>
          <p:nvPr/>
        </p:nvSpPr>
        <p:spPr>
          <a:xfrm>
            <a:off x="6362700" y="1905000"/>
            <a:ext cx="508000" cy="406400"/>
          </a:xfrm>
          <a:prstGeom prst="rect">
            <a:avLst/>
          </a:prstGeom>
          <a:noFill/>
          <a:ln>
            <a:noFill/>
          </a:ln>
        </p:spPr>
        <p:txBody>
          <a:bodyPr wrap="none" lIns="0" tIns="0" rIns="0" bIns="0" anchor="b">
            <a:noAutofit/>
          </a:bodyPr>
          <a:lstStyle/>
          <a:p>
            <a:pPr marL="0" indent="0" algn="r">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a:p>
            <a:pPr marL="0" indent="0" algn="r">
              <a:lnSpc>
                <a:spcPct val="100000"/>
              </a:lnSpc>
              <a:buNone/>
            </a:pPr>
            <a:r>
              <a:rPr lang="it-IT" sz="1200" b="1" noProof="0" dirty="0">
                <a:solidFill>
                  <a:srgbClr val="2B6CA3"/>
                </a:solidFill>
                <a:latin typeface="JetBrains Mono" pitchFamily="49" charset="0"/>
                <a:ea typeface="JetBrains Mono" pitchFamily="49" charset="-122"/>
                <a:cs typeface="JetBrains Mono" pitchFamily="49" charset="-120"/>
              </a:rPr>
              <a:t>.2</a:t>
            </a:r>
          </a:p>
        </p:txBody>
      </p:sp>
      <p:sp>
        <p:nvSpPr>
          <p:cNvPr id="954" name="Endpoint 954"/>
          <p:cNvSpPr txBox="1"/>
          <p:nvPr/>
        </p:nvSpPr>
        <p:spPr>
          <a:xfrm>
            <a:off x="8242300" y="1905000"/>
            <a:ext cx="508000" cy="406400"/>
          </a:xfrm>
          <a:prstGeom prst="rect">
            <a:avLst/>
          </a:prstGeom>
          <a:noFill/>
          <a:ln>
            <a:noFill/>
          </a:ln>
        </p:spPr>
        <p:txBody>
          <a:bodyPr wrap="none" lIns="0" tIns="0" rIns="0" bIns="0" anchor="b">
            <a:noAutofit/>
          </a:bodyPr>
          <a:lstStyle/>
          <a:p>
            <a:pPr marL="0" indent="0" algn="l">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eth1</a:t>
            </a:r>
          </a:p>
          <a:p>
            <a:pPr marL="0" indent="0" algn="l">
              <a:lnSpc>
                <a:spcPct val="100000"/>
              </a:lnSpc>
              <a:buNone/>
            </a:pPr>
            <a:r>
              <a:rPr lang="it-IT" sz="1200" b="1" noProof="0" dirty="0">
                <a:solidFill>
                  <a:srgbClr val="2B6CA3"/>
                </a:solidFill>
                <a:latin typeface="JetBrains Mono" pitchFamily="49" charset="0"/>
                <a:ea typeface="JetBrains Mono" pitchFamily="49" charset="-122"/>
                <a:cs typeface="JetBrains Mono" pitchFamily="49" charset="-120"/>
              </a:rPr>
              <a:t>.1</a:t>
            </a:r>
          </a:p>
        </p:txBody>
      </p:sp>
      <p:sp>
        <p:nvSpPr>
          <p:cNvPr id="955" name="Endpoint 955"/>
          <p:cNvSpPr txBox="1"/>
          <p:nvPr/>
        </p:nvSpPr>
        <p:spPr>
          <a:xfrm>
            <a:off x="9309100" y="1905000"/>
            <a:ext cx="508000" cy="406400"/>
          </a:xfrm>
          <a:prstGeom prst="rect">
            <a:avLst/>
          </a:prstGeom>
          <a:noFill/>
          <a:ln>
            <a:noFill/>
          </a:ln>
        </p:spPr>
        <p:txBody>
          <a:bodyPr wrap="none" lIns="0" tIns="0" rIns="0" bIns="0" anchor="b">
            <a:noAutofit/>
          </a:bodyPr>
          <a:lstStyle/>
          <a:p>
            <a:pPr marL="0" indent="0" algn="r">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a:p>
            <a:pPr marL="0" indent="0" algn="r">
              <a:lnSpc>
                <a:spcPct val="100000"/>
              </a:lnSpc>
              <a:buNone/>
            </a:pPr>
            <a:r>
              <a:rPr lang="it-IT" sz="1200" b="1" noProof="0" dirty="0">
                <a:solidFill>
                  <a:srgbClr val="2B6CA3"/>
                </a:solidFill>
                <a:latin typeface="JetBrains Mono" pitchFamily="49" charset="0"/>
                <a:ea typeface="JetBrains Mono" pitchFamily="49" charset="-122"/>
                <a:cs typeface="JetBrains Mono" pitchFamily="49" charset="-120"/>
              </a:rPr>
              <a:t>.10</a:t>
            </a:r>
          </a:p>
        </p:txBody>
      </p:sp>
    </p:spTree>
    <p:extLst>
      <p:ext uri="{BB962C8B-B14F-4D97-AF65-F5344CB8AC3E}">
        <p14:creationId xmlns:p14="http://schemas.microsoft.com/office/powerpoint/2010/main" val="536021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Piano di indirizzamento</a:t>
            </a:r>
            <a:endParaRPr lang="it-IT" sz="4000" noProof="0" dirty="0"/>
          </a:p>
        </p:txBody>
      </p:sp>
      <p:graphicFrame>
        <p:nvGraphicFramePr>
          <p:cNvPr id="5" name="Table 0"/>
          <p:cNvGraphicFramePr>
            <a:graphicFrameLocks noGrp="1"/>
          </p:cNvGraphicFramePr>
          <p:nvPr/>
        </p:nvGraphicFramePr>
        <p:xfrm>
          <a:off x="825500" y="1953258"/>
          <a:ext cx="7099300" cy="3075940"/>
        </p:xfrm>
        <a:graphic>
          <a:graphicData uri="http://schemas.openxmlformats.org/drawingml/2006/table">
            <a:tbl>
              <a:tblPr/>
              <a:tblGrid>
                <a:gridCol w="1064895">
                  <a:extLst>
                    <a:ext uri="{9D8B030D-6E8A-4147-A177-3AD203B41FA5}">
                      <a16:colId xmlns:a16="http://schemas.microsoft.com/office/drawing/2014/main" val="20000"/>
                    </a:ext>
                  </a:extLst>
                </a:gridCol>
                <a:gridCol w="993902">
                  <a:extLst>
                    <a:ext uri="{9D8B030D-6E8A-4147-A177-3AD203B41FA5}">
                      <a16:colId xmlns:a16="http://schemas.microsoft.com/office/drawing/2014/main" val="20001"/>
                    </a:ext>
                  </a:extLst>
                </a:gridCol>
                <a:gridCol w="1064895">
                  <a:extLst>
                    <a:ext uri="{9D8B030D-6E8A-4147-A177-3AD203B41FA5}">
                      <a16:colId xmlns:a16="http://schemas.microsoft.com/office/drawing/2014/main" val="20002"/>
                    </a:ext>
                  </a:extLst>
                </a:gridCol>
                <a:gridCol w="2200783">
                  <a:extLst>
                    <a:ext uri="{9D8B030D-6E8A-4147-A177-3AD203B41FA5}">
                      <a16:colId xmlns:a16="http://schemas.microsoft.com/office/drawing/2014/main" val="20003"/>
                    </a:ext>
                  </a:extLst>
                </a:gridCol>
                <a:gridCol w="1774825">
                  <a:extLst>
                    <a:ext uri="{9D8B030D-6E8A-4147-A177-3AD203B41FA5}">
                      <a16:colId xmlns:a16="http://schemas.microsoft.com/office/drawing/2014/main" val="20004"/>
                    </a:ext>
                  </a:extLst>
                </a:gridCol>
              </a:tblGrid>
              <a:tr h="439420">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disp.</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240"/>
                        </a:lnSpc>
                        <a:buNone/>
                      </a:pPr>
                      <a:r>
                        <a:rPr lang="it-IT" sz="1600" noProof="0" dirty="0" err="1">
                          <a:solidFill>
                            <a:srgbClr val="5B5F66"/>
                          </a:solidFill>
                          <a:latin typeface="IBM Plex Sans" pitchFamily="34" charset="0"/>
                          <a:ea typeface="IBM Plex Sans" pitchFamily="34" charset="-122"/>
                          <a:cs typeface="IBM Plex Sans" pitchFamily="34" charset="-120"/>
                        </a:rPr>
                        <a:t>intf</a:t>
                      </a:r>
                      <a:r>
                        <a:rPr lang="it-IT" sz="1600" noProof="0" dirty="0">
                          <a:solidFill>
                            <a:srgbClr val="5B5F66"/>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dominio</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indirizzo</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gateway</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pc1</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eth0</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lanA</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192.168.1.10/24</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192.168.1.1</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r1</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eth0</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lanA</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192.168.1.1/24</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8A8F96"/>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r1</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eth1</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n12</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10.0.12.1/30</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8A8F96"/>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r2</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eth0</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n12</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10.0.12.2/30</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8A8F96"/>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r2</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eth1</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lanB</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192.168.2.1/24</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8A8F96"/>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439420">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pc2</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eth0</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lanB</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192.168.2.10/24</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192.168.2.1</a:t>
                      </a:r>
                      <a:endParaRPr lang="it-IT" sz="1600" noProof="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331200" y="1991358"/>
            <a:ext cx="313944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obiettivo</a:t>
            </a:r>
            <a:endParaRPr lang="it-IT" sz="1600" noProof="0" dirty="0"/>
          </a:p>
        </p:txBody>
      </p:sp>
      <p:sp>
        <p:nvSpPr>
          <p:cNvPr id="7" name="Text 4"/>
          <p:cNvSpPr/>
          <p:nvPr/>
        </p:nvSpPr>
        <p:spPr>
          <a:xfrm>
            <a:off x="8331200" y="2255515"/>
            <a:ext cx="3657600" cy="316865"/>
          </a:xfrm>
          <a:prstGeom prst="rect">
            <a:avLst/>
          </a:prstGeom>
          <a:noFill/>
          <a:ln/>
        </p:spPr>
        <p:txBody>
          <a:bodyPr wrap="square" lIns="0" tIns="0" rIns="0" bIns="0" rtlCol="0" anchor="t">
            <a:normAutofit/>
          </a:bodyPr>
          <a:lstStyle/>
          <a:p>
            <a:pPr marL="0" indent="0" algn="l">
              <a:lnSpc>
                <a:spcPts val="2295"/>
              </a:lnSpc>
              <a:buNone/>
            </a:pPr>
            <a:r>
              <a:rPr lang="it-IT" sz="1800" noProof="0" dirty="0">
                <a:solidFill>
                  <a:srgbClr val="1B1D20"/>
                </a:solidFill>
                <a:latin typeface="IBM Plex Sans" pitchFamily="34" charset="0"/>
                <a:ea typeface="IBM Plex Sans" pitchFamily="34" charset="-122"/>
                <a:cs typeface="IBM Plex Sans" pitchFamily="34" charset="-120"/>
              </a:rPr>
              <a:t>pc1 raggiunge pc2, e viceversa</a:t>
            </a:r>
            <a:endParaRPr lang="it-IT" sz="1800" noProof="0" dirty="0"/>
          </a:p>
        </p:txBody>
      </p:sp>
      <p:sp>
        <p:nvSpPr>
          <p:cNvPr id="8" name="Text 5"/>
          <p:cNvSpPr/>
          <p:nvPr/>
        </p:nvSpPr>
        <p:spPr>
          <a:xfrm>
            <a:off x="8331200" y="2800983"/>
            <a:ext cx="313944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immagine</a:t>
            </a:r>
            <a:endParaRPr lang="it-IT" sz="1600" noProof="0" dirty="0"/>
          </a:p>
        </p:txBody>
      </p:sp>
      <p:sp>
        <p:nvSpPr>
          <p:cNvPr id="9" name="Text 6"/>
          <p:cNvSpPr/>
          <p:nvPr/>
        </p:nvSpPr>
        <p:spPr>
          <a:xfrm>
            <a:off x="8331200" y="3065140"/>
            <a:ext cx="3139440" cy="608330"/>
          </a:xfrm>
          <a:prstGeom prst="rect">
            <a:avLst/>
          </a:prstGeom>
          <a:noFill/>
          <a:ln/>
        </p:spPr>
        <p:txBody>
          <a:bodyPr wrap="square" lIns="0" tIns="0" rIns="0" bIns="0" rtlCol="0" anchor="t">
            <a:normAutofit/>
          </a:bodyPr>
          <a:lstStyle/>
          <a:p>
            <a:pPr marL="0" indent="0" algn="l">
              <a:lnSpc>
                <a:spcPts val="2295"/>
              </a:lnSpc>
              <a:buNone/>
            </a:pPr>
            <a:r>
              <a:rPr lang="it-IT" sz="1800" noProof="0" dirty="0">
                <a:solidFill>
                  <a:srgbClr val="1B1D20"/>
                </a:solidFill>
                <a:latin typeface="IBM Plex Sans" pitchFamily="34" charset="0"/>
                <a:ea typeface="IBM Plex Sans" pitchFamily="34" charset="-122"/>
                <a:cs typeface="IBM Plex Sans" pitchFamily="34" charset="-120"/>
              </a:rPr>
              <a:t>kathara/base per tutti i dispositivi</a:t>
            </a:r>
            <a:endParaRPr lang="it-IT" sz="1800" noProof="0" dirty="0"/>
          </a:p>
        </p:txBody>
      </p:sp>
      <p:sp>
        <p:nvSpPr>
          <p:cNvPr id="10" name="Text 7"/>
          <p:cNvSpPr/>
          <p:nvPr/>
        </p:nvSpPr>
        <p:spPr>
          <a:xfrm>
            <a:off x="8331200" y="3902075"/>
            <a:ext cx="313944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nomi</a:t>
            </a:r>
            <a:endParaRPr lang="it-IT" sz="1600" noProof="0" dirty="0"/>
          </a:p>
        </p:txBody>
      </p:sp>
      <p:sp>
        <p:nvSpPr>
          <p:cNvPr id="11" name="Text 8"/>
          <p:cNvSpPr/>
          <p:nvPr/>
        </p:nvSpPr>
        <p:spPr>
          <a:xfrm>
            <a:off x="8331200" y="4166233"/>
            <a:ext cx="3139440" cy="608330"/>
          </a:xfrm>
          <a:prstGeom prst="rect">
            <a:avLst/>
          </a:prstGeom>
          <a:noFill/>
          <a:ln/>
        </p:spPr>
        <p:txBody>
          <a:bodyPr wrap="square" lIns="0" tIns="0" rIns="0" bIns="0" rtlCol="0" anchor="t">
            <a:normAutofit/>
          </a:bodyPr>
          <a:lstStyle/>
          <a:p>
            <a:pPr marL="0" indent="0" algn="l">
              <a:lnSpc>
                <a:spcPts val="2295"/>
              </a:lnSpc>
              <a:buNone/>
            </a:pPr>
            <a:r>
              <a:rPr lang="it-IT" sz="1800" noProof="0" dirty="0">
                <a:solidFill>
                  <a:srgbClr val="1B1D20"/>
                </a:solidFill>
                <a:latin typeface="IBM Plex Sans" pitchFamily="34" charset="0"/>
                <a:ea typeface="IBM Plex Sans" pitchFamily="34" charset="-122"/>
                <a:cs typeface="IBM Plex Sans" pitchFamily="34" charset="-120"/>
              </a:rPr>
              <a:t>Identici alla tabella: il </a:t>
            </a:r>
            <a:r>
              <a:rPr lang="it-IT" sz="1800" noProof="0" dirty="0" err="1">
                <a:solidFill>
                  <a:srgbClr val="1B1D20"/>
                </a:solidFill>
                <a:latin typeface="IBM Plex Sans" pitchFamily="34" charset="0"/>
                <a:ea typeface="IBM Plex Sans" pitchFamily="34" charset="-122"/>
                <a:cs typeface="IBM Plex Sans" pitchFamily="34" charset="-120"/>
              </a:rPr>
              <a:t>checker</a:t>
            </a:r>
            <a:r>
              <a:rPr lang="it-IT" sz="1800" noProof="0" dirty="0">
                <a:solidFill>
                  <a:srgbClr val="1B1D20"/>
                </a:solidFill>
                <a:latin typeface="IBM Plex Sans" pitchFamily="34" charset="0"/>
                <a:ea typeface="IBM Plex Sans" pitchFamily="34" charset="-122"/>
                <a:cs typeface="IBM Plex Sans" pitchFamily="34" charset="-120"/>
              </a:rPr>
              <a:t> li confronta</a:t>
            </a:r>
            <a:endParaRPr lang="it-IT" sz="1800" noProof="0" dirty="0"/>
          </a:p>
        </p:txBody>
      </p:sp>
    </p:spTree>
    <p:extLst>
      <p:ext uri="{BB962C8B-B14F-4D97-AF65-F5344CB8AC3E}">
        <p14:creationId xmlns:p14="http://schemas.microsoft.com/office/powerpoint/2010/main" val="41426759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0">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Creiamo il lab da zero</a:t>
            </a:r>
            <a:endParaRPr lang="it-IT" sz="4000" noProof="0" dirty="0"/>
          </a:p>
        </p:txBody>
      </p:sp>
      <p:sp>
        <p:nvSpPr>
          <p:cNvPr id="5" name="Text 3"/>
          <p:cNvSpPr/>
          <p:nvPr/>
        </p:nvSpPr>
        <p:spPr>
          <a:xfrm>
            <a:off x="812800" y="1863725"/>
            <a:ext cx="4064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4A7F1C"/>
                </a:solidFill>
                <a:latin typeface="JetBrains Mono" pitchFamily="49" charset="0"/>
                <a:ea typeface="JetBrains Mono" pitchFamily="49" charset="-122"/>
                <a:cs typeface="JetBrains Mono" pitchFamily="49" charset="-120"/>
              </a:rPr>
              <a:t>01</a:t>
            </a:r>
            <a:endParaRPr lang="it-IT" sz="1600" noProof="0" dirty="0"/>
          </a:p>
        </p:txBody>
      </p:sp>
      <p:sp>
        <p:nvSpPr>
          <p:cNvPr id="6" name="Text 4"/>
          <p:cNvSpPr/>
          <p:nvPr/>
        </p:nvSpPr>
        <p:spPr>
          <a:xfrm>
            <a:off x="1295400" y="1838958"/>
            <a:ext cx="4473702" cy="334010"/>
          </a:xfrm>
          <a:prstGeom prst="rect">
            <a:avLst/>
          </a:prstGeom>
          <a:noFill/>
          <a:ln/>
        </p:spPr>
        <p:txBody>
          <a:bodyPr wrap="square" lIns="0" tIns="0" rIns="0" bIns="0" rtlCol="0" anchor="t">
            <a:normAutofit/>
          </a:bodyPr>
          <a:lstStyle/>
          <a:p>
            <a:pPr marL="0" indent="0" algn="l">
              <a:lnSpc>
                <a:spcPts val="2430"/>
              </a:lnSpc>
              <a:buNone/>
            </a:pPr>
            <a:r>
              <a:rPr lang="it-IT" sz="1800" noProof="0" dirty="0">
                <a:solidFill>
                  <a:srgbClr val="1B1D20"/>
                </a:solidFill>
                <a:latin typeface="IBM Plex Sans" pitchFamily="34" charset="0"/>
                <a:ea typeface="IBM Plex Sans" pitchFamily="34" charset="-122"/>
                <a:cs typeface="IBM Plex Sans" pitchFamily="34" charset="-120"/>
              </a:rPr>
              <a:t>Creiamo la cartella del lab ed entriamoci</a:t>
            </a:r>
            <a:endParaRPr lang="it-IT" sz="1800" noProof="0" dirty="0"/>
          </a:p>
        </p:txBody>
      </p:sp>
      <p:sp>
        <p:nvSpPr>
          <p:cNvPr id="7" name="Text 5"/>
          <p:cNvSpPr/>
          <p:nvPr/>
        </p:nvSpPr>
        <p:spPr>
          <a:xfrm>
            <a:off x="812800" y="2376165"/>
            <a:ext cx="4064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4A7F1C"/>
                </a:solidFill>
                <a:latin typeface="JetBrains Mono" pitchFamily="49" charset="0"/>
                <a:ea typeface="JetBrains Mono" pitchFamily="49" charset="-122"/>
                <a:cs typeface="JetBrains Mono" pitchFamily="49" charset="-120"/>
              </a:rPr>
              <a:t>02</a:t>
            </a:r>
            <a:endParaRPr lang="it-IT" sz="1600" noProof="0" dirty="0"/>
          </a:p>
        </p:txBody>
      </p:sp>
      <p:sp>
        <p:nvSpPr>
          <p:cNvPr id="8" name="Text 6"/>
          <p:cNvSpPr/>
          <p:nvPr/>
        </p:nvSpPr>
        <p:spPr>
          <a:xfrm>
            <a:off x="1295400" y="2351410"/>
            <a:ext cx="4473702" cy="642620"/>
          </a:xfrm>
          <a:prstGeom prst="rect">
            <a:avLst/>
          </a:prstGeom>
          <a:noFill/>
          <a:ln/>
        </p:spPr>
        <p:txBody>
          <a:bodyPr wrap="square" lIns="0" tIns="0" rIns="0" bIns="0" rtlCol="0" anchor="t">
            <a:normAutofit/>
          </a:bodyPr>
          <a:lstStyle/>
          <a:p>
            <a:pPr marL="0" indent="0" algn="l">
              <a:lnSpc>
                <a:spcPts val="2430"/>
              </a:lnSpc>
              <a:buNone/>
            </a:pPr>
            <a:r>
              <a:rPr lang="it-IT" sz="1800" noProof="0" dirty="0">
                <a:solidFill>
                  <a:srgbClr val="1B1D20"/>
                </a:solidFill>
                <a:latin typeface="IBM Plex Sans" pitchFamily="34" charset="0"/>
                <a:ea typeface="IBM Plex Sans" pitchFamily="34" charset="-122"/>
                <a:cs typeface="IBM Plex Sans" pitchFamily="34" charset="-120"/>
              </a:rPr>
              <a:t>In </a:t>
            </a:r>
            <a:r>
              <a:rPr lang="it-IT" sz="1800" noProof="0" dirty="0" err="1">
                <a:solidFill>
                  <a:srgbClr val="1B1D20"/>
                </a:solidFill>
                <a:latin typeface="IBM Plex Sans" pitchFamily="34" charset="0"/>
                <a:ea typeface="IBM Plex Sans" pitchFamily="34" charset="-122"/>
                <a:cs typeface="IBM Plex Sans" pitchFamily="34" charset="-120"/>
              </a:rPr>
              <a:t>lab.conf</a:t>
            </a:r>
            <a:r>
              <a:rPr lang="it-IT" sz="1800" noProof="0" dirty="0">
                <a:solidFill>
                  <a:srgbClr val="1B1D20"/>
                </a:solidFill>
                <a:latin typeface="IBM Plex Sans" pitchFamily="34" charset="0"/>
                <a:ea typeface="IBM Plex Sans" pitchFamily="34" charset="-122"/>
                <a:cs typeface="IBM Plex Sans" pitchFamily="34" charset="-120"/>
              </a:rPr>
              <a:t>, una riga per interfaccia: nome[numero]="dominio", più l’immagine</a:t>
            </a:r>
            <a:endParaRPr lang="it-IT" sz="1800" noProof="0" dirty="0"/>
          </a:p>
        </p:txBody>
      </p:sp>
      <p:sp>
        <p:nvSpPr>
          <p:cNvPr id="9" name="Text 7"/>
          <p:cNvSpPr/>
          <p:nvPr/>
        </p:nvSpPr>
        <p:spPr>
          <a:xfrm>
            <a:off x="812800" y="3196592"/>
            <a:ext cx="4064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4A7F1C"/>
                </a:solidFill>
                <a:latin typeface="JetBrains Mono" pitchFamily="49" charset="0"/>
                <a:ea typeface="JetBrains Mono" pitchFamily="49" charset="-122"/>
                <a:cs typeface="JetBrains Mono" pitchFamily="49" charset="-120"/>
              </a:rPr>
              <a:t>03</a:t>
            </a:r>
            <a:endParaRPr lang="it-IT" sz="1600" noProof="0" dirty="0"/>
          </a:p>
        </p:txBody>
      </p:sp>
      <p:sp>
        <p:nvSpPr>
          <p:cNvPr id="10" name="Text 8"/>
          <p:cNvSpPr/>
          <p:nvPr/>
        </p:nvSpPr>
        <p:spPr>
          <a:xfrm>
            <a:off x="1295400" y="3171825"/>
            <a:ext cx="4473702" cy="642620"/>
          </a:xfrm>
          <a:prstGeom prst="rect">
            <a:avLst/>
          </a:prstGeom>
          <a:noFill/>
          <a:ln/>
        </p:spPr>
        <p:txBody>
          <a:bodyPr wrap="square" lIns="0" tIns="0" rIns="0" bIns="0" rtlCol="0" anchor="t">
            <a:normAutofit/>
          </a:bodyPr>
          <a:lstStyle/>
          <a:p>
            <a:pPr marL="0" indent="0" algn="l">
              <a:lnSpc>
                <a:spcPts val="2430"/>
              </a:lnSpc>
              <a:buNone/>
            </a:pPr>
            <a:r>
              <a:rPr lang="it-IT" sz="1800" noProof="0" dirty="0">
                <a:solidFill>
                  <a:srgbClr val="1B1D20"/>
                </a:solidFill>
                <a:latin typeface="IBM Plex Sans" pitchFamily="34" charset="0"/>
                <a:ea typeface="IBM Plex Sans" pitchFamily="34" charset="-122"/>
                <a:cs typeface="IBM Plex Sans" pitchFamily="34" charset="-120"/>
              </a:rPr>
              <a:t>Un file &lt;dispositivo&gt;.startup per ciascuno: indirizzi e rotte</a:t>
            </a:r>
            <a:endParaRPr lang="it-IT" sz="1800" noProof="0" dirty="0"/>
          </a:p>
        </p:txBody>
      </p:sp>
      <p:sp>
        <p:nvSpPr>
          <p:cNvPr id="11" name="Shape 9"/>
          <p:cNvSpPr/>
          <p:nvPr/>
        </p:nvSpPr>
        <p:spPr>
          <a:xfrm>
            <a:off x="831850" y="5110485"/>
            <a:ext cx="0" cy="619760"/>
          </a:xfrm>
          <a:prstGeom prst="line">
            <a:avLst/>
          </a:prstGeom>
          <a:noFill/>
          <a:ln w="38100">
            <a:solidFill>
              <a:srgbClr val="A8DC6E"/>
            </a:solidFill>
            <a:prstDash val="solid"/>
          </a:ln>
        </p:spPr>
        <p:txBody>
          <a:bodyPr/>
          <a:lstStyle/>
          <a:p>
            <a:endParaRPr lang="it-IT" noProof="0" dirty="0"/>
          </a:p>
        </p:txBody>
      </p:sp>
      <p:sp>
        <p:nvSpPr>
          <p:cNvPr id="12" name="Text 10"/>
          <p:cNvSpPr/>
          <p:nvPr/>
        </p:nvSpPr>
        <p:spPr>
          <a:xfrm>
            <a:off x="1054100" y="5135885"/>
            <a:ext cx="4722241" cy="59436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1B1D20"/>
                </a:solidFill>
                <a:latin typeface="IBM Plex Sans" pitchFamily="34" charset="0"/>
                <a:ea typeface="IBM Plex Sans" pitchFamily="34" charset="-122"/>
                <a:cs typeface="IBM Plex Sans" pitchFamily="34" charset="-120"/>
              </a:rPr>
              <a:t>Non serve abilitare l’IP forwarding:</a:t>
            </a:r>
            <a:r>
              <a:rPr lang="it-IT" sz="1600" noProof="0" dirty="0">
                <a:solidFill>
                  <a:srgbClr val="1B1D20"/>
                </a:solidFill>
                <a:latin typeface="IBM Plex Sans" pitchFamily="34" charset="0"/>
                <a:ea typeface="IBM Plex Sans" pitchFamily="34" charset="-122"/>
                <a:cs typeface="IBM Plex Sans" pitchFamily="34" charset="-120"/>
              </a:rPr>
              <a:t> Kathará lo attiva già su tutti i dispositivi.</a:t>
            </a:r>
            <a:endParaRPr lang="it-IT" sz="1600" noProof="0" dirty="0"/>
          </a:p>
        </p:txBody>
      </p:sp>
      <p:sp>
        <p:nvSpPr>
          <p:cNvPr id="13" name="Shape 11"/>
          <p:cNvSpPr/>
          <p:nvPr/>
        </p:nvSpPr>
        <p:spPr>
          <a:xfrm>
            <a:off x="6045200" y="1838958"/>
            <a:ext cx="5334000" cy="665480"/>
          </a:xfrm>
          <a:prstGeom prst="rect">
            <a:avLst/>
          </a:prstGeom>
          <a:solidFill>
            <a:srgbClr val="17191C"/>
          </a:solidFill>
          <a:ln/>
        </p:spPr>
        <p:txBody>
          <a:bodyPr/>
          <a:lstStyle/>
          <a:p>
            <a:endParaRPr lang="it-IT" noProof="0" dirty="0"/>
          </a:p>
        </p:txBody>
      </p:sp>
      <p:sp>
        <p:nvSpPr>
          <p:cNvPr id="14" name="Text 12"/>
          <p:cNvSpPr/>
          <p:nvPr/>
        </p:nvSpPr>
        <p:spPr>
          <a:xfrm>
            <a:off x="6172200" y="1940558"/>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mkdir</a:t>
            </a:r>
            <a:r>
              <a:rPr lang="it-IT" sz="1600" noProof="0" dirty="0">
                <a:solidFill>
                  <a:srgbClr val="F2F1EC"/>
                </a:solidFill>
                <a:latin typeface="JetBrains Mono" pitchFamily="49" charset="0"/>
                <a:ea typeface="JetBrains Mono" pitchFamily="49" charset="-122"/>
                <a:cs typeface="JetBrains Mono" pitchFamily="49" charset="-120"/>
              </a:rPr>
              <a:t> -p labs/lab1/</a:t>
            </a:r>
            <a:r>
              <a:rPr lang="it-IT" sz="1600" noProof="0" dirty="0" err="1">
                <a:solidFill>
                  <a:srgbClr val="F2F1EC"/>
                </a:solidFill>
                <a:latin typeface="JetBrains Mono" pitchFamily="49" charset="0"/>
                <a:ea typeface="JetBrains Mono" pitchFamily="49" charset="-122"/>
                <a:cs typeface="JetBrains Mono" pitchFamily="49" charset="-120"/>
              </a:rPr>
              <a:t>static</a:t>
            </a:r>
            <a:r>
              <a:rPr lang="it-IT" sz="1600" noProof="0" dirty="0">
                <a:solidFill>
                  <a:srgbClr val="F2F1EC"/>
                </a:solidFill>
                <a:latin typeface="JetBrains Mono" pitchFamily="49" charset="0"/>
                <a:ea typeface="JetBrains Mono" pitchFamily="49" charset="-122"/>
                <a:cs typeface="JetBrains Mono" pitchFamily="49" charset="-120"/>
              </a:rPr>
              <a:t>-routing</a:t>
            </a:r>
            <a:endParaRPr lang="it-IT" sz="1600" noProof="0" dirty="0"/>
          </a:p>
        </p:txBody>
      </p:sp>
      <p:sp>
        <p:nvSpPr>
          <p:cNvPr id="15" name="Text 13"/>
          <p:cNvSpPr/>
          <p:nvPr/>
        </p:nvSpPr>
        <p:spPr>
          <a:xfrm>
            <a:off x="6172200" y="2171700"/>
            <a:ext cx="5232400" cy="256540"/>
          </a:xfrm>
          <a:prstGeom prst="rect">
            <a:avLst/>
          </a:prstGeom>
          <a:noFill/>
          <a:ln/>
        </p:spPr>
        <p:txBody>
          <a:bodyPr wrap="square" lIns="0" tIns="0" rIns="0" bIns="0" rtlCol="0" anchor="t">
            <a:normAutofit/>
          </a:bodyPr>
          <a:lstStyle/>
          <a:p>
            <a:pPr>
              <a:lnSpc>
                <a:spcPts val="2000"/>
              </a:lnSpc>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cd labs/lab1/</a:t>
            </a:r>
            <a:r>
              <a:rPr lang="it-IT" sz="1600" dirty="0" err="1">
                <a:solidFill>
                  <a:srgbClr val="F2F1EC"/>
                </a:solidFill>
                <a:latin typeface="JetBrains Mono" pitchFamily="49" charset="0"/>
                <a:ea typeface="JetBrains Mono" pitchFamily="49" charset="-122"/>
                <a:cs typeface="JetBrains Mono" pitchFamily="49" charset="-120"/>
              </a:rPr>
              <a:t>static</a:t>
            </a:r>
            <a:r>
              <a:rPr lang="it-IT" sz="1600" dirty="0">
                <a:solidFill>
                  <a:srgbClr val="F2F1EC"/>
                </a:solidFill>
                <a:latin typeface="JetBrains Mono" pitchFamily="49" charset="0"/>
                <a:ea typeface="JetBrains Mono" pitchFamily="49" charset="-122"/>
                <a:cs typeface="JetBrains Mono" pitchFamily="49" charset="-120"/>
              </a:rPr>
              <a:t>-routing</a:t>
            </a:r>
            <a:endParaRPr lang="it-IT" sz="1600" noProof="0" dirty="0"/>
          </a:p>
        </p:txBody>
      </p:sp>
      <p:sp>
        <p:nvSpPr>
          <p:cNvPr id="16" name="Shape 14"/>
          <p:cNvSpPr/>
          <p:nvPr/>
        </p:nvSpPr>
        <p:spPr>
          <a:xfrm>
            <a:off x="6045200" y="2606042"/>
            <a:ext cx="5334000" cy="1127760"/>
          </a:xfrm>
          <a:prstGeom prst="rect">
            <a:avLst/>
          </a:prstGeom>
          <a:solidFill>
            <a:srgbClr val="17191C"/>
          </a:solidFill>
          <a:ln/>
        </p:spPr>
        <p:txBody>
          <a:bodyPr/>
          <a:lstStyle/>
          <a:p>
            <a:endParaRPr lang="it-IT" noProof="0" dirty="0"/>
          </a:p>
        </p:txBody>
      </p:sp>
      <p:sp>
        <p:nvSpPr>
          <p:cNvPr id="17" name="Text 15"/>
          <p:cNvSpPr/>
          <p:nvPr/>
        </p:nvSpPr>
        <p:spPr>
          <a:xfrm>
            <a:off x="6172200" y="2707642"/>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 </a:t>
            </a:r>
            <a:r>
              <a:rPr lang="it-IT" sz="1600" noProof="0" dirty="0" err="1">
                <a:solidFill>
                  <a:srgbClr val="8A8F96"/>
                </a:solidFill>
                <a:latin typeface="JetBrains Mono" pitchFamily="49" charset="0"/>
                <a:ea typeface="JetBrains Mono" pitchFamily="49" charset="-122"/>
                <a:cs typeface="JetBrains Mono" pitchFamily="49" charset="-120"/>
              </a:rPr>
              <a:t>lab.conf</a:t>
            </a:r>
            <a:r>
              <a:rPr lang="it-IT" sz="1600" noProof="0" dirty="0">
                <a:solidFill>
                  <a:srgbClr val="8A8F96"/>
                </a:solidFill>
                <a:latin typeface="JetBrains Mono" pitchFamily="49" charset="0"/>
                <a:ea typeface="JetBrains Mono" pitchFamily="49" charset="-122"/>
                <a:cs typeface="JetBrains Mono" pitchFamily="49" charset="-120"/>
              </a:rPr>
              <a:t> (estratto)</a:t>
            </a:r>
            <a:endParaRPr lang="it-IT" sz="1600" noProof="0" dirty="0"/>
          </a:p>
        </p:txBody>
      </p:sp>
      <p:sp>
        <p:nvSpPr>
          <p:cNvPr id="18" name="Text 16"/>
          <p:cNvSpPr/>
          <p:nvPr/>
        </p:nvSpPr>
        <p:spPr>
          <a:xfrm>
            <a:off x="6172200" y="2938785"/>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F2F1EC"/>
                </a:solidFill>
                <a:latin typeface="JetBrains Mono" pitchFamily="49" charset="0"/>
                <a:ea typeface="JetBrains Mono" pitchFamily="49" charset="-122"/>
                <a:cs typeface="JetBrains Mono" pitchFamily="49" charset="-120"/>
              </a:rPr>
              <a:t>r1[0]="</a:t>
            </a:r>
            <a:r>
              <a:rPr lang="it-IT" sz="1600" noProof="0" dirty="0" err="1">
                <a:solidFill>
                  <a:srgbClr val="F2F1EC"/>
                </a:solidFill>
                <a:latin typeface="JetBrains Mono" pitchFamily="49" charset="0"/>
                <a:ea typeface="JetBrains Mono" pitchFamily="49" charset="-122"/>
                <a:cs typeface="JetBrains Mono" pitchFamily="49" charset="-120"/>
              </a:rPr>
              <a:t>lanA</a:t>
            </a:r>
            <a:r>
              <a:rPr lang="it-IT" sz="1600" noProof="0" dirty="0">
                <a:solidFill>
                  <a:srgbClr val="F2F1EC"/>
                </a:solidFill>
                <a:latin typeface="JetBrains Mono" pitchFamily="49" charset="0"/>
                <a:ea typeface="JetBrains Mono" pitchFamily="49" charset="-122"/>
                <a:cs typeface="JetBrains Mono" pitchFamily="49" charset="-120"/>
              </a:rPr>
              <a:t>"</a:t>
            </a:r>
            <a:endParaRPr lang="it-IT" sz="1600" noProof="0" dirty="0"/>
          </a:p>
        </p:txBody>
      </p:sp>
      <p:sp>
        <p:nvSpPr>
          <p:cNvPr id="19" name="Text 17"/>
          <p:cNvSpPr/>
          <p:nvPr/>
        </p:nvSpPr>
        <p:spPr>
          <a:xfrm>
            <a:off x="6172200" y="3169915"/>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F2F1EC"/>
                </a:solidFill>
                <a:latin typeface="JetBrains Mono" pitchFamily="49" charset="0"/>
                <a:ea typeface="JetBrains Mono" pitchFamily="49" charset="-122"/>
                <a:cs typeface="JetBrains Mono" pitchFamily="49" charset="-120"/>
              </a:rPr>
              <a:t>r1[1]="n12"</a:t>
            </a:r>
            <a:endParaRPr lang="it-IT" sz="1600" noProof="0" dirty="0"/>
          </a:p>
        </p:txBody>
      </p:sp>
      <p:sp>
        <p:nvSpPr>
          <p:cNvPr id="20" name="Text 18"/>
          <p:cNvSpPr/>
          <p:nvPr/>
        </p:nvSpPr>
        <p:spPr>
          <a:xfrm>
            <a:off x="6172200" y="3401058"/>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F2F1EC"/>
                </a:solidFill>
                <a:latin typeface="JetBrains Mono" pitchFamily="49" charset="0"/>
                <a:ea typeface="JetBrains Mono" pitchFamily="49" charset="-122"/>
                <a:cs typeface="JetBrains Mono" pitchFamily="49" charset="-120"/>
              </a:rPr>
              <a:t>r1[image]="kathara/base"</a:t>
            </a:r>
            <a:endParaRPr lang="it-IT" sz="1600" noProof="0" dirty="0"/>
          </a:p>
        </p:txBody>
      </p:sp>
      <p:sp>
        <p:nvSpPr>
          <p:cNvPr id="21" name="Shape 19"/>
          <p:cNvSpPr/>
          <p:nvPr/>
        </p:nvSpPr>
        <p:spPr>
          <a:xfrm>
            <a:off x="6045200" y="3835400"/>
            <a:ext cx="5334000" cy="1127760"/>
          </a:xfrm>
          <a:prstGeom prst="rect">
            <a:avLst/>
          </a:prstGeom>
          <a:solidFill>
            <a:srgbClr val="17191C"/>
          </a:solidFill>
          <a:ln/>
        </p:spPr>
        <p:txBody>
          <a:bodyPr/>
          <a:lstStyle/>
          <a:p>
            <a:endParaRPr lang="it-IT" noProof="0" dirty="0"/>
          </a:p>
        </p:txBody>
      </p:sp>
      <p:sp>
        <p:nvSpPr>
          <p:cNvPr id="22" name="Text 20"/>
          <p:cNvSpPr/>
          <p:nvPr/>
        </p:nvSpPr>
        <p:spPr>
          <a:xfrm>
            <a:off x="6172200" y="3937000"/>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 r1.startup</a:t>
            </a:r>
            <a:endParaRPr lang="it-IT" sz="1600" noProof="0" dirty="0"/>
          </a:p>
        </p:txBody>
      </p:sp>
      <p:sp>
        <p:nvSpPr>
          <p:cNvPr id="23" name="Text 21"/>
          <p:cNvSpPr/>
          <p:nvPr/>
        </p:nvSpPr>
        <p:spPr>
          <a:xfrm>
            <a:off x="6172200" y="4168142"/>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address</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192.168.1.1/24 </a:t>
            </a:r>
            <a:r>
              <a:rPr lang="it-IT" sz="1600" noProof="0" dirty="0" err="1">
                <a:solidFill>
                  <a:srgbClr val="F2F1EC"/>
                </a:solidFill>
                <a:latin typeface="JetBrains Mono" pitchFamily="49" charset="0"/>
                <a:ea typeface="JetBrains Mono" pitchFamily="49" charset="-122"/>
                <a:cs typeface="JetBrains Mono" pitchFamily="49" charset="-120"/>
              </a:rPr>
              <a:t>dev</a:t>
            </a:r>
            <a:r>
              <a:rPr lang="it-IT" sz="1600" noProof="0" dirty="0">
                <a:solidFill>
                  <a:srgbClr val="F2F1EC"/>
                </a:solidFill>
                <a:latin typeface="JetBrains Mono" pitchFamily="49" charset="0"/>
                <a:ea typeface="JetBrains Mono" pitchFamily="49" charset="-122"/>
                <a:cs typeface="JetBrains Mono" pitchFamily="49" charset="-120"/>
              </a:rPr>
              <a:t> eth0</a:t>
            </a:r>
            <a:endParaRPr lang="it-IT" sz="1600" noProof="0" dirty="0"/>
          </a:p>
        </p:txBody>
      </p:sp>
      <p:sp>
        <p:nvSpPr>
          <p:cNvPr id="24" name="Text 22"/>
          <p:cNvSpPr/>
          <p:nvPr/>
        </p:nvSpPr>
        <p:spPr>
          <a:xfrm>
            <a:off x="6172200" y="4399285"/>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address</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10.0.12.1/30 </a:t>
            </a:r>
            <a:r>
              <a:rPr lang="it-IT" sz="1600" noProof="0" dirty="0" err="1">
                <a:solidFill>
                  <a:srgbClr val="F2F1EC"/>
                </a:solidFill>
                <a:latin typeface="JetBrains Mono" pitchFamily="49" charset="0"/>
                <a:ea typeface="JetBrains Mono" pitchFamily="49" charset="-122"/>
                <a:cs typeface="JetBrains Mono" pitchFamily="49" charset="-120"/>
              </a:rPr>
              <a:t>dev</a:t>
            </a:r>
            <a:r>
              <a:rPr lang="it-IT" sz="1600" noProof="0" dirty="0">
                <a:solidFill>
                  <a:srgbClr val="F2F1EC"/>
                </a:solidFill>
                <a:latin typeface="JetBrains Mono" pitchFamily="49" charset="0"/>
                <a:ea typeface="JetBrains Mono" pitchFamily="49" charset="-122"/>
                <a:cs typeface="JetBrains Mono" pitchFamily="49" charset="-120"/>
              </a:rPr>
              <a:t> eth1</a:t>
            </a:r>
            <a:endParaRPr lang="it-IT" sz="1600" noProof="0" dirty="0"/>
          </a:p>
        </p:txBody>
      </p:sp>
      <p:sp>
        <p:nvSpPr>
          <p:cNvPr id="25" name="Text 23"/>
          <p:cNvSpPr/>
          <p:nvPr/>
        </p:nvSpPr>
        <p:spPr>
          <a:xfrm>
            <a:off x="6172200" y="4630415"/>
            <a:ext cx="5232400" cy="256540"/>
          </a:xfrm>
          <a:prstGeom prst="rect">
            <a:avLst/>
          </a:prstGeom>
          <a:noFill/>
          <a:ln/>
        </p:spPr>
        <p:txBody>
          <a:bodyPr wrap="square" lIns="0" tIns="0" rIns="0" bIns="0" rtlCol="0" anchor="t">
            <a:normAutofit fontScale="92500"/>
          </a:bodyPr>
          <a:lstStyle/>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route</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a:solidFill>
                  <a:srgbClr val="E1D368"/>
                </a:solidFill>
                <a:latin typeface="JetBrains Mono" pitchFamily="49" charset="0"/>
                <a:ea typeface="JetBrains Mono" pitchFamily="49" charset="-122"/>
                <a:cs typeface="JetBrains Mono" pitchFamily="49" charset="-120"/>
              </a:rPr>
              <a:t>&lt;rete&gt;/&lt;prefisso&gt;</a:t>
            </a:r>
            <a:r>
              <a:rPr lang="it-IT" sz="1600" noProof="0" dirty="0">
                <a:solidFill>
                  <a:srgbClr val="F2F1EC"/>
                </a:solidFill>
                <a:latin typeface="JetBrains Mono" pitchFamily="49" charset="0"/>
                <a:ea typeface="JetBrains Mono" pitchFamily="49" charset="-122"/>
                <a:cs typeface="JetBrains Mono" pitchFamily="49" charset="-120"/>
              </a:rPr>
              <a:t> via </a:t>
            </a:r>
            <a:r>
              <a:rPr lang="it-IT" sz="1600" noProof="0" dirty="0">
                <a:solidFill>
                  <a:srgbClr val="E1D368"/>
                </a:solidFill>
                <a:latin typeface="JetBrains Mono" pitchFamily="49" charset="0"/>
                <a:ea typeface="JetBrains Mono" pitchFamily="49" charset="-122"/>
                <a:cs typeface="JetBrains Mono" pitchFamily="49" charset="-120"/>
              </a:rPr>
              <a:t>&lt;</a:t>
            </a:r>
            <a:r>
              <a:rPr lang="it-IT" sz="1600" noProof="0" dirty="0" err="1">
                <a:solidFill>
                  <a:srgbClr val="E1D368"/>
                </a:solidFill>
                <a:latin typeface="JetBrains Mono" pitchFamily="49" charset="0"/>
                <a:ea typeface="JetBrains Mono" pitchFamily="49" charset="-122"/>
                <a:cs typeface="JetBrains Mono" pitchFamily="49" charset="-120"/>
              </a:rPr>
              <a:t>next</a:t>
            </a:r>
            <a:r>
              <a:rPr lang="it-IT" sz="1600" noProof="0" dirty="0">
                <a:solidFill>
                  <a:srgbClr val="E1D368"/>
                </a:solidFill>
                <a:latin typeface="JetBrains Mono" pitchFamily="49" charset="0"/>
                <a:ea typeface="JetBrains Mono" pitchFamily="49" charset="-122"/>
                <a:cs typeface="JetBrains Mono" pitchFamily="49" charset="-120"/>
              </a:rPr>
              <a:t>-hop&gt;</a:t>
            </a:r>
            <a:endParaRPr lang="it-IT" sz="1600" noProof="0" dirty="0"/>
          </a:p>
        </p:txBody>
      </p:sp>
      <p:sp>
        <p:nvSpPr>
          <p:cNvPr id="26" name="Shape 24"/>
          <p:cNvSpPr/>
          <p:nvPr/>
        </p:nvSpPr>
        <p:spPr>
          <a:xfrm>
            <a:off x="6045200" y="5064758"/>
            <a:ext cx="5334000" cy="665480"/>
          </a:xfrm>
          <a:prstGeom prst="rect">
            <a:avLst/>
          </a:prstGeom>
          <a:solidFill>
            <a:srgbClr val="17191C"/>
          </a:solidFill>
          <a:ln/>
        </p:spPr>
        <p:txBody>
          <a:bodyPr/>
          <a:lstStyle/>
          <a:p>
            <a:endParaRPr lang="it-IT" noProof="0" dirty="0"/>
          </a:p>
        </p:txBody>
      </p:sp>
      <p:sp>
        <p:nvSpPr>
          <p:cNvPr id="27" name="Text 25"/>
          <p:cNvSpPr/>
          <p:nvPr/>
        </p:nvSpPr>
        <p:spPr>
          <a:xfrm>
            <a:off x="6172200" y="5166358"/>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 sugli </a:t>
            </a:r>
            <a:r>
              <a:rPr lang="it-IT" sz="1600" noProof="0" dirty="0" err="1">
                <a:solidFill>
                  <a:srgbClr val="8A8F96"/>
                </a:solidFill>
                <a:latin typeface="JetBrains Mono" pitchFamily="49" charset="0"/>
                <a:ea typeface="JetBrains Mono" pitchFamily="49" charset="-122"/>
                <a:cs typeface="JetBrains Mono" pitchFamily="49" charset="-120"/>
              </a:rPr>
              <a:t>host</a:t>
            </a:r>
            <a:endParaRPr lang="it-IT" sz="1600" noProof="0" dirty="0"/>
          </a:p>
        </p:txBody>
      </p:sp>
      <p:sp>
        <p:nvSpPr>
          <p:cNvPr id="28" name="Text 26"/>
          <p:cNvSpPr/>
          <p:nvPr/>
        </p:nvSpPr>
        <p:spPr>
          <a:xfrm>
            <a:off x="6172200" y="5397500"/>
            <a:ext cx="523240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route</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default via </a:t>
            </a:r>
            <a:r>
              <a:rPr lang="it-IT" sz="1600" noProof="0" dirty="0">
                <a:solidFill>
                  <a:srgbClr val="E1D368"/>
                </a:solidFill>
                <a:latin typeface="JetBrains Mono" pitchFamily="49" charset="0"/>
                <a:ea typeface="JetBrains Mono" pitchFamily="49" charset="-122"/>
                <a:cs typeface="JetBrains Mono" pitchFamily="49" charset="-120"/>
              </a:rPr>
              <a:t>&lt;gateway&gt;</a:t>
            </a:r>
            <a:endParaRPr lang="it-IT" sz="1600" noProof="0" dirty="0"/>
          </a:p>
        </p:txBody>
      </p:sp>
    </p:spTree>
    <p:extLst>
      <p:ext uri="{BB962C8B-B14F-4D97-AF65-F5344CB8AC3E}">
        <p14:creationId xmlns:p14="http://schemas.microsoft.com/office/powerpoint/2010/main" val="1246339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2">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4969"/>
              </a:lnSpc>
              <a:buNone/>
            </a:pPr>
            <a:r>
              <a:rPr lang="it-IT" sz="3975" b="1" i="0" noProof="0" dirty="0">
                <a:solidFill>
                  <a:srgbClr val="1B1D20"/>
                </a:solidFill>
                <a:latin typeface="IBM Plex Sans" pitchFamily="34" charset="0"/>
                <a:ea typeface="IBM Plex Sans" pitchFamily="34" charset="-122"/>
                <a:cs typeface="IBM Plex Sans" pitchFamily="34" charset="-120"/>
              </a:rPr>
              <a:t>L’avvio del lab</a:t>
            </a:r>
            <a:endParaRPr lang="it-IT" sz="3975" noProof="0" dirty="0"/>
          </a:p>
        </p:txBody>
      </p:sp>
      <p:pic>
        <p:nvPicPr>
          <p:cNvPr id="5" name="Image 0" descr="Terminale: output di kathara lstart con le barre di avanzamento 3/3 e 4/4, poi kathara linfo --topology con i domini lanA, lanB e n12 e i dispositivi collegati"/>
          <p:cNvPicPr>
            <a:picLocks noChangeAspect="1"/>
          </p:cNvPicPr>
          <p:nvPr/>
        </p:nvPicPr>
        <p:blipFill>
          <a:blip r:embed="rId3"/>
          <a:srcRect l="-4790" r="-4790"/>
          <a:stretch/>
        </p:blipFill>
        <p:spPr>
          <a:xfrm>
            <a:off x="812800" y="1832818"/>
            <a:ext cx="6985000" cy="3937000"/>
          </a:xfrm>
          <a:prstGeom prst="rect">
            <a:avLst/>
          </a:prstGeom>
        </p:spPr>
      </p:pic>
      <p:sp>
        <p:nvSpPr>
          <p:cNvPr id="6" name="Text 3"/>
          <p:cNvSpPr/>
          <p:nvPr/>
        </p:nvSpPr>
        <p:spPr>
          <a:xfrm>
            <a:off x="8153400" y="1832818"/>
            <a:ext cx="3322574" cy="236432"/>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01</a:t>
            </a:r>
            <a:endParaRPr lang="it-IT" sz="1600" noProof="0" dirty="0"/>
          </a:p>
        </p:txBody>
      </p:sp>
      <p:sp>
        <p:nvSpPr>
          <p:cNvPr id="7" name="Text 4"/>
          <p:cNvSpPr/>
          <p:nvPr/>
        </p:nvSpPr>
        <p:spPr>
          <a:xfrm>
            <a:off x="8153400" y="2094657"/>
            <a:ext cx="3322574" cy="281622"/>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Le barre a 3/3 e 4/4</a:t>
            </a:r>
            <a:endParaRPr lang="it-IT" sz="1800" noProof="0" dirty="0"/>
          </a:p>
        </p:txBody>
      </p:sp>
      <p:sp>
        <p:nvSpPr>
          <p:cNvPr id="8" name="Text 5"/>
          <p:cNvSpPr/>
          <p:nvPr/>
        </p:nvSpPr>
        <p:spPr>
          <a:xfrm>
            <a:off x="8153400" y="2401664"/>
            <a:ext cx="3322574" cy="517737"/>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Tutti i domini di collisione e tutti i dispositivi sono partiti.</a:t>
            </a:r>
            <a:endParaRPr lang="it-IT" sz="1600" noProof="0" dirty="0"/>
          </a:p>
        </p:txBody>
      </p:sp>
      <p:sp>
        <p:nvSpPr>
          <p:cNvPr id="9" name="Shape 6"/>
          <p:cNvSpPr/>
          <p:nvPr/>
        </p:nvSpPr>
        <p:spPr>
          <a:xfrm>
            <a:off x="8153400" y="3125788"/>
            <a:ext cx="3225800" cy="0"/>
          </a:xfrm>
          <a:prstGeom prst="line">
            <a:avLst/>
          </a:prstGeom>
          <a:noFill/>
          <a:ln w="6350">
            <a:solidFill>
              <a:srgbClr val="CFCCC4"/>
            </a:solidFill>
            <a:prstDash val="solid"/>
          </a:ln>
        </p:spPr>
        <p:txBody>
          <a:bodyPr/>
          <a:lstStyle/>
          <a:p>
            <a:endParaRPr lang="it-IT" noProof="0" dirty="0"/>
          </a:p>
        </p:txBody>
      </p:sp>
      <p:sp>
        <p:nvSpPr>
          <p:cNvPr id="10" name="Text 7"/>
          <p:cNvSpPr/>
          <p:nvPr/>
        </p:nvSpPr>
        <p:spPr>
          <a:xfrm>
            <a:off x="8153400" y="3306763"/>
            <a:ext cx="3322574" cy="236432"/>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02</a:t>
            </a:r>
            <a:endParaRPr lang="it-IT" sz="1600" noProof="0" dirty="0"/>
          </a:p>
        </p:txBody>
      </p:sp>
      <p:sp>
        <p:nvSpPr>
          <p:cNvPr id="11" name="Text 8"/>
          <p:cNvSpPr/>
          <p:nvPr/>
        </p:nvSpPr>
        <p:spPr>
          <a:xfrm>
            <a:off x="8153400" y="3568601"/>
            <a:ext cx="3322574" cy="281622"/>
          </a:xfrm>
          <a:prstGeom prst="rect">
            <a:avLst/>
          </a:prstGeom>
          <a:noFill/>
          <a:ln/>
        </p:spPr>
        <p:txBody>
          <a:bodyPr wrap="square" lIns="0" tIns="0" rIns="0" bIns="0" rtlCol="0" anchor="t">
            <a:normAutofit/>
          </a:bodyPr>
          <a:lstStyle/>
          <a:p>
            <a:pPr marL="0" indent="0" algn="l">
              <a:lnSpc>
                <a:spcPts val="2250"/>
              </a:lnSpc>
              <a:buNone/>
            </a:pPr>
            <a:r>
              <a:rPr lang="it-IT" sz="1800" b="1" noProof="0" dirty="0" err="1">
                <a:solidFill>
                  <a:srgbClr val="1B1D20"/>
                </a:solidFill>
                <a:latin typeface="IBM Plex Sans" pitchFamily="34" charset="0"/>
                <a:ea typeface="IBM Plex Sans" pitchFamily="34" charset="-122"/>
                <a:cs typeface="IBM Plex Sans" pitchFamily="34" charset="-120"/>
              </a:rPr>
              <a:t>linfo</a:t>
            </a:r>
            <a:r>
              <a:rPr lang="it-IT" sz="1800" b="1" noProof="0" dirty="0">
                <a:solidFill>
                  <a:srgbClr val="1B1D20"/>
                </a:solidFill>
                <a:latin typeface="IBM Plex Sans" pitchFamily="34" charset="0"/>
                <a:ea typeface="IBM Plex Sans" pitchFamily="34" charset="-122"/>
                <a:cs typeface="IBM Plex Sans" pitchFamily="34" charset="-120"/>
              </a:rPr>
              <a:t> --</a:t>
            </a:r>
            <a:r>
              <a:rPr lang="it-IT" sz="1800" b="1" noProof="0" dirty="0" err="1">
                <a:solidFill>
                  <a:srgbClr val="1B1D20"/>
                </a:solidFill>
                <a:latin typeface="IBM Plex Sans" pitchFamily="34" charset="0"/>
                <a:ea typeface="IBM Plex Sans" pitchFamily="34" charset="-122"/>
                <a:cs typeface="IBM Plex Sans" pitchFamily="34" charset="-120"/>
              </a:rPr>
              <a:t>topology</a:t>
            </a:r>
            <a:endParaRPr lang="it-IT" sz="1800" noProof="0" dirty="0"/>
          </a:p>
        </p:txBody>
      </p:sp>
      <p:sp>
        <p:nvSpPr>
          <p:cNvPr id="12" name="Text 9"/>
          <p:cNvSpPr/>
          <p:nvPr/>
        </p:nvSpPr>
        <p:spPr>
          <a:xfrm>
            <a:off x="8153400" y="3875608"/>
            <a:ext cx="3322574" cy="517843"/>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Controlliamo il cablaggio: ogni dominio con i suoi dispositivi.</a:t>
            </a:r>
            <a:endParaRPr lang="it-IT" sz="1600" noProof="0" dirty="0"/>
          </a:p>
        </p:txBody>
      </p:sp>
      <p:sp>
        <p:nvSpPr>
          <p:cNvPr id="13" name="Shape 10"/>
          <p:cNvSpPr/>
          <p:nvPr/>
        </p:nvSpPr>
        <p:spPr>
          <a:xfrm>
            <a:off x="8153400" y="4599831"/>
            <a:ext cx="3225800" cy="0"/>
          </a:xfrm>
          <a:prstGeom prst="line">
            <a:avLst/>
          </a:prstGeom>
          <a:noFill/>
          <a:ln w="6350">
            <a:solidFill>
              <a:srgbClr val="CFCCC4"/>
            </a:solidFill>
            <a:prstDash val="solid"/>
          </a:ln>
        </p:spPr>
        <p:txBody>
          <a:bodyPr/>
          <a:lstStyle/>
          <a:p>
            <a:endParaRPr lang="it-IT" noProof="0" dirty="0"/>
          </a:p>
        </p:txBody>
      </p:sp>
      <p:sp>
        <p:nvSpPr>
          <p:cNvPr id="19" name="Rettangolo 18">
            <a:extLst>
              <a:ext uri="{FF2B5EF4-FFF2-40B4-BE49-F238E27FC236}">
                <a16:creationId xmlns:a16="http://schemas.microsoft.com/office/drawing/2014/main" id="{247E6CE7-7D3A-399A-A580-AA4215D31752}"/>
              </a:ext>
            </a:extLst>
          </p:cNvPr>
          <p:cNvSpPr/>
          <p:nvPr/>
        </p:nvSpPr>
        <p:spPr>
          <a:xfrm>
            <a:off x="2550695" y="2151248"/>
            <a:ext cx="1020278" cy="210595"/>
          </a:xfrm>
          <a:prstGeom prst="rect">
            <a:avLst/>
          </a:prstGeom>
          <a:solidFill>
            <a:srgbClr val="0F1B29"/>
          </a:solidFill>
          <a:ln>
            <a:solidFill>
              <a:srgbClr val="0F1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2266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3">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Il lab funziona: la prova da pc1</a:t>
            </a:r>
            <a:endParaRPr lang="it-IT" sz="4000" noProof="0" dirty="0"/>
          </a:p>
        </p:txBody>
      </p:sp>
      <p:pic>
        <p:nvPicPr>
          <p:cNvPr id="5" name="Image 0" descr="Terminale di pc1: ping verso 192.168.2.10 con 0% packet loss, traceroute che passa da 192.168.1.1 e 10.0.12.2, e ip route con la default via 192.168.1.1"/>
          <p:cNvPicPr>
            <a:picLocks noChangeAspect="1"/>
          </p:cNvPicPr>
          <p:nvPr/>
        </p:nvPicPr>
        <p:blipFill>
          <a:blip r:embed="rId3"/>
          <a:srcRect t="-2800" b="-2800"/>
          <a:stretch/>
        </p:blipFill>
        <p:spPr>
          <a:xfrm>
            <a:off x="812800" y="1838970"/>
            <a:ext cx="6985000" cy="3937000"/>
          </a:xfrm>
          <a:prstGeom prst="rect">
            <a:avLst/>
          </a:prstGeom>
        </p:spPr>
      </p:pic>
      <p:sp>
        <p:nvSpPr>
          <p:cNvPr id="6" name="Text 3"/>
          <p:cNvSpPr/>
          <p:nvPr/>
        </p:nvSpPr>
        <p:spPr>
          <a:xfrm>
            <a:off x="8153400" y="1838970"/>
            <a:ext cx="3322574"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01</a:t>
            </a:r>
            <a:endParaRPr lang="it-IT" sz="1600" noProof="0" dirty="0"/>
          </a:p>
        </p:txBody>
      </p:sp>
      <p:sp>
        <p:nvSpPr>
          <p:cNvPr id="7" name="Text 4"/>
          <p:cNvSpPr/>
          <p:nvPr/>
        </p:nvSpPr>
        <p:spPr>
          <a:xfrm>
            <a:off x="8153400" y="2103115"/>
            <a:ext cx="3322574"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0% </a:t>
            </a:r>
            <a:r>
              <a:rPr lang="it-IT" sz="1800" b="1" noProof="0" dirty="0" err="1">
                <a:solidFill>
                  <a:srgbClr val="1B1D20"/>
                </a:solidFill>
                <a:latin typeface="IBM Plex Sans" pitchFamily="34" charset="0"/>
                <a:ea typeface="IBM Plex Sans" pitchFamily="34" charset="-122"/>
                <a:cs typeface="IBM Plex Sans" pitchFamily="34" charset="-120"/>
              </a:rPr>
              <a:t>packet</a:t>
            </a:r>
            <a:r>
              <a:rPr lang="it-IT" sz="1800" b="1" noProof="0" dirty="0">
                <a:solidFill>
                  <a:srgbClr val="1B1D20"/>
                </a:solidFill>
                <a:latin typeface="IBM Plex Sans" pitchFamily="34" charset="0"/>
                <a:ea typeface="IBM Plex Sans" pitchFamily="34" charset="-122"/>
                <a:cs typeface="IBM Plex Sans" pitchFamily="34" charset="-120"/>
              </a:rPr>
              <a:t> </a:t>
            </a:r>
            <a:r>
              <a:rPr lang="it-IT" sz="1800" b="1" noProof="0" dirty="0" err="1">
                <a:solidFill>
                  <a:srgbClr val="1B1D20"/>
                </a:solidFill>
                <a:latin typeface="IBM Plex Sans" pitchFamily="34" charset="0"/>
                <a:ea typeface="IBM Plex Sans" pitchFamily="34" charset="-122"/>
                <a:cs typeface="IBM Plex Sans" pitchFamily="34" charset="-120"/>
              </a:rPr>
              <a:t>loss</a:t>
            </a:r>
            <a:endParaRPr lang="it-IT" sz="1800" noProof="0" dirty="0"/>
          </a:p>
        </p:txBody>
      </p:sp>
      <p:sp>
        <p:nvSpPr>
          <p:cNvPr id="8" name="Text 5"/>
          <p:cNvSpPr/>
          <p:nvPr/>
        </p:nvSpPr>
        <p:spPr>
          <a:xfrm>
            <a:off x="8153400" y="2413000"/>
            <a:ext cx="3322574" cy="5232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pc1 raggiunge pc2, e la risposta torna indietro.</a:t>
            </a:r>
            <a:endParaRPr lang="it-IT" sz="1600" noProof="0" dirty="0"/>
          </a:p>
        </p:txBody>
      </p:sp>
      <p:sp>
        <p:nvSpPr>
          <p:cNvPr id="9" name="Shape 6"/>
          <p:cNvSpPr/>
          <p:nvPr/>
        </p:nvSpPr>
        <p:spPr>
          <a:xfrm>
            <a:off x="8153400" y="3142605"/>
            <a:ext cx="3225800" cy="0"/>
          </a:xfrm>
          <a:prstGeom prst="line">
            <a:avLst/>
          </a:prstGeom>
          <a:noFill/>
          <a:ln w="6350">
            <a:solidFill>
              <a:srgbClr val="CFCCC4"/>
            </a:solidFill>
            <a:prstDash val="solid"/>
          </a:ln>
        </p:spPr>
        <p:txBody>
          <a:bodyPr/>
          <a:lstStyle/>
          <a:p>
            <a:endParaRPr lang="it-IT" noProof="0" dirty="0"/>
          </a:p>
        </p:txBody>
      </p:sp>
      <p:sp>
        <p:nvSpPr>
          <p:cNvPr id="10" name="Text 7"/>
          <p:cNvSpPr/>
          <p:nvPr/>
        </p:nvSpPr>
        <p:spPr>
          <a:xfrm>
            <a:off x="8153400" y="3323580"/>
            <a:ext cx="3322574"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02</a:t>
            </a:r>
            <a:endParaRPr lang="it-IT" sz="1600" noProof="0" dirty="0"/>
          </a:p>
        </p:txBody>
      </p:sp>
      <p:sp>
        <p:nvSpPr>
          <p:cNvPr id="11" name="Text 8"/>
          <p:cNvSpPr/>
          <p:nvPr/>
        </p:nvSpPr>
        <p:spPr>
          <a:xfrm>
            <a:off x="8153400" y="3587750"/>
            <a:ext cx="3322574"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Tre hop</a:t>
            </a:r>
            <a:endParaRPr lang="it-IT" sz="1800" noProof="0" dirty="0"/>
          </a:p>
        </p:txBody>
      </p:sp>
      <p:sp>
        <p:nvSpPr>
          <p:cNvPr id="12" name="Text 9"/>
          <p:cNvSpPr/>
          <p:nvPr/>
        </p:nvSpPr>
        <p:spPr>
          <a:xfrm>
            <a:off x="8153400" y="3897635"/>
            <a:ext cx="3322574" cy="5232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r1 (192.168.1.1), poi r2 (10.0.12.2), poi pc2.</a:t>
            </a:r>
            <a:endParaRPr lang="it-IT" sz="1600" noProof="0" dirty="0"/>
          </a:p>
        </p:txBody>
      </p:sp>
      <p:sp>
        <p:nvSpPr>
          <p:cNvPr id="13" name="Shape 10"/>
          <p:cNvSpPr/>
          <p:nvPr/>
        </p:nvSpPr>
        <p:spPr>
          <a:xfrm>
            <a:off x="8153400" y="4627240"/>
            <a:ext cx="3225800" cy="0"/>
          </a:xfrm>
          <a:prstGeom prst="line">
            <a:avLst/>
          </a:prstGeom>
          <a:noFill/>
          <a:ln w="6350">
            <a:solidFill>
              <a:srgbClr val="CFCCC4"/>
            </a:solidFill>
            <a:prstDash val="solid"/>
          </a:ln>
        </p:spPr>
        <p:txBody>
          <a:bodyPr/>
          <a:lstStyle/>
          <a:p>
            <a:endParaRPr lang="it-IT" noProof="0" dirty="0"/>
          </a:p>
        </p:txBody>
      </p:sp>
      <p:sp>
        <p:nvSpPr>
          <p:cNvPr id="14" name="Text 11"/>
          <p:cNvSpPr/>
          <p:nvPr/>
        </p:nvSpPr>
        <p:spPr>
          <a:xfrm>
            <a:off x="8153400" y="4808215"/>
            <a:ext cx="3322574"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03</a:t>
            </a:r>
            <a:endParaRPr lang="it-IT" sz="1600" noProof="0" dirty="0"/>
          </a:p>
        </p:txBody>
      </p:sp>
      <p:sp>
        <p:nvSpPr>
          <p:cNvPr id="15" name="Text 12"/>
          <p:cNvSpPr/>
          <p:nvPr/>
        </p:nvSpPr>
        <p:spPr>
          <a:xfrm>
            <a:off x="8153400" y="5072385"/>
            <a:ext cx="3322574"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Due righe in </a:t>
            </a:r>
            <a:r>
              <a:rPr lang="it-IT" sz="1800" b="1" noProof="0" dirty="0" err="1">
                <a:solidFill>
                  <a:srgbClr val="1B1D20"/>
                </a:solidFill>
                <a:latin typeface="IBM Plex Sans" pitchFamily="34" charset="0"/>
                <a:ea typeface="IBM Plex Sans" pitchFamily="34" charset="-122"/>
                <a:cs typeface="IBM Plex Sans" pitchFamily="34" charset="-120"/>
              </a:rPr>
              <a:t>ip</a:t>
            </a:r>
            <a:r>
              <a:rPr lang="it-IT" sz="1800" b="1" noProof="0" dirty="0">
                <a:solidFill>
                  <a:srgbClr val="1B1D20"/>
                </a:solidFill>
                <a:latin typeface="IBM Plex Sans" pitchFamily="34" charset="0"/>
                <a:ea typeface="IBM Plex Sans" pitchFamily="34" charset="-122"/>
                <a:cs typeface="IBM Plex Sans" pitchFamily="34" charset="-120"/>
              </a:rPr>
              <a:t> </a:t>
            </a:r>
            <a:r>
              <a:rPr lang="it-IT" sz="1800" b="1" noProof="0" dirty="0" err="1">
                <a:solidFill>
                  <a:srgbClr val="1B1D20"/>
                </a:solidFill>
                <a:latin typeface="IBM Plex Sans" pitchFamily="34" charset="0"/>
                <a:ea typeface="IBM Plex Sans" pitchFamily="34" charset="-122"/>
                <a:cs typeface="IBM Plex Sans" pitchFamily="34" charset="-120"/>
              </a:rPr>
              <a:t>route</a:t>
            </a:r>
            <a:endParaRPr lang="it-IT" sz="1800" noProof="0" dirty="0"/>
          </a:p>
        </p:txBody>
      </p:sp>
      <p:sp>
        <p:nvSpPr>
          <p:cNvPr id="16" name="Text 13"/>
          <p:cNvSpPr/>
          <p:nvPr/>
        </p:nvSpPr>
        <p:spPr>
          <a:xfrm>
            <a:off x="8153400" y="5382270"/>
            <a:ext cx="3322574" cy="274320"/>
          </a:xfrm>
          <a:prstGeom prst="rect">
            <a:avLst/>
          </a:prstGeom>
          <a:noFill/>
          <a:ln/>
        </p:spPr>
        <p:txBody>
          <a:bodyPr wrap="square" lIns="0" tIns="0" rIns="0" bIns="0" rtlCol="0" anchor="t">
            <a:normAutofit fontScale="92500"/>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La default verso r1 e la rete connessa.</a:t>
            </a:r>
            <a:endParaRPr lang="it-IT" sz="1600" noProof="0" dirty="0"/>
          </a:p>
        </p:txBody>
      </p:sp>
    </p:spTree>
    <p:extLst>
      <p:ext uri="{BB962C8B-B14F-4D97-AF65-F5344CB8AC3E}">
        <p14:creationId xmlns:p14="http://schemas.microsoft.com/office/powerpoint/2010/main" val="21315861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4">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Controlliamo con il </a:t>
            </a:r>
            <a:r>
              <a:rPr lang="it-IT" sz="4000" b="1" i="0" noProof="0" dirty="0" err="1">
                <a:solidFill>
                  <a:srgbClr val="1B1D20"/>
                </a:solidFill>
                <a:latin typeface="IBM Plex Sans" pitchFamily="34" charset="0"/>
                <a:ea typeface="IBM Plex Sans" pitchFamily="34" charset="-122"/>
                <a:cs typeface="IBM Plex Sans" pitchFamily="34" charset="-120"/>
              </a:rPr>
              <a:t>checker</a:t>
            </a:r>
            <a:endParaRPr lang="it-IT" sz="4000" noProof="0" dirty="0"/>
          </a:p>
        </p:txBody>
      </p:sp>
      <p:sp>
        <p:nvSpPr>
          <p:cNvPr id="5" name="Shape 3"/>
          <p:cNvSpPr/>
          <p:nvPr/>
        </p:nvSpPr>
        <p:spPr>
          <a:xfrm>
            <a:off x="812800" y="1838970"/>
            <a:ext cx="10566400" cy="1211580"/>
          </a:xfrm>
          <a:prstGeom prst="rect">
            <a:avLst/>
          </a:prstGeom>
          <a:solidFill>
            <a:srgbClr val="17191C"/>
          </a:solidFill>
          <a:ln/>
        </p:spPr>
        <p:txBody>
          <a:bodyPr/>
          <a:lstStyle/>
          <a:p>
            <a:endParaRPr lang="it-IT" noProof="0" dirty="0"/>
          </a:p>
        </p:txBody>
      </p:sp>
      <p:sp>
        <p:nvSpPr>
          <p:cNvPr id="6" name="Text 4"/>
          <p:cNvSpPr/>
          <p:nvPr/>
        </p:nvSpPr>
        <p:spPr>
          <a:xfrm>
            <a:off x="965200" y="1965970"/>
            <a:ext cx="10569448" cy="264795"/>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 dalla radice del repository, </a:t>
            </a:r>
            <a:r>
              <a:rPr lang="it-IT" sz="1600" noProof="0" dirty="0" err="1">
                <a:solidFill>
                  <a:srgbClr val="8A8F96"/>
                </a:solidFill>
                <a:latin typeface="JetBrains Mono" pitchFamily="49" charset="0"/>
                <a:ea typeface="JetBrains Mono" pitchFamily="49" charset="-122"/>
                <a:cs typeface="JetBrains Mono" pitchFamily="49" charset="-120"/>
              </a:rPr>
              <a:t>virtualenv</a:t>
            </a:r>
            <a:r>
              <a:rPr lang="it-IT" sz="1600" noProof="0" dirty="0">
                <a:solidFill>
                  <a:srgbClr val="8A8F96"/>
                </a:solidFill>
                <a:latin typeface="JetBrains Mono" pitchFamily="49" charset="0"/>
                <a:ea typeface="JetBrains Mono" pitchFamily="49" charset="-122"/>
                <a:cs typeface="JetBrains Mono" pitchFamily="49" charset="-120"/>
              </a:rPr>
              <a:t> attivo</a:t>
            </a:r>
            <a:endParaRPr lang="it-IT" sz="1600" noProof="0" dirty="0"/>
          </a:p>
        </p:txBody>
      </p:sp>
      <p:sp>
        <p:nvSpPr>
          <p:cNvPr id="7" name="Text 5"/>
          <p:cNvSpPr/>
          <p:nvPr/>
        </p:nvSpPr>
        <p:spPr>
          <a:xfrm>
            <a:off x="965200" y="2205360"/>
            <a:ext cx="10569448" cy="264795"/>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kathara </a:t>
            </a:r>
            <a:r>
              <a:rPr lang="it-IT" sz="1600" noProof="0" dirty="0" err="1">
                <a:solidFill>
                  <a:srgbClr val="F2F1EC"/>
                </a:solidFill>
                <a:latin typeface="JetBrains Mono" pitchFamily="49" charset="0"/>
                <a:ea typeface="JetBrains Mono" pitchFamily="49" charset="-122"/>
                <a:cs typeface="JetBrains Mono" pitchFamily="49" charset="-120"/>
              </a:rPr>
              <a:t>lclean</a:t>
            </a:r>
            <a:r>
              <a:rPr lang="it-IT" sz="1600" noProof="0" dirty="0">
                <a:solidFill>
                  <a:srgbClr val="F2F1EC"/>
                </a:solidFill>
                <a:latin typeface="JetBrains Mono" pitchFamily="49" charset="0"/>
                <a:ea typeface="JetBrains Mono" pitchFamily="49" charset="-122"/>
                <a:cs typeface="JetBrains Mono" pitchFamily="49" charset="-120"/>
              </a:rPr>
              <a:t> -d labs/lab1/</a:t>
            </a:r>
            <a:r>
              <a:rPr lang="it-IT" sz="1600" noProof="0" dirty="0" err="1">
                <a:solidFill>
                  <a:srgbClr val="F2F1EC"/>
                </a:solidFill>
                <a:latin typeface="JetBrains Mono" pitchFamily="49" charset="0"/>
                <a:ea typeface="JetBrains Mono" pitchFamily="49" charset="-122"/>
                <a:cs typeface="JetBrains Mono" pitchFamily="49" charset="-120"/>
              </a:rPr>
              <a:t>static</a:t>
            </a:r>
            <a:r>
              <a:rPr lang="it-IT" sz="1600" noProof="0" dirty="0">
                <a:solidFill>
                  <a:srgbClr val="F2F1EC"/>
                </a:solidFill>
                <a:latin typeface="JetBrains Mono" pitchFamily="49" charset="0"/>
                <a:ea typeface="JetBrains Mono" pitchFamily="49" charset="-122"/>
                <a:cs typeface="JetBrains Mono" pitchFamily="49" charset="-120"/>
              </a:rPr>
              <a:t>-routing</a:t>
            </a:r>
            <a:endParaRPr lang="it-IT" sz="1600" noProof="0" dirty="0"/>
          </a:p>
        </p:txBody>
      </p:sp>
      <p:sp>
        <p:nvSpPr>
          <p:cNvPr id="8" name="Text 6"/>
          <p:cNvSpPr/>
          <p:nvPr/>
        </p:nvSpPr>
        <p:spPr>
          <a:xfrm>
            <a:off x="965200" y="2444750"/>
            <a:ext cx="10569448" cy="504190"/>
          </a:xfrm>
          <a:prstGeom prst="rect">
            <a:avLst/>
          </a:prstGeom>
          <a:noFill/>
          <a:ln/>
        </p:spPr>
        <p:txBody>
          <a:bodyPr wrap="square" lIns="0" tIns="0" rIns="0" bIns="0" rtlCol="0" anchor="t">
            <a:normAutofit/>
          </a:bodyPr>
          <a:lstStyle/>
          <a:p>
            <a:pPr>
              <a:lnSpc>
                <a:spcPts val="2000"/>
              </a:lnSpc>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python</a:t>
            </a:r>
            <a:r>
              <a:rPr lang="it-IT" sz="1600" noProof="0" dirty="0">
                <a:solidFill>
                  <a:srgbClr val="F2F1EC"/>
                </a:solidFill>
                <a:latin typeface="JetBrains Mono" pitchFamily="49" charset="0"/>
                <a:ea typeface="JetBrains Mono" pitchFamily="49" charset="-122"/>
                <a:cs typeface="JetBrains Mono" pitchFamily="49" charset="-120"/>
              </a:rPr>
              <a:t> -m </a:t>
            </a:r>
            <a:r>
              <a:rPr lang="it-IT" sz="1600" noProof="0" dirty="0" err="1">
                <a:solidFill>
                  <a:srgbClr val="F2F1EC"/>
                </a:solidFill>
                <a:latin typeface="JetBrains Mono" pitchFamily="49" charset="0"/>
                <a:ea typeface="JetBrains Mono" pitchFamily="49" charset="-122"/>
                <a:cs typeface="JetBrains Mono" pitchFamily="49" charset="-120"/>
              </a:rPr>
              <a:t>kathara_lab_checker</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config</a:t>
            </a:r>
            <a:r>
              <a:rPr lang="it-IT" sz="1600" noProof="0" dirty="0">
                <a:solidFill>
                  <a:srgbClr val="F2F1EC"/>
                </a:solidFill>
                <a:latin typeface="JetBrains Mono" pitchFamily="49" charset="0"/>
                <a:ea typeface="JetBrains Mono" pitchFamily="49" charset="-122"/>
                <a:cs typeface="JetBrains Mono" pitchFamily="49" charset="-120"/>
              </a:rPr>
              <a:t> lab1-statico/</a:t>
            </a:r>
            <a:r>
              <a:rPr lang="it-IT" sz="1600" noProof="0" dirty="0" err="1">
                <a:solidFill>
                  <a:srgbClr val="F2F1EC"/>
                </a:solidFill>
                <a:latin typeface="JetBrains Mono" pitchFamily="49" charset="0"/>
                <a:ea typeface="JetBrains Mono" pitchFamily="49" charset="-122"/>
                <a:cs typeface="JetBrains Mono" pitchFamily="49" charset="-120"/>
              </a:rPr>
              <a:t>checker</a:t>
            </a:r>
            <a:r>
              <a:rPr lang="it-IT" sz="1600" noProof="0" dirty="0">
                <a:solidFill>
                  <a:srgbClr val="F2F1EC"/>
                </a:solidFill>
                <a:latin typeface="JetBrains Mono" pitchFamily="49" charset="0"/>
                <a:ea typeface="JetBrains Mono" pitchFamily="49" charset="-122"/>
                <a:cs typeface="JetBrains Mono" pitchFamily="49" charset="-120"/>
              </a:rPr>
              <a:t>/</a:t>
            </a:r>
            <a:r>
              <a:rPr lang="it-IT" sz="1600" noProof="0" dirty="0" err="1">
                <a:solidFill>
                  <a:srgbClr val="F2F1EC"/>
                </a:solidFill>
                <a:latin typeface="JetBrains Mono" pitchFamily="49" charset="0"/>
                <a:ea typeface="JetBrains Mono" pitchFamily="49" charset="-122"/>
                <a:cs typeface="JetBrains Mono" pitchFamily="49" charset="-120"/>
              </a:rPr>
              <a:t>correction.yaml</a:t>
            </a:r>
            <a:r>
              <a:rPr lang="it-IT" sz="1600" noProof="0" dirty="0">
                <a:solidFill>
                  <a:srgbClr val="F2F1EC"/>
                </a:solidFill>
                <a:latin typeface="JetBrains Mono" pitchFamily="49" charset="0"/>
                <a:ea typeface="JetBrains Mono" pitchFamily="49" charset="-122"/>
                <a:cs typeface="JetBrains Mono" pitchFamily="49" charset="-120"/>
              </a:rPr>
              <a:t> --lab labs/lab1/</a:t>
            </a:r>
            <a:r>
              <a:rPr lang="it-IT" sz="1600" dirty="0" err="1">
                <a:solidFill>
                  <a:srgbClr val="F2F1EC"/>
                </a:solidFill>
                <a:latin typeface="JetBrains Mono" pitchFamily="49" charset="0"/>
                <a:ea typeface="JetBrains Mono" pitchFamily="49" charset="-122"/>
                <a:cs typeface="JetBrains Mono" pitchFamily="49" charset="-120"/>
              </a:rPr>
              <a:t>static</a:t>
            </a:r>
            <a:r>
              <a:rPr lang="it-IT" sz="1600" dirty="0">
                <a:solidFill>
                  <a:srgbClr val="F2F1EC"/>
                </a:solidFill>
                <a:latin typeface="JetBrains Mono" pitchFamily="49" charset="0"/>
                <a:ea typeface="JetBrains Mono" pitchFamily="49" charset="-122"/>
                <a:cs typeface="JetBrains Mono" pitchFamily="49" charset="-120"/>
              </a:rPr>
              <a:t>-routing</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a:solidFill>
                  <a:srgbClr val="E1D368"/>
                </a:solidFill>
                <a:latin typeface="JetBrains Mono" pitchFamily="49" charset="0"/>
                <a:ea typeface="JetBrains Mono" pitchFamily="49" charset="-122"/>
                <a:cs typeface="JetBrains Mono" pitchFamily="49" charset="-120"/>
              </a:rPr>
              <a:t>--no-cache</a:t>
            </a:r>
            <a:r>
              <a:rPr lang="it-IT" sz="1600" noProof="0" dirty="0">
                <a:solidFill>
                  <a:srgbClr val="F2F1EC"/>
                </a:solidFill>
                <a:latin typeface="JetBrains Mono" pitchFamily="49" charset="0"/>
                <a:ea typeface="JetBrains Mono" pitchFamily="49" charset="-122"/>
                <a:cs typeface="JetBrains Mono" pitchFamily="49" charset="-120"/>
              </a:rPr>
              <a:t> --report-</a:t>
            </a:r>
            <a:r>
              <a:rPr lang="it-IT" sz="1600" noProof="0" dirty="0" err="1">
                <a:solidFill>
                  <a:srgbClr val="F2F1EC"/>
                </a:solidFill>
                <a:latin typeface="JetBrains Mono" pitchFamily="49" charset="0"/>
                <a:ea typeface="JetBrains Mono" pitchFamily="49" charset="-122"/>
                <a:cs typeface="JetBrains Mono" pitchFamily="49" charset="-120"/>
              </a:rPr>
              <a:t>type</a:t>
            </a:r>
            <a:r>
              <a:rPr lang="it-IT" sz="1600" noProof="0" dirty="0">
                <a:solidFill>
                  <a:srgbClr val="F2F1EC"/>
                </a:solidFill>
                <a:latin typeface="JetBrains Mono" pitchFamily="49" charset="0"/>
                <a:ea typeface="JetBrains Mono" pitchFamily="49" charset="-122"/>
                <a:cs typeface="JetBrains Mono" pitchFamily="49" charset="-120"/>
              </a:rPr>
              <a:t> csv</a:t>
            </a:r>
            <a:endParaRPr lang="it-IT" sz="1600" noProof="0" dirty="0"/>
          </a:p>
        </p:txBody>
      </p:sp>
      <p:sp>
        <p:nvSpPr>
          <p:cNvPr id="9" name="Text 7"/>
          <p:cNvSpPr/>
          <p:nvPr/>
        </p:nvSpPr>
        <p:spPr>
          <a:xfrm>
            <a:off x="812800" y="3355330"/>
            <a:ext cx="3793490"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4A7F1C"/>
                </a:solidFill>
                <a:latin typeface="IBM Plex Sans" pitchFamily="34" charset="0"/>
                <a:ea typeface="IBM Plex Sans" pitchFamily="34" charset="-122"/>
                <a:cs typeface="IBM Plex Sans" pitchFamily="34" charset="-120"/>
              </a:rPr>
              <a:t>Perché --no-cache?</a:t>
            </a:r>
            <a:endParaRPr lang="it-IT" sz="1800" noProof="0" dirty="0"/>
          </a:p>
        </p:txBody>
      </p:sp>
      <p:sp>
        <p:nvSpPr>
          <p:cNvPr id="10" name="Text 8"/>
          <p:cNvSpPr/>
          <p:nvPr/>
        </p:nvSpPr>
        <p:spPr>
          <a:xfrm>
            <a:off x="812800" y="3705870"/>
            <a:ext cx="3793490" cy="8255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Con un report già presente il </a:t>
            </a:r>
            <a:r>
              <a:rPr lang="it-IT" sz="1600" noProof="0" dirty="0" err="1">
                <a:solidFill>
                  <a:srgbClr val="5B5F66"/>
                </a:solidFill>
                <a:latin typeface="IBM Plex Sans" pitchFamily="34" charset="0"/>
                <a:ea typeface="IBM Plex Sans" pitchFamily="34" charset="-122"/>
                <a:cs typeface="IBM Plex Sans" pitchFamily="34" charset="-120"/>
              </a:rPr>
              <a:t>checker</a:t>
            </a:r>
            <a:r>
              <a:rPr lang="it-IT" sz="1600" noProof="0" dirty="0">
                <a:solidFill>
                  <a:srgbClr val="5B5F66"/>
                </a:solidFill>
                <a:latin typeface="IBM Plex Sans" pitchFamily="34" charset="0"/>
                <a:ea typeface="IBM Plex Sans" pitchFamily="34" charset="-122"/>
                <a:cs typeface="IBM Plex Sans" pitchFamily="34" charset="-120"/>
              </a:rPr>
              <a:t> salta il lab senza avvisare: --no-cache forza il controllo.</a:t>
            </a:r>
            <a:endParaRPr lang="it-IT" sz="1600" noProof="0" dirty="0"/>
          </a:p>
        </p:txBody>
      </p:sp>
      <p:sp>
        <p:nvSpPr>
          <p:cNvPr id="11" name="Shape 9"/>
          <p:cNvSpPr/>
          <p:nvPr/>
        </p:nvSpPr>
        <p:spPr>
          <a:xfrm>
            <a:off x="4752975" y="3355330"/>
            <a:ext cx="0" cy="1276350"/>
          </a:xfrm>
          <a:prstGeom prst="line">
            <a:avLst/>
          </a:prstGeom>
          <a:noFill/>
          <a:ln w="6350">
            <a:solidFill>
              <a:srgbClr val="CFCCC4"/>
            </a:solidFill>
            <a:prstDash val="solid"/>
          </a:ln>
        </p:spPr>
        <p:txBody>
          <a:bodyPr/>
          <a:lstStyle/>
          <a:p>
            <a:endParaRPr lang="it-IT" noProof="0" dirty="0"/>
          </a:p>
        </p:txBody>
      </p:sp>
      <p:sp>
        <p:nvSpPr>
          <p:cNvPr id="12" name="Text 10"/>
          <p:cNvSpPr/>
          <p:nvPr/>
        </p:nvSpPr>
        <p:spPr>
          <a:xfrm>
            <a:off x="5010150" y="3355330"/>
            <a:ext cx="6560121"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Report nella cartella del lab</a:t>
            </a:r>
            <a:endParaRPr lang="it-IT" sz="1800" noProof="0" dirty="0"/>
          </a:p>
        </p:txBody>
      </p:sp>
      <p:sp>
        <p:nvSpPr>
          <p:cNvPr id="13" name="Text 11"/>
          <p:cNvSpPr/>
          <p:nvPr/>
        </p:nvSpPr>
        <p:spPr>
          <a:xfrm>
            <a:off x="5010150" y="3705870"/>
            <a:ext cx="6560121" cy="283210"/>
          </a:xfrm>
          <a:prstGeom prst="rect">
            <a:avLst/>
          </a:prstGeom>
          <a:noFill/>
          <a:ln/>
        </p:spPr>
        <p:txBody>
          <a:bodyPr wrap="square" lIns="0" tIns="0" rIns="0" bIns="0" rtlCol="0" anchor="t">
            <a:normAutofit/>
          </a:bodyPr>
          <a:lstStyle/>
          <a:p>
            <a:pPr marL="0" indent="0" algn="l">
              <a:lnSpc>
                <a:spcPts val="2030"/>
              </a:lnSpc>
              <a:buNone/>
            </a:pPr>
            <a:r>
              <a:rPr lang="it-IT" sz="1600" b="1" noProof="0" dirty="0">
                <a:solidFill>
                  <a:srgbClr val="1B1D20"/>
                </a:solidFill>
                <a:latin typeface="IBM Plex Sans" pitchFamily="34" charset="0"/>
                <a:ea typeface="IBM Plex Sans" pitchFamily="34" charset="-122"/>
                <a:cs typeface="IBM Plex Sans" pitchFamily="34" charset="-120"/>
              </a:rPr>
              <a:t>static-routing_result_failed.csv</a:t>
            </a:r>
            <a:r>
              <a:rPr lang="it-IT" sz="1600" noProof="0" dirty="0">
                <a:solidFill>
                  <a:srgbClr val="5B5F66"/>
                </a:solidFill>
                <a:latin typeface="IBM Plex Sans" pitchFamily="34" charset="0"/>
                <a:ea typeface="IBM Plex Sans" pitchFamily="34" charset="-122"/>
                <a:cs typeface="IBM Plex Sans" pitchFamily="34" charset="-120"/>
              </a:rPr>
              <a:t> · test falliti e motivo</a:t>
            </a:r>
            <a:endParaRPr lang="it-IT" sz="1600" noProof="0" dirty="0"/>
          </a:p>
        </p:txBody>
      </p:sp>
      <p:sp>
        <p:nvSpPr>
          <p:cNvPr id="14" name="Text 12"/>
          <p:cNvSpPr/>
          <p:nvPr/>
        </p:nvSpPr>
        <p:spPr>
          <a:xfrm>
            <a:off x="5010150" y="4039865"/>
            <a:ext cx="6560121" cy="283210"/>
          </a:xfrm>
          <a:prstGeom prst="rect">
            <a:avLst/>
          </a:prstGeom>
          <a:noFill/>
          <a:ln/>
        </p:spPr>
        <p:txBody>
          <a:bodyPr wrap="square" lIns="0" tIns="0" rIns="0" bIns="0" rtlCol="0" anchor="t">
            <a:normAutofit/>
          </a:bodyPr>
          <a:lstStyle/>
          <a:p>
            <a:pPr marL="0" indent="0" algn="l">
              <a:lnSpc>
                <a:spcPts val="2030"/>
              </a:lnSpc>
              <a:buNone/>
            </a:pPr>
            <a:r>
              <a:rPr lang="it-IT" sz="1600" b="1" noProof="0" dirty="0">
                <a:solidFill>
                  <a:srgbClr val="1B1D20"/>
                </a:solidFill>
                <a:latin typeface="IBM Plex Sans" pitchFamily="34" charset="0"/>
                <a:ea typeface="IBM Plex Sans" pitchFamily="34" charset="-122"/>
                <a:cs typeface="IBM Plex Sans" pitchFamily="34" charset="-120"/>
              </a:rPr>
              <a:t>static-routing_result_summary.csv</a:t>
            </a:r>
            <a:r>
              <a:rPr lang="it-IT" sz="1600" noProof="0" dirty="0">
                <a:solidFill>
                  <a:srgbClr val="5B5F66"/>
                </a:solidFill>
                <a:latin typeface="IBM Plex Sans" pitchFamily="34" charset="0"/>
                <a:ea typeface="IBM Plex Sans" pitchFamily="34" charset="-122"/>
                <a:cs typeface="IBM Plex Sans" pitchFamily="34" charset="-120"/>
              </a:rPr>
              <a:t> · totale, superati, falliti</a:t>
            </a:r>
            <a:endParaRPr lang="it-IT" sz="1600" noProof="0" dirty="0"/>
          </a:p>
        </p:txBody>
      </p:sp>
      <p:sp>
        <p:nvSpPr>
          <p:cNvPr id="15" name="Text 13"/>
          <p:cNvSpPr/>
          <p:nvPr/>
        </p:nvSpPr>
        <p:spPr>
          <a:xfrm>
            <a:off x="5010150" y="4373885"/>
            <a:ext cx="6560121" cy="283210"/>
          </a:xfrm>
          <a:prstGeom prst="rect">
            <a:avLst/>
          </a:prstGeom>
          <a:noFill/>
          <a:ln/>
        </p:spPr>
        <p:txBody>
          <a:bodyPr wrap="square" lIns="0" tIns="0" rIns="0" bIns="0" rtlCol="0" anchor="t">
            <a:normAutofit/>
          </a:bodyPr>
          <a:lstStyle/>
          <a:p>
            <a:pPr marL="0" indent="0" algn="l">
              <a:lnSpc>
                <a:spcPts val="2030"/>
              </a:lnSpc>
              <a:buNone/>
            </a:pPr>
            <a:r>
              <a:rPr lang="it-IT" sz="1600" b="1" noProof="0" dirty="0">
                <a:solidFill>
                  <a:srgbClr val="1B1D20"/>
                </a:solidFill>
                <a:latin typeface="IBM Plex Sans" pitchFamily="34" charset="0"/>
                <a:ea typeface="IBM Plex Sans" pitchFamily="34" charset="-122"/>
                <a:cs typeface="IBM Plex Sans" pitchFamily="34" charset="-120"/>
              </a:rPr>
              <a:t>static-routing_result_all.csv</a:t>
            </a:r>
            <a:r>
              <a:rPr lang="it-IT" sz="1600" noProof="0" dirty="0">
                <a:solidFill>
                  <a:srgbClr val="5B5F66"/>
                </a:solidFill>
                <a:latin typeface="IBM Plex Sans" pitchFamily="34" charset="0"/>
                <a:ea typeface="IBM Plex Sans" pitchFamily="34" charset="-122"/>
                <a:cs typeface="IBM Plex Sans" pitchFamily="34" charset="-120"/>
              </a:rPr>
              <a:t> · tutti i test</a:t>
            </a:r>
            <a:endParaRPr lang="it-IT" sz="1600" noProof="0" dirty="0"/>
          </a:p>
        </p:txBody>
      </p:sp>
      <p:sp>
        <p:nvSpPr>
          <p:cNvPr id="16" name="Shape 14"/>
          <p:cNvSpPr/>
          <p:nvPr/>
        </p:nvSpPr>
        <p:spPr>
          <a:xfrm>
            <a:off x="831850" y="5488930"/>
            <a:ext cx="0" cy="353060"/>
          </a:xfrm>
          <a:prstGeom prst="line">
            <a:avLst/>
          </a:prstGeom>
          <a:noFill/>
          <a:ln w="38100">
            <a:solidFill>
              <a:srgbClr val="A8DC6E"/>
            </a:solidFill>
            <a:prstDash val="solid"/>
          </a:ln>
        </p:spPr>
        <p:txBody>
          <a:bodyPr/>
          <a:lstStyle/>
          <a:p>
            <a:endParaRPr lang="it-IT" noProof="0" dirty="0"/>
          </a:p>
        </p:txBody>
      </p:sp>
      <p:sp>
        <p:nvSpPr>
          <p:cNvPr id="17" name="Text 15"/>
          <p:cNvSpPr/>
          <p:nvPr/>
        </p:nvSpPr>
        <p:spPr>
          <a:xfrm>
            <a:off x="1054100" y="5514330"/>
            <a:ext cx="10634853" cy="327660"/>
          </a:xfrm>
          <a:prstGeom prst="rect">
            <a:avLst/>
          </a:prstGeom>
          <a:noFill/>
          <a:ln/>
        </p:spPr>
        <p:txBody>
          <a:bodyPr wrap="square" lIns="0" tIns="0" rIns="0" bIns="0" rtlCol="0" anchor="t">
            <a:normAutofit/>
          </a:bodyPr>
          <a:lstStyle/>
          <a:p>
            <a:pPr marL="0" indent="0" algn="l">
              <a:lnSpc>
                <a:spcPts val="2380"/>
              </a:lnSpc>
              <a:buNone/>
            </a:pPr>
            <a:r>
              <a:rPr lang="it-IT" sz="1800" noProof="0" dirty="0">
                <a:latin typeface="+mj-lt"/>
              </a:rPr>
              <a:t>Se qualche test fallisce guardiamo il </a:t>
            </a:r>
            <a:r>
              <a:rPr lang="it-IT" sz="1800" noProof="0" dirty="0" err="1">
                <a:latin typeface="+mj-lt"/>
              </a:rPr>
              <a:t>repor</a:t>
            </a:r>
            <a:r>
              <a:rPr lang="it-IT" dirty="0">
                <a:latin typeface="+mj-lt"/>
              </a:rPr>
              <a:t>t e cerchiamo di correggere l’errore</a:t>
            </a:r>
            <a:endParaRPr lang="it-IT" sz="1800" noProof="0" dirty="0">
              <a:latin typeface="+mj-lt"/>
            </a:endParaRPr>
          </a:p>
        </p:txBody>
      </p:sp>
    </p:spTree>
    <p:extLst>
      <p:ext uri="{BB962C8B-B14F-4D97-AF65-F5344CB8AC3E}">
        <p14:creationId xmlns:p14="http://schemas.microsoft.com/office/powerpoint/2010/main" val="2765183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5">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4969"/>
              </a:lnSpc>
              <a:buNone/>
            </a:pPr>
            <a:r>
              <a:rPr lang="it-IT" sz="3975" b="1" i="0" noProof="0" dirty="0">
                <a:solidFill>
                  <a:srgbClr val="1B1D20"/>
                </a:solidFill>
                <a:latin typeface="IBM Plex Sans" pitchFamily="34" charset="0"/>
                <a:ea typeface="IBM Plex Sans" pitchFamily="34" charset="-122"/>
                <a:cs typeface="IBM Plex Sans" pitchFamily="34" charset="-120"/>
              </a:rPr>
              <a:t>Quando il </a:t>
            </a:r>
            <a:r>
              <a:rPr lang="it-IT" sz="3975" b="1" i="0" noProof="0" dirty="0" err="1">
                <a:solidFill>
                  <a:srgbClr val="1B1D20"/>
                </a:solidFill>
                <a:latin typeface="IBM Plex Sans" pitchFamily="34" charset="0"/>
                <a:ea typeface="IBM Plex Sans" pitchFamily="34" charset="-122"/>
                <a:cs typeface="IBM Plex Sans" pitchFamily="34" charset="-120"/>
              </a:rPr>
              <a:t>checker</a:t>
            </a:r>
            <a:r>
              <a:rPr lang="it-IT" sz="3975" b="1" i="0" noProof="0" dirty="0">
                <a:solidFill>
                  <a:srgbClr val="1B1D20"/>
                </a:solidFill>
                <a:latin typeface="IBM Plex Sans" pitchFamily="34" charset="0"/>
                <a:ea typeface="IBM Plex Sans" pitchFamily="34" charset="-122"/>
                <a:cs typeface="IBM Plex Sans" pitchFamily="34" charset="-120"/>
              </a:rPr>
              <a:t> trova un errore</a:t>
            </a:r>
            <a:endParaRPr lang="it-IT" sz="3975" noProof="0" dirty="0"/>
          </a:p>
        </p:txBody>
      </p:sp>
      <p:pic>
        <p:nvPicPr>
          <p:cNvPr id="5" name="Image 0" descr="Terminale: coda dell'output del checker con test falliti in rosso (r2: Network is unreachable, pc2 non riceve risposta, rotta 192.168.1.0/24 mancante su r2) e Passed Tests: 40/49"/>
          <p:cNvPicPr>
            <a:picLocks noChangeAspect="1"/>
          </p:cNvPicPr>
          <p:nvPr/>
        </p:nvPicPr>
        <p:blipFill>
          <a:blip r:embed="rId3"/>
          <a:srcRect l="-4355" r="-4355"/>
          <a:stretch/>
        </p:blipFill>
        <p:spPr>
          <a:xfrm>
            <a:off x="812800" y="1832818"/>
            <a:ext cx="6985000" cy="3937000"/>
          </a:xfrm>
          <a:prstGeom prst="rect">
            <a:avLst/>
          </a:prstGeom>
        </p:spPr>
      </p:pic>
      <p:sp>
        <p:nvSpPr>
          <p:cNvPr id="12" name="Text 9"/>
          <p:cNvSpPr/>
          <p:nvPr/>
        </p:nvSpPr>
        <p:spPr>
          <a:xfrm>
            <a:off x="8153400" y="2072303"/>
            <a:ext cx="3322574" cy="281622"/>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In rosso, i sintomi</a:t>
            </a:r>
            <a:endParaRPr lang="it-IT" sz="1800" noProof="0" dirty="0"/>
          </a:p>
        </p:txBody>
      </p:sp>
      <p:sp>
        <p:nvSpPr>
          <p:cNvPr id="13" name="Text 10"/>
          <p:cNvSpPr/>
          <p:nvPr/>
        </p:nvSpPr>
        <p:spPr>
          <a:xfrm>
            <a:off x="8153399" y="2379310"/>
            <a:ext cx="3442855" cy="751817"/>
          </a:xfrm>
          <a:prstGeom prst="rect">
            <a:avLst/>
          </a:prstGeom>
          <a:noFill/>
          <a:ln/>
        </p:spPr>
        <p:txBody>
          <a:bodyPr wrap="square" lIns="0" tIns="0" rIns="0" bIns="0" rtlCol="0" anchor="t">
            <a:normAutofit/>
          </a:bodyPr>
          <a:lstStyle/>
          <a:p>
            <a:pPr marL="0" indent="0" algn="l">
              <a:lnSpc>
                <a:spcPts val="2000"/>
              </a:lnSpc>
              <a:buNone/>
            </a:pPr>
            <a:r>
              <a:rPr lang="it-IT" noProof="0" dirty="0">
                <a:solidFill>
                  <a:srgbClr val="5B5F66"/>
                </a:solidFill>
                <a:latin typeface="IBM Plex Sans" pitchFamily="34" charset="0"/>
                <a:ea typeface="IBM Plex Sans" pitchFamily="34" charset="-122"/>
                <a:cs typeface="IBM Plex Sans" pitchFamily="34" charset="-120"/>
              </a:rPr>
              <a:t>r2 non sa raggiungere la LAN A; pc2 non riceve risposte da lì.</a:t>
            </a:r>
            <a:endParaRPr lang="it-IT" noProof="0" dirty="0"/>
          </a:p>
        </p:txBody>
      </p:sp>
      <p:sp>
        <p:nvSpPr>
          <p:cNvPr id="16" name="Text 13"/>
          <p:cNvSpPr/>
          <p:nvPr/>
        </p:nvSpPr>
        <p:spPr>
          <a:xfrm>
            <a:off x="8153400" y="3546346"/>
            <a:ext cx="3322574" cy="281622"/>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In fondo, il riepilogo</a:t>
            </a:r>
            <a:endParaRPr lang="it-IT" sz="1800" noProof="0" dirty="0"/>
          </a:p>
        </p:txBody>
      </p:sp>
      <p:sp>
        <p:nvSpPr>
          <p:cNvPr id="17" name="Text 14"/>
          <p:cNvSpPr/>
          <p:nvPr/>
        </p:nvSpPr>
        <p:spPr>
          <a:xfrm>
            <a:off x="8153400" y="3853354"/>
            <a:ext cx="3322574" cy="517737"/>
          </a:xfrm>
          <a:prstGeom prst="rect">
            <a:avLst/>
          </a:prstGeom>
          <a:noFill/>
          <a:ln/>
        </p:spPr>
        <p:txBody>
          <a:bodyPr wrap="square" lIns="0" tIns="0" rIns="0" bIns="0" rtlCol="0" anchor="t">
            <a:normAutofit/>
          </a:bodyPr>
          <a:lstStyle/>
          <a:p>
            <a:pPr marL="0" indent="0" algn="l">
              <a:lnSpc>
                <a:spcPts val="2000"/>
              </a:lnSpc>
              <a:buNone/>
            </a:pPr>
            <a:r>
              <a:rPr lang="it-IT" noProof="0" dirty="0" err="1">
                <a:solidFill>
                  <a:srgbClr val="5B5F66"/>
                </a:solidFill>
                <a:latin typeface="IBM Plex Sans" pitchFamily="34" charset="0"/>
                <a:ea typeface="IBM Plex Sans" pitchFamily="34" charset="-122"/>
                <a:cs typeface="IBM Plex Sans" pitchFamily="34" charset="-120"/>
              </a:rPr>
              <a:t>Passed</a:t>
            </a:r>
            <a:r>
              <a:rPr lang="it-IT" noProof="0" dirty="0">
                <a:solidFill>
                  <a:srgbClr val="5B5F66"/>
                </a:solidFill>
                <a:latin typeface="IBM Plex Sans" pitchFamily="34" charset="0"/>
                <a:ea typeface="IBM Plex Sans" pitchFamily="34" charset="-122"/>
                <a:cs typeface="IBM Plex Sans" pitchFamily="34" charset="-120"/>
              </a:rPr>
              <a:t> </a:t>
            </a:r>
            <a:r>
              <a:rPr lang="it-IT" noProof="0" dirty="0" err="1">
                <a:solidFill>
                  <a:srgbClr val="5B5F66"/>
                </a:solidFill>
                <a:latin typeface="IBM Plex Sans" pitchFamily="34" charset="0"/>
                <a:ea typeface="IBM Plex Sans" pitchFamily="34" charset="-122"/>
                <a:cs typeface="IBM Plex Sans" pitchFamily="34" charset="-120"/>
              </a:rPr>
              <a:t>Tests</a:t>
            </a:r>
            <a:r>
              <a:rPr lang="it-IT" noProof="0" dirty="0">
                <a:solidFill>
                  <a:srgbClr val="5B5F66"/>
                </a:solidFill>
                <a:latin typeface="IBM Plex Sans" pitchFamily="34" charset="0"/>
                <a:ea typeface="IBM Plex Sans" pitchFamily="34" charset="-122"/>
                <a:cs typeface="IBM Plex Sans" pitchFamily="34" charset="-120"/>
              </a:rPr>
              <a:t>: 40/49. Con la soluzione completa: 48/48.</a:t>
            </a:r>
            <a:endParaRPr lang="it-IT" noProof="0" dirty="0"/>
          </a:p>
        </p:txBody>
      </p:sp>
    </p:spTree>
    <p:extLst>
      <p:ext uri="{BB962C8B-B14F-4D97-AF65-F5344CB8AC3E}">
        <p14:creationId xmlns:p14="http://schemas.microsoft.com/office/powerpoint/2010/main" val="848956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7">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Errori frequenti</a:t>
            </a:r>
            <a:endParaRPr lang="it-IT" sz="4000" noProof="0" dirty="0"/>
          </a:p>
        </p:txBody>
      </p:sp>
      <p:sp>
        <p:nvSpPr>
          <p:cNvPr id="5" name="Text 3"/>
          <p:cNvSpPr/>
          <p:nvPr/>
        </p:nvSpPr>
        <p:spPr>
          <a:xfrm>
            <a:off x="812800" y="1977703"/>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01</a:t>
            </a:r>
            <a:endParaRPr lang="it-IT" sz="1600" noProof="0" dirty="0"/>
          </a:p>
        </p:txBody>
      </p:sp>
      <p:sp>
        <p:nvSpPr>
          <p:cNvPr id="6" name="Text 4"/>
          <p:cNvSpPr/>
          <p:nvPr/>
        </p:nvSpPr>
        <p:spPr>
          <a:xfrm>
            <a:off x="1295400" y="1940570"/>
            <a:ext cx="4627404" cy="899795"/>
          </a:xfrm>
          <a:prstGeom prst="rect">
            <a:avLst/>
          </a:prstGeom>
          <a:noFill/>
          <a:ln/>
        </p:spPr>
        <p:txBody>
          <a:bodyPr wrap="square" lIns="0" tIns="0" rIns="0" bIns="0" rtlCol="0" anchor="t">
            <a:normAutofit/>
          </a:bodyPr>
          <a:lstStyle/>
          <a:p>
            <a:pPr marL="0" indent="0" algn="l">
              <a:lnSpc>
                <a:spcPts val="2295"/>
              </a:lnSpc>
              <a:buNone/>
            </a:pPr>
            <a:r>
              <a:rPr lang="it-IT" sz="1800" b="1" noProof="0" dirty="0">
                <a:solidFill>
                  <a:srgbClr val="1B1D20"/>
                </a:solidFill>
                <a:latin typeface="IBM Plex Sans" pitchFamily="34" charset="0"/>
                <a:ea typeface="IBM Plex Sans" pitchFamily="34" charset="-122"/>
                <a:cs typeface="IBM Plex Sans" pitchFamily="34" charset="-120"/>
              </a:rPr>
              <a:t>Nomi diversi dalla tabella.</a:t>
            </a:r>
            <a:r>
              <a:rPr lang="it-IT" sz="1800" noProof="0" dirty="0">
                <a:solidFill>
                  <a:srgbClr val="1B1D20"/>
                </a:solidFill>
                <a:latin typeface="IBM Plex Sans" pitchFamily="34" charset="0"/>
                <a:ea typeface="IBM Plex Sans" pitchFamily="34" charset="-122"/>
                <a:cs typeface="IBM Plex Sans" pitchFamily="34" charset="-120"/>
              </a:rPr>
              <a:t> Il </a:t>
            </a:r>
            <a:r>
              <a:rPr lang="it-IT" sz="1800" noProof="0" dirty="0" err="1">
                <a:solidFill>
                  <a:srgbClr val="1B1D20"/>
                </a:solidFill>
                <a:latin typeface="IBM Plex Sans" pitchFamily="34" charset="0"/>
                <a:ea typeface="IBM Plex Sans" pitchFamily="34" charset="-122"/>
                <a:cs typeface="IBM Plex Sans" pitchFamily="34" charset="-120"/>
              </a:rPr>
              <a:t>checker</a:t>
            </a:r>
            <a:r>
              <a:rPr lang="it-IT" sz="1800" noProof="0" dirty="0">
                <a:solidFill>
                  <a:srgbClr val="1B1D20"/>
                </a:solidFill>
                <a:latin typeface="IBM Plex Sans" pitchFamily="34" charset="0"/>
                <a:ea typeface="IBM Plex Sans" pitchFamily="34" charset="-122"/>
                <a:cs typeface="IBM Plex Sans" pitchFamily="34" charset="-120"/>
              </a:rPr>
              <a:t> confronta dispositivi e domini di collisione uno a uno.</a:t>
            </a:r>
            <a:endParaRPr lang="it-IT" sz="1800" noProof="0" dirty="0"/>
          </a:p>
        </p:txBody>
      </p:sp>
      <p:sp>
        <p:nvSpPr>
          <p:cNvPr id="7" name="Text 5"/>
          <p:cNvSpPr/>
          <p:nvPr/>
        </p:nvSpPr>
        <p:spPr>
          <a:xfrm>
            <a:off x="812800" y="3106093"/>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02</a:t>
            </a:r>
            <a:endParaRPr lang="it-IT" sz="1600" noProof="0" dirty="0"/>
          </a:p>
        </p:txBody>
      </p:sp>
      <p:sp>
        <p:nvSpPr>
          <p:cNvPr id="8" name="Text 6"/>
          <p:cNvSpPr/>
          <p:nvPr/>
        </p:nvSpPr>
        <p:spPr>
          <a:xfrm>
            <a:off x="1295400" y="3068960"/>
            <a:ext cx="4627404" cy="899795"/>
          </a:xfrm>
          <a:prstGeom prst="rect">
            <a:avLst/>
          </a:prstGeom>
          <a:noFill/>
          <a:ln/>
        </p:spPr>
        <p:txBody>
          <a:bodyPr wrap="square" lIns="0" tIns="0" rIns="0" bIns="0" rtlCol="0" anchor="t">
            <a:normAutofit/>
          </a:bodyPr>
          <a:lstStyle/>
          <a:p>
            <a:pPr marL="0" indent="0" algn="l">
              <a:lnSpc>
                <a:spcPts val="2295"/>
              </a:lnSpc>
              <a:buNone/>
            </a:pPr>
            <a:r>
              <a:rPr lang="it-IT" sz="1800" b="1" noProof="0" dirty="0">
                <a:solidFill>
                  <a:srgbClr val="1B1D20"/>
                </a:solidFill>
                <a:latin typeface="IBM Plex Sans" pitchFamily="34" charset="0"/>
                <a:ea typeface="IBM Plex Sans" pitchFamily="34" charset="-122"/>
                <a:cs typeface="IBM Plex Sans" pitchFamily="34" charset="-120"/>
              </a:rPr>
              <a:t>Maiuscole nei nomi.</a:t>
            </a:r>
            <a:r>
              <a:rPr lang="it-IT" sz="1800" noProof="0" dirty="0">
                <a:solidFill>
                  <a:srgbClr val="1B1D20"/>
                </a:solidFill>
                <a:latin typeface="IBM Plex Sans" pitchFamily="34" charset="0"/>
                <a:ea typeface="IBM Plex Sans" pitchFamily="34" charset="-122"/>
                <a:cs typeface="IBM Plex Sans" pitchFamily="34" charset="-120"/>
              </a:rPr>
              <a:t> Kathará non accetta </a:t>
            </a:r>
            <a:r>
              <a:rPr lang="it-IT" sz="1800" noProof="0" dirty="0" err="1">
                <a:solidFill>
                  <a:srgbClr val="1B1D20"/>
                </a:solidFill>
                <a:latin typeface="IBM Plex Sans" pitchFamily="34" charset="0"/>
                <a:ea typeface="IBM Plex Sans" pitchFamily="34" charset="-122"/>
                <a:cs typeface="IBM Plex Sans" pitchFamily="34" charset="-120"/>
              </a:rPr>
              <a:t>pcA</a:t>
            </a:r>
            <a:r>
              <a:rPr lang="it-IT" sz="1800" noProof="0" dirty="0">
                <a:solidFill>
                  <a:srgbClr val="1B1D20"/>
                </a:solidFill>
                <a:latin typeface="IBM Plex Sans" pitchFamily="34" charset="0"/>
                <a:ea typeface="IBM Plex Sans" pitchFamily="34" charset="-122"/>
                <a:cs typeface="IBM Plex Sans" pitchFamily="34" charset="-120"/>
              </a:rPr>
              <a:t> come nome di dispositivo: </a:t>
            </a:r>
            <a:r>
              <a:rPr lang="it-IT" sz="1800" noProof="0" dirty="0" err="1">
                <a:solidFill>
                  <a:srgbClr val="1B1D20"/>
                </a:solidFill>
                <a:latin typeface="IBM Plex Sans" pitchFamily="34" charset="0"/>
                <a:ea typeface="IBM Plex Sans" pitchFamily="34" charset="-122"/>
                <a:cs typeface="IBM Plex Sans" pitchFamily="34" charset="-120"/>
              </a:rPr>
              <a:t>lstart</a:t>
            </a:r>
            <a:r>
              <a:rPr lang="it-IT" sz="1800" noProof="0" dirty="0">
                <a:solidFill>
                  <a:srgbClr val="1B1D20"/>
                </a:solidFill>
                <a:latin typeface="IBM Plex Sans" pitchFamily="34" charset="0"/>
                <a:ea typeface="IBM Plex Sans" pitchFamily="34" charset="-122"/>
                <a:cs typeface="IBM Plex Sans" pitchFamily="34" charset="-120"/>
              </a:rPr>
              <a:t> segnala un errore in </a:t>
            </a:r>
            <a:r>
              <a:rPr lang="it-IT" sz="1800" noProof="0" dirty="0" err="1">
                <a:solidFill>
                  <a:srgbClr val="1B1D20"/>
                </a:solidFill>
                <a:latin typeface="IBM Plex Sans" pitchFamily="34" charset="0"/>
                <a:ea typeface="IBM Plex Sans" pitchFamily="34" charset="-122"/>
                <a:cs typeface="IBM Plex Sans" pitchFamily="34" charset="-120"/>
              </a:rPr>
              <a:t>lab.conf</a:t>
            </a:r>
            <a:r>
              <a:rPr lang="it-IT" sz="1800" noProof="0" dirty="0">
                <a:solidFill>
                  <a:srgbClr val="1B1D20"/>
                </a:solidFill>
                <a:latin typeface="IBM Plex Sans" pitchFamily="34" charset="0"/>
                <a:ea typeface="IBM Plex Sans" pitchFamily="34" charset="-122"/>
                <a:cs typeface="IBM Plex Sans" pitchFamily="34" charset="-120"/>
              </a:rPr>
              <a:t>.</a:t>
            </a:r>
            <a:endParaRPr lang="it-IT" sz="1800" noProof="0" dirty="0"/>
          </a:p>
        </p:txBody>
      </p:sp>
      <p:sp>
        <p:nvSpPr>
          <p:cNvPr id="9" name="Text 7"/>
          <p:cNvSpPr/>
          <p:nvPr/>
        </p:nvSpPr>
        <p:spPr>
          <a:xfrm>
            <a:off x="812800" y="4234507"/>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03</a:t>
            </a:r>
            <a:endParaRPr lang="it-IT" sz="1600" noProof="0" dirty="0"/>
          </a:p>
        </p:txBody>
      </p:sp>
      <p:sp>
        <p:nvSpPr>
          <p:cNvPr id="10" name="Text 8"/>
          <p:cNvSpPr/>
          <p:nvPr/>
        </p:nvSpPr>
        <p:spPr>
          <a:xfrm>
            <a:off x="1295400" y="4197350"/>
            <a:ext cx="4627404" cy="608330"/>
          </a:xfrm>
          <a:prstGeom prst="rect">
            <a:avLst/>
          </a:prstGeom>
          <a:noFill/>
          <a:ln/>
        </p:spPr>
        <p:txBody>
          <a:bodyPr wrap="square" lIns="0" tIns="0" rIns="0" bIns="0" rtlCol="0" anchor="t">
            <a:normAutofit/>
          </a:bodyPr>
          <a:lstStyle/>
          <a:p>
            <a:pPr marL="0" indent="0" algn="l">
              <a:lnSpc>
                <a:spcPts val="2295"/>
              </a:lnSpc>
              <a:buNone/>
            </a:pPr>
            <a:r>
              <a:rPr lang="it-IT" sz="1800" b="1" noProof="0" dirty="0">
                <a:solidFill>
                  <a:srgbClr val="1B1D20"/>
                </a:solidFill>
                <a:latin typeface="IBM Plex Sans" pitchFamily="34" charset="0"/>
                <a:ea typeface="IBM Plex Sans" pitchFamily="34" charset="-122"/>
                <a:cs typeface="IBM Plex Sans" pitchFamily="34" charset="-120"/>
              </a:rPr>
              <a:t>Interfacce con buchi.</a:t>
            </a:r>
            <a:r>
              <a:rPr lang="it-IT" sz="1800" noProof="0" dirty="0">
                <a:solidFill>
                  <a:srgbClr val="1B1D20"/>
                </a:solidFill>
                <a:latin typeface="IBM Plex Sans" pitchFamily="34" charset="0"/>
                <a:ea typeface="IBM Plex Sans" pitchFamily="34" charset="-122"/>
                <a:cs typeface="IBM Plex Sans" pitchFamily="34" charset="-120"/>
              </a:rPr>
              <a:t> r1[0], r1[1], …: la numerazione parte da 0 e non salta numeri.</a:t>
            </a:r>
            <a:endParaRPr lang="it-IT" sz="1800" noProof="0" dirty="0"/>
          </a:p>
        </p:txBody>
      </p:sp>
      <p:sp>
        <p:nvSpPr>
          <p:cNvPr id="11" name="Shape 9"/>
          <p:cNvSpPr/>
          <p:nvPr/>
        </p:nvSpPr>
        <p:spPr>
          <a:xfrm>
            <a:off x="6096000" y="1940570"/>
            <a:ext cx="0" cy="3131185"/>
          </a:xfrm>
          <a:prstGeom prst="line">
            <a:avLst/>
          </a:prstGeom>
          <a:noFill/>
          <a:ln w="6350">
            <a:solidFill>
              <a:srgbClr val="CFCCC4"/>
            </a:solidFill>
            <a:prstDash val="solid"/>
          </a:ln>
        </p:spPr>
        <p:txBody>
          <a:bodyPr/>
          <a:lstStyle/>
          <a:p>
            <a:endParaRPr lang="it-IT" noProof="0" dirty="0"/>
          </a:p>
        </p:txBody>
      </p:sp>
      <p:sp>
        <p:nvSpPr>
          <p:cNvPr id="12" name="Text 10"/>
          <p:cNvSpPr/>
          <p:nvPr/>
        </p:nvSpPr>
        <p:spPr>
          <a:xfrm>
            <a:off x="6403975" y="1977703"/>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04</a:t>
            </a:r>
            <a:endParaRPr lang="it-IT" sz="1600" noProof="0" dirty="0"/>
          </a:p>
        </p:txBody>
      </p:sp>
      <p:sp>
        <p:nvSpPr>
          <p:cNvPr id="13" name="Text 11"/>
          <p:cNvSpPr/>
          <p:nvPr/>
        </p:nvSpPr>
        <p:spPr>
          <a:xfrm>
            <a:off x="6886575" y="1940570"/>
            <a:ext cx="4627404" cy="899795"/>
          </a:xfrm>
          <a:prstGeom prst="rect">
            <a:avLst/>
          </a:prstGeom>
          <a:noFill/>
          <a:ln/>
        </p:spPr>
        <p:txBody>
          <a:bodyPr wrap="square" lIns="0" tIns="0" rIns="0" bIns="0" rtlCol="0" anchor="t">
            <a:normAutofit/>
          </a:bodyPr>
          <a:lstStyle/>
          <a:p>
            <a:pPr marL="0" indent="0" algn="l">
              <a:lnSpc>
                <a:spcPts val="2295"/>
              </a:lnSpc>
              <a:buNone/>
            </a:pPr>
            <a:r>
              <a:rPr lang="it-IT" sz="1800" b="1" noProof="0" dirty="0">
                <a:solidFill>
                  <a:srgbClr val="1B1D20"/>
                </a:solidFill>
                <a:latin typeface="IBM Plex Sans" pitchFamily="34" charset="0"/>
                <a:ea typeface="IBM Plex Sans" pitchFamily="34" charset="-122"/>
                <a:cs typeface="IBM Plex Sans" pitchFamily="34" charset="-120"/>
              </a:rPr>
              <a:t>Modifiche nei container.</a:t>
            </a:r>
            <a:r>
              <a:rPr lang="it-IT" sz="1800" noProof="0" dirty="0">
                <a:solidFill>
                  <a:srgbClr val="1B1D20"/>
                </a:solidFill>
                <a:latin typeface="IBM Plex Sans" pitchFamily="34" charset="0"/>
                <a:ea typeface="IBM Plex Sans" pitchFamily="34" charset="-122"/>
                <a:cs typeface="IBM Plex Sans" pitchFamily="34" charset="-120"/>
              </a:rPr>
              <a:t> Quello che digitiamo in un terminale sparisce al riavvio: correggiamo i file .startup.</a:t>
            </a:r>
            <a:endParaRPr lang="it-IT" sz="1800" noProof="0" dirty="0"/>
          </a:p>
        </p:txBody>
      </p:sp>
      <p:sp>
        <p:nvSpPr>
          <p:cNvPr id="14" name="Text 12"/>
          <p:cNvSpPr/>
          <p:nvPr/>
        </p:nvSpPr>
        <p:spPr>
          <a:xfrm>
            <a:off x="6403975" y="3106093"/>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05</a:t>
            </a:r>
            <a:endParaRPr lang="it-IT" sz="1600" noProof="0" dirty="0"/>
          </a:p>
        </p:txBody>
      </p:sp>
      <p:sp>
        <p:nvSpPr>
          <p:cNvPr id="15" name="Text 13"/>
          <p:cNvSpPr/>
          <p:nvPr/>
        </p:nvSpPr>
        <p:spPr>
          <a:xfrm>
            <a:off x="6886575" y="3068960"/>
            <a:ext cx="4627404" cy="899795"/>
          </a:xfrm>
          <a:prstGeom prst="rect">
            <a:avLst/>
          </a:prstGeom>
          <a:noFill/>
          <a:ln/>
        </p:spPr>
        <p:txBody>
          <a:bodyPr wrap="square" lIns="0" tIns="0" rIns="0" bIns="0" rtlCol="0" anchor="t">
            <a:normAutofit/>
          </a:bodyPr>
          <a:lstStyle/>
          <a:p>
            <a:pPr marL="0" indent="0" algn="l">
              <a:lnSpc>
                <a:spcPts val="2295"/>
              </a:lnSpc>
              <a:buNone/>
            </a:pPr>
            <a:r>
              <a:rPr lang="it-IT" sz="1800" b="1" noProof="0" dirty="0">
                <a:solidFill>
                  <a:srgbClr val="1B1D20"/>
                </a:solidFill>
                <a:latin typeface="IBM Plex Sans" pitchFamily="34" charset="0"/>
                <a:ea typeface="IBM Plex Sans" pitchFamily="34" charset="-122"/>
                <a:cs typeface="IBM Plex Sans" pitchFamily="34" charset="-120"/>
              </a:rPr>
              <a:t>Rotta verso un indirizzo.</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ip</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route</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add</a:t>
            </a:r>
            <a:r>
              <a:rPr lang="it-IT" sz="1800" noProof="0" dirty="0">
                <a:solidFill>
                  <a:srgbClr val="1B1D20"/>
                </a:solidFill>
                <a:latin typeface="IBM Plex Sans" pitchFamily="34" charset="0"/>
                <a:ea typeface="IBM Plex Sans" pitchFamily="34" charset="-122"/>
                <a:cs typeface="IBM Plex Sans" pitchFamily="34" charset="-120"/>
              </a:rPr>
              <a:t> vuole la rete (192.168.2.0/24); il </a:t>
            </a:r>
            <a:r>
              <a:rPr lang="it-IT" sz="1800" noProof="0" dirty="0" err="1">
                <a:solidFill>
                  <a:srgbClr val="1B1D20"/>
                </a:solidFill>
                <a:latin typeface="IBM Plex Sans" pitchFamily="34" charset="0"/>
                <a:ea typeface="IBM Plex Sans" pitchFamily="34" charset="-122"/>
                <a:cs typeface="IBM Plex Sans" pitchFamily="34" charset="-120"/>
              </a:rPr>
              <a:t>next</a:t>
            </a:r>
            <a:r>
              <a:rPr lang="it-IT" sz="1800" noProof="0" dirty="0">
                <a:solidFill>
                  <a:srgbClr val="1B1D20"/>
                </a:solidFill>
                <a:latin typeface="IBM Plex Sans" pitchFamily="34" charset="0"/>
                <a:ea typeface="IBM Plex Sans" pitchFamily="34" charset="-122"/>
                <a:cs typeface="IBM Plex Sans" pitchFamily="34" charset="-120"/>
              </a:rPr>
              <a:t>-hop è un vicino diretto.</a:t>
            </a:r>
            <a:endParaRPr lang="it-IT" sz="1800" noProof="0" dirty="0"/>
          </a:p>
        </p:txBody>
      </p:sp>
      <p:sp>
        <p:nvSpPr>
          <p:cNvPr id="16" name="Text 14"/>
          <p:cNvSpPr/>
          <p:nvPr/>
        </p:nvSpPr>
        <p:spPr>
          <a:xfrm>
            <a:off x="6403975" y="4234507"/>
            <a:ext cx="40640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4A7F1C"/>
                </a:solidFill>
                <a:latin typeface="JetBrains Mono" pitchFamily="49" charset="0"/>
                <a:ea typeface="JetBrains Mono" pitchFamily="49" charset="-122"/>
                <a:cs typeface="JetBrains Mono" pitchFamily="49" charset="-120"/>
              </a:rPr>
              <a:t>06</a:t>
            </a:r>
            <a:endParaRPr lang="it-IT" sz="1600" noProof="0" dirty="0"/>
          </a:p>
        </p:txBody>
      </p:sp>
      <p:sp>
        <p:nvSpPr>
          <p:cNvPr id="17" name="Text 15"/>
          <p:cNvSpPr/>
          <p:nvPr/>
        </p:nvSpPr>
        <p:spPr>
          <a:xfrm>
            <a:off x="6886575" y="4197350"/>
            <a:ext cx="4627404" cy="899795"/>
          </a:xfrm>
          <a:prstGeom prst="rect">
            <a:avLst/>
          </a:prstGeom>
          <a:noFill/>
          <a:ln/>
        </p:spPr>
        <p:txBody>
          <a:bodyPr wrap="square" lIns="0" tIns="0" rIns="0" bIns="0" rtlCol="0" anchor="t">
            <a:normAutofit/>
          </a:bodyPr>
          <a:lstStyle/>
          <a:p>
            <a:pPr marL="0" indent="0" algn="l">
              <a:lnSpc>
                <a:spcPts val="2295"/>
              </a:lnSpc>
              <a:buNone/>
            </a:pPr>
            <a:r>
              <a:rPr lang="it-IT" sz="1800" b="1" noProof="0" dirty="0">
                <a:solidFill>
                  <a:srgbClr val="1B1D20"/>
                </a:solidFill>
                <a:latin typeface="IBM Plex Sans" pitchFamily="34" charset="0"/>
                <a:ea typeface="IBM Plex Sans" pitchFamily="34" charset="-122"/>
                <a:cs typeface="IBM Plex Sans" pitchFamily="34" charset="-120"/>
              </a:rPr>
              <a:t>Rotta di ritorno dimenticata.</a:t>
            </a:r>
            <a:r>
              <a:rPr lang="it-IT" sz="1800" noProof="0" dirty="0">
                <a:solidFill>
                  <a:srgbClr val="1B1D20"/>
                </a:solidFill>
                <a:latin typeface="IBM Plex Sans" pitchFamily="34" charset="0"/>
                <a:ea typeface="IBM Plex Sans" pitchFamily="34" charset="-122"/>
                <a:cs typeface="IBM Plex Sans" pitchFamily="34" charset="-120"/>
              </a:rPr>
              <a:t> Il </a:t>
            </a:r>
            <a:r>
              <a:rPr lang="it-IT" sz="1800" noProof="0" dirty="0" err="1">
                <a:solidFill>
                  <a:srgbClr val="1B1D20"/>
                </a:solidFill>
                <a:latin typeface="IBM Plex Sans" pitchFamily="34" charset="0"/>
                <a:ea typeface="IBM Plex Sans" pitchFamily="34" charset="-122"/>
                <a:cs typeface="IBM Plex Sans" pitchFamily="34" charset="-120"/>
              </a:rPr>
              <a:t>ping</a:t>
            </a:r>
            <a:r>
              <a:rPr lang="it-IT" sz="1800" noProof="0" dirty="0">
                <a:solidFill>
                  <a:srgbClr val="1B1D20"/>
                </a:solidFill>
                <a:latin typeface="IBM Plex Sans" pitchFamily="34" charset="0"/>
                <a:ea typeface="IBM Plex Sans" pitchFamily="34" charset="-122"/>
                <a:cs typeface="IBM Plex Sans" pitchFamily="34" charset="-120"/>
              </a:rPr>
              <a:t> funziona solo se anche r2 sa tornare verso 192.168.1.0/24.</a:t>
            </a:r>
            <a:endParaRPr lang="it-IT" sz="1800" noProof="0" dirty="0"/>
          </a:p>
        </p:txBody>
      </p:sp>
    </p:spTree>
    <p:extLst>
      <p:ext uri="{BB962C8B-B14F-4D97-AF65-F5344CB8AC3E}">
        <p14:creationId xmlns:p14="http://schemas.microsoft.com/office/powerpoint/2010/main" val="23677385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68296-E292-DF09-F228-14539025532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14429A2-500D-4B6F-9E61-F4FE03B92A8F}"/>
              </a:ext>
            </a:extLst>
          </p:cNvPr>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ct val="115000"/>
              </a:lnSpc>
              <a:buNone/>
            </a:pPr>
            <a:r>
              <a:rPr lang="it-IT" sz="4000" b="1" i="0" noProof="0" dirty="0" err="1">
                <a:solidFill>
                  <a:srgbClr val="1B1D20"/>
                </a:solidFill>
                <a:latin typeface="IBM Plex Sans" pitchFamily="34" charset="0"/>
                <a:ea typeface="IBM Plex Sans" pitchFamily="34" charset="-122"/>
                <a:cs typeface="IBM Plex Sans" pitchFamily="34" charset="-120"/>
              </a:rPr>
              <a:t>Wireshark</a:t>
            </a:r>
            <a:r>
              <a:rPr lang="it-IT" sz="4000" b="1" i="0" noProof="0" dirty="0">
                <a:solidFill>
                  <a:srgbClr val="1B1D20"/>
                </a:solidFill>
                <a:latin typeface="IBM Plex Sans" pitchFamily="34" charset="0"/>
                <a:ea typeface="IBM Plex Sans" pitchFamily="34" charset="-122"/>
                <a:cs typeface="IBM Plex Sans" pitchFamily="34" charset="-120"/>
              </a:rPr>
              <a:t> nei laboratori</a:t>
            </a:r>
            <a:endParaRPr lang="it-IT" sz="4000" noProof="0" dirty="0"/>
          </a:p>
        </p:txBody>
      </p:sp>
      <p:sp>
        <p:nvSpPr>
          <p:cNvPr id="2" name="Shape 0">
            <a:extLst>
              <a:ext uri="{FF2B5EF4-FFF2-40B4-BE49-F238E27FC236}">
                <a16:creationId xmlns:a16="http://schemas.microsoft.com/office/drawing/2014/main" id="{79B20028-81AA-48D4-0A0F-E275E3E6858E}"/>
              </a:ext>
            </a:extLst>
          </p:cNvPr>
          <p:cNvSpPr/>
          <p:nvPr/>
        </p:nvSpPr>
        <p:spPr>
          <a:xfrm>
            <a:off x="0" y="0"/>
            <a:ext cx="152400" cy="6858000"/>
          </a:xfrm>
          <a:prstGeom prst="rect">
            <a:avLst/>
          </a:prstGeom>
          <a:solidFill>
            <a:srgbClr val="A8DC6E"/>
          </a:solidFill>
          <a:ln/>
        </p:spPr>
        <p:txBody>
          <a:bodyPr/>
          <a:lstStyle/>
          <a:p>
            <a:endParaRPr lang="it-IT" noProof="0" dirty="0"/>
          </a:p>
        </p:txBody>
      </p:sp>
      <p:sp>
        <p:nvSpPr>
          <p:cNvPr id="3" name="Text 1">
            <a:extLst>
              <a:ext uri="{FF2B5EF4-FFF2-40B4-BE49-F238E27FC236}">
                <a16:creationId xmlns:a16="http://schemas.microsoft.com/office/drawing/2014/main" id="{994C80FA-187C-8988-D399-3C893DC020D1}"/>
              </a:ext>
            </a:extLst>
          </p:cNvPr>
          <p:cNvSpPr/>
          <p:nvPr/>
        </p:nvSpPr>
        <p:spPr>
          <a:xfrm>
            <a:off x="812800" y="496455"/>
            <a:ext cx="10883392"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b="1" noProof="0" dirty="0">
                <a:solidFill>
                  <a:srgbClr val="4A7F1C"/>
                </a:solidFill>
                <a:latin typeface="JetBrains Mono" pitchFamily="49" charset="0"/>
                <a:cs typeface="JetBrains Mono" pitchFamily="49" charset="-120"/>
              </a:rPr>
              <a:t>Informazione</a:t>
            </a:r>
            <a:r>
              <a:rPr lang="it-IT" sz="1600" b="1" dirty="0">
                <a:solidFill>
                  <a:srgbClr val="4A7F1C"/>
                </a:solidFill>
                <a:latin typeface="JetBrains Mono" pitchFamily="49" charset="0"/>
                <a:cs typeface="JetBrains Mono" pitchFamily="49" charset="-120"/>
              </a:rPr>
              <a:t> Utile</a:t>
            </a:r>
            <a:endParaRPr lang="it-IT" sz="1600" b="1" noProof="0" dirty="0"/>
          </a:p>
        </p:txBody>
      </p:sp>
      <p:sp>
        <p:nvSpPr>
          <p:cNvPr id="1001" name="Text 1001"/>
          <p:cNvSpPr txBox="1"/>
          <p:nvPr/>
        </p:nvSpPr>
        <p:spPr>
          <a:xfrm>
            <a:off x="812800" y="1752600"/>
            <a:ext cx="10566400" cy="355600"/>
          </a:xfrm>
          <a:prstGeom prst="rect">
            <a:avLst/>
          </a:prstGeom>
          <a:noFill/>
          <a:ln>
            <a:noFill/>
          </a:ln>
        </p:spPr>
        <p:txBody>
          <a:bodyPr wrap="square" lIns="0" tIns="0" rIns="0" bIns="0" anchor="t">
            <a:noAutofit/>
          </a:bodyPr>
          <a:lstStyle/>
          <a:p>
            <a:pPr marL="0" indent="0" algn="l">
              <a:buNone/>
            </a:pPr>
            <a:r>
              <a:rPr lang="it-IT" dirty="0">
                <a:solidFill>
                  <a:srgbClr val="525355"/>
                </a:solidFill>
                <a:latin typeface="IBM Plex Sans"/>
                <a:cs typeface="IBM Plex Sans"/>
              </a:rPr>
              <a:t>È possibile integrare </a:t>
            </a:r>
            <a:r>
              <a:rPr lang="it-IT" dirty="0" err="1">
                <a:solidFill>
                  <a:srgbClr val="525355"/>
                </a:solidFill>
                <a:latin typeface="IBM Plex Sans"/>
                <a:cs typeface="IBM Plex Sans"/>
              </a:rPr>
              <a:t>wireshark</a:t>
            </a:r>
            <a:r>
              <a:rPr lang="it-IT" dirty="0">
                <a:solidFill>
                  <a:srgbClr val="525355"/>
                </a:solidFill>
                <a:latin typeface="IBM Plex Sans"/>
                <a:cs typeface="IBM Plex Sans"/>
              </a:rPr>
              <a:t> nei laboratori per vedere le catture live da GUI</a:t>
            </a:r>
            <a:r>
              <a:rPr lang="it-IT" sz="1800" dirty="0">
                <a:solidFill>
                  <a:srgbClr val="525355"/>
                </a:solidFill>
                <a:latin typeface="IBM Plex Sans"/>
                <a:cs typeface="IBM Plex Sans"/>
              </a:rPr>
              <a:t>.</a:t>
            </a:r>
          </a:p>
        </p:txBody>
      </p:sp>
      <p:sp>
        <p:nvSpPr>
          <p:cNvPr id="1002" name="Text 1002"/>
          <p:cNvSpPr txBox="1"/>
          <p:nvPr/>
        </p:nvSpPr>
        <p:spPr>
          <a:xfrm>
            <a:off x="812800" y="2336800"/>
            <a:ext cx="4978400" cy="228600"/>
          </a:xfrm>
          <a:prstGeom prst="rect">
            <a:avLst/>
          </a:prstGeom>
          <a:noFill/>
          <a:ln>
            <a:noFill/>
          </a:ln>
        </p:spPr>
        <p:txBody>
          <a:bodyPr wrap="square" lIns="0" tIns="0" rIns="0" bIns="0" anchor="t">
            <a:noAutofit/>
          </a:bodyPr>
          <a:lstStyle/>
          <a:p>
            <a:pPr marL="0" indent="0" algn="l">
              <a:buNone/>
            </a:pPr>
            <a:r>
              <a:rPr lang="it-IT" sz="1200" dirty="0">
                <a:solidFill>
                  <a:srgbClr val="8A8F96"/>
                </a:solidFill>
                <a:latin typeface="JetBrains Mono"/>
                <a:cs typeface="JetBrains Mono"/>
              </a:rPr>
              <a:t>lab.conf</a:t>
            </a:r>
          </a:p>
        </p:txBody>
      </p:sp>
      <p:sp>
        <p:nvSpPr>
          <p:cNvPr id="1003" name="Text 1003"/>
          <p:cNvSpPr txBox="1"/>
          <p:nvPr/>
        </p:nvSpPr>
        <p:spPr>
          <a:xfrm>
            <a:off x="812800" y="2616200"/>
            <a:ext cx="5130800" cy="2159000"/>
          </a:xfrm>
          <a:prstGeom prst="rect">
            <a:avLst/>
          </a:prstGeom>
          <a:solidFill>
            <a:srgbClr val="17191C"/>
          </a:solidFill>
          <a:ln>
            <a:noFill/>
          </a:ln>
        </p:spPr>
        <p:txBody>
          <a:bodyPr wrap="square" lIns="152400" tIns="127000" rIns="152400" bIns="127000" anchor="ctr">
            <a:noAutofit/>
          </a:bodyPr>
          <a:lstStyle/>
          <a:p>
            <a:pPr marL="0" indent="0" algn="l">
              <a:lnSpc>
                <a:spcPts val="1900"/>
              </a:lnSpc>
              <a:buNone/>
            </a:pPr>
            <a:r>
              <a:rPr lang="it-IT" sz="1300" dirty="0">
                <a:solidFill>
                  <a:srgbClr val="8A8F96"/>
                </a:solidFill>
                <a:latin typeface="JetBrains Mono"/>
                <a:cs typeface="JetBrains Mono"/>
              </a:rPr>
              <a:t># Aggiungiamo queste righe al </a:t>
            </a:r>
            <a:r>
              <a:rPr lang="it-IT" sz="1300" dirty="0" err="1">
                <a:solidFill>
                  <a:srgbClr val="8A8F96"/>
                </a:solidFill>
                <a:latin typeface="JetBrains Mono"/>
                <a:cs typeface="JetBrains Mono"/>
              </a:rPr>
              <a:t>lab.conf</a:t>
            </a:r>
            <a:r>
              <a:rPr lang="it-IT" sz="1300" dirty="0">
                <a:solidFill>
                  <a:srgbClr val="8A8F96"/>
                </a:solidFill>
                <a:latin typeface="JetBrains Mono"/>
                <a:cs typeface="JetBrains Mono"/>
              </a:rPr>
              <a:t> </a:t>
            </a:r>
          </a:p>
          <a:p>
            <a:pPr>
              <a:lnSpc>
                <a:spcPts val="1900"/>
              </a:lnSpc>
            </a:pPr>
            <a:r>
              <a:rPr lang="it-IT" sz="1300" dirty="0" err="1">
                <a:solidFill>
                  <a:schemeClr val="bg1"/>
                </a:solidFill>
                <a:cs typeface="JetBrains Mono"/>
              </a:rPr>
              <a:t>wireshark</a:t>
            </a:r>
            <a:r>
              <a:rPr lang="it-IT" sz="1300" dirty="0">
                <a:solidFill>
                  <a:schemeClr val="bg1"/>
                </a:solidFill>
                <a:cs typeface="JetBrains Mono"/>
              </a:rPr>
              <a:t>[</a:t>
            </a:r>
            <a:r>
              <a:rPr lang="it-IT" sz="1300" dirty="0" err="1">
                <a:solidFill>
                  <a:schemeClr val="bg1"/>
                </a:solidFill>
                <a:cs typeface="JetBrains Mono"/>
              </a:rPr>
              <a:t>bridged</a:t>
            </a:r>
            <a:r>
              <a:rPr lang="it-IT" sz="1300" dirty="0">
                <a:solidFill>
                  <a:schemeClr val="bg1"/>
                </a:solidFill>
                <a:cs typeface="JetBrains Mono"/>
              </a:rPr>
              <a:t>]=</a:t>
            </a:r>
            <a:r>
              <a:rPr lang="it-IT" sz="1300" dirty="0">
                <a:solidFill>
                  <a:srgbClr val="8FB8DE"/>
                </a:solidFill>
                <a:cs typeface="JetBrains Mono"/>
              </a:rPr>
              <a:t>"</a:t>
            </a:r>
            <a:r>
              <a:rPr lang="it-IT" sz="1300" dirty="0" err="1">
                <a:solidFill>
                  <a:srgbClr val="8FB8DE"/>
                </a:solidFill>
                <a:cs typeface="JetBrains Mono"/>
              </a:rPr>
              <a:t>true</a:t>
            </a:r>
            <a:r>
              <a:rPr lang="it-IT" sz="1300" dirty="0">
                <a:solidFill>
                  <a:srgbClr val="8FB8DE"/>
                </a:solidFill>
                <a:cs typeface="JetBrains Mono"/>
              </a:rPr>
              <a:t>"</a:t>
            </a:r>
          </a:p>
          <a:p>
            <a:pPr>
              <a:lnSpc>
                <a:spcPts val="1900"/>
              </a:lnSpc>
            </a:pPr>
            <a:r>
              <a:rPr lang="it-IT" sz="1300" dirty="0" err="1">
                <a:solidFill>
                  <a:schemeClr val="bg1"/>
                </a:solidFill>
                <a:cs typeface="JetBrains Mono"/>
              </a:rPr>
              <a:t>wireshark</a:t>
            </a:r>
            <a:r>
              <a:rPr lang="it-IT" sz="1300" dirty="0">
                <a:solidFill>
                  <a:schemeClr val="bg1"/>
                </a:solidFill>
                <a:cs typeface="JetBrains Mono"/>
              </a:rPr>
              <a:t>[port]=</a:t>
            </a:r>
            <a:r>
              <a:rPr lang="it-IT" sz="1300" dirty="0">
                <a:solidFill>
                  <a:srgbClr val="8FB8DE"/>
                </a:solidFill>
                <a:cs typeface="JetBrains Mono"/>
              </a:rPr>
              <a:t>"3000:3000"</a:t>
            </a:r>
          </a:p>
          <a:p>
            <a:pPr>
              <a:lnSpc>
                <a:spcPts val="1900"/>
              </a:lnSpc>
            </a:pPr>
            <a:r>
              <a:rPr lang="it-IT" sz="1300" dirty="0" err="1">
                <a:solidFill>
                  <a:schemeClr val="bg1"/>
                </a:solidFill>
                <a:cs typeface="JetBrains Mono"/>
              </a:rPr>
              <a:t>wireshark</a:t>
            </a:r>
            <a:r>
              <a:rPr lang="it-IT" sz="1300" dirty="0">
                <a:solidFill>
                  <a:schemeClr val="bg1"/>
                </a:solidFill>
                <a:cs typeface="JetBrains Mono"/>
              </a:rPr>
              <a:t>[image]=</a:t>
            </a:r>
            <a:r>
              <a:rPr lang="it-IT" sz="1300" dirty="0">
                <a:solidFill>
                  <a:srgbClr val="8FB8DE"/>
                </a:solidFill>
                <a:cs typeface="JetBrains Mono"/>
              </a:rPr>
              <a:t>"</a:t>
            </a:r>
            <a:r>
              <a:rPr lang="it-IT" sz="1300" dirty="0" err="1">
                <a:solidFill>
                  <a:srgbClr val="8FB8DE"/>
                </a:solidFill>
                <a:cs typeface="JetBrains Mono"/>
              </a:rPr>
              <a:t>lscr.io</a:t>
            </a:r>
            <a:r>
              <a:rPr lang="it-IT" sz="1300" dirty="0">
                <a:solidFill>
                  <a:srgbClr val="8FB8DE"/>
                </a:solidFill>
                <a:cs typeface="JetBrains Mono"/>
              </a:rPr>
              <a:t>/</a:t>
            </a:r>
            <a:r>
              <a:rPr lang="it-IT" sz="1300" dirty="0" err="1">
                <a:solidFill>
                  <a:srgbClr val="8FB8DE"/>
                </a:solidFill>
                <a:cs typeface="JetBrains Mono"/>
              </a:rPr>
              <a:t>linuxserver</a:t>
            </a:r>
            <a:r>
              <a:rPr lang="it-IT" sz="1300" dirty="0">
                <a:solidFill>
                  <a:srgbClr val="8FB8DE"/>
                </a:solidFill>
                <a:cs typeface="JetBrains Mono"/>
              </a:rPr>
              <a:t>/</a:t>
            </a:r>
            <a:r>
              <a:rPr lang="it-IT" sz="1300" dirty="0" err="1">
                <a:solidFill>
                  <a:srgbClr val="8FB8DE"/>
                </a:solidFill>
                <a:cs typeface="JetBrains Mono"/>
              </a:rPr>
              <a:t>wireshark</a:t>
            </a:r>
            <a:r>
              <a:rPr lang="it-IT" sz="1300" dirty="0">
                <a:solidFill>
                  <a:srgbClr val="8FB8DE"/>
                </a:solidFill>
                <a:cs typeface="JetBrains Mono"/>
              </a:rPr>
              <a:t>"</a:t>
            </a:r>
          </a:p>
          <a:p>
            <a:pPr>
              <a:lnSpc>
                <a:spcPts val="1900"/>
              </a:lnSpc>
            </a:pPr>
            <a:r>
              <a:rPr lang="it-IT" sz="1300" dirty="0" err="1">
                <a:solidFill>
                  <a:schemeClr val="bg1"/>
                </a:solidFill>
                <a:cs typeface="JetBrains Mono"/>
              </a:rPr>
              <a:t>wireshark</a:t>
            </a:r>
            <a:r>
              <a:rPr lang="it-IT" sz="1300" dirty="0">
                <a:solidFill>
                  <a:schemeClr val="bg1"/>
                </a:solidFill>
                <a:cs typeface="JetBrains Mono"/>
              </a:rPr>
              <a:t>[</a:t>
            </a:r>
            <a:r>
              <a:rPr lang="it-IT" sz="1300" dirty="0" err="1">
                <a:solidFill>
                  <a:schemeClr val="bg1"/>
                </a:solidFill>
                <a:cs typeface="JetBrains Mono"/>
              </a:rPr>
              <a:t>num_terms</a:t>
            </a:r>
            <a:r>
              <a:rPr lang="it-IT" sz="1300" dirty="0">
                <a:solidFill>
                  <a:schemeClr val="bg1"/>
                </a:solidFill>
                <a:cs typeface="JetBrains Mono"/>
              </a:rPr>
              <a:t>]=</a:t>
            </a:r>
            <a:r>
              <a:rPr lang="it-IT" sz="1300" dirty="0">
                <a:solidFill>
                  <a:srgbClr val="8FB8DE"/>
                </a:solidFill>
                <a:cs typeface="JetBrains Mono"/>
              </a:rPr>
              <a:t>0</a:t>
            </a:r>
          </a:p>
          <a:p>
            <a:pPr>
              <a:lnSpc>
                <a:spcPts val="1900"/>
              </a:lnSpc>
            </a:pPr>
            <a:r>
              <a:rPr lang="it-IT" sz="1300" dirty="0" err="1">
                <a:solidFill>
                  <a:schemeClr val="bg1"/>
                </a:solidFill>
                <a:latin typeface="JetBrains Mono"/>
                <a:cs typeface="JetBrains Mono"/>
              </a:rPr>
              <a:t>wireshark</a:t>
            </a:r>
            <a:r>
              <a:rPr lang="it-IT" sz="1300" dirty="0">
                <a:solidFill>
                  <a:schemeClr val="bg1"/>
                </a:solidFill>
                <a:latin typeface="JetBrains Mono"/>
                <a:cs typeface="JetBrains Mono"/>
              </a:rPr>
              <a:t>[0]=</a:t>
            </a:r>
            <a:r>
              <a:rPr lang="it-IT" sz="1300" dirty="0">
                <a:solidFill>
                  <a:srgbClr val="8FB8DE"/>
                </a:solidFill>
                <a:cs typeface="JetBrains Mono"/>
              </a:rPr>
              <a:t>"</a:t>
            </a:r>
            <a:r>
              <a:rPr lang="it-IT" sz="1300" dirty="0" err="1">
                <a:solidFill>
                  <a:srgbClr val="8FB8DE"/>
                </a:solidFill>
                <a:cs typeface="JetBrains Mono"/>
              </a:rPr>
              <a:t>lanA</a:t>
            </a:r>
            <a:r>
              <a:rPr lang="it-IT" sz="1300" dirty="0">
                <a:solidFill>
                  <a:srgbClr val="8FB8DE"/>
                </a:solidFill>
                <a:cs typeface="JetBrains Mono"/>
              </a:rPr>
              <a:t>"</a:t>
            </a:r>
            <a:endParaRPr lang="it-IT" sz="1300" dirty="0">
              <a:solidFill>
                <a:srgbClr val="F2F1EC"/>
              </a:solidFill>
              <a:latin typeface="JetBrains Mono"/>
              <a:cs typeface="JetBrains Mono"/>
            </a:endParaRPr>
          </a:p>
        </p:txBody>
      </p:sp>
      <p:sp>
        <p:nvSpPr>
          <p:cNvPr id="1004" name="Text 1004"/>
          <p:cNvSpPr txBox="1"/>
          <p:nvPr/>
        </p:nvSpPr>
        <p:spPr>
          <a:xfrm>
            <a:off x="6350000" y="2349500"/>
            <a:ext cx="457200" cy="279400"/>
          </a:xfrm>
          <a:prstGeom prst="rect">
            <a:avLst/>
          </a:prstGeom>
          <a:noFill/>
          <a:ln>
            <a:noFill/>
          </a:ln>
        </p:spPr>
        <p:txBody>
          <a:bodyPr wrap="square" lIns="0" tIns="0" rIns="0" bIns="0" anchor="t">
            <a:noAutofit/>
          </a:bodyPr>
          <a:lstStyle/>
          <a:p>
            <a:pPr marL="0" indent="0" algn="l">
              <a:buNone/>
            </a:pPr>
            <a:r>
              <a:rPr lang="it-IT" sz="1600" dirty="0">
                <a:solidFill>
                  <a:srgbClr val="4A7F1C"/>
                </a:solidFill>
                <a:latin typeface="JetBrains Mono"/>
                <a:cs typeface="JetBrains Mono"/>
              </a:rPr>
              <a:t>01</a:t>
            </a:r>
          </a:p>
        </p:txBody>
      </p:sp>
      <p:sp>
        <p:nvSpPr>
          <p:cNvPr id="1005" name="Text 1005"/>
          <p:cNvSpPr txBox="1"/>
          <p:nvPr/>
        </p:nvSpPr>
        <p:spPr>
          <a:xfrm>
            <a:off x="6858000" y="2277807"/>
            <a:ext cx="4521200" cy="304800"/>
          </a:xfrm>
          <a:prstGeom prst="rect">
            <a:avLst/>
          </a:prstGeom>
          <a:noFill/>
          <a:ln>
            <a:noFill/>
          </a:ln>
        </p:spPr>
        <p:txBody>
          <a:bodyPr wrap="square" lIns="0" tIns="0" rIns="0" bIns="0" anchor="t">
            <a:noAutofit/>
          </a:bodyPr>
          <a:lstStyle/>
          <a:p>
            <a:pPr marL="0" indent="0" algn="l">
              <a:buNone/>
            </a:pPr>
            <a:r>
              <a:rPr lang="it-IT" sz="1800" b="1" dirty="0">
                <a:solidFill>
                  <a:srgbClr val="1B1D20"/>
                </a:solidFill>
                <a:latin typeface="IBM Plex Sans"/>
                <a:cs typeface="IBM Plex Sans"/>
              </a:rPr>
              <a:t>Aggiungiamo wireshark al lab</a:t>
            </a:r>
          </a:p>
        </p:txBody>
      </p:sp>
      <p:sp>
        <p:nvSpPr>
          <p:cNvPr id="1006" name="Text 1006"/>
          <p:cNvSpPr txBox="1"/>
          <p:nvPr/>
        </p:nvSpPr>
        <p:spPr>
          <a:xfrm>
            <a:off x="6858000" y="2595307"/>
            <a:ext cx="4521200" cy="279400"/>
          </a:xfrm>
          <a:prstGeom prst="rect">
            <a:avLst/>
          </a:prstGeom>
          <a:noFill/>
          <a:ln>
            <a:noFill/>
          </a:ln>
        </p:spPr>
        <p:txBody>
          <a:bodyPr wrap="square" lIns="0" tIns="0" rIns="0" bIns="0" anchor="t">
            <a:noAutofit/>
          </a:bodyPr>
          <a:lstStyle/>
          <a:p>
            <a:pPr marL="0" indent="0" algn="l">
              <a:buNone/>
            </a:pPr>
            <a:r>
              <a:rPr lang="it-IT" sz="1400" dirty="0">
                <a:solidFill>
                  <a:srgbClr val="525355"/>
                </a:solidFill>
                <a:latin typeface="IBM Plex Sans"/>
                <a:cs typeface="IBM Plex Sans"/>
              </a:rPr>
              <a:t>Sul dominio da osservare, con </a:t>
            </a:r>
            <a:r>
              <a:rPr lang="it-IT" sz="1400" dirty="0" err="1">
                <a:solidFill>
                  <a:srgbClr val="525355"/>
                </a:solidFill>
                <a:latin typeface="IBM Plex Sans"/>
                <a:cs typeface="IBM Plex Sans"/>
              </a:rPr>
              <a:t>bridged</a:t>
            </a:r>
            <a:r>
              <a:rPr lang="it-IT" sz="1400" dirty="0">
                <a:solidFill>
                  <a:srgbClr val="525355"/>
                </a:solidFill>
                <a:latin typeface="IBM Plex Sans"/>
                <a:cs typeface="IBM Plex Sans"/>
              </a:rPr>
              <a:t> attivo e la porta 3000 esposta </a:t>
            </a:r>
            <a:r>
              <a:rPr lang="it-IT" sz="1400" dirty="0" err="1">
                <a:solidFill>
                  <a:srgbClr val="525355"/>
                </a:solidFill>
                <a:latin typeface="IBM Plex Sans"/>
                <a:cs typeface="IBM Plex Sans"/>
              </a:rPr>
              <a:t>sull’host</a:t>
            </a:r>
            <a:r>
              <a:rPr lang="it-IT" sz="1400" dirty="0">
                <a:solidFill>
                  <a:srgbClr val="525355"/>
                </a:solidFill>
                <a:latin typeface="IBM Plex Sans"/>
                <a:cs typeface="IBM Plex Sans"/>
              </a:rPr>
              <a:t>.</a:t>
            </a:r>
          </a:p>
        </p:txBody>
      </p:sp>
      <p:cxnSp>
        <p:nvCxnSpPr>
          <p:cNvPr id="1007" name="Line 1007"/>
          <p:cNvCxnSpPr/>
          <p:nvPr/>
        </p:nvCxnSpPr>
        <p:spPr>
          <a:xfrm>
            <a:off x="6350000" y="3022600"/>
            <a:ext cx="5029200" cy="0"/>
          </a:xfrm>
          <a:prstGeom prst="line">
            <a:avLst/>
          </a:prstGeom>
          <a:ln w="12700">
            <a:solidFill>
              <a:srgbClr val="E1E0DD"/>
            </a:solidFill>
          </a:ln>
        </p:spPr>
      </p:cxnSp>
      <p:sp>
        <p:nvSpPr>
          <p:cNvPr id="1008" name="Text 1008"/>
          <p:cNvSpPr txBox="1"/>
          <p:nvPr/>
        </p:nvSpPr>
        <p:spPr>
          <a:xfrm>
            <a:off x="6350000" y="3111500"/>
            <a:ext cx="457200" cy="279400"/>
          </a:xfrm>
          <a:prstGeom prst="rect">
            <a:avLst/>
          </a:prstGeom>
          <a:noFill/>
          <a:ln>
            <a:noFill/>
          </a:ln>
        </p:spPr>
        <p:txBody>
          <a:bodyPr wrap="square" lIns="0" tIns="0" rIns="0" bIns="0" anchor="t">
            <a:noAutofit/>
          </a:bodyPr>
          <a:lstStyle/>
          <a:p>
            <a:pPr marL="0" indent="0" algn="l">
              <a:buNone/>
            </a:pPr>
            <a:r>
              <a:rPr lang="it-IT" sz="1600" dirty="0">
                <a:solidFill>
                  <a:srgbClr val="4A7F1C"/>
                </a:solidFill>
                <a:latin typeface="JetBrains Mono"/>
                <a:cs typeface="JetBrains Mono"/>
              </a:rPr>
              <a:t>02</a:t>
            </a:r>
          </a:p>
        </p:txBody>
      </p:sp>
      <p:sp>
        <p:nvSpPr>
          <p:cNvPr id="1009" name="Text 1009"/>
          <p:cNvSpPr txBox="1"/>
          <p:nvPr/>
        </p:nvSpPr>
        <p:spPr>
          <a:xfrm>
            <a:off x="6858000" y="3098800"/>
            <a:ext cx="4521200" cy="304800"/>
          </a:xfrm>
          <a:prstGeom prst="rect">
            <a:avLst/>
          </a:prstGeom>
          <a:noFill/>
          <a:ln>
            <a:noFill/>
          </a:ln>
        </p:spPr>
        <p:txBody>
          <a:bodyPr wrap="square" lIns="0" tIns="0" rIns="0" bIns="0" anchor="t">
            <a:noAutofit/>
          </a:bodyPr>
          <a:lstStyle/>
          <a:p>
            <a:r>
              <a:rPr lang="it-IT" b="1" dirty="0">
                <a:solidFill>
                  <a:srgbClr val="1B1D20"/>
                </a:solidFill>
                <a:latin typeface="IBM Plex Sans"/>
                <a:cs typeface="IBM Plex Sans"/>
              </a:rPr>
              <a:t>Apriamo la GUI nel browser</a:t>
            </a:r>
          </a:p>
        </p:txBody>
      </p:sp>
      <p:sp>
        <p:nvSpPr>
          <p:cNvPr id="1010" name="Text 1010"/>
          <p:cNvSpPr txBox="1"/>
          <p:nvPr/>
        </p:nvSpPr>
        <p:spPr>
          <a:xfrm>
            <a:off x="6858000" y="3416300"/>
            <a:ext cx="4521200" cy="279400"/>
          </a:xfrm>
          <a:prstGeom prst="rect">
            <a:avLst/>
          </a:prstGeom>
          <a:noFill/>
          <a:ln>
            <a:noFill/>
          </a:ln>
        </p:spPr>
        <p:txBody>
          <a:bodyPr wrap="square" lIns="0" tIns="0" rIns="0" bIns="0" anchor="t">
            <a:noAutofit/>
          </a:bodyPr>
          <a:lstStyle/>
          <a:p>
            <a:r>
              <a:rPr lang="it-IT" sz="1200" dirty="0">
                <a:solidFill>
                  <a:srgbClr val="525355"/>
                </a:solidFill>
                <a:cs typeface="JetBrains Mono"/>
              </a:rPr>
              <a:t>http://localhost:3000</a:t>
            </a:r>
            <a:endParaRPr lang="it-IT" sz="1200" dirty="0">
              <a:solidFill>
                <a:srgbClr val="525355"/>
              </a:solidFill>
              <a:latin typeface="IBM Plex Sans"/>
              <a:cs typeface="IBM Plex Sans"/>
            </a:endParaRPr>
          </a:p>
        </p:txBody>
      </p:sp>
      <p:cxnSp>
        <p:nvCxnSpPr>
          <p:cNvPr id="1011" name="Line 1011"/>
          <p:cNvCxnSpPr/>
          <p:nvPr/>
        </p:nvCxnSpPr>
        <p:spPr>
          <a:xfrm>
            <a:off x="6350000" y="3784600"/>
            <a:ext cx="5029200" cy="0"/>
          </a:xfrm>
          <a:prstGeom prst="line">
            <a:avLst/>
          </a:prstGeom>
          <a:ln w="12700">
            <a:solidFill>
              <a:srgbClr val="E1E0DD"/>
            </a:solidFill>
          </a:ln>
        </p:spPr>
      </p:cxnSp>
      <p:sp>
        <p:nvSpPr>
          <p:cNvPr id="1012" name="Text 1012"/>
          <p:cNvSpPr txBox="1"/>
          <p:nvPr/>
        </p:nvSpPr>
        <p:spPr>
          <a:xfrm>
            <a:off x="6350000" y="3873500"/>
            <a:ext cx="457200" cy="279400"/>
          </a:xfrm>
          <a:prstGeom prst="rect">
            <a:avLst/>
          </a:prstGeom>
          <a:noFill/>
          <a:ln>
            <a:noFill/>
          </a:ln>
        </p:spPr>
        <p:txBody>
          <a:bodyPr wrap="square" lIns="0" tIns="0" rIns="0" bIns="0" anchor="t">
            <a:noAutofit/>
          </a:bodyPr>
          <a:lstStyle/>
          <a:p>
            <a:pPr marL="0" indent="0" algn="l">
              <a:buNone/>
            </a:pPr>
            <a:r>
              <a:rPr lang="it-IT" sz="1600" dirty="0">
                <a:solidFill>
                  <a:srgbClr val="4A7F1C"/>
                </a:solidFill>
                <a:latin typeface="JetBrains Mono"/>
                <a:cs typeface="JetBrains Mono"/>
              </a:rPr>
              <a:t>03</a:t>
            </a:r>
          </a:p>
        </p:txBody>
      </p:sp>
      <p:sp>
        <p:nvSpPr>
          <p:cNvPr id="1013" name="Text 1013"/>
          <p:cNvSpPr txBox="1"/>
          <p:nvPr/>
        </p:nvSpPr>
        <p:spPr>
          <a:xfrm>
            <a:off x="6858000" y="3860800"/>
            <a:ext cx="4521200" cy="304800"/>
          </a:xfrm>
          <a:prstGeom prst="rect">
            <a:avLst/>
          </a:prstGeom>
          <a:noFill/>
          <a:ln>
            <a:noFill/>
          </a:ln>
        </p:spPr>
        <p:txBody>
          <a:bodyPr wrap="square" lIns="0" tIns="0" rIns="0" bIns="0" anchor="t">
            <a:noAutofit/>
          </a:bodyPr>
          <a:lstStyle/>
          <a:p>
            <a:r>
              <a:rPr lang="it-IT" b="1" dirty="0">
                <a:solidFill>
                  <a:srgbClr val="1B1D20"/>
                </a:solidFill>
                <a:latin typeface="IBM Plex Sans"/>
                <a:cs typeface="IBM Plex Sans"/>
              </a:rPr>
              <a:t>Scegliamo l'interfaccia</a:t>
            </a:r>
          </a:p>
        </p:txBody>
      </p:sp>
      <p:sp>
        <p:nvSpPr>
          <p:cNvPr id="1014" name="Text 1014"/>
          <p:cNvSpPr txBox="1"/>
          <p:nvPr/>
        </p:nvSpPr>
        <p:spPr>
          <a:xfrm>
            <a:off x="6858000" y="4178300"/>
            <a:ext cx="4645742" cy="279400"/>
          </a:xfrm>
          <a:prstGeom prst="rect">
            <a:avLst/>
          </a:prstGeom>
          <a:noFill/>
          <a:ln>
            <a:noFill/>
          </a:ln>
        </p:spPr>
        <p:txBody>
          <a:bodyPr wrap="square" lIns="0" tIns="0" rIns="0" bIns="0" anchor="t">
            <a:noAutofit/>
          </a:bodyPr>
          <a:lstStyle/>
          <a:p>
            <a:r>
              <a:rPr lang="it-IT" sz="1200" dirty="0">
                <a:solidFill>
                  <a:srgbClr val="525355"/>
                </a:solidFill>
                <a:latin typeface="IBM Plex Sans"/>
                <a:cs typeface="IBM Plex Sans"/>
              </a:rPr>
              <a:t>eth0 è il dominio A – eth1 è connessa all’interfaccia </a:t>
            </a:r>
            <a:r>
              <a:rPr lang="it-IT" sz="1200" dirty="0" err="1">
                <a:solidFill>
                  <a:srgbClr val="525355"/>
                </a:solidFill>
                <a:latin typeface="IBM Plex Sans"/>
                <a:cs typeface="IBM Plex Sans"/>
              </a:rPr>
              <a:t>bridged</a:t>
            </a:r>
            <a:r>
              <a:rPr lang="it-IT" sz="1200" dirty="0">
                <a:solidFill>
                  <a:srgbClr val="525355"/>
                </a:solidFill>
                <a:latin typeface="IBM Plex Sans"/>
                <a:cs typeface="IBM Plex Sans"/>
              </a:rPr>
              <a:t> Docker</a:t>
            </a:r>
          </a:p>
        </p:txBody>
      </p:sp>
      <p:cxnSp>
        <p:nvCxnSpPr>
          <p:cNvPr id="1019" name="Line 1019"/>
          <p:cNvCxnSpPr/>
          <p:nvPr/>
        </p:nvCxnSpPr>
        <p:spPr>
          <a:xfrm>
            <a:off x="838200" y="5435600"/>
            <a:ext cx="0" cy="558800"/>
          </a:xfrm>
          <a:prstGeom prst="line">
            <a:avLst/>
          </a:prstGeom>
          <a:ln w="38100">
            <a:solidFill>
              <a:srgbClr val="1B1D20"/>
            </a:solidFill>
          </a:ln>
        </p:spPr>
      </p:cxnSp>
      <p:sp>
        <p:nvSpPr>
          <p:cNvPr id="1020" name="Text 1020"/>
          <p:cNvSpPr txBox="1"/>
          <p:nvPr/>
        </p:nvSpPr>
        <p:spPr>
          <a:xfrm>
            <a:off x="1054100" y="5435600"/>
            <a:ext cx="10325100" cy="558800"/>
          </a:xfrm>
          <a:prstGeom prst="rect">
            <a:avLst/>
          </a:prstGeom>
          <a:noFill/>
          <a:ln>
            <a:noFill/>
          </a:ln>
        </p:spPr>
        <p:txBody>
          <a:bodyPr wrap="square" lIns="0" tIns="0" rIns="0" bIns="0" anchor="ctr">
            <a:noAutofit/>
          </a:bodyPr>
          <a:lstStyle/>
          <a:p>
            <a:pPr marL="0" indent="0" algn="l">
              <a:buNone/>
            </a:pPr>
            <a:r>
              <a:rPr lang="it-IT" sz="1800" b="1" dirty="0">
                <a:solidFill>
                  <a:srgbClr val="1B1D20"/>
                </a:solidFill>
                <a:latin typeface="IBM Plex Sans"/>
                <a:cs typeface="IBM Plex Sans"/>
              </a:rPr>
              <a:t>Non serve per il workshop. </a:t>
            </a:r>
            <a:r>
              <a:rPr lang="it-IT" sz="1800" dirty="0">
                <a:solidFill>
                  <a:srgbClr val="1B1D20"/>
                </a:solidFill>
                <a:latin typeface="IBM Plex Sans"/>
                <a:cs typeface="IBM Plex Sans"/>
              </a:rPr>
              <a:t>L'immagine va scaricata e richiede tempo.</a:t>
            </a:r>
          </a:p>
        </p:txBody>
      </p:sp>
    </p:spTree>
    <p:extLst>
      <p:ext uri="{BB962C8B-B14F-4D97-AF65-F5344CB8AC3E}">
        <p14:creationId xmlns:p14="http://schemas.microsoft.com/office/powerpoint/2010/main" val="1946790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8">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b="1" dirty="0"/>
              <a:t>Extra: configuriamo delle VLAN per collegare i PC</a:t>
            </a:r>
            <a:endParaRPr lang="it-IT" sz="4000" noProof="0" dirty="0"/>
          </a:p>
        </p:txBody>
      </p:sp>
      <p:sp>
        <p:nvSpPr>
          <p:cNvPr id="5" name="Text 3"/>
          <p:cNvSpPr/>
          <p:nvPr/>
        </p:nvSpPr>
        <p:spPr>
          <a:xfrm>
            <a:off x="810323" y="1479687"/>
            <a:ext cx="10883392" cy="736600"/>
          </a:xfrm>
          <a:prstGeom prst="rect">
            <a:avLst/>
          </a:prstGeom>
          <a:noFill/>
          <a:ln/>
        </p:spPr>
        <p:txBody>
          <a:bodyPr wrap="square" lIns="0" tIns="0" rIns="0" bIns="0" rtlCol="0" anchor="t">
            <a:normAutofit/>
          </a:bodyPr>
          <a:lstStyle/>
          <a:p>
            <a:pPr marL="0" indent="0" algn="l">
              <a:lnSpc>
                <a:spcPts val="2800"/>
              </a:lnSpc>
              <a:buNone/>
            </a:pPr>
            <a:r>
              <a:rPr lang="it-IT" sz="2000" b="1" noProof="0" dirty="0">
                <a:latin typeface="IBM Plex Sans" pitchFamily="34" charset="0"/>
                <a:ea typeface="IBM Plex Sans" pitchFamily="34" charset="-122"/>
                <a:cs typeface="IBM Plex Sans" pitchFamily="34" charset="-120"/>
              </a:rPr>
              <a:t>Colleghiamo 4 PC tramite delle VLAN. I router diventano degli switch. </a:t>
            </a:r>
            <a:endParaRPr lang="it-IT" sz="2000" b="1" noProof="0" dirty="0"/>
          </a:p>
        </p:txBody>
      </p:sp>
      <p:sp>
        <p:nvSpPr>
          <p:cNvPr id="6" name="Shape 4"/>
          <p:cNvSpPr/>
          <p:nvPr/>
        </p:nvSpPr>
        <p:spPr>
          <a:xfrm>
            <a:off x="831850" y="1925472"/>
            <a:ext cx="0" cy="764540"/>
          </a:xfrm>
          <a:prstGeom prst="line">
            <a:avLst/>
          </a:prstGeom>
          <a:noFill/>
          <a:ln w="38100">
            <a:solidFill>
              <a:srgbClr val="60A5E3"/>
            </a:solidFill>
            <a:prstDash val="solid"/>
          </a:ln>
        </p:spPr>
        <p:txBody>
          <a:bodyPr/>
          <a:lstStyle/>
          <a:p>
            <a:endParaRPr lang="it-IT" sz="1600" noProof="0" dirty="0"/>
          </a:p>
        </p:txBody>
      </p:sp>
      <p:sp>
        <p:nvSpPr>
          <p:cNvPr id="7" name="Text 5"/>
          <p:cNvSpPr/>
          <p:nvPr/>
        </p:nvSpPr>
        <p:spPr>
          <a:xfrm>
            <a:off x="1054100" y="1950872"/>
            <a:ext cx="4983861" cy="360680"/>
          </a:xfrm>
          <a:prstGeom prst="rect">
            <a:avLst/>
          </a:prstGeom>
          <a:noFill/>
          <a:ln/>
        </p:spPr>
        <p:txBody>
          <a:bodyPr wrap="square" lIns="0" tIns="0" rIns="0" bIns="0" rtlCol="0" anchor="t">
            <a:normAutofit/>
          </a:bodyPr>
          <a:lstStyle/>
          <a:p>
            <a:pPr marL="0" indent="0" algn="l">
              <a:lnSpc>
                <a:spcPts val="2750"/>
              </a:lnSpc>
              <a:buNone/>
            </a:pPr>
            <a:r>
              <a:rPr lang="it-IT" sz="2000" b="1" noProof="0" dirty="0">
                <a:solidFill>
                  <a:srgbClr val="2B6CA3"/>
                </a:solidFill>
                <a:latin typeface="IBM Plex Sans" pitchFamily="34" charset="0"/>
                <a:ea typeface="IBM Plex Sans" pitchFamily="34" charset="-122"/>
                <a:cs typeface="IBM Plex Sans" pitchFamily="34" charset="-120"/>
              </a:rPr>
              <a:t>VLAN 100 · computer pari</a:t>
            </a:r>
            <a:endParaRPr lang="it-IT" sz="2000" noProof="0" dirty="0"/>
          </a:p>
        </p:txBody>
      </p:sp>
      <p:sp>
        <p:nvSpPr>
          <p:cNvPr id="8" name="Text 6"/>
          <p:cNvSpPr/>
          <p:nvPr/>
        </p:nvSpPr>
        <p:spPr>
          <a:xfrm>
            <a:off x="1054100" y="2362332"/>
            <a:ext cx="4983861" cy="327660"/>
          </a:xfrm>
          <a:prstGeom prst="rect">
            <a:avLst/>
          </a:prstGeom>
          <a:noFill/>
          <a:ln/>
        </p:spPr>
        <p:txBody>
          <a:bodyPr wrap="square" lIns="0" tIns="0" rIns="0" bIns="0" rtlCol="0" anchor="t">
            <a:normAutofit/>
          </a:bodyPr>
          <a:lstStyle/>
          <a:p>
            <a:pPr marL="0" indent="0" algn="l">
              <a:lnSpc>
                <a:spcPts val="2380"/>
              </a:lnSpc>
              <a:buNone/>
            </a:pPr>
            <a:r>
              <a:rPr lang="it-IT" sz="1600" noProof="0" dirty="0">
                <a:solidFill>
                  <a:srgbClr val="1B1D20"/>
                </a:solidFill>
                <a:latin typeface="IBM Plex Sans" pitchFamily="34" charset="0"/>
                <a:ea typeface="IBM Plex Sans" pitchFamily="34" charset="-122"/>
                <a:cs typeface="IBM Plex Sans" pitchFamily="34" charset="-120"/>
              </a:rPr>
              <a:t>pc2 e pc4 · </a:t>
            </a:r>
            <a:r>
              <a:rPr lang="it-IT" sz="1600" b="1" noProof="0" dirty="0">
                <a:solidFill>
                  <a:srgbClr val="5B5F66"/>
                </a:solidFill>
                <a:latin typeface="IBM Plex Sans" pitchFamily="34" charset="0"/>
                <a:ea typeface="IBM Plex Sans" pitchFamily="34" charset="-122"/>
                <a:cs typeface="IBM Plex Sans" pitchFamily="34" charset="-120"/>
              </a:rPr>
              <a:t>10.100.0.0/24</a:t>
            </a:r>
            <a:endParaRPr lang="it-IT" sz="1600" b="1" noProof="0" dirty="0"/>
          </a:p>
        </p:txBody>
      </p:sp>
      <p:sp>
        <p:nvSpPr>
          <p:cNvPr id="9" name="Shape 7"/>
          <p:cNvSpPr/>
          <p:nvPr/>
        </p:nvSpPr>
        <p:spPr>
          <a:xfrm>
            <a:off x="6318250" y="1925472"/>
            <a:ext cx="0" cy="764540"/>
          </a:xfrm>
          <a:prstGeom prst="line">
            <a:avLst/>
          </a:prstGeom>
          <a:noFill/>
          <a:ln w="38100">
            <a:solidFill>
              <a:srgbClr val="E37E5F"/>
            </a:solidFill>
            <a:prstDash val="solid"/>
          </a:ln>
        </p:spPr>
        <p:txBody>
          <a:bodyPr/>
          <a:lstStyle/>
          <a:p>
            <a:endParaRPr lang="it-IT" sz="1600" noProof="0" dirty="0"/>
          </a:p>
        </p:txBody>
      </p:sp>
      <p:sp>
        <p:nvSpPr>
          <p:cNvPr id="10" name="Text 8"/>
          <p:cNvSpPr/>
          <p:nvPr/>
        </p:nvSpPr>
        <p:spPr>
          <a:xfrm>
            <a:off x="6540500" y="1903985"/>
            <a:ext cx="4983861" cy="360680"/>
          </a:xfrm>
          <a:prstGeom prst="rect">
            <a:avLst/>
          </a:prstGeom>
          <a:noFill/>
          <a:ln/>
        </p:spPr>
        <p:txBody>
          <a:bodyPr wrap="square" lIns="0" tIns="0" rIns="0" bIns="0" rtlCol="0" anchor="t">
            <a:normAutofit/>
          </a:bodyPr>
          <a:lstStyle/>
          <a:p>
            <a:pPr marL="0" indent="0" algn="l">
              <a:lnSpc>
                <a:spcPts val="2750"/>
              </a:lnSpc>
              <a:buNone/>
            </a:pPr>
            <a:r>
              <a:rPr lang="it-IT" sz="2000" b="1" noProof="0" dirty="0">
                <a:solidFill>
                  <a:srgbClr val="B4502E"/>
                </a:solidFill>
                <a:latin typeface="IBM Plex Sans" pitchFamily="34" charset="0"/>
                <a:ea typeface="IBM Plex Sans" pitchFamily="34" charset="-122"/>
                <a:cs typeface="IBM Plex Sans" pitchFamily="34" charset="-120"/>
              </a:rPr>
              <a:t>VLAN 101 · computer dispari</a:t>
            </a:r>
            <a:endParaRPr lang="it-IT" sz="2000" noProof="0" dirty="0"/>
          </a:p>
        </p:txBody>
      </p:sp>
      <p:sp>
        <p:nvSpPr>
          <p:cNvPr id="11" name="Text 9"/>
          <p:cNvSpPr/>
          <p:nvPr/>
        </p:nvSpPr>
        <p:spPr>
          <a:xfrm>
            <a:off x="6540500" y="2283715"/>
            <a:ext cx="4983861" cy="327660"/>
          </a:xfrm>
          <a:prstGeom prst="rect">
            <a:avLst/>
          </a:prstGeom>
          <a:noFill/>
          <a:ln/>
        </p:spPr>
        <p:txBody>
          <a:bodyPr wrap="square" lIns="0" tIns="0" rIns="0" bIns="0" rtlCol="0" anchor="t">
            <a:normAutofit/>
          </a:bodyPr>
          <a:lstStyle/>
          <a:p>
            <a:pPr marL="0" indent="0" algn="l">
              <a:lnSpc>
                <a:spcPts val="2380"/>
              </a:lnSpc>
              <a:buNone/>
            </a:pPr>
            <a:r>
              <a:rPr lang="it-IT" sz="1600" noProof="0" dirty="0">
                <a:solidFill>
                  <a:srgbClr val="1B1D20"/>
                </a:solidFill>
                <a:latin typeface="IBM Plex Sans" pitchFamily="34" charset="0"/>
                <a:ea typeface="IBM Plex Sans" pitchFamily="34" charset="-122"/>
                <a:cs typeface="IBM Plex Sans" pitchFamily="34" charset="-120"/>
              </a:rPr>
              <a:t>pc1 e pc3 · </a:t>
            </a:r>
            <a:r>
              <a:rPr lang="it-IT" sz="1600" b="1" noProof="0" dirty="0">
                <a:solidFill>
                  <a:srgbClr val="5B5F66"/>
                </a:solidFill>
                <a:latin typeface="IBM Plex Sans" pitchFamily="34" charset="0"/>
                <a:ea typeface="IBM Plex Sans" pitchFamily="34" charset="-122"/>
                <a:cs typeface="IBM Plex Sans" pitchFamily="34" charset="-120"/>
              </a:rPr>
              <a:t>10.101.0.0/24</a:t>
            </a:r>
            <a:endParaRPr lang="it-IT" sz="1600" b="1" noProof="0" dirty="0"/>
          </a:p>
        </p:txBody>
      </p:sp>
      <p:sp>
        <p:nvSpPr>
          <p:cNvPr id="13" name="Text 11"/>
          <p:cNvSpPr/>
          <p:nvPr/>
        </p:nvSpPr>
        <p:spPr>
          <a:xfrm>
            <a:off x="812800" y="6263640"/>
            <a:ext cx="10634853"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latin typeface="IBM Plex Sans" pitchFamily="34" charset="0"/>
                <a:ea typeface="IBM Plex Sans" pitchFamily="34" charset="-122"/>
                <a:cs typeface="IBM Plex Sans" pitchFamily="34" charset="-120"/>
              </a:rPr>
              <a:t>Per chi ha finito il Lab 1 o per continuare a casa. </a:t>
            </a:r>
            <a:endParaRPr lang="it-IT" sz="1600" noProof="0" dirty="0"/>
          </a:p>
        </p:txBody>
      </p:sp>
      <p:cxnSp>
        <p:nvCxnSpPr>
          <p:cNvPr id="15" name="Connector lan1">
            <a:extLst>
              <a:ext uri="{FF2B5EF4-FFF2-40B4-BE49-F238E27FC236}">
                <a16:creationId xmlns:a16="http://schemas.microsoft.com/office/drawing/2014/main" id="{AA45035C-B8DA-A3DD-9CBF-DFA244DD28B4}"/>
              </a:ext>
            </a:extLst>
          </p:cNvPr>
          <p:cNvCxnSpPr/>
          <p:nvPr/>
        </p:nvCxnSpPr>
        <p:spPr>
          <a:xfrm>
            <a:off x="2330450" y="3256632"/>
            <a:ext cx="1409700" cy="1016000"/>
          </a:xfrm>
          <a:prstGeom prst="line">
            <a:avLst/>
          </a:prstGeom>
          <a:ln w="19050" cap="rnd">
            <a:solidFill>
              <a:srgbClr val="1B1D20"/>
            </a:solidFill>
          </a:ln>
        </p:spPr>
      </p:cxnSp>
      <p:cxnSp>
        <p:nvCxnSpPr>
          <p:cNvPr id="16" name="Connector lan4">
            <a:extLst>
              <a:ext uri="{FF2B5EF4-FFF2-40B4-BE49-F238E27FC236}">
                <a16:creationId xmlns:a16="http://schemas.microsoft.com/office/drawing/2014/main" id="{992310F4-A56D-2B62-9427-DBB10D663585}"/>
              </a:ext>
            </a:extLst>
          </p:cNvPr>
          <p:cNvCxnSpPr/>
          <p:nvPr/>
        </p:nvCxnSpPr>
        <p:spPr>
          <a:xfrm flipV="1">
            <a:off x="2330450" y="4590132"/>
            <a:ext cx="1409700" cy="1016000"/>
          </a:xfrm>
          <a:prstGeom prst="line">
            <a:avLst/>
          </a:prstGeom>
          <a:ln w="19050" cap="rnd">
            <a:solidFill>
              <a:srgbClr val="1B1D20"/>
            </a:solidFill>
          </a:ln>
        </p:spPr>
      </p:cxnSp>
      <p:cxnSp>
        <p:nvCxnSpPr>
          <p:cNvPr id="17" name="Connector lan2">
            <a:extLst>
              <a:ext uri="{FF2B5EF4-FFF2-40B4-BE49-F238E27FC236}">
                <a16:creationId xmlns:a16="http://schemas.microsoft.com/office/drawing/2014/main" id="{5AB8A95D-6E7E-10FB-BF92-22B7DD157DF1}"/>
              </a:ext>
            </a:extLst>
          </p:cNvPr>
          <p:cNvCxnSpPr/>
          <p:nvPr/>
        </p:nvCxnSpPr>
        <p:spPr>
          <a:xfrm flipV="1">
            <a:off x="8464550" y="3256632"/>
            <a:ext cx="1409700" cy="1016000"/>
          </a:xfrm>
          <a:prstGeom prst="line">
            <a:avLst/>
          </a:prstGeom>
          <a:ln w="19050" cap="rnd">
            <a:solidFill>
              <a:srgbClr val="1B1D20"/>
            </a:solidFill>
          </a:ln>
        </p:spPr>
      </p:cxnSp>
      <p:cxnSp>
        <p:nvCxnSpPr>
          <p:cNvPr id="18" name="Connector lan3">
            <a:extLst>
              <a:ext uri="{FF2B5EF4-FFF2-40B4-BE49-F238E27FC236}">
                <a16:creationId xmlns:a16="http://schemas.microsoft.com/office/drawing/2014/main" id="{2BAD4AB2-60AC-E6F1-D645-0150AD5C8FCC}"/>
              </a:ext>
            </a:extLst>
          </p:cNvPr>
          <p:cNvCxnSpPr/>
          <p:nvPr/>
        </p:nvCxnSpPr>
        <p:spPr>
          <a:xfrm>
            <a:off x="8464550" y="4590132"/>
            <a:ext cx="1409700" cy="1016000"/>
          </a:xfrm>
          <a:prstGeom prst="line">
            <a:avLst/>
          </a:prstGeom>
          <a:ln w="19050" cap="rnd">
            <a:solidFill>
              <a:srgbClr val="1B1D20"/>
            </a:solidFill>
          </a:ln>
        </p:spPr>
      </p:cxnSp>
      <p:pic>
        <p:nvPicPr>
          <p:cNvPr id="19" name="Image 4" descr="connector">
            <a:extLst>
              <a:ext uri="{FF2B5EF4-FFF2-40B4-BE49-F238E27FC236}">
                <a16:creationId xmlns:a16="http://schemas.microsoft.com/office/drawing/2014/main" id="{C02A7045-40DC-D209-5F94-0677F7CE46DD}"/>
              </a:ext>
            </a:extLst>
          </p:cNvPr>
          <p:cNvPicPr>
            <a:picLocks noChangeAspect="1"/>
          </p:cNvPicPr>
          <p:nvPr/>
        </p:nvPicPr>
        <p:blipFill>
          <a:blip r:embed="rId3"/>
          <a:srcRect/>
          <a:stretch/>
        </p:blipFill>
        <p:spPr>
          <a:xfrm>
            <a:off x="5143500" y="4314552"/>
            <a:ext cx="1917700" cy="241300"/>
          </a:xfrm>
          <a:prstGeom prst="rect">
            <a:avLst/>
          </a:prstGeom>
        </p:spPr>
      </p:pic>
      <p:sp>
        <p:nvSpPr>
          <p:cNvPr id="20" name="Shape 3">
            <a:extLst>
              <a:ext uri="{FF2B5EF4-FFF2-40B4-BE49-F238E27FC236}">
                <a16:creationId xmlns:a16="http://schemas.microsoft.com/office/drawing/2014/main" id="{913ADB9D-69FB-FB72-701C-81EF278DF297}"/>
              </a:ext>
            </a:extLst>
          </p:cNvPr>
          <p:cNvSpPr/>
          <p:nvPr/>
        </p:nvSpPr>
        <p:spPr>
          <a:xfrm>
            <a:off x="831850" y="2923902"/>
            <a:ext cx="1498600" cy="673100"/>
          </a:xfrm>
          <a:prstGeom prst="rect">
            <a:avLst/>
          </a:prstGeom>
          <a:solidFill>
            <a:srgbClr val="F7F6F2"/>
          </a:solidFill>
          <a:ln w="25400">
            <a:solidFill>
              <a:srgbClr val="E37E5F"/>
            </a:solidFill>
            <a:prstDash val="solid"/>
          </a:ln>
        </p:spPr>
        <p:txBody>
          <a:bodyPr/>
          <a:lstStyle/>
          <a:p>
            <a:endParaRPr lang="it-IT" noProof="0" dirty="0"/>
          </a:p>
        </p:txBody>
      </p:sp>
      <p:sp>
        <p:nvSpPr>
          <p:cNvPr id="21" name="Text 4">
            <a:extLst>
              <a:ext uri="{FF2B5EF4-FFF2-40B4-BE49-F238E27FC236}">
                <a16:creationId xmlns:a16="http://schemas.microsoft.com/office/drawing/2014/main" id="{0D68509F-C0E5-E0E2-A039-4B5555C7EE7A}"/>
              </a:ext>
            </a:extLst>
          </p:cNvPr>
          <p:cNvSpPr/>
          <p:nvPr/>
        </p:nvSpPr>
        <p:spPr>
          <a:xfrm>
            <a:off x="1294003" y="2993752"/>
            <a:ext cx="5742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1B1D20"/>
                </a:solidFill>
                <a:latin typeface="IBM Plex Sans" pitchFamily="34" charset="0"/>
                <a:ea typeface="IBM Plex Sans" pitchFamily="34" charset="-122"/>
                <a:cs typeface="IBM Plex Sans" pitchFamily="34" charset="-120"/>
              </a:rPr>
              <a:t>pc1</a:t>
            </a:r>
            <a:endParaRPr lang="it-IT" sz="2200" noProof="0" dirty="0"/>
          </a:p>
        </p:txBody>
      </p:sp>
      <p:sp>
        <p:nvSpPr>
          <p:cNvPr id="22" name="Text 5">
            <a:extLst>
              <a:ext uri="{FF2B5EF4-FFF2-40B4-BE49-F238E27FC236}">
                <a16:creationId xmlns:a16="http://schemas.microsoft.com/office/drawing/2014/main" id="{DA4DC215-57D9-129F-83A1-E2A1B7296369}"/>
              </a:ext>
            </a:extLst>
          </p:cNvPr>
          <p:cNvSpPr/>
          <p:nvPr/>
        </p:nvSpPr>
        <p:spPr>
          <a:xfrm>
            <a:off x="1142238" y="3313782"/>
            <a:ext cx="877824"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VLAN 101</a:t>
            </a:r>
            <a:endParaRPr lang="it-IT" sz="1600" noProof="0" dirty="0"/>
          </a:p>
        </p:txBody>
      </p:sp>
      <p:sp>
        <p:nvSpPr>
          <p:cNvPr id="23" name="Shape 6">
            <a:extLst>
              <a:ext uri="{FF2B5EF4-FFF2-40B4-BE49-F238E27FC236}">
                <a16:creationId xmlns:a16="http://schemas.microsoft.com/office/drawing/2014/main" id="{0C026F3F-9758-0E23-0373-0DD6886CC5FD}"/>
              </a:ext>
            </a:extLst>
          </p:cNvPr>
          <p:cNvSpPr/>
          <p:nvPr/>
        </p:nvSpPr>
        <p:spPr>
          <a:xfrm>
            <a:off x="831850" y="5273402"/>
            <a:ext cx="1498600" cy="673100"/>
          </a:xfrm>
          <a:prstGeom prst="rect">
            <a:avLst/>
          </a:prstGeom>
          <a:solidFill>
            <a:srgbClr val="F7F6F2"/>
          </a:solidFill>
          <a:ln w="25400">
            <a:solidFill>
              <a:srgbClr val="60A5E3"/>
            </a:solidFill>
            <a:prstDash val="solid"/>
          </a:ln>
        </p:spPr>
        <p:txBody>
          <a:bodyPr/>
          <a:lstStyle/>
          <a:p>
            <a:endParaRPr lang="it-IT" noProof="0" dirty="0"/>
          </a:p>
        </p:txBody>
      </p:sp>
      <p:sp>
        <p:nvSpPr>
          <p:cNvPr id="24" name="Text 7">
            <a:extLst>
              <a:ext uri="{FF2B5EF4-FFF2-40B4-BE49-F238E27FC236}">
                <a16:creationId xmlns:a16="http://schemas.microsoft.com/office/drawing/2014/main" id="{8B476B2B-B3A8-97AC-7A3A-5E2D873924AC}"/>
              </a:ext>
            </a:extLst>
          </p:cNvPr>
          <p:cNvSpPr/>
          <p:nvPr/>
        </p:nvSpPr>
        <p:spPr>
          <a:xfrm>
            <a:off x="1294003" y="5343252"/>
            <a:ext cx="5742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1B1D20"/>
                </a:solidFill>
                <a:latin typeface="IBM Plex Sans" pitchFamily="34" charset="0"/>
                <a:ea typeface="IBM Plex Sans" pitchFamily="34" charset="-122"/>
                <a:cs typeface="IBM Plex Sans" pitchFamily="34" charset="-120"/>
              </a:rPr>
              <a:t>pc4</a:t>
            </a:r>
            <a:endParaRPr lang="it-IT" sz="2200" noProof="0" dirty="0"/>
          </a:p>
        </p:txBody>
      </p:sp>
      <p:sp>
        <p:nvSpPr>
          <p:cNvPr id="25" name="Text 8">
            <a:extLst>
              <a:ext uri="{FF2B5EF4-FFF2-40B4-BE49-F238E27FC236}">
                <a16:creationId xmlns:a16="http://schemas.microsoft.com/office/drawing/2014/main" id="{4C8C14FF-3A47-7648-291A-D28444FA7B42}"/>
              </a:ext>
            </a:extLst>
          </p:cNvPr>
          <p:cNvSpPr/>
          <p:nvPr/>
        </p:nvSpPr>
        <p:spPr>
          <a:xfrm>
            <a:off x="1142238" y="5663282"/>
            <a:ext cx="877824"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VLAN 100</a:t>
            </a:r>
            <a:endParaRPr lang="it-IT" sz="1600" noProof="0" dirty="0"/>
          </a:p>
        </p:txBody>
      </p:sp>
      <p:sp>
        <p:nvSpPr>
          <p:cNvPr id="26" name="Shape 9">
            <a:extLst>
              <a:ext uri="{FF2B5EF4-FFF2-40B4-BE49-F238E27FC236}">
                <a16:creationId xmlns:a16="http://schemas.microsoft.com/office/drawing/2014/main" id="{7502CACD-C6FA-6FCC-0972-76D57EB74871}"/>
              </a:ext>
            </a:extLst>
          </p:cNvPr>
          <p:cNvSpPr/>
          <p:nvPr/>
        </p:nvSpPr>
        <p:spPr>
          <a:xfrm>
            <a:off x="3740150" y="4085952"/>
            <a:ext cx="1524000" cy="698500"/>
          </a:xfrm>
          <a:prstGeom prst="rect">
            <a:avLst/>
          </a:prstGeom>
          <a:solidFill>
            <a:srgbClr val="1B1D20"/>
          </a:solidFill>
          <a:ln/>
        </p:spPr>
        <p:txBody>
          <a:bodyPr/>
          <a:lstStyle/>
          <a:p>
            <a:endParaRPr lang="it-IT" noProof="0" dirty="0"/>
          </a:p>
        </p:txBody>
      </p:sp>
      <p:sp>
        <p:nvSpPr>
          <p:cNvPr id="27" name="Text 10">
            <a:extLst>
              <a:ext uri="{FF2B5EF4-FFF2-40B4-BE49-F238E27FC236}">
                <a16:creationId xmlns:a16="http://schemas.microsoft.com/office/drawing/2014/main" id="{A2957716-496B-967E-D4A8-8302C74990F9}"/>
              </a:ext>
            </a:extLst>
          </p:cNvPr>
          <p:cNvSpPr/>
          <p:nvPr/>
        </p:nvSpPr>
        <p:spPr>
          <a:xfrm>
            <a:off x="4335653" y="4168502"/>
            <a:ext cx="3329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s1</a:t>
            </a:r>
            <a:endParaRPr lang="it-IT" sz="2200" noProof="0" dirty="0"/>
          </a:p>
        </p:txBody>
      </p:sp>
      <p:sp>
        <p:nvSpPr>
          <p:cNvPr id="28" name="Text 11">
            <a:extLst>
              <a:ext uri="{FF2B5EF4-FFF2-40B4-BE49-F238E27FC236}">
                <a16:creationId xmlns:a16="http://schemas.microsoft.com/office/drawing/2014/main" id="{564A0968-D2D8-6B4B-6DC3-3713B2046AB6}"/>
              </a:ext>
            </a:extLst>
          </p:cNvPr>
          <p:cNvSpPr/>
          <p:nvPr/>
        </p:nvSpPr>
        <p:spPr>
          <a:xfrm>
            <a:off x="3860800" y="4488532"/>
            <a:ext cx="12827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A8DC6E"/>
                </a:solidFill>
                <a:latin typeface="JetBrains Mono" pitchFamily="49" charset="0"/>
                <a:ea typeface="JetBrains Mono" pitchFamily="49" charset="-122"/>
                <a:cs typeface="JetBrains Mono" pitchFamily="49" charset="-120"/>
              </a:rPr>
              <a:t>br100 · br101</a:t>
            </a:r>
            <a:endParaRPr lang="it-IT" sz="1600" noProof="0" dirty="0"/>
          </a:p>
        </p:txBody>
      </p:sp>
      <p:sp>
        <p:nvSpPr>
          <p:cNvPr id="29" name="Shape 12">
            <a:extLst>
              <a:ext uri="{FF2B5EF4-FFF2-40B4-BE49-F238E27FC236}">
                <a16:creationId xmlns:a16="http://schemas.microsoft.com/office/drawing/2014/main" id="{59248670-AF1D-79DF-6587-9B1BABBD4EDA}"/>
              </a:ext>
            </a:extLst>
          </p:cNvPr>
          <p:cNvSpPr/>
          <p:nvPr/>
        </p:nvSpPr>
        <p:spPr>
          <a:xfrm>
            <a:off x="6940550" y="4085952"/>
            <a:ext cx="1524000" cy="698500"/>
          </a:xfrm>
          <a:prstGeom prst="rect">
            <a:avLst/>
          </a:prstGeom>
          <a:solidFill>
            <a:srgbClr val="1B1D20"/>
          </a:solidFill>
          <a:ln/>
        </p:spPr>
        <p:txBody>
          <a:bodyPr/>
          <a:lstStyle/>
          <a:p>
            <a:endParaRPr lang="it-IT" noProof="0" dirty="0"/>
          </a:p>
        </p:txBody>
      </p:sp>
      <p:sp>
        <p:nvSpPr>
          <p:cNvPr id="30" name="Text 13">
            <a:extLst>
              <a:ext uri="{FF2B5EF4-FFF2-40B4-BE49-F238E27FC236}">
                <a16:creationId xmlns:a16="http://schemas.microsoft.com/office/drawing/2014/main" id="{01EDED5A-A468-D601-C577-844F83DBB8E4}"/>
              </a:ext>
            </a:extLst>
          </p:cNvPr>
          <p:cNvSpPr/>
          <p:nvPr/>
        </p:nvSpPr>
        <p:spPr>
          <a:xfrm>
            <a:off x="7536053" y="4168502"/>
            <a:ext cx="3329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s2</a:t>
            </a:r>
            <a:endParaRPr lang="it-IT" sz="2200" noProof="0" dirty="0"/>
          </a:p>
        </p:txBody>
      </p:sp>
      <p:sp>
        <p:nvSpPr>
          <p:cNvPr id="31" name="Text 14">
            <a:extLst>
              <a:ext uri="{FF2B5EF4-FFF2-40B4-BE49-F238E27FC236}">
                <a16:creationId xmlns:a16="http://schemas.microsoft.com/office/drawing/2014/main" id="{238ECE4E-1350-B99F-8395-69AD0E1A985F}"/>
              </a:ext>
            </a:extLst>
          </p:cNvPr>
          <p:cNvSpPr/>
          <p:nvPr/>
        </p:nvSpPr>
        <p:spPr>
          <a:xfrm>
            <a:off x="7061200" y="4488532"/>
            <a:ext cx="12827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A8DC6E"/>
                </a:solidFill>
                <a:latin typeface="JetBrains Mono" pitchFamily="49" charset="0"/>
                <a:ea typeface="JetBrains Mono" pitchFamily="49" charset="-122"/>
                <a:cs typeface="JetBrains Mono" pitchFamily="49" charset="-120"/>
              </a:rPr>
              <a:t>br100 · br101</a:t>
            </a:r>
            <a:endParaRPr lang="it-IT" sz="1600" noProof="0" dirty="0"/>
          </a:p>
        </p:txBody>
      </p:sp>
      <p:sp>
        <p:nvSpPr>
          <p:cNvPr id="32" name="Shape 15">
            <a:extLst>
              <a:ext uri="{FF2B5EF4-FFF2-40B4-BE49-F238E27FC236}">
                <a16:creationId xmlns:a16="http://schemas.microsoft.com/office/drawing/2014/main" id="{59097BA3-8205-32ED-FD57-D0B818B00F95}"/>
              </a:ext>
            </a:extLst>
          </p:cNvPr>
          <p:cNvSpPr/>
          <p:nvPr/>
        </p:nvSpPr>
        <p:spPr>
          <a:xfrm>
            <a:off x="9874250" y="2923902"/>
            <a:ext cx="1498600" cy="673100"/>
          </a:xfrm>
          <a:prstGeom prst="rect">
            <a:avLst/>
          </a:prstGeom>
          <a:solidFill>
            <a:srgbClr val="F7F6F2"/>
          </a:solidFill>
          <a:ln w="25400">
            <a:solidFill>
              <a:srgbClr val="60A5E3"/>
            </a:solidFill>
            <a:prstDash val="solid"/>
          </a:ln>
        </p:spPr>
        <p:txBody>
          <a:bodyPr/>
          <a:lstStyle/>
          <a:p>
            <a:endParaRPr lang="it-IT" noProof="0" dirty="0"/>
          </a:p>
        </p:txBody>
      </p:sp>
      <p:sp>
        <p:nvSpPr>
          <p:cNvPr id="33" name="Text 16">
            <a:extLst>
              <a:ext uri="{FF2B5EF4-FFF2-40B4-BE49-F238E27FC236}">
                <a16:creationId xmlns:a16="http://schemas.microsoft.com/office/drawing/2014/main" id="{82348723-B536-AE89-0B1B-DCCE2ED030F9}"/>
              </a:ext>
            </a:extLst>
          </p:cNvPr>
          <p:cNvSpPr/>
          <p:nvPr/>
        </p:nvSpPr>
        <p:spPr>
          <a:xfrm>
            <a:off x="10336403" y="2993752"/>
            <a:ext cx="5742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1B1D20"/>
                </a:solidFill>
                <a:latin typeface="IBM Plex Sans" pitchFamily="34" charset="0"/>
                <a:ea typeface="IBM Plex Sans" pitchFamily="34" charset="-122"/>
                <a:cs typeface="IBM Plex Sans" pitchFamily="34" charset="-120"/>
              </a:rPr>
              <a:t>pc2</a:t>
            </a:r>
            <a:endParaRPr lang="it-IT" sz="2200" noProof="0" dirty="0"/>
          </a:p>
        </p:txBody>
      </p:sp>
      <p:sp>
        <p:nvSpPr>
          <p:cNvPr id="34" name="Text 17">
            <a:extLst>
              <a:ext uri="{FF2B5EF4-FFF2-40B4-BE49-F238E27FC236}">
                <a16:creationId xmlns:a16="http://schemas.microsoft.com/office/drawing/2014/main" id="{EDA18D32-BBB8-D786-0C7C-CC6EDA75709B}"/>
              </a:ext>
            </a:extLst>
          </p:cNvPr>
          <p:cNvSpPr/>
          <p:nvPr/>
        </p:nvSpPr>
        <p:spPr>
          <a:xfrm>
            <a:off x="10184638" y="3313782"/>
            <a:ext cx="877824"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2B6CA3"/>
                </a:solidFill>
                <a:latin typeface="JetBrains Mono" pitchFamily="49" charset="0"/>
                <a:ea typeface="JetBrains Mono" pitchFamily="49" charset="-122"/>
                <a:cs typeface="JetBrains Mono" pitchFamily="49" charset="-120"/>
              </a:rPr>
              <a:t>VLAN 100</a:t>
            </a:r>
            <a:endParaRPr lang="it-IT" sz="1600" noProof="0" dirty="0"/>
          </a:p>
        </p:txBody>
      </p:sp>
      <p:sp>
        <p:nvSpPr>
          <p:cNvPr id="35" name="Shape 18">
            <a:extLst>
              <a:ext uri="{FF2B5EF4-FFF2-40B4-BE49-F238E27FC236}">
                <a16:creationId xmlns:a16="http://schemas.microsoft.com/office/drawing/2014/main" id="{823F7CD1-F687-9CA8-9FAE-5BDADA34BADD}"/>
              </a:ext>
            </a:extLst>
          </p:cNvPr>
          <p:cNvSpPr/>
          <p:nvPr/>
        </p:nvSpPr>
        <p:spPr>
          <a:xfrm>
            <a:off x="9874250" y="5273402"/>
            <a:ext cx="1498600" cy="673100"/>
          </a:xfrm>
          <a:prstGeom prst="rect">
            <a:avLst/>
          </a:prstGeom>
          <a:solidFill>
            <a:srgbClr val="F7F6F2"/>
          </a:solidFill>
          <a:ln w="25400">
            <a:solidFill>
              <a:srgbClr val="E37E5F"/>
            </a:solidFill>
            <a:prstDash val="solid"/>
          </a:ln>
        </p:spPr>
        <p:txBody>
          <a:bodyPr/>
          <a:lstStyle/>
          <a:p>
            <a:endParaRPr lang="it-IT" noProof="0" dirty="0"/>
          </a:p>
        </p:txBody>
      </p:sp>
      <p:sp>
        <p:nvSpPr>
          <p:cNvPr id="36" name="Text 19">
            <a:extLst>
              <a:ext uri="{FF2B5EF4-FFF2-40B4-BE49-F238E27FC236}">
                <a16:creationId xmlns:a16="http://schemas.microsoft.com/office/drawing/2014/main" id="{2D5EEC18-7D36-B04B-3EF1-15E2D6FABB38}"/>
              </a:ext>
            </a:extLst>
          </p:cNvPr>
          <p:cNvSpPr/>
          <p:nvPr/>
        </p:nvSpPr>
        <p:spPr>
          <a:xfrm>
            <a:off x="10336403" y="5343252"/>
            <a:ext cx="574294" cy="332740"/>
          </a:xfrm>
          <a:prstGeom prst="rect">
            <a:avLst/>
          </a:prstGeom>
          <a:noFill/>
          <a:ln/>
        </p:spPr>
        <p:txBody>
          <a:bodyPr wrap="square" lIns="0" tIns="0" rIns="0" bIns="0" rtlCol="0" anchor="t">
            <a:normAutofit fontScale="85000" lnSpcReduction="10000"/>
          </a:bodyPr>
          <a:lstStyle/>
          <a:p>
            <a:pPr marL="0" indent="0" algn="ctr">
              <a:lnSpc>
                <a:spcPts val="2750"/>
              </a:lnSpc>
              <a:buNone/>
            </a:pPr>
            <a:r>
              <a:rPr lang="it-IT" sz="2200" b="1" noProof="0" dirty="0">
                <a:solidFill>
                  <a:srgbClr val="1B1D20"/>
                </a:solidFill>
                <a:latin typeface="IBM Plex Sans" pitchFamily="34" charset="0"/>
                <a:ea typeface="IBM Plex Sans" pitchFamily="34" charset="-122"/>
                <a:cs typeface="IBM Plex Sans" pitchFamily="34" charset="-120"/>
              </a:rPr>
              <a:t>pc3</a:t>
            </a:r>
            <a:endParaRPr lang="it-IT" sz="2200" noProof="0" dirty="0"/>
          </a:p>
        </p:txBody>
      </p:sp>
      <p:sp>
        <p:nvSpPr>
          <p:cNvPr id="37" name="Text 20">
            <a:extLst>
              <a:ext uri="{FF2B5EF4-FFF2-40B4-BE49-F238E27FC236}">
                <a16:creationId xmlns:a16="http://schemas.microsoft.com/office/drawing/2014/main" id="{A78FF9DC-06E0-F0A2-4271-23B3C3A1CCFD}"/>
              </a:ext>
            </a:extLst>
          </p:cNvPr>
          <p:cNvSpPr/>
          <p:nvPr/>
        </p:nvSpPr>
        <p:spPr>
          <a:xfrm>
            <a:off x="10184638" y="5663282"/>
            <a:ext cx="877824"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VLAN 101</a:t>
            </a:r>
            <a:endParaRPr lang="it-IT" sz="1600" noProof="0" dirty="0"/>
          </a:p>
        </p:txBody>
      </p:sp>
      <p:sp>
        <p:nvSpPr>
          <p:cNvPr id="38" name="Text 21">
            <a:extLst>
              <a:ext uri="{FF2B5EF4-FFF2-40B4-BE49-F238E27FC236}">
                <a16:creationId xmlns:a16="http://schemas.microsoft.com/office/drawing/2014/main" id="{D22F6E36-6120-7A3F-7E17-EEE5433A862A}"/>
              </a:ext>
            </a:extLst>
          </p:cNvPr>
          <p:cNvSpPr/>
          <p:nvPr/>
        </p:nvSpPr>
        <p:spPr>
          <a:xfrm>
            <a:off x="2965450" y="3415382"/>
            <a:ext cx="749300" cy="274320"/>
          </a:xfrm>
          <a:prstGeom prst="rect">
            <a:avLst/>
          </a:prstGeom>
          <a:noFill/>
          <a:ln/>
        </p:spPr>
        <p:txBody>
          <a:bodyPr wrap="square" lIns="0" tIns="0" rIns="0" bIns="0" rtlCol="0" anchor="t">
            <a:normAutofit/>
          </a:bodyPr>
          <a:lstStyle/>
          <a:p>
            <a:pPr marL="0" indent="0" algn="l">
              <a:lnSpc>
                <a:spcPts val="2000"/>
              </a:lnSpc>
              <a:buNone/>
            </a:pPr>
            <a:r>
              <a:rPr lang="it-IT" sz="1600" b="1" noProof="0" dirty="0" err="1">
                <a:solidFill>
                  <a:srgbClr val="4A7F1C"/>
                </a:solidFill>
                <a:latin typeface="JetBrains Mono" pitchFamily="49" charset="0"/>
                <a:ea typeface="JetBrains Mono" pitchFamily="49" charset="-122"/>
                <a:cs typeface="JetBrains Mono" pitchFamily="49" charset="-120"/>
              </a:rPr>
              <a:t>lan1</a:t>
            </a:r>
            <a:endParaRPr lang="it-IT" sz="1600" noProof="0" dirty="0"/>
          </a:p>
        </p:txBody>
      </p:sp>
      <p:sp>
        <p:nvSpPr>
          <p:cNvPr id="39" name="Text 22">
            <a:extLst>
              <a:ext uri="{FF2B5EF4-FFF2-40B4-BE49-F238E27FC236}">
                <a16:creationId xmlns:a16="http://schemas.microsoft.com/office/drawing/2014/main" id="{4BC09303-7590-3E23-3D42-09A5D081B139}"/>
              </a:ext>
            </a:extLst>
          </p:cNvPr>
          <p:cNvSpPr/>
          <p:nvPr/>
        </p:nvSpPr>
        <p:spPr>
          <a:xfrm>
            <a:off x="8629650" y="3338118"/>
            <a:ext cx="749300" cy="274320"/>
          </a:xfrm>
          <a:prstGeom prst="rect">
            <a:avLst/>
          </a:prstGeom>
          <a:noFill/>
          <a:ln/>
        </p:spPr>
        <p:txBody>
          <a:bodyPr wrap="square" lIns="0" tIns="0" rIns="0" bIns="0" rtlCol="0" anchor="t">
            <a:normAutofit/>
          </a:bodyPr>
          <a:lstStyle/>
          <a:p>
            <a:pPr marL="0" indent="0" algn="r">
              <a:lnSpc>
                <a:spcPts val="2000"/>
              </a:lnSpc>
              <a:buNone/>
            </a:pPr>
            <a:r>
              <a:rPr lang="it-IT" sz="1600" b="1" noProof="0" dirty="0" err="1">
                <a:solidFill>
                  <a:srgbClr val="4A7F1C"/>
                </a:solidFill>
                <a:latin typeface="JetBrains Mono" pitchFamily="49" charset="0"/>
                <a:ea typeface="JetBrains Mono" pitchFamily="49" charset="-122"/>
                <a:cs typeface="JetBrains Mono" pitchFamily="49" charset="-120"/>
              </a:rPr>
              <a:t>lan2</a:t>
            </a:r>
            <a:endParaRPr lang="it-IT" sz="1600" noProof="0" dirty="0"/>
          </a:p>
        </p:txBody>
      </p:sp>
      <p:sp>
        <p:nvSpPr>
          <p:cNvPr id="40" name="Text 21b">
            <a:extLst>
              <a:ext uri="{FF2B5EF4-FFF2-40B4-BE49-F238E27FC236}">
                <a16:creationId xmlns:a16="http://schemas.microsoft.com/office/drawing/2014/main" id="{C9733C5B-DC21-82DA-E718-6A858054A790}"/>
              </a:ext>
            </a:extLst>
          </p:cNvPr>
          <p:cNvSpPr/>
          <p:nvPr/>
        </p:nvSpPr>
        <p:spPr>
          <a:xfrm>
            <a:off x="2990850" y="5171440"/>
            <a:ext cx="749300" cy="274320"/>
          </a:xfrm>
          <a:prstGeom prst="rect">
            <a:avLst/>
          </a:prstGeom>
          <a:noFill/>
          <a:ln/>
        </p:spPr>
        <p:txBody>
          <a:bodyPr wrap="square" lIns="0" tIns="0" rIns="0" bIns="0" rtlCol="0" anchor="t">
            <a:normAutofit/>
          </a:bodyPr>
          <a:lstStyle/>
          <a:p>
            <a:pPr marL="0" indent="0" algn="l">
              <a:lnSpc>
                <a:spcPts val="2000"/>
              </a:lnSpc>
              <a:buNone/>
            </a:pPr>
            <a:r>
              <a:rPr lang="it-IT" sz="1600" b="1" noProof="0" dirty="0" err="1">
                <a:solidFill>
                  <a:srgbClr val="4A7F1C"/>
                </a:solidFill>
                <a:latin typeface="JetBrains Mono" pitchFamily="49" charset="0"/>
                <a:ea typeface="JetBrains Mono" pitchFamily="49" charset="-122"/>
                <a:cs typeface="JetBrains Mono" pitchFamily="49" charset="-120"/>
              </a:rPr>
              <a:t>lan4</a:t>
            </a:r>
            <a:endParaRPr lang="it-IT" sz="1600" noProof="0" dirty="0"/>
          </a:p>
        </p:txBody>
      </p:sp>
      <p:sp>
        <p:nvSpPr>
          <p:cNvPr id="41" name="Text 22b">
            <a:extLst>
              <a:ext uri="{FF2B5EF4-FFF2-40B4-BE49-F238E27FC236}">
                <a16:creationId xmlns:a16="http://schemas.microsoft.com/office/drawing/2014/main" id="{F9958AF8-2522-3933-5021-3A5F30B73A90}"/>
              </a:ext>
            </a:extLst>
          </p:cNvPr>
          <p:cNvSpPr/>
          <p:nvPr/>
        </p:nvSpPr>
        <p:spPr>
          <a:xfrm>
            <a:off x="8561195" y="5202272"/>
            <a:ext cx="749300" cy="274320"/>
          </a:xfrm>
          <a:prstGeom prst="rect">
            <a:avLst/>
          </a:prstGeom>
          <a:noFill/>
          <a:ln/>
        </p:spPr>
        <p:txBody>
          <a:bodyPr wrap="square" lIns="0" tIns="0" rIns="0" bIns="0" rtlCol="0" anchor="t">
            <a:normAutofit/>
          </a:bodyPr>
          <a:lstStyle/>
          <a:p>
            <a:pPr marL="0" indent="0" algn="r">
              <a:lnSpc>
                <a:spcPts val="2000"/>
              </a:lnSpc>
              <a:buNone/>
            </a:pPr>
            <a:r>
              <a:rPr lang="it-IT" sz="1600" b="1" noProof="0" dirty="0" err="1">
                <a:solidFill>
                  <a:srgbClr val="4A7F1C"/>
                </a:solidFill>
                <a:latin typeface="JetBrains Mono" pitchFamily="49" charset="0"/>
                <a:ea typeface="JetBrains Mono" pitchFamily="49" charset="-122"/>
                <a:cs typeface="JetBrains Mono" pitchFamily="49" charset="-120"/>
              </a:rPr>
              <a:t>lan3</a:t>
            </a:r>
            <a:endParaRPr lang="it-IT" sz="1600" noProof="0" dirty="0"/>
          </a:p>
        </p:txBody>
      </p:sp>
      <p:sp>
        <p:nvSpPr>
          <p:cNvPr id="42" name="Text 23">
            <a:extLst>
              <a:ext uri="{FF2B5EF4-FFF2-40B4-BE49-F238E27FC236}">
                <a16:creationId xmlns:a16="http://schemas.microsoft.com/office/drawing/2014/main" id="{199F55DE-3FD3-0C94-BD80-62F6ECE6C847}"/>
              </a:ext>
            </a:extLst>
          </p:cNvPr>
          <p:cNvSpPr/>
          <p:nvPr/>
        </p:nvSpPr>
        <p:spPr>
          <a:xfrm>
            <a:off x="5289550" y="4028802"/>
            <a:ext cx="1625600" cy="274320"/>
          </a:xfrm>
          <a:prstGeom prst="rect">
            <a:avLst/>
          </a:prstGeom>
          <a:noFill/>
          <a:ln/>
        </p:spPr>
        <p:txBody>
          <a:bodyPr wrap="square" lIns="0" tIns="0" rIns="0" bIns="0" rtlCol="0" anchor="t">
            <a:normAutofit/>
          </a:bodyPr>
          <a:lstStyle/>
          <a:p>
            <a:pPr marL="0" indent="0" algn="ctr">
              <a:lnSpc>
                <a:spcPts val="2000"/>
              </a:lnSpc>
              <a:buNone/>
            </a:pPr>
            <a:r>
              <a:rPr lang="it-IT" sz="1600" b="1" noProof="0" dirty="0">
                <a:solidFill>
                  <a:srgbClr val="1B1D20"/>
                </a:solidFill>
                <a:latin typeface="JetBrains Mono" pitchFamily="49" charset="0"/>
                <a:ea typeface="JetBrains Mono" pitchFamily="49" charset="-122"/>
                <a:cs typeface="JetBrains Mono" pitchFamily="49" charset="-120"/>
              </a:rPr>
              <a:t>n12 · </a:t>
            </a:r>
            <a:r>
              <a:rPr lang="it-IT" sz="1600" b="1" noProof="0" dirty="0" err="1">
                <a:solidFill>
                  <a:srgbClr val="1B1D20"/>
                </a:solidFill>
                <a:latin typeface="JetBrains Mono" pitchFamily="49" charset="0"/>
                <a:ea typeface="JetBrains Mono" pitchFamily="49" charset="-122"/>
                <a:cs typeface="JetBrains Mono" pitchFamily="49" charset="-120"/>
              </a:rPr>
              <a:t>trunk</a:t>
            </a:r>
            <a:endParaRPr lang="it-IT" sz="1600" noProof="0" dirty="0"/>
          </a:p>
        </p:txBody>
      </p:sp>
      <p:sp>
        <p:nvSpPr>
          <p:cNvPr id="43" name="Text 24">
            <a:extLst>
              <a:ext uri="{FF2B5EF4-FFF2-40B4-BE49-F238E27FC236}">
                <a16:creationId xmlns:a16="http://schemas.microsoft.com/office/drawing/2014/main" id="{F2398BA2-862B-F90F-B922-EB3E335326F5}"/>
              </a:ext>
            </a:extLst>
          </p:cNvPr>
          <p:cNvSpPr/>
          <p:nvPr/>
        </p:nvSpPr>
        <p:spPr>
          <a:xfrm>
            <a:off x="5289550" y="4574902"/>
            <a:ext cx="16256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VLAN 100 + 101</a:t>
            </a:r>
            <a:endParaRPr lang="it-IT" sz="1600" noProof="0" dirty="0"/>
          </a:p>
        </p:txBody>
      </p:sp>
      <p:sp>
        <p:nvSpPr>
          <p:cNvPr id="45" name="CasellaDiTesto 44">
            <a:extLst>
              <a:ext uri="{FF2B5EF4-FFF2-40B4-BE49-F238E27FC236}">
                <a16:creationId xmlns:a16="http://schemas.microsoft.com/office/drawing/2014/main" id="{9FAB8CDF-6388-B204-FA7C-116820CFE869}"/>
              </a:ext>
            </a:extLst>
          </p:cNvPr>
          <p:cNvSpPr txBox="1"/>
          <p:nvPr/>
        </p:nvSpPr>
        <p:spPr>
          <a:xfrm>
            <a:off x="4481256" y="5135617"/>
            <a:ext cx="3516184" cy="830997"/>
          </a:xfrm>
          <a:prstGeom prst="rect">
            <a:avLst/>
          </a:prstGeom>
          <a:noFill/>
        </p:spPr>
        <p:txBody>
          <a:bodyPr wrap="square">
            <a:spAutoFit/>
          </a:bodyPr>
          <a:lstStyle/>
          <a:p>
            <a:r>
              <a:rPr lang="it-IT" sz="1600" b="1" dirty="0">
                <a:latin typeface="IBM Plex Sans" pitchFamily="34" charset="0"/>
                <a:ea typeface="IBM Plex Sans" pitchFamily="34" charset="-122"/>
                <a:cs typeface="IBM Plex Sans" pitchFamily="34" charset="-120"/>
              </a:rPr>
              <a:t>S</a:t>
            </a:r>
            <a:r>
              <a:rPr lang="it-IT" sz="1600" b="1" noProof="0" dirty="0" err="1">
                <a:latin typeface="IBM Plex Sans" pitchFamily="34" charset="0"/>
                <a:ea typeface="IBM Plex Sans" pitchFamily="34" charset="-122"/>
                <a:cs typeface="IBM Plex Sans" pitchFamily="34" charset="-120"/>
              </a:rPr>
              <a:t>ul</a:t>
            </a:r>
            <a:r>
              <a:rPr lang="it-IT" sz="1600" b="1" noProof="0" dirty="0">
                <a:latin typeface="IBM Plex Sans" pitchFamily="34" charset="0"/>
                <a:ea typeface="IBM Plex Sans" pitchFamily="34" charset="-122"/>
                <a:cs typeface="IBM Plex Sans" pitchFamily="34" charset="-120"/>
              </a:rPr>
              <a:t> </a:t>
            </a:r>
            <a:r>
              <a:rPr lang="it-IT" sz="1600" b="1" noProof="0" dirty="0" err="1">
                <a:latin typeface="IBM Plex Sans" pitchFamily="34" charset="0"/>
                <a:ea typeface="IBM Plex Sans" pitchFamily="34" charset="-122"/>
                <a:cs typeface="IBM Plex Sans" pitchFamily="34" charset="-120"/>
              </a:rPr>
              <a:t>trunk</a:t>
            </a:r>
            <a:r>
              <a:rPr lang="it-IT" sz="1600" b="1" noProof="0" dirty="0">
                <a:latin typeface="IBM Plex Sans" pitchFamily="34" charset="0"/>
                <a:ea typeface="IBM Plex Sans" pitchFamily="34" charset="-122"/>
                <a:cs typeface="IBM Plex Sans" pitchFamily="34" charset="-120"/>
              </a:rPr>
              <a:t> n12 viaggiano entrambe, taggate 802.1Q. Gli </a:t>
            </a:r>
            <a:r>
              <a:rPr lang="it-IT" sz="1600" b="1" noProof="0" dirty="0" err="1">
                <a:latin typeface="IBM Plex Sans" pitchFamily="34" charset="0"/>
                <a:ea typeface="IBM Plex Sans" pitchFamily="34" charset="-122"/>
                <a:cs typeface="IBM Plex Sans" pitchFamily="34" charset="-120"/>
              </a:rPr>
              <a:t>host</a:t>
            </a:r>
            <a:r>
              <a:rPr lang="it-IT" sz="1600" b="1" noProof="0" dirty="0">
                <a:latin typeface="IBM Plex Sans" pitchFamily="34" charset="0"/>
                <a:ea typeface="IBM Plex Sans" pitchFamily="34" charset="-122"/>
                <a:cs typeface="IBM Plex Sans" pitchFamily="34" charset="-120"/>
              </a:rPr>
              <a:t> non vedono tag: lo aggiunge lo switch.</a:t>
            </a:r>
            <a:endParaRPr lang="en-US" b="1" dirty="0"/>
          </a:p>
        </p:txBody>
      </p:sp>
      <p:sp>
        <p:nvSpPr>
          <p:cNvPr id="46" name="Endpoint pc1 eth0"/>
          <p:cNvSpPr txBox="1"/>
          <p:nvPr/>
        </p:nvSpPr>
        <p:spPr>
          <a:xfrm>
            <a:off x="2381250" y="3022590"/>
            <a:ext cx="508000" cy="203200"/>
          </a:xfrm>
          <a:prstGeom prst="rect">
            <a:avLst/>
          </a:prstGeom>
          <a:noFill/>
          <a:ln>
            <a:noFill/>
          </a:ln>
        </p:spPr>
        <p:txBody>
          <a:bodyPr wrap="none" lIns="0" tIns="0" rIns="0" bIns="0" anchor="b">
            <a:noAutofit/>
          </a:bodyPr>
          <a:lstStyle/>
          <a:p>
            <a:pPr marL="0" indent="0" algn="l">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p:txBody>
      </p:sp>
      <p:sp>
        <p:nvSpPr>
          <p:cNvPr id="47" name="Endpoint s1 eth0"/>
          <p:cNvSpPr txBox="1"/>
          <p:nvPr/>
        </p:nvSpPr>
        <p:spPr>
          <a:xfrm>
            <a:off x="3206750" y="3702040"/>
            <a:ext cx="508000" cy="203200"/>
          </a:xfrm>
          <a:prstGeom prst="rect">
            <a:avLst/>
          </a:prstGeom>
          <a:noFill/>
          <a:ln>
            <a:noFill/>
          </a:ln>
        </p:spPr>
        <p:txBody>
          <a:bodyPr wrap="none" lIns="0" tIns="0" rIns="0" bIns="0" anchor="b">
            <a:noAutofit/>
          </a:bodyPr>
          <a:lstStyle/>
          <a:p>
            <a:pPr marL="0" indent="0" algn="r">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p:txBody>
      </p:sp>
      <p:sp>
        <p:nvSpPr>
          <p:cNvPr id="48" name="Endpoint pc4 eth0"/>
          <p:cNvSpPr txBox="1"/>
          <p:nvPr/>
        </p:nvSpPr>
        <p:spPr>
          <a:xfrm>
            <a:off x="2381250" y="5676890"/>
            <a:ext cx="508000" cy="203200"/>
          </a:xfrm>
          <a:prstGeom prst="rect">
            <a:avLst/>
          </a:prstGeom>
          <a:noFill/>
          <a:ln>
            <a:noFill/>
          </a:ln>
        </p:spPr>
        <p:txBody>
          <a:bodyPr wrap="none" lIns="0" tIns="0" rIns="0" bIns="0" anchor="b">
            <a:noAutofit/>
          </a:bodyPr>
          <a:lstStyle/>
          <a:p>
            <a:pPr marL="0" indent="0" algn="l">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p:txBody>
      </p:sp>
      <p:sp>
        <p:nvSpPr>
          <p:cNvPr id="49" name="Endpoint s1 eth2"/>
          <p:cNvSpPr txBox="1"/>
          <p:nvPr/>
        </p:nvSpPr>
        <p:spPr>
          <a:xfrm>
            <a:off x="3206750" y="4921240"/>
            <a:ext cx="508000" cy="203200"/>
          </a:xfrm>
          <a:prstGeom prst="rect">
            <a:avLst/>
          </a:prstGeom>
          <a:noFill/>
          <a:ln>
            <a:noFill/>
          </a:ln>
        </p:spPr>
        <p:txBody>
          <a:bodyPr wrap="none" lIns="0" tIns="0" rIns="0" bIns="0" anchor="b">
            <a:noAutofit/>
          </a:bodyPr>
          <a:lstStyle/>
          <a:p>
            <a:pPr marL="0" indent="0" algn="r">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eth2</a:t>
            </a:r>
          </a:p>
        </p:txBody>
      </p:sp>
      <p:sp>
        <p:nvSpPr>
          <p:cNvPr id="50" name="Endpoint s1 eth1"/>
          <p:cNvSpPr txBox="1"/>
          <p:nvPr/>
        </p:nvSpPr>
        <p:spPr>
          <a:xfrm>
            <a:off x="4730750" y="3854440"/>
            <a:ext cx="508000" cy="203200"/>
          </a:xfrm>
          <a:prstGeom prst="rect">
            <a:avLst/>
          </a:prstGeom>
          <a:noFill/>
          <a:ln>
            <a:noFill/>
          </a:ln>
        </p:spPr>
        <p:txBody>
          <a:bodyPr wrap="none" lIns="0" tIns="0" rIns="0" bIns="0" anchor="b">
            <a:noAutofit/>
          </a:bodyPr>
          <a:lstStyle/>
          <a:p>
            <a:pPr marL="0" indent="0" algn="r">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eth1</a:t>
            </a:r>
          </a:p>
        </p:txBody>
      </p:sp>
      <p:sp>
        <p:nvSpPr>
          <p:cNvPr id="51" name="Endpoint s2 eth0"/>
          <p:cNvSpPr txBox="1"/>
          <p:nvPr/>
        </p:nvSpPr>
        <p:spPr>
          <a:xfrm>
            <a:off x="6965950" y="3854440"/>
            <a:ext cx="508000" cy="203200"/>
          </a:xfrm>
          <a:prstGeom prst="rect">
            <a:avLst/>
          </a:prstGeom>
          <a:noFill/>
          <a:ln>
            <a:noFill/>
          </a:ln>
        </p:spPr>
        <p:txBody>
          <a:bodyPr wrap="none" lIns="0" tIns="0" rIns="0" bIns="0" anchor="b">
            <a:noAutofit/>
          </a:bodyPr>
          <a:lstStyle/>
          <a:p>
            <a:pPr marL="0" indent="0" algn="l">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p:txBody>
      </p:sp>
      <p:sp>
        <p:nvSpPr>
          <p:cNvPr id="52" name="Endpoint s2 eth1"/>
          <p:cNvSpPr txBox="1"/>
          <p:nvPr/>
        </p:nvSpPr>
        <p:spPr>
          <a:xfrm>
            <a:off x="8489950" y="3702040"/>
            <a:ext cx="508000" cy="203200"/>
          </a:xfrm>
          <a:prstGeom prst="rect">
            <a:avLst/>
          </a:prstGeom>
          <a:noFill/>
          <a:ln>
            <a:noFill/>
          </a:ln>
        </p:spPr>
        <p:txBody>
          <a:bodyPr wrap="none" lIns="0" tIns="0" rIns="0" bIns="0" anchor="b">
            <a:noAutofit/>
          </a:bodyPr>
          <a:lstStyle/>
          <a:p>
            <a:pPr marL="0" indent="0" algn="l">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eth1</a:t>
            </a:r>
          </a:p>
        </p:txBody>
      </p:sp>
      <p:sp>
        <p:nvSpPr>
          <p:cNvPr id="53" name="Endpoint pc2 eth0"/>
          <p:cNvSpPr txBox="1"/>
          <p:nvPr/>
        </p:nvSpPr>
        <p:spPr>
          <a:xfrm>
            <a:off x="9315450" y="3022590"/>
            <a:ext cx="508000" cy="203200"/>
          </a:xfrm>
          <a:prstGeom prst="rect">
            <a:avLst/>
          </a:prstGeom>
          <a:noFill/>
          <a:ln>
            <a:noFill/>
          </a:ln>
        </p:spPr>
        <p:txBody>
          <a:bodyPr wrap="none" lIns="0" tIns="0" rIns="0" bIns="0" anchor="b">
            <a:noAutofit/>
          </a:bodyPr>
          <a:lstStyle/>
          <a:p>
            <a:pPr marL="0" indent="0" algn="r">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p:txBody>
      </p:sp>
      <p:sp>
        <p:nvSpPr>
          <p:cNvPr id="54" name="Endpoint s2 eth2"/>
          <p:cNvSpPr txBox="1"/>
          <p:nvPr/>
        </p:nvSpPr>
        <p:spPr>
          <a:xfrm>
            <a:off x="8489950" y="4921240"/>
            <a:ext cx="508000" cy="203200"/>
          </a:xfrm>
          <a:prstGeom prst="rect">
            <a:avLst/>
          </a:prstGeom>
          <a:noFill/>
          <a:ln>
            <a:noFill/>
          </a:ln>
        </p:spPr>
        <p:txBody>
          <a:bodyPr wrap="none" lIns="0" tIns="0" rIns="0" bIns="0" anchor="b">
            <a:noAutofit/>
          </a:bodyPr>
          <a:lstStyle/>
          <a:p>
            <a:pPr marL="0" indent="0" algn="l">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eth2</a:t>
            </a:r>
          </a:p>
        </p:txBody>
      </p:sp>
      <p:sp>
        <p:nvSpPr>
          <p:cNvPr id="55" name="Endpoint pc3 eth0"/>
          <p:cNvSpPr txBox="1"/>
          <p:nvPr/>
        </p:nvSpPr>
        <p:spPr>
          <a:xfrm>
            <a:off x="9315450" y="5676890"/>
            <a:ext cx="508000" cy="203200"/>
          </a:xfrm>
          <a:prstGeom prst="rect">
            <a:avLst/>
          </a:prstGeom>
          <a:noFill/>
          <a:ln>
            <a:noFill/>
          </a:ln>
        </p:spPr>
        <p:txBody>
          <a:bodyPr wrap="none" lIns="0" tIns="0" rIns="0" bIns="0" anchor="b">
            <a:noAutofit/>
          </a:bodyPr>
          <a:lstStyle/>
          <a:p>
            <a:pPr marL="0" indent="0" algn="r">
              <a:lnSpc>
                <a:spcPct val="100000"/>
              </a:lnSpc>
              <a:buNone/>
            </a:pPr>
            <a:r>
              <a:rPr lang="it-IT" sz="1200" noProof="0" dirty="0">
                <a:solidFill>
                  <a:srgbClr val="2B6CA3"/>
                </a:solidFill>
                <a:latin typeface="JetBrains Mono" pitchFamily="49" charset="0"/>
                <a:ea typeface="JetBrains Mono" pitchFamily="49" charset="-122"/>
                <a:cs typeface="JetBrains Mono" pitchFamily="49" charset="-120"/>
              </a:rPr>
              <a:t>eth0</a:t>
            </a:r>
          </a:p>
        </p:txBody>
      </p:sp>
    </p:spTree>
    <p:extLst>
      <p:ext uri="{BB962C8B-B14F-4D97-AF65-F5344CB8AC3E}">
        <p14:creationId xmlns:p14="http://schemas.microsoft.com/office/powerpoint/2010/main" val="1939303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0">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Piano delle VLAN</a:t>
            </a:r>
            <a:endParaRPr lang="it-IT" sz="4000" noProof="0" dirty="0"/>
          </a:p>
        </p:txBody>
      </p:sp>
      <p:graphicFrame>
        <p:nvGraphicFramePr>
          <p:cNvPr id="5" name="Table 0"/>
          <p:cNvGraphicFramePr>
            <a:graphicFrameLocks noGrp="1"/>
          </p:cNvGraphicFramePr>
          <p:nvPr/>
        </p:nvGraphicFramePr>
        <p:xfrm>
          <a:off x="825500" y="1902470"/>
          <a:ext cx="10553700" cy="2863850"/>
        </p:xfrm>
        <a:graphic>
          <a:graphicData uri="http://schemas.openxmlformats.org/drawingml/2006/table">
            <a:tbl>
              <a:tblPr/>
              <a:tblGrid>
                <a:gridCol w="1460500">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1460500">
                  <a:extLst>
                    <a:ext uri="{9D8B030D-6E8A-4147-A177-3AD203B41FA5}">
                      <a16:colId xmlns:a16="http://schemas.microsoft.com/office/drawing/2014/main" val="20002"/>
                    </a:ext>
                  </a:extLst>
                </a:gridCol>
                <a:gridCol w="1841500">
                  <a:extLst>
                    <a:ext uri="{9D8B030D-6E8A-4147-A177-3AD203B41FA5}">
                      <a16:colId xmlns:a16="http://schemas.microsoft.com/office/drawing/2014/main" val="20005"/>
                    </a:ext>
                  </a:extLst>
                </a:gridCol>
                <a:gridCol w="1714500">
                  <a:extLst>
                    <a:ext uri="{9D8B030D-6E8A-4147-A177-3AD203B41FA5}">
                      <a16:colId xmlns:a16="http://schemas.microsoft.com/office/drawing/2014/main" val="20003"/>
                    </a:ext>
                  </a:extLst>
                </a:gridCol>
                <a:gridCol w="2616200">
                  <a:extLst>
                    <a:ext uri="{9D8B030D-6E8A-4147-A177-3AD203B41FA5}">
                      <a16:colId xmlns:a16="http://schemas.microsoft.com/office/drawing/2014/main" val="20004"/>
                    </a:ext>
                  </a:extLst>
                </a:gridCol>
              </a:tblGrid>
              <a:tr h="260350">
                <a:tc>
                  <a:txBody>
                    <a:bodyPr/>
                    <a:lstStyle/>
                    <a:p>
                      <a:pPr marL="0" indent="0">
                        <a:lnSpc>
                          <a:spcPts val="1700"/>
                        </a:lnSpc>
                        <a:buNone/>
                      </a:pPr>
                      <a:r>
                        <a:rPr lang="it-IT" sz="1400" noProof="0" dirty="0">
                          <a:solidFill>
                            <a:srgbClr val="5B5F66"/>
                          </a:solidFill>
                          <a:latin typeface="IBM Plex Sans" pitchFamily="34" charset="0"/>
                          <a:ea typeface="IBM Plex Sans" pitchFamily="34" charset="-122"/>
                          <a:cs typeface="IBM Plex Sans" pitchFamily="34" charset="-120"/>
                        </a:rPr>
                        <a:t>dispositivo</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700"/>
                        </a:lnSpc>
                        <a:buNone/>
                      </a:pPr>
                      <a:r>
                        <a:rPr lang="it-IT" sz="1400" noProof="0" dirty="0">
                          <a:solidFill>
                            <a:srgbClr val="5B5F66"/>
                          </a:solidFill>
                          <a:latin typeface="IBM Plex Sans" pitchFamily="34" charset="0"/>
                          <a:ea typeface="IBM Plex Sans" pitchFamily="34" charset="-122"/>
                          <a:cs typeface="IBM Plex Sans" pitchFamily="34" charset="-120"/>
                        </a:rPr>
                        <a:t>interfaccia</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700"/>
                        </a:lnSpc>
                        <a:buNone/>
                      </a:pPr>
                      <a:r>
                        <a:rPr lang="it-IT" sz="1400" noProof="0" dirty="0">
                          <a:solidFill>
                            <a:srgbClr val="5B5F66"/>
                          </a:solidFill>
                          <a:latin typeface="IBM Plex Sans" pitchFamily="34" charset="0"/>
                          <a:ea typeface="IBM Plex Sans" pitchFamily="34" charset="-122"/>
                          <a:cs typeface="IBM Plex Sans" pitchFamily="34" charset="-120"/>
                        </a:rPr>
                        <a:t>dominio</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700"/>
                        </a:lnSpc>
                        <a:buNone/>
                      </a:pPr>
                      <a:r>
                        <a:rPr lang="it-IT" sz="1400" noProof="0" dirty="0">
                          <a:solidFill>
                            <a:srgbClr val="5B5F66"/>
                          </a:solidFill>
                          <a:latin typeface="IBM Plex Sans" pitchFamily="34" charset="0"/>
                          <a:ea typeface="IBM Plex Sans" pitchFamily="34" charset="-122"/>
                          <a:cs typeface="IBM Plex Sans" pitchFamily="34" charset="-120"/>
                        </a:rPr>
                        <a:t>ruolo</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700"/>
                        </a:lnSpc>
                        <a:buNone/>
                      </a:pPr>
                      <a:r>
                        <a:rPr lang="it-IT" sz="1400" noProof="0" dirty="0">
                          <a:solidFill>
                            <a:srgbClr val="5B5F66"/>
                          </a:solidFill>
                          <a:latin typeface="IBM Plex Sans" pitchFamily="34" charset="0"/>
                          <a:ea typeface="IBM Plex Sans" pitchFamily="34" charset="-122"/>
                          <a:cs typeface="IBM Plex Sans" pitchFamily="34" charset="-120"/>
                        </a:rPr>
                        <a:t>VLAN</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700"/>
                        </a:lnSpc>
                        <a:buNone/>
                      </a:pPr>
                      <a:r>
                        <a:rPr lang="it-IT" sz="1400" noProof="0" dirty="0">
                          <a:solidFill>
                            <a:srgbClr val="5B5F66"/>
                          </a:solidFill>
                          <a:latin typeface="IBM Plex Sans" pitchFamily="34" charset="0"/>
                          <a:ea typeface="IBM Plex Sans" pitchFamily="34" charset="-122"/>
                          <a:cs typeface="IBM Plex Sans" pitchFamily="34" charset="-120"/>
                        </a:rPr>
                        <a:t>indirizzo</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pc1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lan1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host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B4502E"/>
                          </a:solidFill>
                          <a:latin typeface="IBM Plex Sans" pitchFamily="34" charset="0"/>
                          <a:ea typeface="IBM Plex Sans" pitchFamily="34" charset="-122"/>
                          <a:cs typeface="IBM Plex Sans" pitchFamily="34" charset="-120"/>
                        </a:rPr>
                        <a:t>101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10.101.0.1/24</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pc4</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lan4</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host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2B6CA3"/>
                          </a:solidFill>
                          <a:latin typeface="IBM Plex Sans" pitchFamily="34" charset="0"/>
                          <a:ea typeface="IBM Plex Sans" pitchFamily="34" charset="-122"/>
                          <a:cs typeface="IBM Plex Sans" pitchFamily="34" charset="-120"/>
                        </a:rPr>
                        <a:t>100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10.100.0.4/24</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pc2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lan2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host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2B6CA3"/>
                          </a:solidFill>
                          <a:latin typeface="IBM Plex Sans" pitchFamily="34" charset="0"/>
                          <a:ea typeface="IBM Plex Sans" pitchFamily="34" charset="-122"/>
                          <a:cs typeface="IBM Plex Sans" pitchFamily="34" charset="-120"/>
                        </a:rPr>
                        <a:t>100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10.100.0.2/24</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pc3</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lan3</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host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B4502E"/>
                          </a:solidFill>
                          <a:latin typeface="IBM Plex Sans" pitchFamily="34" charset="0"/>
                          <a:ea typeface="IBM Plex Sans" pitchFamily="34" charset="-122"/>
                          <a:cs typeface="IBM Plex Sans" pitchFamily="34" charset="-120"/>
                        </a:rPr>
                        <a:t>101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10.101.0.3/24</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s1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lan1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accesso</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B4502E"/>
                          </a:solidFill>
                          <a:latin typeface="IBM Plex Sans" pitchFamily="34" charset="0"/>
                          <a:ea typeface="IBM Plex Sans" pitchFamily="34" charset="-122"/>
                          <a:cs typeface="IBM Plex Sans" pitchFamily="34" charset="-120"/>
                        </a:rPr>
                        <a:t>101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s1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n12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trunk</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100, 101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s1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lan4</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accesso</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2B6CA3"/>
                          </a:solidFill>
                          <a:latin typeface="IBM Plex Sans" pitchFamily="34" charset="0"/>
                          <a:ea typeface="IBM Plex Sans" pitchFamily="34" charset="-122"/>
                          <a:cs typeface="IBM Plex Sans" pitchFamily="34" charset="-120"/>
                        </a:rPr>
                        <a:t>100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s2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n12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trunk</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100, 101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8"/>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s2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lan2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accesso</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2B6CA3"/>
                          </a:solidFill>
                          <a:latin typeface="IBM Plex Sans" pitchFamily="34" charset="0"/>
                          <a:ea typeface="IBM Plex Sans" pitchFamily="34" charset="-122"/>
                          <a:cs typeface="IBM Plex Sans" pitchFamily="34" charset="-120"/>
                        </a:rPr>
                        <a:t>100</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9"/>
                  </a:ext>
                </a:extLst>
              </a:tr>
              <a:tr h="260350">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s2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eth2</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lan3</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err="1">
                          <a:solidFill>
                            <a:srgbClr val="1B1D20"/>
                          </a:solidFill>
                          <a:latin typeface="IBM Plex Sans" pitchFamily="34" charset="0"/>
                          <a:ea typeface="IBM Plex Sans" pitchFamily="34" charset="-122"/>
                          <a:cs typeface="IBM Plex Sans" pitchFamily="34" charset="-120"/>
                        </a:rPr>
                        <a:t>accesso</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B4502E"/>
                          </a:solidFill>
                          <a:latin typeface="IBM Plex Sans" pitchFamily="34" charset="0"/>
                          <a:ea typeface="IBM Plex Sans" pitchFamily="34" charset="-122"/>
                          <a:cs typeface="IBM Plex Sans" pitchFamily="34" charset="-120"/>
                        </a:rPr>
                        <a:t>101</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700"/>
                        </a:lnSpc>
                        <a:buNone/>
                      </a:pPr>
                      <a:r>
                        <a:rPr lang="it-IT" sz="1400" noProof="0" dirty="0">
                          <a:solidFill>
                            <a:srgbClr val="1B1D20"/>
                          </a:solidFill>
                          <a:latin typeface="IBM Plex Sans" pitchFamily="34" charset="0"/>
                          <a:ea typeface="IBM Plex Sans" pitchFamily="34" charset="-122"/>
                          <a:cs typeface="IBM Plex Sans" pitchFamily="34" charset="-120"/>
                        </a:rPr>
                        <a:t>—</a:t>
                      </a:r>
                      <a:endParaRPr lang="it-IT" sz="1400" noProof="0" dirty="0">
                        <a:latin typeface="IBM Plex Sans" charset="0"/>
                        <a:ea typeface="IBM Plex Sans" charset="0"/>
                        <a:cs typeface="IBM Plex Sans" charset="0"/>
                      </a:endParaRPr>
                    </a:p>
                  </a:txBody>
                  <a:tcPr marL="71120" marR="71120" marT="19050" marB="1905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Text 3"/>
          <p:cNvSpPr/>
          <p:nvPr/>
        </p:nvSpPr>
        <p:spPr>
          <a:xfrm>
            <a:off x="812800" y="4922515"/>
            <a:ext cx="5124482"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4A7F1C"/>
                </a:solidFill>
                <a:latin typeface="IBM Plex Sans" pitchFamily="34" charset="0"/>
                <a:ea typeface="IBM Plex Sans" pitchFamily="34" charset="-122"/>
                <a:cs typeface="IBM Plex Sans" pitchFamily="34" charset="-120"/>
              </a:rPr>
              <a:t>s1 e s2: un bridge per VLAN</a:t>
            </a:r>
            <a:endParaRPr lang="it-IT" sz="1800" noProof="0" dirty="0"/>
          </a:p>
        </p:txBody>
      </p:sp>
      <p:sp>
        <p:nvSpPr>
          <p:cNvPr id="7" name="Text 4"/>
          <p:cNvSpPr/>
          <p:nvPr/>
        </p:nvSpPr>
        <p:spPr>
          <a:xfrm>
            <a:off x="812800" y="5273030"/>
            <a:ext cx="5124482" cy="594360"/>
          </a:xfrm>
          <a:prstGeom prst="rect">
            <a:avLst/>
          </a:prstGeom>
          <a:noFill/>
          <a:ln/>
        </p:spPr>
        <p:txBody>
          <a:bodyPr wrap="square" lIns="0" tIns="0" rIns="0" bIns="0" rtlCol="0" anchor="t">
            <a:normAutofit fontScale="92500"/>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Porta di accesso + trunk: su s1 br101 unisce eth0 (pc1) ed eth1.101, br100 unisce eth2 (pc4) ed eth1.100. Nessun IP.</a:t>
            </a:r>
            <a:endParaRPr lang="it-IT" sz="1600" noProof="0" dirty="0"/>
          </a:p>
        </p:txBody>
      </p:sp>
      <p:sp>
        <p:nvSpPr>
          <p:cNvPr id="8" name="Shape 5"/>
          <p:cNvSpPr/>
          <p:nvPr/>
        </p:nvSpPr>
        <p:spPr>
          <a:xfrm>
            <a:off x="6096000" y="4922515"/>
            <a:ext cx="0" cy="919480"/>
          </a:xfrm>
          <a:prstGeom prst="line">
            <a:avLst/>
          </a:prstGeom>
          <a:noFill/>
          <a:ln w="6350">
            <a:solidFill>
              <a:srgbClr val="CFCCC4"/>
            </a:solidFill>
            <a:prstDash val="solid"/>
          </a:ln>
        </p:spPr>
        <p:txBody>
          <a:bodyPr/>
          <a:lstStyle/>
          <a:p>
            <a:endParaRPr lang="it-IT" noProof="0" dirty="0"/>
          </a:p>
        </p:txBody>
      </p:sp>
      <p:sp>
        <p:nvSpPr>
          <p:cNvPr id="9" name="Text 6"/>
          <p:cNvSpPr/>
          <p:nvPr/>
        </p:nvSpPr>
        <p:spPr>
          <a:xfrm>
            <a:off x="6403975" y="4922515"/>
            <a:ext cx="5124482"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4A7F1C"/>
                </a:solidFill>
                <a:latin typeface="IBM Plex Sans" pitchFamily="34" charset="0"/>
                <a:ea typeface="IBM Plex Sans" pitchFamily="34" charset="-122"/>
                <a:cs typeface="IBM Plex Sans" pitchFamily="34" charset="-120"/>
              </a:rPr>
              <a:t>Dov’è il </a:t>
            </a:r>
            <a:r>
              <a:rPr lang="it-IT" sz="1800" b="1" noProof="0" dirty="0" err="1">
                <a:solidFill>
                  <a:srgbClr val="4A7F1C"/>
                </a:solidFill>
                <a:latin typeface="IBM Plex Sans" pitchFamily="34" charset="0"/>
                <a:ea typeface="IBM Plex Sans" pitchFamily="34" charset="-122"/>
                <a:cs typeface="IBM Plex Sans" pitchFamily="34" charset="-120"/>
              </a:rPr>
              <a:t>trunk</a:t>
            </a:r>
            <a:endParaRPr lang="it-IT" sz="1800" noProof="0" dirty="0"/>
          </a:p>
        </p:txBody>
      </p:sp>
      <p:sp>
        <p:nvSpPr>
          <p:cNvPr id="10" name="Text 7"/>
          <p:cNvSpPr/>
          <p:nvPr/>
        </p:nvSpPr>
        <p:spPr>
          <a:xfrm>
            <a:off x="6403975" y="5273030"/>
            <a:ext cx="5124482"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Su s1 è eth1, su s2 è eth0. Gli host non sanno delle VLAN: un indirizzo su eth0, senza gateway.</a:t>
            </a:r>
            <a:endParaRPr lang="it-IT" sz="1600" noProof="0" dirty="0"/>
          </a:p>
        </p:txBody>
      </p:sp>
    </p:spTree>
    <p:extLst>
      <p:ext uri="{BB962C8B-B14F-4D97-AF65-F5344CB8AC3E}">
        <p14:creationId xmlns:p14="http://schemas.microsoft.com/office/powerpoint/2010/main" val="13149340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1">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VLAN e bridge: la sintassi</a:t>
            </a:r>
            <a:endParaRPr lang="it-IT" sz="4000" noProof="0" dirty="0"/>
          </a:p>
        </p:txBody>
      </p:sp>
      <p:sp>
        <p:nvSpPr>
          <p:cNvPr id="5" name="Text 3"/>
          <p:cNvSpPr/>
          <p:nvPr/>
        </p:nvSpPr>
        <p:spPr>
          <a:xfrm>
            <a:off x="812800" y="1889770"/>
            <a:ext cx="5101590"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err="1">
                <a:solidFill>
                  <a:srgbClr val="4A7F1C"/>
                </a:solidFill>
                <a:latin typeface="IBM Plex Sans" pitchFamily="34" charset="0"/>
                <a:ea typeface="IBM Plex Sans" pitchFamily="34" charset="-122"/>
                <a:cs typeface="IBM Plex Sans" pitchFamily="34" charset="-120"/>
              </a:rPr>
              <a:t>Sull’host</a:t>
            </a:r>
            <a:r>
              <a:rPr lang="it-IT" sz="1800" b="1" noProof="0" dirty="0">
                <a:solidFill>
                  <a:srgbClr val="4A7F1C"/>
                </a:solidFill>
                <a:latin typeface="IBM Plex Sans" pitchFamily="34" charset="0"/>
                <a:ea typeface="IBM Plex Sans" pitchFamily="34" charset="-122"/>
                <a:cs typeface="IBM Plex Sans" pitchFamily="34" charset="-120"/>
              </a:rPr>
              <a:t>: nessuna VLAN</a:t>
            </a:r>
            <a:endParaRPr lang="it-IT" sz="1800" noProof="0" dirty="0"/>
          </a:p>
        </p:txBody>
      </p:sp>
      <p:sp>
        <p:nvSpPr>
          <p:cNvPr id="6" name="Text 4"/>
          <p:cNvSpPr/>
          <p:nvPr/>
        </p:nvSpPr>
        <p:spPr>
          <a:xfrm>
            <a:off x="812800" y="2291085"/>
            <a:ext cx="4953000" cy="825500"/>
          </a:xfrm>
          <a:prstGeom prst="rect">
            <a:avLst/>
          </a:prstGeom>
          <a:solidFill>
            <a:srgbClr val="17191C"/>
          </a:solidFill>
          <a:ln/>
        </p:spPr>
        <p:txBody>
          <a:bodyPr wrap="square" lIns="152400" tIns="152400" rIns="12954" bIns="127000" rtlCol="0" anchor="t">
            <a:normAutofit/>
          </a:bodyPr>
          <a:lstStyle/>
          <a:p>
            <a:pPr marL="0" indent="0" algn="l">
              <a:lnSpc>
                <a:spcPts val="2030"/>
              </a:lnSpc>
              <a:buNone/>
            </a:pPr>
            <a:r>
              <a:rPr lang="it-IT" sz="1600" noProof="0" dirty="0">
                <a:solidFill>
                  <a:srgbClr val="8A8F96"/>
                </a:solidFill>
                <a:latin typeface="JetBrains Mono" pitchFamily="49" charset="0"/>
                <a:ea typeface="JetBrains Mono" pitchFamily="49" charset="-122"/>
                <a:cs typeface="JetBrains Mono" pitchFamily="49" charset="-120"/>
              </a:rPr>
              <a:t># pc1.startup, VLAN 101</a:t>
            </a:r>
            <a:endParaRPr lang="it-IT" sz="1600" noProof="0" dirty="0"/>
          </a:p>
          <a:p>
            <a:pPr marL="0" indent="0" algn="l">
              <a:lnSpc>
                <a:spcPts val="2030"/>
              </a:lnSpc>
              <a:buNone/>
            </a:pP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address</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add</a:t>
            </a:r>
            <a:r>
              <a:rPr lang="it-IT" sz="1600" noProof="0" dirty="0">
                <a:solidFill>
                  <a:srgbClr val="F2F1EC"/>
                </a:solidFill>
                <a:latin typeface="JetBrains Mono" pitchFamily="49" charset="0"/>
                <a:ea typeface="JetBrains Mono" pitchFamily="49" charset="-122"/>
                <a:cs typeface="JetBrains Mono" pitchFamily="49" charset="-120"/>
              </a:rPr>
              <a:t> 10.101.0.1/24 </a:t>
            </a:r>
            <a:r>
              <a:rPr lang="it-IT" sz="1600" noProof="0" dirty="0" err="1">
                <a:solidFill>
                  <a:srgbClr val="F2F1EC"/>
                </a:solidFill>
                <a:latin typeface="JetBrains Mono" pitchFamily="49" charset="0"/>
                <a:ea typeface="JetBrains Mono" pitchFamily="49" charset="-122"/>
                <a:cs typeface="JetBrains Mono" pitchFamily="49" charset="-120"/>
              </a:rPr>
              <a:t>dev</a:t>
            </a:r>
            <a:r>
              <a:rPr lang="it-IT" sz="1600" noProof="0" dirty="0">
                <a:solidFill>
                  <a:srgbClr val="F2F1EC"/>
                </a:solidFill>
                <a:latin typeface="JetBrains Mono" pitchFamily="49" charset="0"/>
                <a:ea typeface="JetBrains Mono" pitchFamily="49" charset="-122"/>
                <a:cs typeface="JetBrains Mono" pitchFamily="49" charset="-120"/>
              </a:rPr>
              <a:t> eth0</a:t>
            </a:r>
            <a:endParaRPr lang="it-IT" sz="1600" noProof="0" dirty="0"/>
          </a:p>
        </p:txBody>
      </p:sp>
      <p:sp>
        <p:nvSpPr>
          <p:cNvPr id="7" name="Shape 5"/>
          <p:cNvSpPr/>
          <p:nvPr/>
        </p:nvSpPr>
        <p:spPr>
          <a:xfrm>
            <a:off x="831850" y="3243585"/>
            <a:ext cx="0" cy="619760"/>
          </a:xfrm>
          <a:prstGeom prst="line">
            <a:avLst/>
          </a:prstGeom>
          <a:noFill/>
          <a:ln w="38100">
            <a:solidFill>
              <a:srgbClr val="A8DC6E"/>
            </a:solidFill>
            <a:prstDash val="solid"/>
          </a:ln>
        </p:spPr>
        <p:txBody>
          <a:bodyPr/>
          <a:lstStyle/>
          <a:p>
            <a:endParaRPr lang="it-IT" noProof="0" dirty="0"/>
          </a:p>
        </p:txBody>
      </p:sp>
      <p:sp>
        <p:nvSpPr>
          <p:cNvPr id="8" name="Text 6"/>
          <p:cNvSpPr/>
          <p:nvPr/>
        </p:nvSpPr>
        <p:spPr>
          <a:xfrm>
            <a:off x="1028700" y="3263900"/>
            <a:ext cx="4879213"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L’host </a:t>
            </a:r>
            <a:r>
              <a:rPr lang="it-IT" sz="1600" b="1" noProof="0" dirty="0">
                <a:solidFill>
                  <a:srgbClr val="1B1D20"/>
                </a:solidFill>
                <a:latin typeface="IBM Plex Sans" pitchFamily="34" charset="0"/>
                <a:ea typeface="IBM Plex Sans" pitchFamily="34" charset="-122"/>
                <a:cs typeface="IBM Plex Sans" pitchFamily="34" charset="-120"/>
              </a:rPr>
              <a:t>non sa di essere in una VLAN</a:t>
            </a:r>
            <a:r>
              <a:rPr lang="it-IT" sz="1600" noProof="0" dirty="0">
                <a:solidFill>
                  <a:srgbClr val="1B1D20"/>
                </a:solidFill>
                <a:latin typeface="IBM Plex Sans" pitchFamily="34" charset="0"/>
                <a:ea typeface="IBM Plex Sans" pitchFamily="34" charset="-122"/>
                <a:cs typeface="IBM Plex Sans" pitchFamily="34" charset="-120"/>
              </a:rPr>
              <a:t>: niente sottointerfacce né gateway. Il tag lo mette lo switch.</a:t>
            </a:r>
            <a:endParaRPr lang="it-IT" sz="1600" noProof="0" dirty="0"/>
          </a:p>
        </p:txBody>
      </p:sp>
      <p:sp>
        <p:nvSpPr>
          <p:cNvPr id="9" name="Text 7"/>
          <p:cNvSpPr/>
          <p:nvPr/>
        </p:nvSpPr>
        <p:spPr>
          <a:xfrm>
            <a:off x="6070600" y="1889770"/>
            <a:ext cx="5467858"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4A7F1C"/>
                </a:solidFill>
                <a:latin typeface="IBM Plex Sans" pitchFamily="34" charset="0"/>
                <a:ea typeface="IBM Plex Sans" pitchFamily="34" charset="-122"/>
                <a:cs typeface="IBM Plex Sans" pitchFamily="34" charset="-120"/>
              </a:rPr>
              <a:t>Sullo switch: porta di accesso nel bridge</a:t>
            </a:r>
            <a:endParaRPr lang="it-IT" sz="1800" noProof="0" dirty="0"/>
          </a:p>
        </p:txBody>
      </p:sp>
      <p:sp>
        <p:nvSpPr>
          <p:cNvPr id="10" name="Text 8"/>
          <p:cNvSpPr/>
          <p:nvPr/>
        </p:nvSpPr>
        <p:spPr>
          <a:xfrm>
            <a:off x="6070600" y="2291085"/>
            <a:ext cx="5308600" cy="2603500"/>
          </a:xfrm>
          <a:prstGeom prst="rect">
            <a:avLst/>
          </a:prstGeom>
          <a:solidFill>
            <a:srgbClr val="17191C"/>
          </a:solidFill>
          <a:ln/>
        </p:spPr>
        <p:txBody>
          <a:bodyPr wrap="square" lIns="152400" tIns="152400" rIns="2286" bIns="127000" rtlCol="0" anchor="t">
            <a:no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 s1.startup, VLAN 101 (accesso eth0, trunk eth1)</a:t>
            </a:r>
            <a:endParaRPr lang="it-IT" sz="1600" noProof="0" dirty="0"/>
          </a:p>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 link add link eth1 name eth1.101 \</a:t>
            </a:r>
            <a:endParaRPr lang="it-IT" sz="1600" noProof="0" dirty="0"/>
          </a:p>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  type vlan id 101</a:t>
            </a:r>
            <a:endParaRPr lang="it-IT" sz="1600" noProof="0" dirty="0"/>
          </a:p>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 link add br101 type bridge</a:t>
            </a:r>
            <a:endParaRPr lang="it-IT" sz="1600" noProof="0" dirty="0"/>
          </a:p>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 link set eth0 master br101</a:t>
            </a:r>
            <a:endParaRPr lang="it-IT" sz="1600" noProof="0" dirty="0"/>
          </a:p>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 link set eth1.101 master br101</a:t>
            </a:r>
            <a:endParaRPr lang="it-IT" sz="1600" noProof="0" dirty="0"/>
          </a:p>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 link set eth1.101 up</a:t>
            </a:r>
            <a:endParaRPr lang="it-IT" sz="1600" noProof="0" dirty="0"/>
          </a:p>
          <a:p>
            <a:pPr marL="0" indent="0" algn="l">
              <a:lnSpc>
                <a:spcPts val="2000"/>
              </a:lnSpc>
              <a:buNone/>
            </a:pPr>
            <a:r>
              <a:rPr lang="it-IT" sz="1600" noProof="0" dirty="0" err="1">
                <a:solidFill>
                  <a:srgbClr val="F2F1EC"/>
                </a:solidFill>
                <a:latin typeface="JetBrains Mono" pitchFamily="49" charset="0"/>
                <a:ea typeface="JetBrains Mono" pitchFamily="49" charset="-122"/>
                <a:cs typeface="JetBrains Mono" pitchFamily="49" charset="-120"/>
              </a:rPr>
              <a:t>ip link set br101 up</a:t>
            </a:r>
            <a:endParaRPr lang="it-IT" sz="1600" noProof="0" dirty="0"/>
          </a:p>
        </p:txBody>
      </p:sp>
    </p:spTree>
    <p:extLst>
      <p:ext uri="{BB962C8B-B14F-4D97-AF65-F5344CB8AC3E}">
        <p14:creationId xmlns:p14="http://schemas.microsoft.com/office/powerpoint/2010/main" val="33542744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2">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A8DC6E"/>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Verifichiamo le VLAN</a:t>
            </a:r>
            <a:endParaRPr lang="it-IT" sz="4000" noProof="0" dirty="0"/>
          </a:p>
        </p:txBody>
      </p:sp>
      <p:pic>
        <p:nvPicPr>
          <p:cNvPr id="5" name="Image 0" descr="tcpdump su pc4 mentre pc1 fa ping a pc3: su eth0 compaiono i frame taggati vlan 101 tra 10.101.0.1 e 10.101.0.3; su eth0.100 nessun pacchetto"/>
          <p:cNvPicPr>
            <a:picLocks noChangeAspect="1"/>
          </p:cNvPicPr>
          <p:nvPr/>
        </p:nvPicPr>
        <p:blipFill>
          <a:blip r:embed="rId3"/>
          <a:srcRect t="-79" b="-79"/>
          <a:stretch/>
        </p:blipFill>
        <p:spPr>
          <a:xfrm>
            <a:off x="812800" y="1838970"/>
            <a:ext cx="5869303" cy="2362200"/>
          </a:xfrm>
          <a:prstGeom prst="rect">
            <a:avLst/>
          </a:prstGeom>
        </p:spPr>
      </p:pic>
      <p:sp>
        <p:nvSpPr>
          <p:cNvPr id="6" name="Text 3"/>
          <p:cNvSpPr/>
          <p:nvPr/>
        </p:nvSpPr>
        <p:spPr>
          <a:xfrm>
            <a:off x="812800" y="4353570"/>
            <a:ext cx="6731000" cy="1137920"/>
          </a:xfrm>
          <a:prstGeom prst="rect">
            <a:avLst/>
          </a:prstGeom>
          <a:solidFill>
            <a:srgbClr val="17191C"/>
          </a:solidFill>
          <a:ln/>
        </p:spPr>
        <p:txBody>
          <a:bodyPr wrap="square" lIns="152400" tIns="127000" rIns="0" bIns="101600" rtlCol="0" anchor="t">
            <a:normAutofit fontScale="70000" lnSpcReduction="20000"/>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 dalla radice del repository, lab fermo</a:t>
            </a:r>
            <a:endParaRPr lang="it-IT" sz="1600" noProof="0" dirty="0"/>
          </a:p>
          <a:p>
            <a:pPr marL="0" indent="0" algn="l">
              <a:lnSpc>
                <a:spcPts val="200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python -m kathara_lab_checker --config lab1-statico/extra-vlan/checker/correction.yaml --lab labs/lab1/vlan --no-cache --report-type csv</a:t>
            </a:r>
            <a:endParaRPr lang="it-IT" sz="1600" noProof="0" dirty="0"/>
          </a:p>
        </p:txBody>
      </p:sp>
      <p:sp>
        <p:nvSpPr>
          <p:cNvPr id="7" name="Text 4"/>
          <p:cNvSpPr/>
          <p:nvPr/>
        </p:nvSpPr>
        <p:spPr>
          <a:xfrm>
            <a:off x="7848600" y="1838970"/>
            <a:ext cx="3636518"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4A7F1C"/>
                </a:solidFill>
                <a:latin typeface="IBM Plex Sans" pitchFamily="34" charset="0"/>
                <a:ea typeface="IBM Plex Sans" pitchFamily="34" charset="-122"/>
                <a:cs typeface="IBM Plex Sans" pitchFamily="34" charset="-120"/>
              </a:rPr>
              <a:t>Dentro la VLAN</a:t>
            </a:r>
            <a:endParaRPr lang="it-IT" sz="1800" noProof="0" dirty="0"/>
          </a:p>
        </p:txBody>
      </p:sp>
      <p:sp>
        <p:nvSpPr>
          <p:cNvPr id="8" name="Text 5"/>
          <p:cNvSpPr/>
          <p:nvPr/>
        </p:nvSpPr>
        <p:spPr>
          <a:xfrm>
            <a:off x="7848600" y="2148830"/>
            <a:ext cx="3636518"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pc1 → 10.101.0.3, pc4 → 10.100.0.2. La soluzione passa 42 test su 42.</a:t>
            </a:r>
            <a:endParaRPr lang="it-IT" sz="1600" noProof="0" dirty="0"/>
          </a:p>
        </p:txBody>
      </p:sp>
      <p:sp>
        <p:nvSpPr>
          <p:cNvPr id="9" name="Shape 6"/>
          <p:cNvSpPr/>
          <p:nvPr/>
        </p:nvSpPr>
        <p:spPr>
          <a:xfrm>
            <a:off x="7867650" y="2885430"/>
            <a:ext cx="0" cy="843280"/>
          </a:xfrm>
          <a:prstGeom prst="line">
            <a:avLst/>
          </a:prstGeom>
          <a:noFill/>
          <a:ln w="38100">
            <a:solidFill>
              <a:srgbClr val="A8DC6E"/>
            </a:solidFill>
            <a:prstDash val="solid"/>
          </a:ln>
        </p:spPr>
        <p:txBody>
          <a:bodyPr/>
          <a:lstStyle/>
          <a:p>
            <a:endParaRPr lang="it-IT" noProof="0" dirty="0"/>
          </a:p>
        </p:txBody>
      </p:sp>
      <p:sp>
        <p:nvSpPr>
          <p:cNvPr id="10" name="Text 7"/>
          <p:cNvSpPr/>
          <p:nvPr/>
        </p:nvSpPr>
        <p:spPr>
          <a:xfrm>
            <a:off x="8039100" y="2885430"/>
            <a:ext cx="3440303"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4A7F1C"/>
                </a:solidFill>
                <a:latin typeface="IBM Plex Sans" pitchFamily="34" charset="0"/>
                <a:ea typeface="IBM Plex Sans" pitchFamily="34" charset="-122"/>
                <a:cs typeface="IBM Plex Sans" pitchFamily="34" charset="-120"/>
              </a:rPr>
              <a:t>Il tag sul trunk</a:t>
            </a:r>
            <a:endParaRPr lang="it-IT" sz="1800" noProof="0" dirty="0"/>
          </a:p>
        </p:txBody>
      </p:sp>
      <p:sp>
        <p:nvSpPr>
          <p:cNvPr id="11" name="Text 8"/>
          <p:cNvSpPr/>
          <p:nvPr/>
        </p:nvSpPr>
        <p:spPr>
          <a:xfrm>
            <a:off x="8039100" y="3195315"/>
            <a:ext cx="3440303"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Su s1, eth0 vede i frame senza tag; eth1 gli stessi con </a:t>
            </a:r>
            <a:r>
              <a:rPr lang="it-IT" sz="1600" noProof="0" dirty="0" err="1">
                <a:solidFill>
                  <a:srgbClr val="1B1D20"/>
                </a:solidFill>
                <a:latin typeface="IBM Plex Sans" pitchFamily="34" charset="0"/>
                <a:ea typeface="IBM Plex Sans" pitchFamily="34" charset="-122"/>
                <a:cs typeface="IBM Plex Sans" pitchFamily="34" charset="-120"/>
              </a:rPr>
              <a:t>vlan</a:t>
            </a:r>
            <a:r>
              <a:rPr lang="it-IT" sz="1600" noProof="0" dirty="0">
                <a:solidFill>
                  <a:srgbClr val="1B1D20"/>
                </a:solidFill>
                <a:latin typeface="IBM Plex Sans" pitchFamily="34" charset="0"/>
                <a:ea typeface="IBM Plex Sans" pitchFamily="34" charset="-122"/>
                <a:cs typeface="IBM Plex Sans" pitchFamily="34" charset="-120"/>
              </a:rPr>
              <a:t> 101.</a:t>
            </a:r>
            <a:endParaRPr lang="it-IT" sz="1600" noProof="0" dirty="0"/>
          </a:p>
        </p:txBody>
      </p:sp>
      <p:sp>
        <p:nvSpPr>
          <p:cNvPr id="12" name="Shape 9"/>
          <p:cNvSpPr/>
          <p:nvPr/>
        </p:nvSpPr>
        <p:spPr>
          <a:xfrm>
            <a:off x="7848600" y="3935090"/>
            <a:ext cx="3530600" cy="0"/>
          </a:xfrm>
          <a:prstGeom prst="line">
            <a:avLst/>
          </a:prstGeom>
          <a:noFill/>
          <a:ln w="6350">
            <a:solidFill>
              <a:srgbClr val="CFCCC4"/>
            </a:solidFill>
            <a:prstDash val="solid"/>
          </a:ln>
        </p:spPr>
        <p:txBody>
          <a:bodyPr/>
          <a:lstStyle/>
          <a:p>
            <a:endParaRPr lang="it-IT" noProof="0" dirty="0"/>
          </a:p>
        </p:txBody>
      </p:sp>
      <p:sp>
        <p:nvSpPr>
          <p:cNvPr id="13" name="Text 10"/>
          <p:cNvSpPr/>
          <p:nvPr/>
        </p:nvSpPr>
        <p:spPr>
          <a:xfrm>
            <a:off x="7848600" y="4090665"/>
            <a:ext cx="3636518"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4A7F1C"/>
                </a:solidFill>
                <a:latin typeface="IBM Plex Sans" pitchFamily="34" charset="0"/>
                <a:ea typeface="IBM Plex Sans" pitchFamily="34" charset="-122"/>
                <a:cs typeface="IBM Plex Sans" pitchFamily="34" charset="-120"/>
              </a:rPr>
              <a:t>Errori tipici</a:t>
            </a:r>
            <a:endParaRPr lang="it-IT" sz="1800" noProof="0" dirty="0"/>
          </a:p>
        </p:txBody>
      </p:sp>
      <p:sp>
        <p:nvSpPr>
          <p:cNvPr id="14" name="Text 11"/>
          <p:cNvSpPr/>
          <p:nvPr/>
        </p:nvSpPr>
        <p:spPr>
          <a:xfrm>
            <a:off x="7848600" y="4400550"/>
            <a:ext cx="3636518" cy="558800"/>
          </a:xfrm>
          <a:prstGeom prst="rect">
            <a:avLst/>
          </a:prstGeom>
          <a:noFill/>
          <a:ln/>
        </p:spPr>
        <p:txBody>
          <a:bodyPr wrap="square" lIns="0" tIns="0" rIns="0" bIns="0" rtlCol="0" anchor="t">
            <a:normAutofit fontScale="85000" lnSpcReduction="10000"/>
          </a:bodyPr>
          <a:lstStyle/>
          <a:p>
            <a:pPr marL="0" indent="0" algn="l">
              <a:lnSpc>
                <a:spcPts val="2100"/>
              </a:lnSpc>
              <a:buNone/>
            </a:pPr>
            <a:r>
              <a:rPr lang="it-IT" sz="1600" noProof="0" dirty="0" err="1">
                <a:solidFill>
                  <a:srgbClr val="1B1D20"/>
                </a:solidFill>
                <a:latin typeface="IBM Plex Sans" pitchFamily="34" charset="0"/>
                <a:ea typeface="IBM Plex Sans" pitchFamily="34" charset="-122"/>
                <a:cs typeface="IBM Plex Sans" pitchFamily="34" charset="-120"/>
              </a:rPr>
              <a:t>Porta di accesso nel bridge sbagliato</a:t>
            </a:r>
            <a:r>
              <a:rPr lang="it-IT" sz="1600" noProof="0" dirty="0">
                <a:solidFill>
                  <a:srgbClr val="1B1D20"/>
                </a:solidFill>
                <a:latin typeface="IBM Plex Sans" pitchFamily="34" charset="0"/>
                <a:ea typeface="IBM Plex Sans" pitchFamily="34" charset="-122"/>
                <a:cs typeface="IBM Plex Sans" pitchFamily="34" charset="-120"/>
              </a:rPr>
              <a:t>, VLAN id diversi sul trunk, sottointerfaccia spenta.</a:t>
            </a:r>
            <a:endParaRPr lang="it-IT" sz="1600" noProof="0" dirty="0"/>
          </a:p>
        </p:txBody>
      </p:sp>
    </p:spTree>
    <p:extLst>
      <p:ext uri="{BB962C8B-B14F-4D97-AF65-F5344CB8AC3E}">
        <p14:creationId xmlns:p14="http://schemas.microsoft.com/office/powerpoint/2010/main" val="2757925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p:nvPr/>
        </p:nvSpPr>
        <p:spPr>
          <a:xfrm>
            <a:off x="812800" y="1714500"/>
            <a:ext cx="10883900" cy="30480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B4502E"/>
                </a:solidFill>
                <a:latin typeface="JetBrains Mono" pitchFamily="49" charset="0"/>
                <a:ea typeface="JetBrains Mono" pitchFamily="49" charset="-122"/>
                <a:cs typeface="JetBrains Mono" pitchFamily="49" charset="-120"/>
              </a:rPr>
              <a:t>lab 2 /</a:t>
            </a:r>
            <a:endParaRPr lang="it-IT" sz="1600" noProof="0" dirty="0"/>
          </a:p>
        </p:txBody>
      </p:sp>
      <p:sp>
        <p:nvSpPr>
          <p:cNvPr id="5" name="Text 3"/>
          <p:cNvSpPr>
            <a:spLocks noGrp="1"/>
          </p:cNvSpPr>
          <p:nvPr>
            <p:ph type="title"/>
          </p:nvPr>
        </p:nvSpPr>
        <p:spPr>
          <a:xfrm>
            <a:off x="812800" y="2095500"/>
            <a:ext cx="10566400" cy="1778000"/>
          </a:xfrm>
          <a:prstGeom prst="rect">
            <a:avLst/>
          </a:prstGeom>
          <a:noFill/>
          <a:ln/>
        </p:spPr>
        <p:txBody>
          <a:bodyPr wrap="square" lIns="0" tIns="0" rIns="0" bIns="0" rtlCol="0" anchor="t">
            <a:normAutofit/>
          </a:bodyPr>
          <a:lstStyle/>
          <a:p>
            <a:pPr marL="0" indent="0" algn="l">
              <a:lnSpc>
                <a:spcPts val="7000"/>
              </a:lnSpc>
              <a:buNone/>
            </a:pPr>
            <a:r>
              <a:rPr lang="it-IT" sz="6000" b="1" i="0" noProof="0" dirty="0">
                <a:solidFill>
                  <a:srgbClr val="1B1D20"/>
                </a:solidFill>
                <a:latin typeface="IBM Plex Sans" pitchFamily="34" charset="0"/>
                <a:ea typeface="IBM Plex Sans" pitchFamily="34" charset="-122"/>
                <a:cs typeface="IBM Plex Sans" pitchFamily="34" charset="-120"/>
              </a:rPr>
              <a:t>Digital twin di una rete OSPF</a:t>
            </a:r>
            <a:endParaRPr lang="it-IT" sz="6000" noProof="0" dirty="0"/>
          </a:p>
        </p:txBody>
      </p:sp>
      <p:sp>
        <p:nvSpPr>
          <p:cNvPr id="6" name="Text 4"/>
          <p:cNvSpPr/>
          <p:nvPr/>
        </p:nvSpPr>
        <p:spPr>
          <a:xfrm>
            <a:off x="812800" y="4152900"/>
            <a:ext cx="9156700" cy="1155700"/>
          </a:xfrm>
          <a:prstGeom prst="rect">
            <a:avLst/>
          </a:prstGeom>
          <a:noFill/>
          <a:ln/>
        </p:spPr>
        <p:txBody>
          <a:bodyPr wrap="square" lIns="0" tIns="0" rIns="0" bIns="0" rtlCol="0" anchor="t">
            <a:normAutofit lnSpcReduction="10000"/>
          </a:bodyPr>
          <a:lstStyle/>
          <a:p>
            <a:pPr marL="0" indent="0" algn="l">
              <a:lnSpc>
                <a:spcPct val="100000"/>
              </a:lnSpc>
              <a:buNone/>
            </a:pPr>
            <a:r>
              <a:rPr lang="it-IT" sz="2000" dirty="0">
                <a:solidFill>
                  <a:srgbClr val="5B5F66"/>
                </a:solidFill>
                <a:latin typeface="IBM Plex Sans" pitchFamily="34" charset="0"/>
                <a:ea typeface="IBM Plex Sans" pitchFamily="34" charset="-122"/>
                <a:cs typeface="IBM Plex Sans" pitchFamily="34" charset="-120"/>
              </a:rPr>
              <a:t>Siamo dei tecnici di rete che devono effettuare una modifica della rete</a:t>
            </a:r>
            <a:r>
              <a:rPr lang="it-IT" sz="2000" noProof="0" dirty="0">
                <a:solidFill>
                  <a:srgbClr val="5B5F66"/>
                </a:solidFill>
                <a:latin typeface="IBM Plex Sans" pitchFamily="34" charset="0"/>
                <a:ea typeface="IBM Plex Sans" pitchFamily="34" charset="-122"/>
                <a:cs typeface="IBM Plex Sans" pitchFamily="34" charset="-120"/>
              </a:rPr>
              <a:t>. Operiamo su un laboratorio Kathará che replica l’ambiente di produzione fedelmente. </a:t>
            </a:r>
            <a:br>
              <a:rPr lang="it-IT" sz="2000" noProof="0" dirty="0">
                <a:solidFill>
                  <a:srgbClr val="5B5F66"/>
                </a:solidFill>
                <a:latin typeface="IBM Plex Sans" pitchFamily="34" charset="0"/>
                <a:ea typeface="IBM Plex Sans" pitchFamily="34" charset="-122"/>
                <a:cs typeface="IBM Plex Sans" pitchFamily="34" charset="-120"/>
              </a:rPr>
            </a:br>
            <a:endParaRPr lang="it-IT" sz="2000" noProof="0" dirty="0"/>
          </a:p>
        </p:txBody>
      </p:sp>
      <p:sp>
        <p:nvSpPr>
          <p:cNvPr id="7" name="Text 5"/>
          <p:cNvSpPr/>
          <p:nvPr/>
        </p:nvSpPr>
        <p:spPr>
          <a:xfrm>
            <a:off x="812800" y="5588000"/>
            <a:ext cx="10883900" cy="27940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6B7078"/>
                </a:solidFill>
                <a:latin typeface="JetBrains Mono" pitchFamily="49" charset="0"/>
                <a:ea typeface="JetBrains Mono" pitchFamily="49" charset="-122"/>
                <a:cs typeface="JetBrains Mono" pitchFamily="49" charset="-120"/>
              </a:rPr>
              <a:t>lab2-digital-twin/TRACCIA.md</a:t>
            </a:r>
            <a:endParaRPr lang="it-IT" sz="1600" noProof="0" dirty="0"/>
          </a:p>
        </p:txBody>
      </p:sp>
    </p:spTree>
    <p:extLst>
      <p:ext uri="{BB962C8B-B14F-4D97-AF65-F5344CB8AC3E}">
        <p14:creationId xmlns:p14="http://schemas.microsoft.com/office/powerpoint/2010/main" val="19232913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4">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pic>
        <p:nvPicPr>
          <p:cNvPr id="3" name="Image 0" descr="connector"/>
          <p:cNvPicPr>
            <a:picLocks noChangeAspect="1"/>
          </p:cNvPicPr>
          <p:nvPr/>
        </p:nvPicPr>
        <p:blipFill>
          <a:blip r:embed="rId3"/>
          <a:srcRect/>
          <a:stretch/>
        </p:blipFill>
        <p:spPr>
          <a:xfrm>
            <a:off x="2279650" y="2279650"/>
            <a:ext cx="1568450" cy="101600"/>
          </a:xfrm>
          <a:prstGeom prst="rect">
            <a:avLst/>
          </a:prstGeom>
        </p:spPr>
      </p:pic>
      <p:pic>
        <p:nvPicPr>
          <p:cNvPr id="4" name="Image 1" descr="connector"/>
          <p:cNvPicPr>
            <a:picLocks noChangeAspect="1"/>
          </p:cNvPicPr>
          <p:nvPr/>
        </p:nvPicPr>
        <p:blipFill>
          <a:blip r:embed="rId4"/>
          <a:srcRect/>
          <a:stretch/>
        </p:blipFill>
        <p:spPr>
          <a:xfrm>
            <a:off x="5226050" y="2235200"/>
            <a:ext cx="1866900" cy="190500"/>
          </a:xfrm>
          <a:prstGeom prst="rect">
            <a:avLst/>
          </a:prstGeom>
        </p:spPr>
      </p:pic>
      <p:pic>
        <p:nvPicPr>
          <p:cNvPr id="5" name="Image 2" descr="connector"/>
          <p:cNvPicPr>
            <a:picLocks noChangeAspect="1"/>
          </p:cNvPicPr>
          <p:nvPr/>
        </p:nvPicPr>
        <p:blipFill>
          <a:blip r:embed="rId5"/>
          <a:srcRect/>
          <a:stretch/>
        </p:blipFill>
        <p:spPr>
          <a:xfrm>
            <a:off x="7664450" y="2616200"/>
            <a:ext cx="190500" cy="2032000"/>
          </a:xfrm>
          <a:prstGeom prst="rect">
            <a:avLst/>
          </a:prstGeom>
        </p:spPr>
      </p:pic>
      <p:pic>
        <p:nvPicPr>
          <p:cNvPr id="6" name="Image 3" descr="connector"/>
          <p:cNvPicPr>
            <a:picLocks noChangeAspect="1"/>
          </p:cNvPicPr>
          <p:nvPr/>
        </p:nvPicPr>
        <p:blipFill>
          <a:blip r:embed="rId6"/>
          <a:srcRect/>
          <a:stretch/>
        </p:blipFill>
        <p:spPr>
          <a:xfrm>
            <a:off x="5257800" y="4870450"/>
            <a:ext cx="1803400" cy="127000"/>
          </a:xfrm>
          <a:prstGeom prst="rect">
            <a:avLst/>
          </a:prstGeom>
        </p:spPr>
      </p:pic>
      <p:pic>
        <p:nvPicPr>
          <p:cNvPr id="7" name="Image 4" descr="connector"/>
          <p:cNvPicPr>
            <a:picLocks noChangeAspect="1"/>
          </p:cNvPicPr>
          <p:nvPr/>
        </p:nvPicPr>
        <p:blipFill>
          <a:blip r:embed="rId7"/>
          <a:srcRect/>
          <a:stretch/>
        </p:blipFill>
        <p:spPr>
          <a:xfrm>
            <a:off x="4495800" y="2647950"/>
            <a:ext cx="127000" cy="1968500"/>
          </a:xfrm>
          <a:prstGeom prst="rect">
            <a:avLst/>
          </a:prstGeom>
        </p:spPr>
      </p:pic>
      <p:pic>
        <p:nvPicPr>
          <p:cNvPr id="8" name="Image 5" descr="connector"/>
          <p:cNvPicPr>
            <a:picLocks noChangeAspect="1"/>
          </p:cNvPicPr>
          <p:nvPr/>
        </p:nvPicPr>
        <p:blipFill>
          <a:blip r:embed="rId8"/>
          <a:srcRect/>
          <a:stretch/>
        </p:blipFill>
        <p:spPr>
          <a:xfrm>
            <a:off x="8470900" y="4883150"/>
            <a:ext cx="1441450" cy="101600"/>
          </a:xfrm>
          <a:prstGeom prst="rect">
            <a:avLst/>
          </a:prstGeom>
        </p:spPr>
      </p:pic>
      <p:sp>
        <p:nvSpPr>
          <p:cNvPr id="10"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La rete: quattro router ad anello</a:t>
            </a:r>
            <a:endParaRPr lang="it-IT" sz="4000" noProof="0" dirty="0"/>
          </a:p>
        </p:txBody>
      </p:sp>
      <p:sp>
        <p:nvSpPr>
          <p:cNvPr id="11" name="Shape 3"/>
          <p:cNvSpPr/>
          <p:nvPr/>
        </p:nvSpPr>
        <p:spPr>
          <a:xfrm>
            <a:off x="825500" y="1962150"/>
            <a:ext cx="1498600" cy="736600"/>
          </a:xfrm>
          <a:prstGeom prst="rect">
            <a:avLst/>
          </a:prstGeom>
          <a:solidFill>
            <a:srgbClr val="F7F6F2"/>
          </a:solidFill>
          <a:ln w="12700">
            <a:solidFill>
              <a:srgbClr val="1B1D20"/>
            </a:solidFill>
            <a:prstDash val="solid"/>
          </a:ln>
        </p:spPr>
        <p:txBody>
          <a:bodyPr/>
          <a:lstStyle/>
          <a:p>
            <a:endParaRPr lang="it-IT" noProof="0" dirty="0"/>
          </a:p>
        </p:txBody>
      </p:sp>
      <p:sp>
        <p:nvSpPr>
          <p:cNvPr id="12" name="Text 4"/>
          <p:cNvSpPr/>
          <p:nvPr/>
        </p:nvSpPr>
        <p:spPr>
          <a:xfrm>
            <a:off x="793750" y="2044700"/>
            <a:ext cx="15621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err="1">
                <a:solidFill>
                  <a:srgbClr val="1B1D20"/>
                </a:solidFill>
                <a:latin typeface="IBM Plex Sans" pitchFamily="34" charset="0"/>
                <a:ea typeface="IBM Plex Sans" pitchFamily="34" charset="-122"/>
                <a:cs typeface="IBM Plex Sans" pitchFamily="34" charset="-120"/>
              </a:rPr>
              <a:t>pc_a</a:t>
            </a:r>
            <a:endParaRPr lang="it-IT" sz="2200" noProof="0" dirty="0"/>
          </a:p>
        </p:txBody>
      </p:sp>
      <p:sp>
        <p:nvSpPr>
          <p:cNvPr id="13" name="Text 5"/>
          <p:cNvSpPr/>
          <p:nvPr/>
        </p:nvSpPr>
        <p:spPr>
          <a:xfrm>
            <a:off x="793750" y="2374900"/>
            <a:ext cx="15621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192.168.10.10</a:t>
            </a:r>
            <a:endParaRPr lang="it-IT" sz="1600" noProof="0" dirty="0"/>
          </a:p>
        </p:txBody>
      </p:sp>
      <p:sp>
        <p:nvSpPr>
          <p:cNvPr id="14" name="Shape 6"/>
          <p:cNvSpPr/>
          <p:nvPr/>
        </p:nvSpPr>
        <p:spPr>
          <a:xfrm>
            <a:off x="3797300" y="1949450"/>
            <a:ext cx="1524000" cy="762000"/>
          </a:xfrm>
          <a:prstGeom prst="rect">
            <a:avLst/>
          </a:prstGeom>
          <a:solidFill>
            <a:srgbClr val="1B1D20"/>
          </a:solidFill>
          <a:ln/>
        </p:spPr>
        <p:txBody>
          <a:bodyPr/>
          <a:lstStyle/>
          <a:p>
            <a:endParaRPr lang="it-IT" noProof="0" dirty="0"/>
          </a:p>
        </p:txBody>
      </p:sp>
      <p:sp>
        <p:nvSpPr>
          <p:cNvPr id="15" name="Text 7"/>
          <p:cNvSpPr/>
          <p:nvPr/>
        </p:nvSpPr>
        <p:spPr>
          <a:xfrm>
            <a:off x="3771900" y="2044700"/>
            <a:ext cx="15748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r1</a:t>
            </a:r>
            <a:endParaRPr lang="it-IT" sz="2200" noProof="0" dirty="0"/>
          </a:p>
        </p:txBody>
      </p:sp>
      <p:sp>
        <p:nvSpPr>
          <p:cNvPr id="16" name="Text 8"/>
          <p:cNvSpPr/>
          <p:nvPr/>
        </p:nvSpPr>
        <p:spPr>
          <a:xfrm>
            <a:off x="3771900" y="2374900"/>
            <a:ext cx="15748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9BDC3"/>
                </a:solidFill>
                <a:latin typeface="JetBrains Mono" pitchFamily="49" charset="0"/>
                <a:ea typeface="JetBrains Mono" pitchFamily="49" charset="-122"/>
                <a:cs typeface="JetBrains Mono" pitchFamily="49" charset="-120"/>
              </a:rPr>
              <a:t>lo 10.255.0.1</a:t>
            </a:r>
            <a:endParaRPr lang="it-IT" sz="1600" noProof="0" dirty="0"/>
          </a:p>
        </p:txBody>
      </p:sp>
      <p:sp>
        <p:nvSpPr>
          <p:cNvPr id="17" name="Shape 9"/>
          <p:cNvSpPr/>
          <p:nvPr/>
        </p:nvSpPr>
        <p:spPr>
          <a:xfrm>
            <a:off x="6997700" y="1949450"/>
            <a:ext cx="1524000" cy="762000"/>
          </a:xfrm>
          <a:prstGeom prst="rect">
            <a:avLst/>
          </a:prstGeom>
          <a:solidFill>
            <a:srgbClr val="1B1D20"/>
          </a:solidFill>
          <a:ln/>
        </p:spPr>
        <p:txBody>
          <a:bodyPr/>
          <a:lstStyle/>
          <a:p>
            <a:endParaRPr lang="it-IT" noProof="0" dirty="0"/>
          </a:p>
        </p:txBody>
      </p:sp>
      <p:sp>
        <p:nvSpPr>
          <p:cNvPr id="18" name="Text 10"/>
          <p:cNvSpPr/>
          <p:nvPr/>
        </p:nvSpPr>
        <p:spPr>
          <a:xfrm>
            <a:off x="6972300" y="2044700"/>
            <a:ext cx="15748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r2</a:t>
            </a:r>
            <a:endParaRPr lang="it-IT" sz="2200" noProof="0" dirty="0"/>
          </a:p>
        </p:txBody>
      </p:sp>
      <p:sp>
        <p:nvSpPr>
          <p:cNvPr id="19" name="Text 11"/>
          <p:cNvSpPr/>
          <p:nvPr/>
        </p:nvSpPr>
        <p:spPr>
          <a:xfrm>
            <a:off x="6972300" y="2374900"/>
            <a:ext cx="15748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9BDC3"/>
                </a:solidFill>
                <a:latin typeface="JetBrains Mono" pitchFamily="49" charset="0"/>
                <a:ea typeface="JetBrains Mono" pitchFamily="49" charset="-122"/>
                <a:cs typeface="JetBrains Mono" pitchFamily="49" charset="-120"/>
              </a:rPr>
              <a:t>lo 10.255.0.2</a:t>
            </a:r>
            <a:endParaRPr lang="it-IT" sz="1600" noProof="0" dirty="0"/>
          </a:p>
        </p:txBody>
      </p:sp>
      <p:sp>
        <p:nvSpPr>
          <p:cNvPr id="20" name="Shape 12"/>
          <p:cNvSpPr/>
          <p:nvPr/>
        </p:nvSpPr>
        <p:spPr>
          <a:xfrm>
            <a:off x="3797300" y="4552950"/>
            <a:ext cx="1524000" cy="762000"/>
          </a:xfrm>
          <a:prstGeom prst="rect">
            <a:avLst/>
          </a:prstGeom>
          <a:solidFill>
            <a:srgbClr val="1B1D20"/>
          </a:solidFill>
          <a:ln/>
        </p:spPr>
        <p:txBody>
          <a:bodyPr/>
          <a:lstStyle/>
          <a:p>
            <a:endParaRPr lang="it-IT" noProof="0" dirty="0"/>
          </a:p>
        </p:txBody>
      </p:sp>
      <p:sp>
        <p:nvSpPr>
          <p:cNvPr id="21" name="Text 13"/>
          <p:cNvSpPr/>
          <p:nvPr/>
        </p:nvSpPr>
        <p:spPr>
          <a:xfrm>
            <a:off x="3771900" y="4648200"/>
            <a:ext cx="15748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r4</a:t>
            </a:r>
            <a:endParaRPr lang="it-IT" sz="2200" noProof="0" dirty="0"/>
          </a:p>
        </p:txBody>
      </p:sp>
      <p:sp>
        <p:nvSpPr>
          <p:cNvPr id="22" name="Text 14"/>
          <p:cNvSpPr/>
          <p:nvPr/>
        </p:nvSpPr>
        <p:spPr>
          <a:xfrm>
            <a:off x="3771900" y="4978400"/>
            <a:ext cx="15748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9BDC3"/>
                </a:solidFill>
                <a:latin typeface="JetBrains Mono" pitchFamily="49" charset="0"/>
                <a:ea typeface="JetBrains Mono" pitchFamily="49" charset="-122"/>
                <a:cs typeface="JetBrains Mono" pitchFamily="49" charset="-120"/>
              </a:rPr>
              <a:t>lo 10.255.0.4</a:t>
            </a:r>
            <a:endParaRPr lang="it-IT" sz="1600" noProof="0" dirty="0"/>
          </a:p>
        </p:txBody>
      </p:sp>
      <p:sp>
        <p:nvSpPr>
          <p:cNvPr id="23" name="Shape 15"/>
          <p:cNvSpPr/>
          <p:nvPr/>
        </p:nvSpPr>
        <p:spPr>
          <a:xfrm>
            <a:off x="6997700" y="4552950"/>
            <a:ext cx="1524000" cy="762000"/>
          </a:xfrm>
          <a:prstGeom prst="rect">
            <a:avLst/>
          </a:prstGeom>
          <a:solidFill>
            <a:srgbClr val="1B1D20"/>
          </a:solidFill>
          <a:ln/>
        </p:spPr>
        <p:txBody>
          <a:bodyPr/>
          <a:lstStyle/>
          <a:p>
            <a:endParaRPr lang="it-IT" noProof="0" dirty="0"/>
          </a:p>
        </p:txBody>
      </p:sp>
      <p:sp>
        <p:nvSpPr>
          <p:cNvPr id="24" name="Text 16"/>
          <p:cNvSpPr/>
          <p:nvPr/>
        </p:nvSpPr>
        <p:spPr>
          <a:xfrm>
            <a:off x="6972300" y="4648200"/>
            <a:ext cx="15748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r3</a:t>
            </a:r>
            <a:endParaRPr lang="it-IT" sz="2200" noProof="0" dirty="0"/>
          </a:p>
        </p:txBody>
      </p:sp>
      <p:sp>
        <p:nvSpPr>
          <p:cNvPr id="25" name="Text 17"/>
          <p:cNvSpPr/>
          <p:nvPr/>
        </p:nvSpPr>
        <p:spPr>
          <a:xfrm>
            <a:off x="6972300" y="4978400"/>
            <a:ext cx="15748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9BDC3"/>
                </a:solidFill>
                <a:latin typeface="JetBrains Mono" pitchFamily="49" charset="0"/>
                <a:ea typeface="JetBrains Mono" pitchFamily="49" charset="-122"/>
                <a:cs typeface="JetBrains Mono" pitchFamily="49" charset="-120"/>
              </a:rPr>
              <a:t>lo 10.255.0.3</a:t>
            </a:r>
            <a:endParaRPr lang="it-IT" sz="1600" noProof="0" dirty="0"/>
          </a:p>
        </p:txBody>
      </p:sp>
      <p:sp>
        <p:nvSpPr>
          <p:cNvPr id="26" name="Shape 18"/>
          <p:cNvSpPr/>
          <p:nvPr/>
        </p:nvSpPr>
        <p:spPr>
          <a:xfrm>
            <a:off x="9867900" y="4565650"/>
            <a:ext cx="1498600" cy="736600"/>
          </a:xfrm>
          <a:prstGeom prst="rect">
            <a:avLst/>
          </a:prstGeom>
          <a:solidFill>
            <a:srgbClr val="F7F6F2"/>
          </a:solidFill>
          <a:ln w="12700">
            <a:solidFill>
              <a:srgbClr val="1B1D20"/>
            </a:solidFill>
            <a:prstDash val="solid"/>
          </a:ln>
        </p:spPr>
        <p:txBody>
          <a:bodyPr/>
          <a:lstStyle/>
          <a:p>
            <a:endParaRPr lang="it-IT" noProof="0" dirty="0"/>
          </a:p>
        </p:txBody>
      </p:sp>
      <p:sp>
        <p:nvSpPr>
          <p:cNvPr id="27" name="Text 19"/>
          <p:cNvSpPr/>
          <p:nvPr/>
        </p:nvSpPr>
        <p:spPr>
          <a:xfrm>
            <a:off x="9836150" y="4648200"/>
            <a:ext cx="15621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1B1D20"/>
                </a:solidFill>
                <a:latin typeface="IBM Plex Sans" pitchFamily="34" charset="0"/>
                <a:ea typeface="IBM Plex Sans" pitchFamily="34" charset="-122"/>
                <a:cs typeface="IBM Plex Sans" pitchFamily="34" charset="-120"/>
              </a:rPr>
              <a:t>pc_b</a:t>
            </a:r>
            <a:endParaRPr lang="it-IT" sz="2200" noProof="0" dirty="0"/>
          </a:p>
        </p:txBody>
      </p:sp>
      <p:sp>
        <p:nvSpPr>
          <p:cNvPr id="28" name="Text 20"/>
          <p:cNvSpPr/>
          <p:nvPr/>
        </p:nvSpPr>
        <p:spPr>
          <a:xfrm>
            <a:off x="9836150" y="4978400"/>
            <a:ext cx="15621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192.168.20.10</a:t>
            </a:r>
            <a:endParaRPr lang="it-IT" sz="1600" noProof="0" dirty="0"/>
          </a:p>
        </p:txBody>
      </p:sp>
      <p:sp>
        <p:nvSpPr>
          <p:cNvPr id="29" name="Text 21"/>
          <p:cNvSpPr/>
          <p:nvPr/>
        </p:nvSpPr>
        <p:spPr>
          <a:xfrm>
            <a:off x="762000" y="1663700"/>
            <a:ext cx="16256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SEDE A</a:t>
            </a:r>
            <a:endParaRPr lang="it-IT" sz="1600" noProof="0" dirty="0"/>
          </a:p>
        </p:txBody>
      </p:sp>
      <p:sp>
        <p:nvSpPr>
          <p:cNvPr id="30" name="Text 22"/>
          <p:cNvSpPr/>
          <p:nvPr/>
        </p:nvSpPr>
        <p:spPr>
          <a:xfrm>
            <a:off x="2311400" y="1860550"/>
            <a:ext cx="15113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b="1" noProof="0" dirty="0" err="1">
                <a:solidFill>
                  <a:srgbClr val="1B1D20"/>
                </a:solidFill>
                <a:latin typeface="IBM Plex Sans" pitchFamily="34" charset="0"/>
                <a:ea typeface="IBM Plex Sans" pitchFamily="34" charset="-122"/>
                <a:cs typeface="IBM Plex Sans" pitchFamily="34" charset="-120"/>
              </a:rPr>
              <a:t>lanA</a:t>
            </a:r>
            <a:endParaRPr lang="it-IT" sz="1600" noProof="0" dirty="0"/>
          </a:p>
        </p:txBody>
      </p:sp>
      <p:sp>
        <p:nvSpPr>
          <p:cNvPr id="31" name="Text 23"/>
          <p:cNvSpPr/>
          <p:nvPr/>
        </p:nvSpPr>
        <p:spPr>
          <a:xfrm>
            <a:off x="2311400" y="2058665"/>
            <a:ext cx="15113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192.168.10.0/24</a:t>
            </a:r>
            <a:endParaRPr lang="it-IT" sz="1600" noProof="0" dirty="0"/>
          </a:p>
        </p:txBody>
      </p:sp>
      <p:sp>
        <p:nvSpPr>
          <p:cNvPr id="32" name="Text 24"/>
          <p:cNvSpPr/>
          <p:nvPr/>
        </p:nvSpPr>
        <p:spPr>
          <a:xfrm>
            <a:off x="5295900" y="1758950"/>
            <a:ext cx="1727200" cy="273050"/>
          </a:xfrm>
          <a:prstGeom prst="rect">
            <a:avLst/>
          </a:prstGeom>
          <a:noFill/>
          <a:ln/>
        </p:spPr>
        <p:txBody>
          <a:bodyPr wrap="square" lIns="0" tIns="0" rIns="0" bIns="0" rtlCol="0" anchor="t">
            <a:normAutofit/>
          </a:bodyPr>
          <a:lstStyle/>
          <a:p>
            <a:pPr marL="0" indent="0" algn="ctr">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n12</a:t>
            </a:r>
            <a:r>
              <a:rPr lang="it-IT" sz="1600" noProof="0" dirty="0">
                <a:solidFill>
                  <a:srgbClr val="1B1D20"/>
                </a:solidFill>
                <a:latin typeface="IBM Plex Sans" pitchFamily="34" charset="0"/>
                <a:ea typeface="IBM Plex Sans" pitchFamily="34" charset="-122"/>
                <a:cs typeface="IBM Plex Sans" pitchFamily="34" charset="-120"/>
              </a:rPr>
              <a:t> · 10.0.0.0/30</a:t>
            </a:r>
            <a:endParaRPr lang="it-IT" sz="1600" noProof="0" dirty="0"/>
          </a:p>
        </p:txBody>
      </p:sp>
      <p:sp>
        <p:nvSpPr>
          <p:cNvPr id="33" name="Text 25"/>
          <p:cNvSpPr/>
          <p:nvPr/>
        </p:nvSpPr>
        <p:spPr>
          <a:xfrm>
            <a:off x="5295900" y="2006600"/>
            <a:ext cx="1727200" cy="273050"/>
          </a:xfrm>
          <a:prstGeom prst="rect">
            <a:avLst/>
          </a:prstGeom>
          <a:noFill/>
          <a:ln/>
        </p:spPr>
        <p:txBody>
          <a:bodyPr wrap="square" lIns="0" tIns="0" rIns="0" bIns="0" rtlCol="0" anchor="t">
            <a:normAutofit/>
          </a:bodyPr>
          <a:lstStyle/>
          <a:p>
            <a:pPr marL="0" indent="0" algn="ctr">
              <a:lnSpc>
                <a:spcPts val="2000"/>
              </a:lnSpc>
              <a:buNone/>
            </a:pPr>
            <a:r>
              <a:rPr lang="it-IT" sz="1600" b="1" noProof="0" dirty="0">
                <a:solidFill>
                  <a:srgbClr val="B4502E"/>
                </a:solidFill>
                <a:latin typeface="IBM Plex Sans" pitchFamily="34" charset="0"/>
                <a:ea typeface="IBM Plex Sans" pitchFamily="34" charset="-122"/>
                <a:cs typeface="IBM Plex Sans" pitchFamily="34" charset="-120"/>
              </a:rPr>
              <a:t>costo 10</a:t>
            </a:r>
            <a:endParaRPr lang="it-IT" sz="1600" noProof="0" dirty="0"/>
          </a:p>
        </p:txBody>
      </p:sp>
      <p:sp>
        <p:nvSpPr>
          <p:cNvPr id="34" name="Text 26"/>
          <p:cNvSpPr/>
          <p:nvPr/>
        </p:nvSpPr>
        <p:spPr>
          <a:xfrm>
            <a:off x="2743200" y="3251200"/>
            <a:ext cx="1663700" cy="273050"/>
          </a:xfrm>
          <a:prstGeom prst="rect">
            <a:avLst/>
          </a:prstGeom>
          <a:noFill/>
          <a:ln/>
        </p:spPr>
        <p:txBody>
          <a:bodyPr wrap="square" lIns="0" tIns="0" rIns="0" bIns="0" rtlCol="0" anchor="t">
            <a:normAutofit/>
          </a:bodyPr>
          <a:lstStyle/>
          <a:p>
            <a:pPr marL="0" indent="0" algn="r">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n41</a:t>
            </a:r>
            <a:endParaRPr lang="it-IT" sz="1600" noProof="0" dirty="0"/>
          </a:p>
        </p:txBody>
      </p:sp>
      <p:sp>
        <p:nvSpPr>
          <p:cNvPr id="35" name="Text 27"/>
          <p:cNvSpPr/>
          <p:nvPr/>
        </p:nvSpPr>
        <p:spPr>
          <a:xfrm>
            <a:off x="2743200" y="3498850"/>
            <a:ext cx="1663700" cy="273050"/>
          </a:xfrm>
          <a:prstGeom prst="rect">
            <a:avLst/>
          </a:prstGeom>
          <a:noFill/>
          <a:ln/>
        </p:spPr>
        <p:txBody>
          <a:bodyPr wrap="square" lIns="0" tIns="0" rIns="0" bIns="0" rtlCol="0" anchor="t">
            <a:normAutofit/>
          </a:bodyPr>
          <a:lstStyle/>
          <a:p>
            <a:pPr marL="0" indent="0" algn="r">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10.0.0.12/30</a:t>
            </a:r>
            <a:endParaRPr lang="it-IT" sz="1600" noProof="0" dirty="0"/>
          </a:p>
        </p:txBody>
      </p:sp>
      <p:sp>
        <p:nvSpPr>
          <p:cNvPr id="36" name="Text 28"/>
          <p:cNvSpPr/>
          <p:nvPr/>
        </p:nvSpPr>
        <p:spPr>
          <a:xfrm>
            <a:off x="2743200" y="3746500"/>
            <a:ext cx="1663700" cy="273050"/>
          </a:xfrm>
          <a:prstGeom prst="rect">
            <a:avLst/>
          </a:prstGeom>
          <a:noFill/>
          <a:ln/>
        </p:spPr>
        <p:txBody>
          <a:bodyPr wrap="square" lIns="0" tIns="0" rIns="0" bIns="0" rtlCol="0" anchor="t">
            <a:normAutofit/>
          </a:bodyPr>
          <a:lstStyle/>
          <a:p>
            <a:pPr marL="0" indent="0" algn="r">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costo 100</a:t>
            </a:r>
            <a:endParaRPr lang="it-IT" sz="1600" noProof="0" dirty="0"/>
          </a:p>
        </p:txBody>
      </p:sp>
      <p:sp>
        <p:nvSpPr>
          <p:cNvPr id="37" name="Text 29"/>
          <p:cNvSpPr/>
          <p:nvPr/>
        </p:nvSpPr>
        <p:spPr>
          <a:xfrm>
            <a:off x="7924800" y="3251200"/>
            <a:ext cx="1689100" cy="27305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n23</a:t>
            </a:r>
            <a:endParaRPr lang="it-IT" sz="1600" noProof="0" dirty="0"/>
          </a:p>
        </p:txBody>
      </p:sp>
      <p:sp>
        <p:nvSpPr>
          <p:cNvPr id="38" name="Text 30"/>
          <p:cNvSpPr/>
          <p:nvPr/>
        </p:nvSpPr>
        <p:spPr>
          <a:xfrm>
            <a:off x="7924800" y="3498850"/>
            <a:ext cx="1689100" cy="27305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10.0.0.4/30</a:t>
            </a:r>
            <a:endParaRPr lang="it-IT" sz="1600" noProof="0" dirty="0"/>
          </a:p>
        </p:txBody>
      </p:sp>
      <p:sp>
        <p:nvSpPr>
          <p:cNvPr id="39" name="Text 31"/>
          <p:cNvSpPr/>
          <p:nvPr/>
        </p:nvSpPr>
        <p:spPr>
          <a:xfrm>
            <a:off x="7924800" y="3746500"/>
            <a:ext cx="1689100" cy="27305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B4502E"/>
                </a:solidFill>
                <a:latin typeface="IBM Plex Sans" pitchFamily="34" charset="0"/>
                <a:ea typeface="IBM Plex Sans" pitchFamily="34" charset="-122"/>
                <a:cs typeface="IBM Plex Sans" pitchFamily="34" charset="-120"/>
              </a:rPr>
              <a:t>costo 10</a:t>
            </a:r>
            <a:endParaRPr lang="it-IT" sz="1600" noProof="0" dirty="0"/>
          </a:p>
        </p:txBody>
      </p:sp>
      <p:sp>
        <p:nvSpPr>
          <p:cNvPr id="40" name="Text 32"/>
          <p:cNvSpPr/>
          <p:nvPr/>
        </p:nvSpPr>
        <p:spPr>
          <a:xfrm>
            <a:off x="5295900" y="4362450"/>
            <a:ext cx="1727200" cy="273050"/>
          </a:xfrm>
          <a:prstGeom prst="rect">
            <a:avLst/>
          </a:prstGeom>
          <a:noFill/>
          <a:ln/>
        </p:spPr>
        <p:txBody>
          <a:bodyPr wrap="square" lIns="0" tIns="0" rIns="0" bIns="0" rtlCol="0" anchor="t">
            <a:normAutofit/>
          </a:bodyPr>
          <a:lstStyle/>
          <a:p>
            <a:pPr marL="0" indent="0" algn="ctr">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n34</a:t>
            </a:r>
            <a:r>
              <a:rPr lang="it-IT" sz="1600" noProof="0" dirty="0">
                <a:solidFill>
                  <a:srgbClr val="1B1D20"/>
                </a:solidFill>
                <a:latin typeface="IBM Plex Sans" pitchFamily="34" charset="0"/>
                <a:ea typeface="IBM Plex Sans" pitchFamily="34" charset="-122"/>
                <a:cs typeface="IBM Plex Sans" pitchFamily="34" charset="-120"/>
              </a:rPr>
              <a:t> · 10.0.0.8/30</a:t>
            </a:r>
            <a:endParaRPr lang="it-IT" sz="1600" noProof="0" dirty="0"/>
          </a:p>
        </p:txBody>
      </p:sp>
      <p:sp>
        <p:nvSpPr>
          <p:cNvPr id="41" name="Text 33"/>
          <p:cNvSpPr/>
          <p:nvPr/>
        </p:nvSpPr>
        <p:spPr>
          <a:xfrm>
            <a:off x="5295900" y="4610100"/>
            <a:ext cx="1727200" cy="273050"/>
          </a:xfrm>
          <a:prstGeom prst="rect">
            <a:avLst/>
          </a:prstGeom>
          <a:noFill/>
          <a:ln/>
        </p:spPr>
        <p:txBody>
          <a:bodyPr wrap="square" lIns="0" tIns="0" rIns="0" bIns="0" rtlCol="0" anchor="t">
            <a:normAutofit/>
          </a:bodyPr>
          <a:lstStyle/>
          <a:p>
            <a:pPr marL="0" indent="0" algn="ctr">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costo 100</a:t>
            </a:r>
            <a:endParaRPr lang="it-IT" sz="1600" noProof="0" dirty="0"/>
          </a:p>
        </p:txBody>
      </p:sp>
      <p:sp>
        <p:nvSpPr>
          <p:cNvPr id="42" name="Text 34"/>
          <p:cNvSpPr/>
          <p:nvPr/>
        </p:nvSpPr>
        <p:spPr>
          <a:xfrm>
            <a:off x="8483600" y="4464050"/>
            <a:ext cx="14097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b="1" noProof="0" dirty="0" err="1">
                <a:solidFill>
                  <a:srgbClr val="1B1D20"/>
                </a:solidFill>
                <a:latin typeface="IBM Plex Sans" pitchFamily="34" charset="0"/>
                <a:ea typeface="IBM Plex Sans" pitchFamily="34" charset="-122"/>
                <a:cs typeface="IBM Plex Sans" pitchFamily="34" charset="-120"/>
              </a:rPr>
              <a:t>lanB</a:t>
            </a:r>
            <a:endParaRPr lang="it-IT" sz="1600" noProof="0" dirty="0"/>
          </a:p>
        </p:txBody>
      </p:sp>
      <p:sp>
        <p:nvSpPr>
          <p:cNvPr id="43" name="Text 35"/>
          <p:cNvSpPr/>
          <p:nvPr/>
        </p:nvSpPr>
        <p:spPr>
          <a:xfrm>
            <a:off x="8483600" y="4662165"/>
            <a:ext cx="14097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192.168.20.0/24</a:t>
            </a:r>
            <a:endParaRPr lang="it-IT" sz="1600" noProof="0" dirty="0"/>
          </a:p>
        </p:txBody>
      </p:sp>
      <p:sp>
        <p:nvSpPr>
          <p:cNvPr id="44" name="Text 36"/>
          <p:cNvSpPr/>
          <p:nvPr/>
        </p:nvSpPr>
        <p:spPr>
          <a:xfrm>
            <a:off x="9804400" y="4267200"/>
            <a:ext cx="16256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SEDE B</a:t>
            </a:r>
            <a:endParaRPr lang="it-IT" sz="1600" noProof="0" dirty="0"/>
          </a:p>
        </p:txBody>
      </p:sp>
      <p:sp>
        <p:nvSpPr>
          <p:cNvPr id="45" name="Shape 37"/>
          <p:cNvSpPr/>
          <p:nvPr/>
        </p:nvSpPr>
        <p:spPr>
          <a:xfrm>
            <a:off x="812800" y="5683250"/>
            <a:ext cx="406400" cy="38100"/>
          </a:xfrm>
          <a:prstGeom prst="rect">
            <a:avLst/>
          </a:prstGeom>
          <a:solidFill>
            <a:srgbClr val="B4502E"/>
          </a:solidFill>
          <a:ln/>
        </p:spPr>
        <p:txBody>
          <a:bodyPr/>
          <a:lstStyle/>
          <a:p>
            <a:endParaRPr lang="it-IT" noProof="0" dirty="0"/>
          </a:p>
        </p:txBody>
      </p:sp>
      <p:sp>
        <p:nvSpPr>
          <p:cNvPr id="46" name="Text 38"/>
          <p:cNvSpPr/>
          <p:nvPr/>
        </p:nvSpPr>
        <p:spPr>
          <a:xfrm>
            <a:off x="1320800" y="5568950"/>
            <a:ext cx="2792794"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Percorso primario, costo 10</a:t>
            </a:r>
            <a:endParaRPr lang="it-IT" sz="1600" noProof="0" dirty="0"/>
          </a:p>
        </p:txBody>
      </p:sp>
      <p:pic>
        <p:nvPicPr>
          <p:cNvPr id="47" name="Image 6" descr="connector"/>
          <p:cNvPicPr>
            <a:picLocks noChangeAspect="1"/>
          </p:cNvPicPr>
          <p:nvPr/>
        </p:nvPicPr>
        <p:blipFill>
          <a:blip r:embed="rId9"/>
          <a:srcRect/>
          <a:stretch/>
        </p:blipFill>
        <p:spPr>
          <a:xfrm>
            <a:off x="3968750" y="5638800"/>
            <a:ext cx="533400" cy="127000"/>
          </a:xfrm>
          <a:prstGeom prst="rect">
            <a:avLst/>
          </a:prstGeom>
        </p:spPr>
      </p:pic>
      <p:sp>
        <p:nvSpPr>
          <p:cNvPr id="48" name="Text 39"/>
          <p:cNvSpPr/>
          <p:nvPr/>
        </p:nvSpPr>
        <p:spPr>
          <a:xfrm>
            <a:off x="4540250" y="5568950"/>
            <a:ext cx="1962150"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Backup, costo 100</a:t>
            </a:r>
            <a:endParaRPr lang="it-IT" sz="1600" noProof="0" dirty="0"/>
          </a:p>
        </p:txBody>
      </p:sp>
      <p:sp>
        <p:nvSpPr>
          <p:cNvPr id="49" name="Text 40"/>
          <p:cNvSpPr/>
          <p:nvPr/>
        </p:nvSpPr>
        <p:spPr>
          <a:xfrm>
            <a:off x="6477000" y="5568950"/>
            <a:ext cx="3401060"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lo = </a:t>
            </a:r>
            <a:r>
              <a:rPr lang="it-IT" sz="1600" noProof="0" dirty="0" err="1">
                <a:solidFill>
                  <a:srgbClr val="5B5F66"/>
                </a:solidFill>
                <a:latin typeface="IBM Plex Sans" pitchFamily="34" charset="0"/>
                <a:ea typeface="IBM Plex Sans" pitchFamily="34" charset="-122"/>
                <a:cs typeface="IBM Plex Sans" pitchFamily="34" charset="-120"/>
              </a:rPr>
              <a:t>loopback</a:t>
            </a:r>
            <a:r>
              <a:rPr lang="it-IT" sz="1600" noProof="0" dirty="0">
                <a:solidFill>
                  <a:srgbClr val="5B5F66"/>
                </a:solidFill>
                <a:latin typeface="IBM Plex Sans" pitchFamily="34" charset="0"/>
                <a:ea typeface="IBM Plex Sans" pitchFamily="34" charset="-122"/>
                <a:cs typeface="IBM Plex Sans" pitchFamily="34" charset="-120"/>
              </a:rPr>
              <a:t>, router-id OSPF</a:t>
            </a:r>
            <a:endParaRPr lang="it-IT" sz="1600" noProof="0" dirty="0"/>
          </a:p>
        </p:txBody>
      </p:sp>
    </p:spTree>
    <p:extLst>
      <p:ext uri="{BB962C8B-B14F-4D97-AF65-F5344CB8AC3E}">
        <p14:creationId xmlns:p14="http://schemas.microsoft.com/office/powerpoint/2010/main" val="40170469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Come funziona OSPF, in quattro passi</a:t>
            </a:r>
            <a:endParaRPr lang="it-IT" sz="4000" dirty="0"/>
          </a:p>
        </p:txBody>
      </p:sp>
      <p:sp>
        <p:nvSpPr>
          <p:cNvPr id="1101" name="Text 1101"/>
          <p:cNvSpPr txBox="1"/>
          <p:nvPr/>
        </p:nvSpPr>
        <p:spPr>
          <a:xfrm>
            <a:off x="812800" y="1752600"/>
            <a:ext cx="10566400" cy="355600"/>
          </a:xfrm>
          <a:prstGeom prst="rect">
            <a:avLst/>
          </a:prstGeom>
          <a:noFill/>
          <a:ln>
            <a:noFill/>
          </a:ln>
        </p:spPr>
        <p:txBody>
          <a:bodyPr wrap="square" lIns="0" tIns="0" rIns="0" bIns="0" anchor="t">
            <a:noAutofit/>
          </a:bodyPr>
          <a:lstStyle/>
          <a:p>
            <a:pPr marL="0" indent="0" algn="l">
              <a:buNone/>
            </a:pPr>
            <a:r>
              <a:rPr lang="it-IT" sz="1800" dirty="0">
                <a:solidFill>
                  <a:srgbClr val="525355"/>
                </a:solidFill>
                <a:latin typeface="IBM Plex Sans"/>
                <a:cs typeface="IBM Plex Sans"/>
              </a:rPr>
              <a:t>Link-state: ogni router conosce l'intera topologia dell'area e calcola da sé i percorsi migliori.</a:t>
            </a:r>
          </a:p>
        </p:txBody>
      </p:sp>
      <p:cxnSp>
        <p:nvCxnSpPr>
          <p:cNvPr id="1102" name="Line 1102"/>
          <p:cNvCxnSpPr/>
          <p:nvPr/>
        </p:nvCxnSpPr>
        <p:spPr>
          <a:xfrm>
            <a:off x="812800" y="2362200"/>
            <a:ext cx="2514600" cy="0"/>
          </a:xfrm>
          <a:prstGeom prst="line">
            <a:avLst/>
          </a:prstGeom>
          <a:ln w="25400">
            <a:solidFill>
              <a:srgbClr val="B4502E"/>
            </a:solidFill>
          </a:ln>
        </p:spPr>
      </p:cxnSp>
      <p:sp>
        <p:nvSpPr>
          <p:cNvPr id="1103" name="Text 1103"/>
          <p:cNvSpPr txBox="1"/>
          <p:nvPr/>
        </p:nvSpPr>
        <p:spPr>
          <a:xfrm>
            <a:off x="812800" y="2514600"/>
            <a:ext cx="2514600" cy="254000"/>
          </a:xfrm>
          <a:prstGeom prst="rect">
            <a:avLst/>
          </a:prstGeom>
          <a:noFill/>
          <a:ln>
            <a:noFill/>
          </a:ln>
        </p:spPr>
        <p:txBody>
          <a:bodyPr wrap="square" lIns="0" tIns="0" rIns="0" bIns="0" anchor="t">
            <a:noAutofit/>
          </a:bodyPr>
          <a:lstStyle/>
          <a:p>
            <a:pPr marL="0" indent="0" algn="l">
              <a:buNone/>
            </a:pPr>
            <a:r>
              <a:rPr lang="it-IT" sz="1600" dirty="0">
                <a:solidFill>
                  <a:srgbClr val="B4502E"/>
                </a:solidFill>
                <a:latin typeface="JetBrains Mono"/>
                <a:cs typeface="JetBrains Mono"/>
              </a:rPr>
              <a:t>01</a:t>
            </a:r>
            <a:r>
              <a:rPr lang="it-IT" sz="1400" dirty="0">
                <a:solidFill>
                  <a:srgbClr val="8A8F96"/>
                </a:solidFill>
                <a:latin typeface="JetBrains Mono"/>
                <a:cs typeface="JetBrains Mono"/>
              </a:rPr>
              <a:t>  Hello</a:t>
            </a:r>
          </a:p>
        </p:txBody>
      </p:sp>
      <p:sp>
        <p:nvSpPr>
          <p:cNvPr id="1104" name="Text 1104"/>
          <p:cNvSpPr txBox="1"/>
          <p:nvPr/>
        </p:nvSpPr>
        <p:spPr>
          <a:xfrm>
            <a:off x="812800" y="2844800"/>
            <a:ext cx="2514600" cy="330200"/>
          </a:xfrm>
          <a:prstGeom prst="rect">
            <a:avLst/>
          </a:prstGeom>
          <a:noFill/>
          <a:ln>
            <a:noFill/>
          </a:ln>
        </p:spPr>
        <p:txBody>
          <a:bodyPr wrap="square" lIns="0" tIns="0" rIns="0" bIns="0" anchor="t">
            <a:noAutofit/>
          </a:bodyPr>
          <a:lstStyle/>
          <a:p>
            <a:pPr marL="0" indent="0" algn="l">
              <a:buNone/>
            </a:pPr>
            <a:r>
              <a:rPr lang="it-IT" sz="1800" b="1" dirty="0">
                <a:solidFill>
                  <a:srgbClr val="1B1D20"/>
                </a:solidFill>
                <a:latin typeface="IBM Plex Sans"/>
                <a:cs typeface="IBM Plex Sans"/>
              </a:rPr>
              <a:t>Scoprono i vicini</a:t>
            </a:r>
          </a:p>
        </p:txBody>
      </p:sp>
      <p:sp>
        <p:nvSpPr>
          <p:cNvPr id="1105" name="Text 1105"/>
          <p:cNvSpPr txBox="1"/>
          <p:nvPr/>
        </p:nvSpPr>
        <p:spPr>
          <a:xfrm>
            <a:off x="812800" y="3225800"/>
            <a:ext cx="2514600" cy="1092200"/>
          </a:xfrm>
          <a:prstGeom prst="rect">
            <a:avLst/>
          </a:prstGeom>
          <a:noFill/>
          <a:ln>
            <a:noFill/>
          </a:ln>
        </p:spPr>
        <p:txBody>
          <a:bodyPr wrap="square" lIns="0" tIns="0" rIns="0" bIns="0" anchor="t">
            <a:noAutofit/>
          </a:bodyPr>
          <a:lstStyle/>
          <a:p>
            <a:pPr marL="0" indent="0" algn="l">
              <a:buNone/>
            </a:pPr>
            <a:r>
              <a:rPr lang="it-IT" sz="1600" dirty="0">
                <a:solidFill>
                  <a:srgbClr val="525355"/>
                </a:solidFill>
                <a:latin typeface="IBM Plex Sans"/>
                <a:cs typeface="IBM Plex Sans"/>
              </a:rPr>
              <a:t>Hello su ogni interfaccia: se i parametri combaciano, nasce un'adiacenza.</a:t>
            </a:r>
          </a:p>
        </p:txBody>
      </p:sp>
      <p:cxnSp>
        <p:nvCxnSpPr>
          <p:cNvPr id="1107" name="Line 1107"/>
          <p:cNvCxnSpPr/>
          <p:nvPr/>
        </p:nvCxnSpPr>
        <p:spPr>
          <a:xfrm>
            <a:off x="3505200" y="2362200"/>
            <a:ext cx="2514600" cy="0"/>
          </a:xfrm>
          <a:prstGeom prst="line">
            <a:avLst/>
          </a:prstGeom>
          <a:ln w="25400">
            <a:solidFill>
              <a:srgbClr val="B4502E"/>
            </a:solidFill>
          </a:ln>
        </p:spPr>
      </p:cxnSp>
      <p:sp>
        <p:nvSpPr>
          <p:cNvPr id="1108" name="Text 1108"/>
          <p:cNvSpPr txBox="1"/>
          <p:nvPr/>
        </p:nvSpPr>
        <p:spPr>
          <a:xfrm>
            <a:off x="3505200" y="2514600"/>
            <a:ext cx="2514600" cy="254000"/>
          </a:xfrm>
          <a:prstGeom prst="rect">
            <a:avLst/>
          </a:prstGeom>
          <a:noFill/>
          <a:ln>
            <a:noFill/>
          </a:ln>
        </p:spPr>
        <p:txBody>
          <a:bodyPr wrap="square" lIns="0" tIns="0" rIns="0" bIns="0" anchor="t">
            <a:noAutofit/>
          </a:bodyPr>
          <a:lstStyle/>
          <a:p>
            <a:pPr marL="0" indent="0" algn="l">
              <a:buNone/>
            </a:pPr>
            <a:r>
              <a:rPr lang="it-IT" sz="1600" dirty="0">
                <a:solidFill>
                  <a:srgbClr val="B4502E"/>
                </a:solidFill>
                <a:latin typeface="JetBrains Mono"/>
                <a:cs typeface="JetBrains Mono"/>
              </a:rPr>
              <a:t>02</a:t>
            </a:r>
            <a:r>
              <a:rPr lang="it-IT" sz="1400" dirty="0">
                <a:solidFill>
                  <a:srgbClr val="8A8F96"/>
                </a:solidFill>
                <a:latin typeface="JetBrains Mono"/>
                <a:cs typeface="JetBrains Mono"/>
              </a:rPr>
              <a:t>  LSA</a:t>
            </a:r>
          </a:p>
        </p:txBody>
      </p:sp>
      <p:sp>
        <p:nvSpPr>
          <p:cNvPr id="1109" name="Text 1109"/>
          <p:cNvSpPr txBox="1"/>
          <p:nvPr/>
        </p:nvSpPr>
        <p:spPr>
          <a:xfrm>
            <a:off x="3505200" y="2844800"/>
            <a:ext cx="2514600" cy="330200"/>
          </a:xfrm>
          <a:prstGeom prst="rect">
            <a:avLst/>
          </a:prstGeom>
          <a:noFill/>
          <a:ln>
            <a:noFill/>
          </a:ln>
        </p:spPr>
        <p:txBody>
          <a:bodyPr wrap="square" lIns="0" tIns="0" rIns="0" bIns="0" anchor="t">
            <a:noAutofit/>
          </a:bodyPr>
          <a:lstStyle/>
          <a:p>
            <a:pPr marL="0" indent="0" algn="l">
              <a:buNone/>
            </a:pPr>
            <a:r>
              <a:rPr lang="it-IT" sz="1800" b="1" dirty="0">
                <a:solidFill>
                  <a:srgbClr val="1B1D20"/>
                </a:solidFill>
                <a:latin typeface="IBM Plex Sans"/>
                <a:cs typeface="IBM Plex Sans"/>
              </a:rPr>
              <a:t>Diffondono la mappa</a:t>
            </a:r>
          </a:p>
        </p:txBody>
      </p:sp>
      <p:sp>
        <p:nvSpPr>
          <p:cNvPr id="1110" name="Text 1110"/>
          <p:cNvSpPr txBox="1"/>
          <p:nvPr/>
        </p:nvSpPr>
        <p:spPr>
          <a:xfrm>
            <a:off x="3505200" y="3225800"/>
            <a:ext cx="2514600" cy="1092200"/>
          </a:xfrm>
          <a:prstGeom prst="rect">
            <a:avLst/>
          </a:prstGeom>
          <a:noFill/>
          <a:ln>
            <a:noFill/>
          </a:ln>
        </p:spPr>
        <p:txBody>
          <a:bodyPr wrap="square" lIns="0" tIns="0" rIns="0" bIns="0" anchor="t">
            <a:noAutofit/>
          </a:bodyPr>
          <a:lstStyle/>
          <a:p>
            <a:pPr marL="0" indent="0" algn="l">
              <a:buNone/>
            </a:pPr>
            <a:r>
              <a:rPr lang="it-IT" sz="1600" dirty="0">
                <a:solidFill>
                  <a:srgbClr val="525355"/>
                </a:solidFill>
                <a:latin typeface="IBM Plex Sans"/>
                <a:cs typeface="IBM Plex Sans"/>
              </a:rPr>
              <a:t>Ogni router descrive i suoi link in LSA, inoltrate a tutta l'area.</a:t>
            </a:r>
          </a:p>
        </p:txBody>
      </p:sp>
      <p:cxnSp>
        <p:nvCxnSpPr>
          <p:cNvPr id="1112" name="Line 1112"/>
          <p:cNvCxnSpPr/>
          <p:nvPr/>
        </p:nvCxnSpPr>
        <p:spPr>
          <a:xfrm>
            <a:off x="6197600" y="2362200"/>
            <a:ext cx="2514600" cy="0"/>
          </a:xfrm>
          <a:prstGeom prst="line">
            <a:avLst/>
          </a:prstGeom>
          <a:ln w="25400">
            <a:solidFill>
              <a:srgbClr val="B4502E"/>
            </a:solidFill>
          </a:ln>
        </p:spPr>
      </p:cxnSp>
      <p:sp>
        <p:nvSpPr>
          <p:cNvPr id="1113" name="Text 1113"/>
          <p:cNvSpPr txBox="1"/>
          <p:nvPr/>
        </p:nvSpPr>
        <p:spPr>
          <a:xfrm>
            <a:off x="6197600" y="2514600"/>
            <a:ext cx="2514600" cy="254000"/>
          </a:xfrm>
          <a:prstGeom prst="rect">
            <a:avLst/>
          </a:prstGeom>
          <a:noFill/>
          <a:ln>
            <a:noFill/>
          </a:ln>
        </p:spPr>
        <p:txBody>
          <a:bodyPr wrap="square" lIns="0" tIns="0" rIns="0" bIns="0" anchor="t">
            <a:noAutofit/>
          </a:bodyPr>
          <a:lstStyle/>
          <a:p>
            <a:pPr marL="0" indent="0" algn="l">
              <a:buNone/>
            </a:pPr>
            <a:r>
              <a:rPr lang="it-IT" sz="1600" dirty="0">
                <a:solidFill>
                  <a:srgbClr val="B4502E"/>
                </a:solidFill>
                <a:latin typeface="JetBrains Mono"/>
                <a:cs typeface="JetBrains Mono"/>
              </a:rPr>
              <a:t>03</a:t>
            </a:r>
            <a:r>
              <a:rPr lang="it-IT" sz="1400" dirty="0">
                <a:solidFill>
                  <a:srgbClr val="8A8F96"/>
                </a:solidFill>
                <a:latin typeface="JetBrains Mono"/>
                <a:cs typeface="JetBrains Mono"/>
              </a:rPr>
              <a:t>  SPF</a:t>
            </a:r>
          </a:p>
        </p:txBody>
      </p:sp>
      <p:sp>
        <p:nvSpPr>
          <p:cNvPr id="1114" name="Text 1114"/>
          <p:cNvSpPr txBox="1"/>
          <p:nvPr/>
        </p:nvSpPr>
        <p:spPr>
          <a:xfrm>
            <a:off x="6197600" y="2844800"/>
            <a:ext cx="2514600" cy="330200"/>
          </a:xfrm>
          <a:prstGeom prst="rect">
            <a:avLst/>
          </a:prstGeom>
          <a:noFill/>
          <a:ln>
            <a:noFill/>
          </a:ln>
        </p:spPr>
        <p:txBody>
          <a:bodyPr wrap="square" lIns="0" tIns="0" rIns="0" bIns="0" anchor="t">
            <a:noAutofit/>
          </a:bodyPr>
          <a:lstStyle/>
          <a:p>
            <a:pPr marL="0" indent="0" algn="l">
              <a:buNone/>
            </a:pPr>
            <a:r>
              <a:rPr lang="it-IT" sz="1800" b="1" dirty="0">
                <a:solidFill>
                  <a:srgbClr val="1B1D20"/>
                </a:solidFill>
                <a:latin typeface="IBM Plex Sans"/>
                <a:cs typeface="IBM Plex Sans"/>
              </a:rPr>
              <a:t>Calcolano i percorsi</a:t>
            </a:r>
          </a:p>
        </p:txBody>
      </p:sp>
      <p:sp>
        <p:nvSpPr>
          <p:cNvPr id="1115" name="Text 1115"/>
          <p:cNvSpPr txBox="1"/>
          <p:nvPr/>
        </p:nvSpPr>
        <p:spPr>
          <a:xfrm>
            <a:off x="6197600" y="3225800"/>
            <a:ext cx="2514600" cy="1092200"/>
          </a:xfrm>
          <a:prstGeom prst="rect">
            <a:avLst/>
          </a:prstGeom>
          <a:noFill/>
          <a:ln>
            <a:noFill/>
          </a:ln>
        </p:spPr>
        <p:txBody>
          <a:bodyPr wrap="square" lIns="0" tIns="0" rIns="0" bIns="0" anchor="t">
            <a:noAutofit/>
          </a:bodyPr>
          <a:lstStyle/>
          <a:p>
            <a:pPr marL="0" indent="0" algn="l">
              <a:buNone/>
            </a:pPr>
            <a:r>
              <a:rPr lang="it-IT" sz="1600" dirty="0">
                <a:solidFill>
                  <a:srgbClr val="525355"/>
                </a:solidFill>
                <a:latin typeface="IBM Plex Sans"/>
                <a:cs typeface="IBM Plex Sans"/>
              </a:rPr>
              <a:t>Tutti hanno la stessa LSDB: ognuno esegue Dijkstra sui costi.</a:t>
            </a:r>
          </a:p>
        </p:txBody>
      </p:sp>
      <p:cxnSp>
        <p:nvCxnSpPr>
          <p:cNvPr id="1117" name="Line 1117"/>
          <p:cNvCxnSpPr/>
          <p:nvPr/>
        </p:nvCxnSpPr>
        <p:spPr>
          <a:xfrm>
            <a:off x="8890000" y="2362200"/>
            <a:ext cx="2514600" cy="0"/>
          </a:xfrm>
          <a:prstGeom prst="line">
            <a:avLst/>
          </a:prstGeom>
          <a:ln w="25400">
            <a:solidFill>
              <a:srgbClr val="B4502E"/>
            </a:solidFill>
          </a:ln>
        </p:spPr>
      </p:cxnSp>
      <p:sp>
        <p:nvSpPr>
          <p:cNvPr id="1118" name="Text 1118"/>
          <p:cNvSpPr txBox="1"/>
          <p:nvPr/>
        </p:nvSpPr>
        <p:spPr>
          <a:xfrm>
            <a:off x="8890000" y="2514600"/>
            <a:ext cx="2514600" cy="254000"/>
          </a:xfrm>
          <a:prstGeom prst="rect">
            <a:avLst/>
          </a:prstGeom>
          <a:noFill/>
          <a:ln>
            <a:noFill/>
          </a:ln>
        </p:spPr>
        <p:txBody>
          <a:bodyPr wrap="square" lIns="0" tIns="0" rIns="0" bIns="0" anchor="t">
            <a:noAutofit/>
          </a:bodyPr>
          <a:lstStyle/>
          <a:p>
            <a:pPr marL="0" indent="0" algn="l">
              <a:buNone/>
            </a:pPr>
            <a:r>
              <a:rPr lang="it-IT" sz="1600" dirty="0">
                <a:solidFill>
                  <a:srgbClr val="B4502E"/>
                </a:solidFill>
                <a:latin typeface="JetBrains Mono"/>
                <a:cs typeface="JetBrains Mono"/>
              </a:rPr>
              <a:t>04</a:t>
            </a:r>
            <a:r>
              <a:rPr lang="it-IT" sz="1400" dirty="0">
                <a:solidFill>
                  <a:srgbClr val="8A8F96"/>
                </a:solidFill>
                <a:latin typeface="JetBrains Mono"/>
                <a:cs typeface="JetBrains Mono"/>
              </a:rPr>
              <a:t>  RIB</a:t>
            </a:r>
          </a:p>
        </p:txBody>
      </p:sp>
      <p:sp>
        <p:nvSpPr>
          <p:cNvPr id="1119" name="Text 1119"/>
          <p:cNvSpPr txBox="1"/>
          <p:nvPr/>
        </p:nvSpPr>
        <p:spPr>
          <a:xfrm>
            <a:off x="8890000" y="2844800"/>
            <a:ext cx="2514600" cy="330200"/>
          </a:xfrm>
          <a:prstGeom prst="rect">
            <a:avLst/>
          </a:prstGeom>
          <a:noFill/>
          <a:ln>
            <a:noFill/>
          </a:ln>
        </p:spPr>
        <p:txBody>
          <a:bodyPr wrap="square" lIns="0" tIns="0" rIns="0" bIns="0" anchor="t">
            <a:noAutofit/>
          </a:bodyPr>
          <a:lstStyle/>
          <a:p>
            <a:pPr marL="0" indent="0" algn="l">
              <a:buNone/>
            </a:pPr>
            <a:r>
              <a:rPr lang="it-IT" sz="1800" b="1" dirty="0">
                <a:solidFill>
                  <a:srgbClr val="1B1D20"/>
                </a:solidFill>
                <a:latin typeface="IBM Plex Sans"/>
                <a:cs typeface="IBM Plex Sans"/>
              </a:rPr>
              <a:t>Installano le rotte</a:t>
            </a:r>
          </a:p>
        </p:txBody>
      </p:sp>
      <p:sp>
        <p:nvSpPr>
          <p:cNvPr id="1120" name="Text 1120"/>
          <p:cNvSpPr txBox="1"/>
          <p:nvPr/>
        </p:nvSpPr>
        <p:spPr>
          <a:xfrm>
            <a:off x="8890000" y="3225800"/>
            <a:ext cx="2514600" cy="1092200"/>
          </a:xfrm>
          <a:prstGeom prst="rect">
            <a:avLst/>
          </a:prstGeom>
          <a:noFill/>
          <a:ln>
            <a:noFill/>
          </a:ln>
        </p:spPr>
        <p:txBody>
          <a:bodyPr wrap="square" lIns="0" tIns="0" rIns="0" bIns="0" anchor="t">
            <a:noAutofit/>
          </a:bodyPr>
          <a:lstStyle/>
          <a:p>
            <a:pPr marL="0" indent="0" algn="l">
              <a:buNone/>
            </a:pPr>
            <a:r>
              <a:rPr lang="it-IT" sz="1600" dirty="0">
                <a:solidFill>
                  <a:srgbClr val="525355"/>
                </a:solidFill>
                <a:latin typeface="IBM Plex Sans"/>
                <a:cs typeface="IBM Plex Sans"/>
              </a:rPr>
              <a:t>Il percorso a costo minimo finisce nella tabella di routing.</a:t>
            </a:r>
          </a:p>
        </p:txBody>
      </p:sp>
      <p:cxnSp>
        <p:nvCxnSpPr>
          <p:cNvPr id="1121" name="Line 1121"/>
          <p:cNvCxnSpPr/>
          <p:nvPr/>
        </p:nvCxnSpPr>
        <p:spPr>
          <a:xfrm>
            <a:off x="812800" y="4495800"/>
            <a:ext cx="10566400" cy="0"/>
          </a:xfrm>
          <a:prstGeom prst="line">
            <a:avLst/>
          </a:prstGeom>
          <a:ln w="12700">
            <a:solidFill>
              <a:srgbClr val="E1E0DD"/>
            </a:solidFill>
          </a:ln>
        </p:spPr>
      </p:cxnSp>
      <p:sp>
        <p:nvSpPr>
          <p:cNvPr id="1122" name="Text 1122"/>
          <p:cNvSpPr txBox="1"/>
          <p:nvPr/>
        </p:nvSpPr>
        <p:spPr>
          <a:xfrm>
            <a:off x="812800" y="4673600"/>
            <a:ext cx="3352800" cy="254000"/>
          </a:xfrm>
          <a:prstGeom prst="rect">
            <a:avLst/>
          </a:prstGeom>
          <a:noFill/>
          <a:ln>
            <a:noFill/>
          </a:ln>
        </p:spPr>
        <p:txBody>
          <a:bodyPr wrap="square" lIns="0" tIns="0" rIns="0" bIns="0" anchor="t">
            <a:noAutofit/>
          </a:bodyPr>
          <a:lstStyle/>
          <a:p>
            <a:pPr marL="0" indent="0" algn="l">
              <a:buNone/>
            </a:pPr>
            <a:r>
              <a:rPr lang="it-IT" sz="1400" dirty="0">
                <a:solidFill>
                  <a:srgbClr val="B4502E"/>
                </a:solidFill>
                <a:latin typeface="JetBrains Mono"/>
                <a:cs typeface="JetBrains Mono"/>
              </a:rPr>
              <a:t>costo</a:t>
            </a:r>
          </a:p>
        </p:txBody>
      </p:sp>
      <p:sp>
        <p:nvSpPr>
          <p:cNvPr id="1123" name="Text 1123"/>
          <p:cNvSpPr txBox="1"/>
          <p:nvPr/>
        </p:nvSpPr>
        <p:spPr>
          <a:xfrm>
            <a:off x="812800" y="4978400"/>
            <a:ext cx="3352800" cy="965200"/>
          </a:xfrm>
          <a:prstGeom prst="rect">
            <a:avLst/>
          </a:prstGeom>
          <a:noFill/>
          <a:ln>
            <a:noFill/>
          </a:ln>
        </p:spPr>
        <p:txBody>
          <a:bodyPr wrap="square" lIns="0" tIns="0" rIns="0" bIns="0" anchor="t">
            <a:noAutofit/>
          </a:bodyPr>
          <a:lstStyle/>
          <a:p>
            <a:pPr marL="0" indent="0" algn="l">
              <a:buNone/>
            </a:pPr>
            <a:r>
              <a:rPr lang="it-IT" sz="1600" dirty="0">
                <a:solidFill>
                  <a:srgbClr val="1B1D20"/>
                </a:solidFill>
                <a:latin typeface="IBM Plex Sans"/>
                <a:cs typeface="IBM Plex Sans"/>
              </a:rPr>
              <a:t>Si sommano i costi dei link e vince il totale più basso. Nel lab: 10 sul percorso via r2, 100 su r4.</a:t>
            </a:r>
          </a:p>
        </p:txBody>
      </p:sp>
      <p:sp>
        <p:nvSpPr>
          <p:cNvPr id="1124" name="Text 1124"/>
          <p:cNvSpPr txBox="1"/>
          <p:nvPr/>
        </p:nvSpPr>
        <p:spPr>
          <a:xfrm>
            <a:off x="4419600" y="4673600"/>
            <a:ext cx="3352800" cy="254000"/>
          </a:xfrm>
          <a:prstGeom prst="rect">
            <a:avLst/>
          </a:prstGeom>
          <a:noFill/>
          <a:ln>
            <a:noFill/>
          </a:ln>
        </p:spPr>
        <p:txBody>
          <a:bodyPr wrap="square" lIns="0" tIns="0" rIns="0" bIns="0" anchor="t">
            <a:noAutofit/>
          </a:bodyPr>
          <a:lstStyle/>
          <a:p>
            <a:pPr marL="0" indent="0" algn="l">
              <a:buNone/>
            </a:pPr>
            <a:r>
              <a:rPr lang="it-IT" sz="1400" dirty="0">
                <a:solidFill>
                  <a:srgbClr val="B4502E"/>
                </a:solidFill>
                <a:latin typeface="JetBrains Mono"/>
                <a:cs typeface="JetBrains Mono"/>
              </a:rPr>
              <a:t>router-id</a:t>
            </a:r>
          </a:p>
        </p:txBody>
      </p:sp>
      <p:sp>
        <p:nvSpPr>
          <p:cNvPr id="1125" name="Text 1125"/>
          <p:cNvSpPr txBox="1"/>
          <p:nvPr/>
        </p:nvSpPr>
        <p:spPr>
          <a:xfrm>
            <a:off x="4419600" y="4978400"/>
            <a:ext cx="3352800" cy="965200"/>
          </a:xfrm>
          <a:prstGeom prst="rect">
            <a:avLst/>
          </a:prstGeom>
          <a:noFill/>
          <a:ln>
            <a:noFill/>
          </a:ln>
        </p:spPr>
        <p:txBody>
          <a:bodyPr wrap="square" lIns="0" tIns="0" rIns="0" bIns="0" anchor="t">
            <a:noAutofit/>
          </a:bodyPr>
          <a:lstStyle/>
          <a:p>
            <a:pPr marL="0" indent="0" algn="l">
              <a:buNone/>
            </a:pPr>
            <a:r>
              <a:rPr lang="it-IT" sz="1600" dirty="0">
                <a:solidFill>
                  <a:srgbClr val="1B1D20"/>
                </a:solidFill>
                <a:latin typeface="IBM Plex Sans"/>
                <a:cs typeface="IBM Plex Sans"/>
              </a:rPr>
              <a:t>Identifica il router nelle LSA e tra i vicini. Nel lab è la loopback 10.255.0.N.</a:t>
            </a:r>
          </a:p>
        </p:txBody>
      </p:sp>
      <p:sp>
        <p:nvSpPr>
          <p:cNvPr id="1126" name="Text 1126"/>
          <p:cNvSpPr txBox="1"/>
          <p:nvPr/>
        </p:nvSpPr>
        <p:spPr>
          <a:xfrm>
            <a:off x="8026400" y="4673600"/>
            <a:ext cx="3352800" cy="254000"/>
          </a:xfrm>
          <a:prstGeom prst="rect">
            <a:avLst/>
          </a:prstGeom>
          <a:noFill/>
          <a:ln>
            <a:noFill/>
          </a:ln>
        </p:spPr>
        <p:txBody>
          <a:bodyPr wrap="square" lIns="0" tIns="0" rIns="0" bIns="0" anchor="t">
            <a:noAutofit/>
          </a:bodyPr>
          <a:lstStyle/>
          <a:p>
            <a:pPr marL="0" indent="0" algn="l">
              <a:buNone/>
            </a:pPr>
            <a:r>
              <a:rPr lang="it-IT" sz="1400" dirty="0">
                <a:solidFill>
                  <a:srgbClr val="B4502E"/>
                </a:solidFill>
                <a:latin typeface="JetBrains Mono"/>
                <a:cs typeface="JetBrains Mono"/>
              </a:rPr>
              <a:t>guasto</a:t>
            </a:r>
          </a:p>
        </p:txBody>
      </p:sp>
      <p:sp>
        <p:nvSpPr>
          <p:cNvPr id="1127" name="Text 1127"/>
          <p:cNvSpPr txBox="1"/>
          <p:nvPr/>
        </p:nvSpPr>
        <p:spPr>
          <a:xfrm>
            <a:off x="8026400" y="4978400"/>
            <a:ext cx="3352800" cy="965200"/>
          </a:xfrm>
          <a:prstGeom prst="rect">
            <a:avLst/>
          </a:prstGeom>
          <a:noFill/>
          <a:ln>
            <a:noFill/>
          </a:ln>
        </p:spPr>
        <p:txBody>
          <a:bodyPr wrap="square" lIns="0" tIns="0" rIns="0" bIns="0" anchor="t">
            <a:noAutofit/>
          </a:bodyPr>
          <a:lstStyle/>
          <a:p>
            <a:pPr marL="0" indent="0" algn="l">
              <a:buNone/>
            </a:pPr>
            <a:r>
              <a:rPr lang="it-IT" sz="1600" dirty="0">
                <a:solidFill>
                  <a:srgbClr val="1B1D20"/>
                </a:solidFill>
                <a:latin typeface="IBM Plex Sans"/>
                <a:cs typeface="IBM Plex Sans"/>
              </a:rPr>
              <a:t>Cade un link: nuove LSA, nuovo SPF, il traffico passa sul percorso di backup.</a:t>
            </a:r>
          </a:p>
        </p:txBody>
      </p:sp>
    </p:spTree>
    <p:extLst>
      <p:ext uri="{BB962C8B-B14F-4D97-AF65-F5344CB8AC3E}">
        <p14:creationId xmlns:p14="http://schemas.microsoft.com/office/powerpoint/2010/main" val="33217570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Hello: quattro adiacenze sul backbone</a:t>
            </a:r>
          </a:p>
        </p:txBody>
      </p:sp>
      <p:cxnSp>
        <p:nvCxnSpPr>
          <p:cNvPr id="1201" name="Line 1201"/>
          <p:cNvCxnSpPr/>
          <p:nvPr/>
        </p:nvCxnSpPr>
        <p:spPr>
          <a:xfrm>
            <a:off x="2082800" y="2540000"/>
            <a:ext cx="406400" cy="0"/>
          </a:xfrm>
          <a:prstGeom prst="line">
            <a:avLst/>
          </a:prstGeom>
          <a:ln w="19050">
            <a:solidFill>
              <a:srgbClr val="8A8F96"/>
            </a:solidFill>
          </a:ln>
        </p:spPr>
      </p:cxnSp>
      <p:cxnSp>
        <p:nvCxnSpPr>
          <p:cNvPr id="1202" name="Line 1202"/>
          <p:cNvCxnSpPr/>
          <p:nvPr/>
        </p:nvCxnSpPr>
        <p:spPr>
          <a:xfrm>
            <a:off x="3810000" y="2540000"/>
            <a:ext cx="1117600" cy="0"/>
          </a:xfrm>
          <a:prstGeom prst="line">
            <a:avLst/>
          </a:prstGeom>
          <a:ln w="38100">
            <a:solidFill>
              <a:srgbClr val="B4502E"/>
            </a:solidFill>
          </a:ln>
        </p:spPr>
      </p:cxnSp>
      <p:cxnSp>
        <p:nvCxnSpPr>
          <p:cNvPr id="1203" name="Line 1203"/>
          <p:cNvCxnSpPr/>
          <p:nvPr/>
        </p:nvCxnSpPr>
        <p:spPr>
          <a:xfrm>
            <a:off x="3149600" y="2895600"/>
            <a:ext cx="0" cy="1473200"/>
          </a:xfrm>
          <a:prstGeom prst="line">
            <a:avLst/>
          </a:prstGeom>
          <a:ln w="38100">
            <a:solidFill>
              <a:srgbClr val="B4502E"/>
            </a:solidFill>
          </a:ln>
        </p:spPr>
      </p:cxnSp>
      <p:cxnSp>
        <p:nvCxnSpPr>
          <p:cNvPr id="1204" name="Line 1204"/>
          <p:cNvCxnSpPr/>
          <p:nvPr/>
        </p:nvCxnSpPr>
        <p:spPr>
          <a:xfrm>
            <a:off x="5588000" y="2895600"/>
            <a:ext cx="0" cy="1473200"/>
          </a:xfrm>
          <a:prstGeom prst="line">
            <a:avLst/>
          </a:prstGeom>
          <a:ln w="38100">
            <a:solidFill>
              <a:srgbClr val="B4502E"/>
            </a:solidFill>
          </a:ln>
        </p:spPr>
      </p:cxnSp>
      <p:cxnSp>
        <p:nvCxnSpPr>
          <p:cNvPr id="1205" name="Line 1205"/>
          <p:cNvCxnSpPr/>
          <p:nvPr/>
        </p:nvCxnSpPr>
        <p:spPr>
          <a:xfrm>
            <a:off x="3810000" y="4724400"/>
            <a:ext cx="1117600" cy="0"/>
          </a:xfrm>
          <a:prstGeom prst="line">
            <a:avLst/>
          </a:prstGeom>
          <a:ln w="38100">
            <a:solidFill>
              <a:srgbClr val="B4502E"/>
            </a:solidFill>
          </a:ln>
        </p:spPr>
      </p:cxnSp>
      <p:cxnSp>
        <p:nvCxnSpPr>
          <p:cNvPr id="1206" name="Line 1206"/>
          <p:cNvCxnSpPr/>
          <p:nvPr/>
        </p:nvCxnSpPr>
        <p:spPr>
          <a:xfrm>
            <a:off x="6248400" y="4724400"/>
            <a:ext cx="406400" cy="0"/>
          </a:xfrm>
          <a:prstGeom prst="line">
            <a:avLst/>
          </a:prstGeom>
          <a:ln w="19050">
            <a:solidFill>
              <a:srgbClr val="8A8F96"/>
            </a:solidFill>
          </a:ln>
        </p:spPr>
      </p:cxnSp>
      <p:sp>
        <p:nvSpPr>
          <p:cNvPr id="1207" name="Shape 1207"/>
          <p:cNvSpPr txBox="1"/>
          <p:nvPr/>
        </p:nvSpPr>
        <p:spPr>
          <a:xfrm>
            <a:off x="3810000" y="22606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1B1D20"/>
                </a:solidFill>
                <a:latin typeface="JetBrains Mono"/>
                <a:cs typeface="JetBrains Mono"/>
              </a:rPr>
              <a:t>n12</a:t>
            </a:r>
          </a:p>
        </p:txBody>
      </p:sp>
      <p:sp>
        <p:nvSpPr>
          <p:cNvPr id="1208" name="Shape 1208"/>
          <p:cNvSpPr txBox="1"/>
          <p:nvPr/>
        </p:nvSpPr>
        <p:spPr>
          <a:xfrm>
            <a:off x="3810000" y="26162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B4502E"/>
                </a:solidFill>
                <a:latin typeface="JetBrains Mono"/>
                <a:cs typeface="JetBrains Mono"/>
              </a:rPr>
              <a:t>Full</a:t>
            </a:r>
          </a:p>
        </p:txBody>
      </p:sp>
      <p:sp>
        <p:nvSpPr>
          <p:cNvPr id="1209" name="Shape 1209"/>
          <p:cNvSpPr txBox="1"/>
          <p:nvPr/>
        </p:nvSpPr>
        <p:spPr>
          <a:xfrm>
            <a:off x="3810000" y="44450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1B1D20"/>
                </a:solidFill>
                <a:latin typeface="JetBrains Mono"/>
                <a:cs typeface="JetBrains Mono"/>
              </a:rPr>
              <a:t>n34</a:t>
            </a:r>
          </a:p>
        </p:txBody>
      </p:sp>
      <p:sp>
        <p:nvSpPr>
          <p:cNvPr id="1210" name="Shape 1210"/>
          <p:cNvSpPr txBox="1"/>
          <p:nvPr/>
        </p:nvSpPr>
        <p:spPr>
          <a:xfrm>
            <a:off x="3810000" y="48006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B4502E"/>
                </a:solidFill>
                <a:latin typeface="JetBrains Mono"/>
                <a:cs typeface="JetBrains Mono"/>
              </a:rPr>
              <a:t>Full</a:t>
            </a:r>
          </a:p>
        </p:txBody>
      </p:sp>
      <p:sp>
        <p:nvSpPr>
          <p:cNvPr id="1211" name="Shape 1211"/>
          <p:cNvSpPr txBox="1"/>
          <p:nvPr/>
        </p:nvSpPr>
        <p:spPr>
          <a:xfrm>
            <a:off x="1600200" y="3378200"/>
            <a:ext cx="1447800" cy="457200"/>
          </a:xfrm>
          <a:prstGeom prst="rect">
            <a:avLst/>
          </a:prstGeom>
          <a:noFill/>
          <a:ln>
            <a:noFill/>
          </a:ln>
        </p:spPr>
        <p:txBody>
          <a:bodyPr wrap="square" lIns="0" tIns="0" rIns="0" bIns="0" anchor="t">
            <a:noAutofit/>
          </a:bodyPr>
          <a:lstStyle/>
          <a:p>
            <a:pPr marL="0" indent="0" algn="r">
              <a:buNone/>
            </a:pPr>
            <a:r>
              <a:rPr lang="it-IT" sz="1200" b="1" dirty="0">
                <a:solidFill>
                  <a:srgbClr val="1B1D20"/>
                </a:solidFill>
                <a:latin typeface="JetBrains Mono"/>
                <a:cs typeface="JetBrains Mono"/>
              </a:rPr>
              <a:t>n41</a:t>
            </a:r>
          </a:p>
          <a:p>
            <a:pPr marL="0" indent="0" algn="r">
              <a:buNone/>
            </a:pPr>
            <a:r>
              <a:rPr lang="it-IT" sz="1200" b="1" dirty="0">
                <a:solidFill>
                  <a:srgbClr val="B4502E"/>
                </a:solidFill>
                <a:latin typeface="JetBrains Mono"/>
                <a:cs typeface="JetBrains Mono"/>
              </a:rPr>
              <a:t>Full</a:t>
            </a:r>
          </a:p>
        </p:txBody>
      </p:sp>
      <p:sp>
        <p:nvSpPr>
          <p:cNvPr id="1212" name="Shape 1212"/>
          <p:cNvSpPr txBox="1"/>
          <p:nvPr/>
        </p:nvSpPr>
        <p:spPr>
          <a:xfrm>
            <a:off x="5715000" y="3378200"/>
            <a:ext cx="1447800" cy="457200"/>
          </a:xfrm>
          <a:prstGeom prst="rect">
            <a:avLst/>
          </a:prstGeom>
          <a:noFill/>
          <a:ln>
            <a:noFill/>
          </a:ln>
        </p:spPr>
        <p:txBody>
          <a:bodyPr wrap="square" lIns="0" tIns="0" rIns="0" bIns="0" anchor="t">
            <a:noAutofit/>
          </a:bodyPr>
          <a:lstStyle/>
          <a:p>
            <a:pPr marL="0" indent="0" algn="l">
              <a:buNone/>
            </a:pPr>
            <a:r>
              <a:rPr lang="it-IT" sz="1200" b="1" dirty="0">
                <a:solidFill>
                  <a:srgbClr val="1B1D20"/>
                </a:solidFill>
                <a:latin typeface="JetBrains Mono"/>
                <a:cs typeface="JetBrains Mono"/>
              </a:rPr>
              <a:t>n23</a:t>
            </a:r>
          </a:p>
          <a:p>
            <a:pPr marL="0" indent="0" algn="l">
              <a:buNone/>
            </a:pPr>
            <a:r>
              <a:rPr lang="it-IT" sz="1200" b="1" dirty="0">
                <a:solidFill>
                  <a:srgbClr val="B4502E"/>
                </a:solidFill>
                <a:latin typeface="JetBrains Mono"/>
                <a:cs typeface="JetBrains Mono"/>
              </a:rPr>
              <a:t>Full</a:t>
            </a:r>
          </a:p>
        </p:txBody>
      </p:sp>
      <p:sp>
        <p:nvSpPr>
          <p:cNvPr id="1213" name="Shape 1213"/>
          <p:cNvSpPr/>
          <p:nvPr/>
        </p:nvSpPr>
        <p:spPr>
          <a:xfrm>
            <a:off x="2489200" y="21844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r1</a:t>
            </a:r>
          </a:p>
          <a:p>
            <a:pPr marL="0" indent="0" algn="ctr">
              <a:buNone/>
            </a:pPr>
            <a:r>
              <a:rPr lang="it-IT" sz="1100" dirty="0">
                <a:solidFill>
                  <a:srgbClr val="C9CCD1"/>
                </a:solidFill>
                <a:latin typeface="JetBrains Mono"/>
                <a:cs typeface="JetBrains Mono"/>
              </a:rPr>
              <a:t>lo 10.255.0.1</a:t>
            </a:r>
          </a:p>
        </p:txBody>
      </p:sp>
      <p:sp>
        <p:nvSpPr>
          <p:cNvPr id="1214" name="Shape 1214"/>
          <p:cNvSpPr/>
          <p:nvPr/>
        </p:nvSpPr>
        <p:spPr>
          <a:xfrm>
            <a:off x="4927600" y="21844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r2</a:t>
            </a:r>
          </a:p>
          <a:p>
            <a:pPr marL="0" indent="0" algn="ctr">
              <a:buNone/>
            </a:pPr>
            <a:r>
              <a:rPr lang="it-IT" sz="1100" dirty="0">
                <a:solidFill>
                  <a:srgbClr val="C9CCD1"/>
                </a:solidFill>
                <a:latin typeface="JetBrains Mono"/>
                <a:cs typeface="JetBrains Mono"/>
              </a:rPr>
              <a:t>lo 10.255.0.2</a:t>
            </a:r>
          </a:p>
        </p:txBody>
      </p:sp>
      <p:sp>
        <p:nvSpPr>
          <p:cNvPr id="1215" name="Shape 1215"/>
          <p:cNvSpPr/>
          <p:nvPr/>
        </p:nvSpPr>
        <p:spPr>
          <a:xfrm>
            <a:off x="2489200" y="43688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r4</a:t>
            </a:r>
          </a:p>
          <a:p>
            <a:pPr marL="0" indent="0" algn="ctr">
              <a:buNone/>
            </a:pPr>
            <a:r>
              <a:rPr lang="it-IT" sz="1100" dirty="0">
                <a:solidFill>
                  <a:srgbClr val="C9CCD1"/>
                </a:solidFill>
                <a:latin typeface="JetBrains Mono"/>
                <a:cs typeface="JetBrains Mono"/>
              </a:rPr>
              <a:t>lo 10.255.0.4</a:t>
            </a:r>
          </a:p>
        </p:txBody>
      </p:sp>
      <p:sp>
        <p:nvSpPr>
          <p:cNvPr id="1216" name="Shape 1216"/>
          <p:cNvSpPr/>
          <p:nvPr/>
        </p:nvSpPr>
        <p:spPr>
          <a:xfrm>
            <a:off x="4927600" y="43688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r3</a:t>
            </a:r>
          </a:p>
          <a:p>
            <a:pPr marL="0" indent="0" algn="ctr">
              <a:buNone/>
            </a:pPr>
            <a:r>
              <a:rPr lang="it-IT" sz="1100" dirty="0">
                <a:solidFill>
                  <a:srgbClr val="C9CCD1"/>
                </a:solidFill>
                <a:latin typeface="JetBrains Mono"/>
                <a:cs typeface="JetBrains Mono"/>
              </a:rPr>
              <a:t>lo 10.255.0.3</a:t>
            </a:r>
          </a:p>
        </p:txBody>
      </p:sp>
      <p:sp>
        <p:nvSpPr>
          <p:cNvPr id="1217" name="Shape 1217"/>
          <p:cNvSpPr/>
          <p:nvPr/>
        </p:nvSpPr>
        <p:spPr>
          <a:xfrm>
            <a:off x="812800" y="2235200"/>
            <a:ext cx="1270000" cy="609600"/>
          </a:xfrm>
          <a:prstGeom prst="rect">
            <a:avLst/>
          </a:prstGeom>
          <a:solidFill>
            <a:srgbClr val="F6F5F0"/>
          </a:solidFill>
          <a:ln w="9525">
            <a:solidFill>
              <a:srgbClr val="1B1D20"/>
            </a:solidFill>
          </a:ln>
        </p:spPr>
        <p:txBody>
          <a:bodyPr wrap="square" lIns="0" tIns="0" rIns="0" bIns="0" anchor="ctr">
            <a:noAutofit/>
          </a:bodyPr>
          <a:lstStyle/>
          <a:p>
            <a:pPr marL="0" indent="0" algn="ctr">
              <a:buNone/>
            </a:pPr>
            <a:r>
              <a:rPr lang="it-IT" sz="1600" b="1" dirty="0">
                <a:solidFill>
                  <a:srgbClr val="1B1D20"/>
                </a:solidFill>
                <a:latin typeface="IBM Plex Sans"/>
                <a:cs typeface="IBM Plex Sans"/>
              </a:rPr>
              <a:t>pc_a</a:t>
            </a:r>
          </a:p>
          <a:p>
            <a:pPr marL="0" indent="0" algn="ctr">
              <a:buNone/>
            </a:pPr>
            <a:r>
              <a:rPr lang="it-IT" sz="1100" dirty="0">
                <a:solidFill>
                  <a:srgbClr val="5B5F66"/>
                </a:solidFill>
                <a:latin typeface="JetBrains Mono"/>
                <a:cs typeface="JetBrains Mono"/>
              </a:rPr>
              <a:t>192.168.10.10</a:t>
            </a:r>
          </a:p>
        </p:txBody>
      </p:sp>
      <p:sp>
        <p:nvSpPr>
          <p:cNvPr id="1218" name="Shape 1218"/>
          <p:cNvSpPr/>
          <p:nvPr/>
        </p:nvSpPr>
        <p:spPr>
          <a:xfrm>
            <a:off x="6654800" y="4419600"/>
            <a:ext cx="1270000" cy="609600"/>
          </a:xfrm>
          <a:prstGeom prst="rect">
            <a:avLst/>
          </a:prstGeom>
          <a:solidFill>
            <a:srgbClr val="F6F5F0"/>
          </a:solidFill>
          <a:ln w="9525">
            <a:solidFill>
              <a:srgbClr val="1B1D20"/>
            </a:solidFill>
          </a:ln>
        </p:spPr>
        <p:txBody>
          <a:bodyPr wrap="square" lIns="0" tIns="0" rIns="0" bIns="0" anchor="ctr">
            <a:noAutofit/>
          </a:bodyPr>
          <a:lstStyle/>
          <a:p>
            <a:pPr marL="0" indent="0" algn="ctr">
              <a:buNone/>
            </a:pPr>
            <a:r>
              <a:rPr lang="it-IT" sz="1600" b="1" dirty="0">
                <a:solidFill>
                  <a:srgbClr val="1B1D20"/>
                </a:solidFill>
                <a:latin typeface="IBM Plex Sans"/>
                <a:cs typeface="IBM Plex Sans"/>
              </a:rPr>
              <a:t>pc_b</a:t>
            </a:r>
          </a:p>
          <a:p>
            <a:pPr marL="0" indent="0" algn="ctr">
              <a:buNone/>
            </a:pPr>
            <a:r>
              <a:rPr lang="it-IT" sz="1100" dirty="0">
                <a:solidFill>
                  <a:srgbClr val="5B5F66"/>
                </a:solidFill>
                <a:latin typeface="JetBrains Mono"/>
                <a:cs typeface="JetBrains Mono"/>
              </a:rPr>
              <a:t>192.168.20.10</a:t>
            </a:r>
          </a:p>
        </p:txBody>
      </p:sp>
      <p:sp>
        <p:nvSpPr>
          <p:cNvPr id="1219" name="Shape 1219"/>
          <p:cNvSpPr txBox="1"/>
          <p:nvPr/>
        </p:nvSpPr>
        <p:spPr>
          <a:xfrm>
            <a:off x="812800" y="1981200"/>
            <a:ext cx="2032000" cy="203200"/>
          </a:xfrm>
          <a:prstGeom prst="rect">
            <a:avLst/>
          </a:prstGeom>
          <a:noFill/>
          <a:ln>
            <a:noFill/>
          </a:ln>
        </p:spPr>
        <p:txBody>
          <a:bodyPr wrap="square" lIns="0" tIns="0" rIns="0" bIns="0" anchor="t">
            <a:noAutofit/>
          </a:bodyPr>
          <a:lstStyle/>
          <a:p>
            <a:pPr marL="0" indent="0" algn="l">
              <a:buNone/>
            </a:pPr>
            <a:r>
              <a:rPr lang="it-IT" sz="1100" dirty="0">
                <a:solidFill>
                  <a:srgbClr val="8A8F96"/>
                </a:solidFill>
                <a:latin typeface="JetBrains Mono"/>
                <a:cs typeface="JetBrains Mono"/>
              </a:rPr>
              <a:t>SEDE A · lanA</a:t>
            </a:r>
          </a:p>
        </p:txBody>
      </p:sp>
      <p:sp>
        <p:nvSpPr>
          <p:cNvPr id="1220" name="Shape 1220"/>
          <p:cNvSpPr txBox="1"/>
          <p:nvPr/>
        </p:nvSpPr>
        <p:spPr>
          <a:xfrm>
            <a:off x="6654800" y="5105400"/>
            <a:ext cx="1524000" cy="203200"/>
          </a:xfrm>
          <a:prstGeom prst="rect">
            <a:avLst/>
          </a:prstGeom>
          <a:noFill/>
          <a:ln>
            <a:noFill/>
          </a:ln>
        </p:spPr>
        <p:txBody>
          <a:bodyPr wrap="square" lIns="0" tIns="0" rIns="0" bIns="0" anchor="t">
            <a:noAutofit/>
          </a:bodyPr>
          <a:lstStyle/>
          <a:p>
            <a:pPr marL="0" indent="0" algn="l">
              <a:buNone/>
            </a:pPr>
            <a:r>
              <a:rPr lang="it-IT" sz="1100" dirty="0">
                <a:solidFill>
                  <a:srgbClr val="8A8F96"/>
                </a:solidFill>
                <a:latin typeface="JetBrains Mono"/>
                <a:cs typeface="JetBrains Mono"/>
              </a:rPr>
              <a:t>SEDE B · lanB</a:t>
            </a:r>
          </a:p>
        </p:txBody>
      </p:sp>
      <p:cxnSp>
        <p:nvCxnSpPr>
          <p:cNvPr id="1221" name="Line 1221"/>
          <p:cNvCxnSpPr/>
          <p:nvPr/>
        </p:nvCxnSpPr>
        <p:spPr>
          <a:xfrm>
            <a:off x="812800" y="5664200"/>
            <a:ext cx="304800" cy="0"/>
          </a:xfrm>
          <a:prstGeom prst="line">
            <a:avLst/>
          </a:prstGeom>
          <a:ln w="38100">
            <a:solidFill>
              <a:srgbClr val="B4502E"/>
            </a:solidFill>
          </a:ln>
        </p:spPr>
      </p:cxnSp>
      <p:sp>
        <p:nvSpPr>
          <p:cNvPr id="1222" name="Shape 1222"/>
          <p:cNvSpPr txBox="1"/>
          <p:nvPr/>
        </p:nvSpPr>
        <p:spPr>
          <a:xfrm>
            <a:off x="1219200" y="5549900"/>
            <a:ext cx="3175000" cy="228600"/>
          </a:xfrm>
          <a:prstGeom prst="rect">
            <a:avLst/>
          </a:prstGeom>
          <a:noFill/>
          <a:ln>
            <a:noFill/>
          </a:ln>
        </p:spPr>
        <p:txBody>
          <a:bodyPr wrap="square" lIns="0" tIns="0" rIns="0" bIns="0" anchor="t">
            <a:noAutofit/>
          </a:bodyPr>
          <a:lstStyle/>
          <a:p>
            <a:pPr marL="0" indent="0" algn="l">
              <a:buNone/>
            </a:pPr>
            <a:r>
              <a:rPr lang="it-IT" sz="1200" dirty="0">
                <a:solidFill>
                  <a:srgbClr val="525355"/>
                </a:solidFill>
                <a:latin typeface="IBM Plex Sans"/>
                <a:cs typeface="IBM Plex Sans"/>
              </a:rPr>
              <a:t>adiacenza OSPF</a:t>
            </a:r>
          </a:p>
        </p:txBody>
      </p:sp>
      <p:cxnSp>
        <p:nvCxnSpPr>
          <p:cNvPr id="1223" name="Line 1223"/>
          <p:cNvCxnSpPr/>
          <p:nvPr/>
        </p:nvCxnSpPr>
        <p:spPr>
          <a:xfrm>
            <a:off x="2799080" y="5664200"/>
            <a:ext cx="304800" cy="0"/>
          </a:xfrm>
          <a:prstGeom prst="line">
            <a:avLst/>
          </a:prstGeom>
          <a:ln w="19050">
            <a:solidFill>
              <a:srgbClr val="8A8F96"/>
            </a:solidFill>
          </a:ln>
        </p:spPr>
      </p:cxnSp>
      <p:sp>
        <p:nvSpPr>
          <p:cNvPr id="1224" name="Shape 1224"/>
          <p:cNvSpPr txBox="1"/>
          <p:nvPr/>
        </p:nvSpPr>
        <p:spPr>
          <a:xfrm>
            <a:off x="3205480" y="5549900"/>
            <a:ext cx="3175000" cy="228600"/>
          </a:xfrm>
          <a:prstGeom prst="rect">
            <a:avLst/>
          </a:prstGeom>
          <a:noFill/>
          <a:ln>
            <a:noFill/>
          </a:ln>
        </p:spPr>
        <p:txBody>
          <a:bodyPr wrap="square" lIns="0" tIns="0" rIns="0" bIns="0" anchor="t">
            <a:noAutofit/>
          </a:bodyPr>
          <a:lstStyle/>
          <a:p>
            <a:pPr marL="0" indent="0" algn="l">
              <a:buNone/>
            </a:pPr>
            <a:r>
              <a:rPr lang="it-IT" sz="1200" dirty="0">
                <a:solidFill>
                  <a:srgbClr val="525355"/>
                </a:solidFill>
                <a:latin typeface="IBM Plex Sans"/>
                <a:cs typeface="IBM Plex Sans"/>
              </a:rPr>
              <a:t>LAN passiva, nessun Hello</a:t>
            </a:r>
          </a:p>
        </p:txBody>
      </p:sp>
      <p:cxnSp>
        <p:nvCxnSpPr>
          <p:cNvPr id="1225" name="Line 1225"/>
          <p:cNvCxnSpPr/>
          <p:nvPr/>
        </p:nvCxnSpPr>
        <p:spPr>
          <a:xfrm>
            <a:off x="8128000" y="1905000"/>
            <a:ext cx="0" cy="3810000"/>
          </a:xfrm>
          <a:prstGeom prst="line">
            <a:avLst/>
          </a:prstGeom>
          <a:ln w="12700">
            <a:solidFill>
              <a:srgbClr val="E1E0DD"/>
            </a:solidFill>
          </a:ln>
        </p:spPr>
      </p:cxnSp>
      <p:sp>
        <p:nvSpPr>
          <p:cNvPr id="1226" name="Shape 1226"/>
          <p:cNvSpPr txBox="1"/>
          <p:nvPr/>
        </p:nvSpPr>
        <p:spPr>
          <a:xfrm>
            <a:off x="8331200" y="1905000"/>
            <a:ext cx="3048000" cy="254000"/>
          </a:xfrm>
          <a:prstGeom prst="rect">
            <a:avLst/>
          </a:prstGeom>
          <a:noFill/>
          <a:ln>
            <a:noFill/>
          </a:ln>
        </p:spPr>
        <p:txBody>
          <a:bodyPr wrap="square" lIns="0" tIns="0" rIns="0" bIns="0" anchor="t">
            <a:noAutofit/>
          </a:bodyPr>
          <a:lstStyle/>
          <a:p>
            <a:pPr marL="0" indent="0" algn="l">
              <a:buNone/>
            </a:pPr>
            <a:r>
              <a:rPr lang="it-IT" sz="1400" dirty="0">
                <a:solidFill>
                  <a:srgbClr val="B4502E"/>
                </a:solidFill>
                <a:latin typeface="JetBrains Mono"/>
                <a:cs typeface="JetBrains Mono"/>
              </a:rPr>
              <a:t>01 · Hello</a:t>
            </a:r>
          </a:p>
        </p:txBody>
      </p:sp>
      <p:sp>
        <p:nvSpPr>
          <p:cNvPr id="1227" name="Shape 1227"/>
          <p:cNvSpPr txBox="1"/>
          <p:nvPr/>
        </p:nvSpPr>
        <p:spPr>
          <a:xfrm>
            <a:off x="8331200" y="2286000"/>
            <a:ext cx="3048000" cy="762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r1 manda Hello su eth1 ed eth2 </a:t>
            </a:r>
            <a:r>
              <a:rPr lang="it-IT" sz="1600" dirty="0">
                <a:solidFill>
                  <a:srgbClr val="1B1D20"/>
                </a:solidFill>
                <a:latin typeface="IBM Plex Sans"/>
                <a:cs typeface="IBM Plex Sans"/>
              </a:rPr>
              <a:t>e trova r2 e r4. Gli altri router fanno lo stesso.</a:t>
            </a:r>
          </a:p>
        </p:txBody>
      </p:sp>
      <p:sp>
        <p:nvSpPr>
          <p:cNvPr id="1228" name="Shape 1228"/>
          <p:cNvSpPr txBox="1"/>
          <p:nvPr/>
        </p:nvSpPr>
        <p:spPr>
          <a:xfrm>
            <a:off x="8331200" y="3225800"/>
            <a:ext cx="3048000" cy="762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Link /30 punto-punto: </a:t>
            </a:r>
            <a:r>
              <a:rPr lang="it-IT" sz="1600" dirty="0">
                <a:solidFill>
                  <a:srgbClr val="1B1D20"/>
                </a:solidFill>
                <a:latin typeface="IBM Plex Sans"/>
                <a:cs typeface="IBM Plex Sans"/>
              </a:rPr>
              <a:t>niente elezione DR, l'adiacenza passa subito a Full.</a:t>
            </a:r>
          </a:p>
        </p:txBody>
      </p:sp>
      <p:sp>
        <p:nvSpPr>
          <p:cNvPr id="1229" name="Shape 1229"/>
          <p:cNvSpPr txBox="1"/>
          <p:nvPr/>
        </p:nvSpPr>
        <p:spPr>
          <a:xfrm>
            <a:off x="8331200" y="4165600"/>
            <a:ext cx="3048000" cy="762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lanA e lanB sono passive: </a:t>
            </a:r>
            <a:r>
              <a:rPr lang="it-IT" sz="1600" dirty="0">
                <a:solidFill>
                  <a:srgbClr val="1B1D20"/>
                </a:solidFill>
                <a:latin typeface="IBM Plex Sans"/>
                <a:cs typeface="IBM Plex Sans"/>
              </a:rPr>
              <a:t>annunciate in OSPF, ma nessun Hello verso pc_a e pc_b.</a:t>
            </a:r>
          </a:p>
        </p:txBody>
      </p:sp>
    </p:spTree>
    <p:extLst>
      <p:ext uri="{BB962C8B-B14F-4D97-AF65-F5344CB8AC3E}">
        <p14:creationId xmlns:p14="http://schemas.microsoft.com/office/powerpoint/2010/main" val="4846927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LSA: quattro router, una sola mappa</a:t>
            </a:r>
          </a:p>
        </p:txBody>
      </p:sp>
      <p:cxnSp>
        <p:nvCxnSpPr>
          <p:cNvPr id="1201" name="Line 1201"/>
          <p:cNvCxnSpPr/>
          <p:nvPr/>
        </p:nvCxnSpPr>
        <p:spPr>
          <a:xfrm>
            <a:off x="2082800" y="2540000"/>
            <a:ext cx="406400" cy="0"/>
          </a:xfrm>
          <a:prstGeom prst="line">
            <a:avLst/>
          </a:prstGeom>
          <a:ln w="19050">
            <a:solidFill>
              <a:srgbClr val="1B1D20"/>
            </a:solidFill>
          </a:ln>
        </p:spPr>
      </p:cxnSp>
      <p:cxnSp>
        <p:nvCxnSpPr>
          <p:cNvPr id="1202" name="Line 1202"/>
          <p:cNvCxnSpPr/>
          <p:nvPr/>
        </p:nvCxnSpPr>
        <p:spPr>
          <a:xfrm>
            <a:off x="3810000" y="2540000"/>
            <a:ext cx="1117600" cy="0"/>
          </a:xfrm>
          <a:prstGeom prst="line">
            <a:avLst/>
          </a:prstGeom>
          <a:ln w="38100">
            <a:solidFill>
              <a:srgbClr val="B4502E"/>
            </a:solidFill>
          </a:ln>
        </p:spPr>
      </p:cxnSp>
      <p:cxnSp>
        <p:nvCxnSpPr>
          <p:cNvPr id="1203" name="Line 1203"/>
          <p:cNvCxnSpPr/>
          <p:nvPr/>
        </p:nvCxnSpPr>
        <p:spPr>
          <a:xfrm>
            <a:off x="3149600" y="2895600"/>
            <a:ext cx="0" cy="1473200"/>
          </a:xfrm>
          <a:prstGeom prst="line">
            <a:avLst/>
          </a:prstGeom>
          <a:ln w="38100">
            <a:solidFill>
              <a:srgbClr val="B4502E"/>
            </a:solidFill>
          </a:ln>
        </p:spPr>
      </p:cxnSp>
      <p:cxnSp>
        <p:nvCxnSpPr>
          <p:cNvPr id="1204" name="Line 1204"/>
          <p:cNvCxnSpPr/>
          <p:nvPr/>
        </p:nvCxnSpPr>
        <p:spPr>
          <a:xfrm>
            <a:off x="5588000" y="2895600"/>
            <a:ext cx="0" cy="1473200"/>
          </a:xfrm>
          <a:prstGeom prst="line">
            <a:avLst/>
          </a:prstGeom>
          <a:ln w="19050">
            <a:solidFill>
              <a:srgbClr val="1B1D20"/>
            </a:solidFill>
          </a:ln>
        </p:spPr>
      </p:cxnSp>
      <p:cxnSp>
        <p:nvCxnSpPr>
          <p:cNvPr id="1205" name="Line 1205"/>
          <p:cNvCxnSpPr/>
          <p:nvPr/>
        </p:nvCxnSpPr>
        <p:spPr>
          <a:xfrm>
            <a:off x="3810000" y="4724400"/>
            <a:ext cx="1117600" cy="0"/>
          </a:xfrm>
          <a:prstGeom prst="line">
            <a:avLst/>
          </a:prstGeom>
          <a:ln w="19050">
            <a:solidFill>
              <a:srgbClr val="1B1D20"/>
            </a:solidFill>
          </a:ln>
        </p:spPr>
      </p:cxnSp>
      <p:cxnSp>
        <p:nvCxnSpPr>
          <p:cNvPr id="1206" name="Line 1206"/>
          <p:cNvCxnSpPr/>
          <p:nvPr/>
        </p:nvCxnSpPr>
        <p:spPr>
          <a:xfrm>
            <a:off x="6248400" y="4724400"/>
            <a:ext cx="406400" cy="0"/>
          </a:xfrm>
          <a:prstGeom prst="line">
            <a:avLst/>
          </a:prstGeom>
          <a:ln w="19050">
            <a:solidFill>
              <a:srgbClr val="1B1D20"/>
            </a:solidFill>
          </a:ln>
        </p:spPr>
      </p:cxnSp>
      <p:sp>
        <p:nvSpPr>
          <p:cNvPr id="1207" name="Shape 1207"/>
          <p:cNvSpPr txBox="1"/>
          <p:nvPr/>
        </p:nvSpPr>
        <p:spPr>
          <a:xfrm>
            <a:off x="3810000" y="22606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1B1D20"/>
                </a:solidFill>
                <a:latin typeface="JetBrains Mono"/>
                <a:cs typeface="JetBrains Mono"/>
              </a:rPr>
              <a:t>n12</a:t>
            </a:r>
          </a:p>
        </p:txBody>
      </p:sp>
      <p:sp>
        <p:nvSpPr>
          <p:cNvPr id="1208" name="Shape 1208"/>
          <p:cNvSpPr txBox="1"/>
          <p:nvPr/>
        </p:nvSpPr>
        <p:spPr>
          <a:xfrm>
            <a:off x="3810000" y="26162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B4502E"/>
                </a:solidFill>
                <a:latin typeface="JetBrains Mono"/>
                <a:cs typeface="JetBrains Mono"/>
              </a:rPr>
              <a:t>LSA →</a:t>
            </a:r>
          </a:p>
        </p:txBody>
      </p:sp>
      <p:sp>
        <p:nvSpPr>
          <p:cNvPr id="1209" name="Shape 1209"/>
          <p:cNvSpPr txBox="1"/>
          <p:nvPr/>
        </p:nvSpPr>
        <p:spPr>
          <a:xfrm>
            <a:off x="3810000" y="44450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1B1D20"/>
                </a:solidFill>
                <a:latin typeface="JetBrains Mono"/>
                <a:cs typeface="JetBrains Mono"/>
              </a:rPr>
              <a:t>n34</a:t>
            </a:r>
          </a:p>
        </p:txBody>
      </p:sp>
      <p:sp>
        <p:nvSpPr>
          <p:cNvPr id="1210" name="Shape 1210"/>
          <p:cNvSpPr txBox="1"/>
          <p:nvPr/>
        </p:nvSpPr>
        <p:spPr>
          <a:xfrm>
            <a:off x="3810000" y="4800600"/>
            <a:ext cx="1117600" cy="203200"/>
          </a:xfrm>
          <a:prstGeom prst="rect">
            <a:avLst/>
          </a:prstGeom>
          <a:noFill/>
          <a:ln>
            <a:noFill/>
          </a:ln>
        </p:spPr>
        <p:txBody>
          <a:bodyPr wrap="square" lIns="0" tIns="0" rIns="0" bIns="0" anchor="t">
            <a:noAutofit/>
          </a:bodyPr>
          <a:lstStyle/>
          <a:p>
            <a:pPr marL="0" indent="0" algn="ctr">
              <a:buNone/>
            </a:pPr>
            <a:r>
              <a:rPr lang="it-IT" sz="1200" dirty="0">
                <a:solidFill>
                  <a:srgbClr val="525355"/>
                </a:solidFill>
                <a:latin typeface="JetBrains Mono"/>
                <a:cs typeface="JetBrains Mono"/>
              </a:rPr>
              <a:t>costo 100</a:t>
            </a:r>
          </a:p>
        </p:txBody>
      </p:sp>
      <p:sp>
        <p:nvSpPr>
          <p:cNvPr id="1211" name="Shape 1211"/>
          <p:cNvSpPr txBox="1"/>
          <p:nvPr/>
        </p:nvSpPr>
        <p:spPr>
          <a:xfrm>
            <a:off x="1600200" y="3378200"/>
            <a:ext cx="1447800" cy="457200"/>
          </a:xfrm>
          <a:prstGeom prst="rect">
            <a:avLst/>
          </a:prstGeom>
          <a:noFill/>
          <a:ln>
            <a:noFill/>
          </a:ln>
        </p:spPr>
        <p:txBody>
          <a:bodyPr wrap="square" lIns="0" tIns="0" rIns="0" bIns="0" anchor="t">
            <a:noAutofit/>
          </a:bodyPr>
          <a:lstStyle/>
          <a:p>
            <a:pPr marL="0" indent="0" algn="r">
              <a:buNone/>
            </a:pPr>
            <a:r>
              <a:rPr lang="it-IT" sz="1200" b="1" dirty="0">
                <a:solidFill>
                  <a:srgbClr val="1B1D20"/>
                </a:solidFill>
                <a:latin typeface="JetBrains Mono"/>
                <a:cs typeface="JetBrains Mono"/>
              </a:rPr>
              <a:t>n41</a:t>
            </a:r>
          </a:p>
          <a:p>
            <a:pPr marL="0" indent="0" algn="r">
              <a:buNone/>
            </a:pPr>
            <a:r>
              <a:rPr lang="it-IT" sz="1200" b="1" dirty="0">
                <a:solidFill>
                  <a:srgbClr val="B4502E"/>
                </a:solidFill>
                <a:latin typeface="JetBrains Mono"/>
                <a:cs typeface="JetBrains Mono"/>
              </a:rPr>
              <a:t>LSA ↓</a:t>
            </a:r>
          </a:p>
        </p:txBody>
      </p:sp>
      <p:sp>
        <p:nvSpPr>
          <p:cNvPr id="1212" name="Shape 1212"/>
          <p:cNvSpPr txBox="1"/>
          <p:nvPr/>
        </p:nvSpPr>
        <p:spPr>
          <a:xfrm>
            <a:off x="5715000" y="3378200"/>
            <a:ext cx="1447800" cy="457200"/>
          </a:xfrm>
          <a:prstGeom prst="rect">
            <a:avLst/>
          </a:prstGeom>
          <a:noFill/>
          <a:ln>
            <a:noFill/>
          </a:ln>
        </p:spPr>
        <p:txBody>
          <a:bodyPr wrap="square" lIns="0" tIns="0" rIns="0" bIns="0" anchor="t">
            <a:noAutofit/>
          </a:bodyPr>
          <a:lstStyle/>
          <a:p>
            <a:pPr marL="0" indent="0" algn="l">
              <a:buNone/>
            </a:pPr>
            <a:r>
              <a:rPr lang="it-IT" sz="1200" b="1" dirty="0">
                <a:solidFill>
                  <a:srgbClr val="1B1D20"/>
                </a:solidFill>
                <a:latin typeface="JetBrains Mono"/>
                <a:cs typeface="JetBrains Mono"/>
              </a:rPr>
              <a:t>n23</a:t>
            </a:r>
          </a:p>
          <a:p>
            <a:pPr marL="0" indent="0" algn="l">
              <a:buNone/>
            </a:pPr>
            <a:r>
              <a:rPr lang="it-IT" sz="1200" dirty="0">
                <a:solidFill>
                  <a:srgbClr val="525355"/>
                </a:solidFill>
                <a:latin typeface="JetBrains Mono"/>
                <a:cs typeface="JetBrains Mono"/>
              </a:rPr>
              <a:t>costo 10</a:t>
            </a:r>
          </a:p>
        </p:txBody>
      </p:sp>
      <p:sp>
        <p:nvSpPr>
          <p:cNvPr id="1213" name="Shape 1213"/>
          <p:cNvSpPr/>
          <p:nvPr/>
        </p:nvSpPr>
        <p:spPr>
          <a:xfrm>
            <a:off x="2489200" y="2184400"/>
            <a:ext cx="1320800" cy="711200"/>
          </a:xfrm>
          <a:prstGeom prst="rect">
            <a:avLst/>
          </a:prstGeom>
          <a:solidFill>
            <a:srgbClr val="B4502E"/>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r1</a:t>
            </a:r>
          </a:p>
          <a:p>
            <a:pPr marL="0" indent="0" algn="ctr">
              <a:buNone/>
            </a:pPr>
            <a:r>
              <a:rPr lang="it-IT" sz="1100" dirty="0">
                <a:solidFill>
                  <a:srgbClr val="F6DDD3"/>
                </a:solidFill>
                <a:latin typeface="JetBrains Mono"/>
                <a:cs typeface="JetBrains Mono"/>
              </a:rPr>
              <a:t>lo 10.255.0.1</a:t>
            </a:r>
          </a:p>
        </p:txBody>
      </p:sp>
      <p:sp>
        <p:nvSpPr>
          <p:cNvPr id="1214" name="Shape 1214"/>
          <p:cNvSpPr/>
          <p:nvPr/>
        </p:nvSpPr>
        <p:spPr>
          <a:xfrm>
            <a:off x="4927600" y="21844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r2</a:t>
            </a:r>
          </a:p>
          <a:p>
            <a:pPr marL="0" indent="0" algn="ctr">
              <a:buNone/>
            </a:pPr>
            <a:r>
              <a:rPr lang="it-IT" sz="1100" dirty="0">
                <a:solidFill>
                  <a:srgbClr val="C9CCD1"/>
                </a:solidFill>
                <a:latin typeface="JetBrains Mono"/>
                <a:cs typeface="JetBrains Mono"/>
              </a:rPr>
              <a:t>lo 10.255.0.2</a:t>
            </a:r>
          </a:p>
        </p:txBody>
      </p:sp>
      <p:sp>
        <p:nvSpPr>
          <p:cNvPr id="1215" name="Shape 1215"/>
          <p:cNvSpPr/>
          <p:nvPr/>
        </p:nvSpPr>
        <p:spPr>
          <a:xfrm>
            <a:off x="2489200" y="43688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r4</a:t>
            </a:r>
          </a:p>
          <a:p>
            <a:pPr marL="0" indent="0" algn="ctr">
              <a:buNone/>
            </a:pPr>
            <a:r>
              <a:rPr lang="it-IT" sz="1100" dirty="0">
                <a:solidFill>
                  <a:srgbClr val="C9CCD1"/>
                </a:solidFill>
                <a:latin typeface="JetBrains Mono"/>
                <a:cs typeface="JetBrains Mono"/>
              </a:rPr>
              <a:t>lo 10.255.0.4</a:t>
            </a:r>
          </a:p>
        </p:txBody>
      </p:sp>
      <p:sp>
        <p:nvSpPr>
          <p:cNvPr id="1216" name="Shape 1216"/>
          <p:cNvSpPr/>
          <p:nvPr/>
        </p:nvSpPr>
        <p:spPr>
          <a:xfrm>
            <a:off x="4927600" y="43688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r3</a:t>
            </a:r>
          </a:p>
          <a:p>
            <a:pPr marL="0" indent="0" algn="ctr">
              <a:buNone/>
            </a:pPr>
            <a:r>
              <a:rPr lang="it-IT" sz="1100" dirty="0">
                <a:solidFill>
                  <a:srgbClr val="C9CCD1"/>
                </a:solidFill>
                <a:latin typeface="JetBrains Mono"/>
                <a:cs typeface="JetBrains Mono"/>
              </a:rPr>
              <a:t>lo 10.255.0.3</a:t>
            </a:r>
          </a:p>
        </p:txBody>
      </p:sp>
      <p:sp>
        <p:nvSpPr>
          <p:cNvPr id="1217" name="Shape 1217"/>
          <p:cNvSpPr/>
          <p:nvPr/>
        </p:nvSpPr>
        <p:spPr>
          <a:xfrm>
            <a:off x="812800" y="2235200"/>
            <a:ext cx="1270000" cy="609600"/>
          </a:xfrm>
          <a:prstGeom prst="rect">
            <a:avLst/>
          </a:prstGeom>
          <a:solidFill>
            <a:srgbClr val="F6F5F0"/>
          </a:solidFill>
          <a:ln w="9525">
            <a:solidFill>
              <a:srgbClr val="1B1D20"/>
            </a:solidFill>
          </a:ln>
        </p:spPr>
        <p:txBody>
          <a:bodyPr wrap="square" lIns="0" tIns="0" rIns="0" bIns="0" anchor="ctr">
            <a:noAutofit/>
          </a:bodyPr>
          <a:lstStyle/>
          <a:p>
            <a:pPr marL="0" indent="0" algn="ctr">
              <a:buNone/>
            </a:pPr>
            <a:r>
              <a:rPr lang="it-IT" sz="1600" b="1" dirty="0">
                <a:solidFill>
                  <a:srgbClr val="1B1D20"/>
                </a:solidFill>
                <a:latin typeface="IBM Plex Sans"/>
                <a:cs typeface="IBM Plex Sans"/>
              </a:rPr>
              <a:t>pc_a</a:t>
            </a:r>
          </a:p>
          <a:p>
            <a:pPr marL="0" indent="0" algn="ctr">
              <a:buNone/>
            </a:pPr>
            <a:r>
              <a:rPr lang="it-IT" sz="1100" dirty="0">
                <a:solidFill>
                  <a:srgbClr val="5B5F66"/>
                </a:solidFill>
                <a:latin typeface="JetBrains Mono"/>
                <a:cs typeface="JetBrains Mono"/>
              </a:rPr>
              <a:t>192.168.10.10</a:t>
            </a:r>
          </a:p>
        </p:txBody>
      </p:sp>
      <p:sp>
        <p:nvSpPr>
          <p:cNvPr id="1218" name="Shape 1218"/>
          <p:cNvSpPr/>
          <p:nvPr/>
        </p:nvSpPr>
        <p:spPr>
          <a:xfrm>
            <a:off x="6654800" y="4419600"/>
            <a:ext cx="1270000" cy="609600"/>
          </a:xfrm>
          <a:prstGeom prst="rect">
            <a:avLst/>
          </a:prstGeom>
          <a:solidFill>
            <a:srgbClr val="F6F5F0"/>
          </a:solidFill>
          <a:ln w="9525">
            <a:solidFill>
              <a:srgbClr val="1B1D20"/>
            </a:solidFill>
          </a:ln>
        </p:spPr>
        <p:txBody>
          <a:bodyPr wrap="square" lIns="0" tIns="0" rIns="0" bIns="0" anchor="ctr">
            <a:noAutofit/>
          </a:bodyPr>
          <a:lstStyle/>
          <a:p>
            <a:pPr marL="0" indent="0" algn="ctr">
              <a:buNone/>
            </a:pPr>
            <a:r>
              <a:rPr lang="it-IT" sz="1600" b="1" dirty="0">
                <a:solidFill>
                  <a:srgbClr val="1B1D20"/>
                </a:solidFill>
                <a:latin typeface="IBM Plex Sans"/>
                <a:cs typeface="IBM Plex Sans"/>
              </a:rPr>
              <a:t>pc_b</a:t>
            </a:r>
          </a:p>
          <a:p>
            <a:pPr marL="0" indent="0" algn="ctr">
              <a:buNone/>
            </a:pPr>
            <a:r>
              <a:rPr lang="it-IT" sz="1100" dirty="0">
                <a:solidFill>
                  <a:srgbClr val="5B5F66"/>
                </a:solidFill>
                <a:latin typeface="JetBrains Mono"/>
                <a:cs typeface="JetBrains Mono"/>
              </a:rPr>
              <a:t>192.168.20.10</a:t>
            </a:r>
          </a:p>
        </p:txBody>
      </p:sp>
      <p:sp>
        <p:nvSpPr>
          <p:cNvPr id="1219" name="Shape 1219"/>
          <p:cNvSpPr txBox="1"/>
          <p:nvPr/>
        </p:nvSpPr>
        <p:spPr>
          <a:xfrm>
            <a:off x="812800" y="1981200"/>
            <a:ext cx="2032000" cy="203200"/>
          </a:xfrm>
          <a:prstGeom prst="rect">
            <a:avLst/>
          </a:prstGeom>
          <a:noFill/>
          <a:ln>
            <a:noFill/>
          </a:ln>
        </p:spPr>
        <p:txBody>
          <a:bodyPr wrap="square" lIns="0" tIns="0" rIns="0" bIns="0" anchor="t">
            <a:noAutofit/>
          </a:bodyPr>
          <a:lstStyle/>
          <a:p>
            <a:pPr marL="0" indent="0" algn="l">
              <a:buNone/>
            </a:pPr>
            <a:r>
              <a:rPr lang="it-IT" sz="1100" dirty="0">
                <a:solidFill>
                  <a:srgbClr val="8A8F96"/>
                </a:solidFill>
                <a:latin typeface="JetBrains Mono"/>
                <a:cs typeface="JetBrains Mono"/>
              </a:rPr>
              <a:t>SEDE A · lanA</a:t>
            </a:r>
          </a:p>
        </p:txBody>
      </p:sp>
      <p:sp>
        <p:nvSpPr>
          <p:cNvPr id="1220" name="Shape 1220"/>
          <p:cNvSpPr txBox="1"/>
          <p:nvPr/>
        </p:nvSpPr>
        <p:spPr>
          <a:xfrm>
            <a:off x="6654800" y="5105400"/>
            <a:ext cx="1524000" cy="203200"/>
          </a:xfrm>
          <a:prstGeom prst="rect">
            <a:avLst/>
          </a:prstGeom>
          <a:noFill/>
          <a:ln>
            <a:noFill/>
          </a:ln>
        </p:spPr>
        <p:txBody>
          <a:bodyPr wrap="square" lIns="0" tIns="0" rIns="0" bIns="0" anchor="t">
            <a:noAutofit/>
          </a:bodyPr>
          <a:lstStyle/>
          <a:p>
            <a:pPr marL="0" indent="0" algn="l">
              <a:buNone/>
            </a:pPr>
            <a:r>
              <a:rPr lang="it-IT" sz="1100" dirty="0">
                <a:solidFill>
                  <a:srgbClr val="8A8F96"/>
                </a:solidFill>
                <a:latin typeface="JetBrains Mono"/>
                <a:cs typeface="JetBrains Mono"/>
              </a:rPr>
              <a:t>SEDE B · lanB</a:t>
            </a:r>
          </a:p>
        </p:txBody>
      </p:sp>
      <p:cxnSp>
        <p:nvCxnSpPr>
          <p:cNvPr id="1221" name="Line 1221"/>
          <p:cNvCxnSpPr/>
          <p:nvPr/>
        </p:nvCxnSpPr>
        <p:spPr>
          <a:xfrm>
            <a:off x="812800" y="5664200"/>
            <a:ext cx="304800" cy="0"/>
          </a:xfrm>
          <a:prstGeom prst="line">
            <a:avLst/>
          </a:prstGeom>
          <a:ln w="38100">
            <a:solidFill>
              <a:srgbClr val="B4502E"/>
            </a:solidFill>
          </a:ln>
        </p:spPr>
      </p:cxnSp>
      <p:sp>
        <p:nvSpPr>
          <p:cNvPr id="1222" name="Shape 1222"/>
          <p:cNvSpPr txBox="1"/>
          <p:nvPr/>
        </p:nvSpPr>
        <p:spPr>
          <a:xfrm>
            <a:off x="1219200" y="5549900"/>
            <a:ext cx="3175000" cy="228600"/>
          </a:xfrm>
          <a:prstGeom prst="rect">
            <a:avLst/>
          </a:prstGeom>
          <a:noFill/>
          <a:ln>
            <a:noFill/>
          </a:ln>
        </p:spPr>
        <p:txBody>
          <a:bodyPr wrap="square" lIns="0" tIns="0" rIns="0" bIns="0" anchor="t">
            <a:noAutofit/>
          </a:bodyPr>
          <a:lstStyle/>
          <a:p>
            <a:pPr marL="0" indent="0" algn="l">
              <a:buNone/>
            </a:pPr>
            <a:r>
              <a:rPr lang="it-IT" sz="1200" dirty="0">
                <a:solidFill>
                  <a:srgbClr val="525355"/>
                </a:solidFill>
                <a:latin typeface="IBM Plex Sans"/>
                <a:cs typeface="IBM Plex Sans"/>
              </a:rPr>
              <a:t>r1 invia la sua LSA ai vicini</a:t>
            </a:r>
          </a:p>
        </p:txBody>
      </p:sp>
      <p:cxnSp>
        <p:nvCxnSpPr>
          <p:cNvPr id="1223" name="Line 1223"/>
          <p:cNvCxnSpPr/>
          <p:nvPr/>
        </p:nvCxnSpPr>
        <p:spPr>
          <a:xfrm>
            <a:off x="8128000" y="1905000"/>
            <a:ext cx="0" cy="3810000"/>
          </a:xfrm>
          <a:prstGeom prst="line">
            <a:avLst/>
          </a:prstGeom>
          <a:ln w="12700">
            <a:solidFill>
              <a:srgbClr val="E1E0DD"/>
            </a:solidFill>
          </a:ln>
        </p:spPr>
      </p:cxnSp>
      <p:sp>
        <p:nvSpPr>
          <p:cNvPr id="1224" name="Shape 1224"/>
          <p:cNvSpPr txBox="1"/>
          <p:nvPr/>
        </p:nvSpPr>
        <p:spPr>
          <a:xfrm>
            <a:off x="8331200" y="1905000"/>
            <a:ext cx="3048000" cy="254000"/>
          </a:xfrm>
          <a:prstGeom prst="rect">
            <a:avLst/>
          </a:prstGeom>
          <a:noFill/>
          <a:ln>
            <a:noFill/>
          </a:ln>
        </p:spPr>
        <p:txBody>
          <a:bodyPr wrap="square" lIns="0" tIns="0" rIns="0" bIns="0" anchor="t">
            <a:noAutofit/>
          </a:bodyPr>
          <a:lstStyle/>
          <a:p>
            <a:pPr marL="0" indent="0" algn="l">
              <a:buNone/>
            </a:pPr>
            <a:r>
              <a:rPr lang="it-IT" sz="1400" dirty="0">
                <a:solidFill>
                  <a:srgbClr val="B4502E"/>
                </a:solidFill>
                <a:latin typeface="JetBrains Mono"/>
                <a:cs typeface="JetBrains Mono"/>
              </a:rPr>
              <a:t>02 · LSA</a:t>
            </a:r>
          </a:p>
        </p:txBody>
      </p:sp>
      <p:sp>
        <p:nvSpPr>
          <p:cNvPr id="1225" name="Shape 1225"/>
          <p:cNvSpPr txBox="1"/>
          <p:nvPr/>
        </p:nvSpPr>
        <p:spPr>
          <a:xfrm>
            <a:off x="8331200" y="2286000"/>
            <a:ext cx="3048000" cy="1016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Ogni router </a:t>
            </a:r>
            <a:r>
              <a:rPr lang="it-IT" sz="1600" dirty="0">
                <a:solidFill>
                  <a:srgbClr val="1B1D20"/>
                </a:solidFill>
                <a:latin typeface="IBM Plex Sans"/>
                <a:cs typeface="IBM Plex Sans"/>
              </a:rPr>
              <a:t>descrive i propri link in una LSA e la invia ai vicini, che la inoltrano.</a:t>
            </a:r>
          </a:p>
        </p:txBody>
      </p:sp>
      <p:sp>
        <p:nvSpPr>
          <p:cNvPr id="1226" name="Shape 1226"/>
          <p:cNvSpPr/>
          <p:nvPr/>
        </p:nvSpPr>
        <p:spPr>
          <a:xfrm>
            <a:off x="8331200" y="3479800"/>
            <a:ext cx="3048000" cy="1574800"/>
          </a:xfrm>
          <a:prstGeom prst="rect">
            <a:avLst/>
          </a:prstGeom>
          <a:solidFill>
            <a:srgbClr val="17191C"/>
          </a:solidFill>
          <a:ln>
            <a:noFill/>
          </a:ln>
        </p:spPr>
        <p:txBody>
          <a:bodyPr wrap="square" lIns="127000" tIns="0" rIns="127000" bIns="0" anchor="ctr">
            <a:noAutofit/>
          </a:bodyPr>
          <a:lstStyle/>
          <a:p>
            <a:pPr marL="0" indent="0" algn="l">
              <a:buNone/>
            </a:pPr>
            <a:r>
              <a:rPr lang="it-IT" sz="1200" dirty="0">
                <a:solidFill>
                  <a:srgbClr val="8A8F96"/>
                </a:solidFill>
                <a:latin typeface="JetBrains Mono"/>
                <a:cs typeface="JetBrains Mono"/>
              </a:rPr>
              <a:t># LSA di r1, in sintesi</a:t>
            </a:r>
          </a:p>
          <a:p>
            <a:pPr marL="0" indent="0" algn="l">
              <a:buNone/>
            </a:pPr>
            <a:r>
              <a:rPr lang="it-IT" sz="1200" dirty="0">
                <a:solidFill>
                  <a:srgbClr val="F2F1EC"/>
                </a:solidFill>
                <a:latin typeface="JetBrains Mono"/>
                <a:cs typeface="JetBrains Mono"/>
              </a:rPr>
              <a:t>router-id 10.255.0.1</a:t>
            </a:r>
          </a:p>
          <a:p>
            <a:pPr marL="0" indent="0" algn="l">
              <a:buNone/>
            </a:pPr>
            <a:r>
              <a:rPr lang="it-IT" sz="1200" dirty="0">
                <a:solidFill>
                  <a:srgbClr val="F2F1EC"/>
                </a:solidFill>
                <a:latin typeface="JetBrains Mono"/>
                <a:cs typeface="JetBrains Mono"/>
              </a:rPr>
              <a:t>n12  → r2   costo 10</a:t>
            </a:r>
          </a:p>
          <a:p>
            <a:pPr marL="0" indent="0" algn="l">
              <a:buNone/>
            </a:pPr>
            <a:r>
              <a:rPr lang="it-IT" sz="1200" dirty="0">
                <a:solidFill>
                  <a:srgbClr val="F2F1EC"/>
                </a:solidFill>
                <a:latin typeface="JetBrains Mono"/>
                <a:cs typeface="JetBrains Mono"/>
              </a:rPr>
              <a:t>n41  → r4   costo 100</a:t>
            </a:r>
          </a:p>
          <a:p>
            <a:pPr marL="0" indent="0" algn="l">
              <a:buNone/>
            </a:pPr>
            <a:r>
              <a:rPr lang="it-IT" sz="1200" dirty="0">
                <a:solidFill>
                  <a:srgbClr val="F2F1EC"/>
                </a:solidFill>
                <a:latin typeface="JetBrains Mono"/>
                <a:cs typeface="JetBrains Mono"/>
              </a:rPr>
              <a:t>lanA 192.168.10.0/24</a:t>
            </a:r>
          </a:p>
          <a:p>
            <a:pPr marL="0" indent="0" algn="l">
              <a:buNone/>
            </a:pPr>
            <a:r>
              <a:rPr lang="it-IT" sz="1200" dirty="0">
                <a:solidFill>
                  <a:srgbClr val="F2F1EC"/>
                </a:solidFill>
                <a:latin typeface="JetBrains Mono"/>
                <a:cs typeface="JetBrains Mono"/>
              </a:rPr>
              <a:t>lo   10.255.0.1/32</a:t>
            </a:r>
          </a:p>
        </p:txBody>
      </p:sp>
      <p:sp>
        <p:nvSpPr>
          <p:cNvPr id="1227" name="Shape 1227"/>
          <p:cNvSpPr txBox="1"/>
          <p:nvPr/>
        </p:nvSpPr>
        <p:spPr>
          <a:xfrm>
            <a:off x="8331200" y="5232400"/>
            <a:ext cx="3048000" cy="508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Risultato: </a:t>
            </a:r>
            <a:r>
              <a:rPr lang="it-IT" sz="1600" dirty="0">
                <a:solidFill>
                  <a:srgbClr val="1B1D20"/>
                </a:solidFill>
                <a:latin typeface="IBM Plex Sans"/>
                <a:cs typeface="IBM Plex Sans"/>
              </a:rPr>
              <a:t>r1, r2, r3 e r4 hanno la stessa LSDB.</a:t>
            </a:r>
          </a:p>
        </p:txBody>
      </p:sp>
    </p:spTree>
    <p:extLst>
      <p:ext uri="{BB962C8B-B14F-4D97-AF65-F5344CB8AC3E}">
        <p14:creationId xmlns:p14="http://schemas.microsoft.com/office/powerpoint/2010/main" val="26078520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SPF: da r1 a r3, via r2 costa 20</a:t>
            </a:r>
          </a:p>
        </p:txBody>
      </p:sp>
      <p:cxnSp>
        <p:nvCxnSpPr>
          <p:cNvPr id="1201" name="Line 1201"/>
          <p:cNvCxnSpPr/>
          <p:nvPr/>
        </p:nvCxnSpPr>
        <p:spPr>
          <a:xfrm>
            <a:off x="2082800" y="2540000"/>
            <a:ext cx="406400" cy="0"/>
          </a:xfrm>
          <a:prstGeom prst="line">
            <a:avLst/>
          </a:prstGeom>
          <a:ln w="19050">
            <a:solidFill>
              <a:srgbClr val="1B1D20"/>
            </a:solidFill>
          </a:ln>
        </p:spPr>
      </p:cxnSp>
      <p:cxnSp>
        <p:nvCxnSpPr>
          <p:cNvPr id="1202" name="Line 1202"/>
          <p:cNvCxnSpPr/>
          <p:nvPr/>
        </p:nvCxnSpPr>
        <p:spPr>
          <a:xfrm>
            <a:off x="3810000" y="2540000"/>
            <a:ext cx="1117600" cy="0"/>
          </a:xfrm>
          <a:prstGeom prst="line">
            <a:avLst/>
          </a:prstGeom>
          <a:ln w="38100">
            <a:solidFill>
              <a:srgbClr val="B4502E"/>
            </a:solidFill>
          </a:ln>
        </p:spPr>
      </p:cxnSp>
      <p:cxnSp>
        <p:nvCxnSpPr>
          <p:cNvPr id="1203" name="Line 1203"/>
          <p:cNvCxnSpPr/>
          <p:nvPr/>
        </p:nvCxnSpPr>
        <p:spPr>
          <a:xfrm>
            <a:off x="3149600" y="2895600"/>
            <a:ext cx="0" cy="1473200"/>
          </a:xfrm>
          <a:prstGeom prst="line">
            <a:avLst/>
          </a:prstGeom>
          <a:ln w="19050">
            <a:solidFill>
              <a:srgbClr val="8A8F96"/>
            </a:solidFill>
            <a:prstDash val="dash"/>
          </a:ln>
        </p:spPr>
      </p:cxnSp>
      <p:cxnSp>
        <p:nvCxnSpPr>
          <p:cNvPr id="1204" name="Line 1204"/>
          <p:cNvCxnSpPr/>
          <p:nvPr/>
        </p:nvCxnSpPr>
        <p:spPr>
          <a:xfrm>
            <a:off x="5588000" y="2895600"/>
            <a:ext cx="0" cy="1473200"/>
          </a:xfrm>
          <a:prstGeom prst="line">
            <a:avLst/>
          </a:prstGeom>
          <a:ln w="38100">
            <a:solidFill>
              <a:srgbClr val="B4502E"/>
            </a:solidFill>
          </a:ln>
        </p:spPr>
      </p:cxnSp>
      <p:cxnSp>
        <p:nvCxnSpPr>
          <p:cNvPr id="1205" name="Line 1205"/>
          <p:cNvCxnSpPr/>
          <p:nvPr/>
        </p:nvCxnSpPr>
        <p:spPr>
          <a:xfrm>
            <a:off x="3810000" y="4724400"/>
            <a:ext cx="1117600" cy="0"/>
          </a:xfrm>
          <a:prstGeom prst="line">
            <a:avLst/>
          </a:prstGeom>
          <a:ln w="19050">
            <a:solidFill>
              <a:srgbClr val="8A8F96"/>
            </a:solidFill>
            <a:prstDash val="dash"/>
          </a:ln>
        </p:spPr>
      </p:cxnSp>
      <p:cxnSp>
        <p:nvCxnSpPr>
          <p:cNvPr id="1206" name="Line 1206"/>
          <p:cNvCxnSpPr/>
          <p:nvPr/>
        </p:nvCxnSpPr>
        <p:spPr>
          <a:xfrm>
            <a:off x="6248400" y="4724400"/>
            <a:ext cx="406400" cy="0"/>
          </a:xfrm>
          <a:prstGeom prst="line">
            <a:avLst/>
          </a:prstGeom>
          <a:ln w="19050">
            <a:solidFill>
              <a:srgbClr val="1B1D20"/>
            </a:solidFill>
          </a:ln>
        </p:spPr>
      </p:cxnSp>
      <p:sp>
        <p:nvSpPr>
          <p:cNvPr id="1207" name="Shape 1207"/>
          <p:cNvSpPr txBox="1"/>
          <p:nvPr/>
        </p:nvSpPr>
        <p:spPr>
          <a:xfrm>
            <a:off x="3810000" y="22606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1B1D20"/>
                </a:solidFill>
                <a:latin typeface="JetBrains Mono"/>
                <a:cs typeface="JetBrains Mono"/>
              </a:rPr>
              <a:t>n12</a:t>
            </a:r>
          </a:p>
        </p:txBody>
      </p:sp>
      <p:sp>
        <p:nvSpPr>
          <p:cNvPr id="1208" name="Shape 1208"/>
          <p:cNvSpPr txBox="1"/>
          <p:nvPr/>
        </p:nvSpPr>
        <p:spPr>
          <a:xfrm>
            <a:off x="3810000" y="26162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B4502E"/>
                </a:solidFill>
                <a:latin typeface="JetBrains Mono"/>
                <a:cs typeface="JetBrains Mono"/>
              </a:rPr>
              <a:t>costo 10</a:t>
            </a:r>
          </a:p>
        </p:txBody>
      </p:sp>
      <p:sp>
        <p:nvSpPr>
          <p:cNvPr id="1209" name="Shape 1209"/>
          <p:cNvSpPr txBox="1"/>
          <p:nvPr/>
        </p:nvSpPr>
        <p:spPr>
          <a:xfrm>
            <a:off x="3810000" y="44450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1B1D20"/>
                </a:solidFill>
                <a:latin typeface="JetBrains Mono"/>
                <a:cs typeface="JetBrains Mono"/>
              </a:rPr>
              <a:t>n34</a:t>
            </a:r>
          </a:p>
        </p:txBody>
      </p:sp>
      <p:sp>
        <p:nvSpPr>
          <p:cNvPr id="1210" name="Shape 1210"/>
          <p:cNvSpPr txBox="1"/>
          <p:nvPr/>
        </p:nvSpPr>
        <p:spPr>
          <a:xfrm>
            <a:off x="3810000" y="4800600"/>
            <a:ext cx="1117600" cy="203200"/>
          </a:xfrm>
          <a:prstGeom prst="rect">
            <a:avLst/>
          </a:prstGeom>
          <a:noFill/>
          <a:ln>
            <a:noFill/>
          </a:ln>
        </p:spPr>
        <p:txBody>
          <a:bodyPr wrap="square" lIns="0" tIns="0" rIns="0" bIns="0" anchor="t">
            <a:noAutofit/>
          </a:bodyPr>
          <a:lstStyle/>
          <a:p>
            <a:pPr marL="0" indent="0" algn="ctr">
              <a:buNone/>
            </a:pPr>
            <a:r>
              <a:rPr lang="it-IT" sz="1200" dirty="0">
                <a:solidFill>
                  <a:srgbClr val="8A8F96"/>
                </a:solidFill>
                <a:latin typeface="JetBrains Mono"/>
                <a:cs typeface="JetBrains Mono"/>
              </a:rPr>
              <a:t>costo 100</a:t>
            </a:r>
          </a:p>
        </p:txBody>
      </p:sp>
      <p:sp>
        <p:nvSpPr>
          <p:cNvPr id="1211" name="Shape 1211"/>
          <p:cNvSpPr txBox="1"/>
          <p:nvPr/>
        </p:nvSpPr>
        <p:spPr>
          <a:xfrm>
            <a:off x="1600200" y="3378200"/>
            <a:ext cx="1447800" cy="457200"/>
          </a:xfrm>
          <a:prstGeom prst="rect">
            <a:avLst/>
          </a:prstGeom>
          <a:noFill/>
          <a:ln>
            <a:noFill/>
          </a:ln>
        </p:spPr>
        <p:txBody>
          <a:bodyPr wrap="square" lIns="0" tIns="0" rIns="0" bIns="0" anchor="t">
            <a:noAutofit/>
          </a:bodyPr>
          <a:lstStyle/>
          <a:p>
            <a:pPr marL="0" indent="0" algn="r">
              <a:buNone/>
            </a:pPr>
            <a:r>
              <a:rPr lang="it-IT" sz="1200" b="1" dirty="0">
                <a:solidFill>
                  <a:srgbClr val="1B1D20"/>
                </a:solidFill>
                <a:latin typeface="JetBrains Mono"/>
                <a:cs typeface="JetBrains Mono"/>
              </a:rPr>
              <a:t>n41</a:t>
            </a:r>
          </a:p>
          <a:p>
            <a:pPr marL="0" indent="0" algn="r">
              <a:buNone/>
            </a:pPr>
            <a:r>
              <a:rPr lang="it-IT" sz="1200" dirty="0">
                <a:solidFill>
                  <a:srgbClr val="8A8F96"/>
                </a:solidFill>
                <a:latin typeface="JetBrains Mono"/>
                <a:cs typeface="JetBrains Mono"/>
              </a:rPr>
              <a:t>costo 100</a:t>
            </a:r>
          </a:p>
        </p:txBody>
      </p:sp>
      <p:sp>
        <p:nvSpPr>
          <p:cNvPr id="1212" name="Shape 1212"/>
          <p:cNvSpPr txBox="1"/>
          <p:nvPr/>
        </p:nvSpPr>
        <p:spPr>
          <a:xfrm>
            <a:off x="5715000" y="3378200"/>
            <a:ext cx="1447800" cy="457200"/>
          </a:xfrm>
          <a:prstGeom prst="rect">
            <a:avLst/>
          </a:prstGeom>
          <a:noFill/>
          <a:ln>
            <a:noFill/>
          </a:ln>
        </p:spPr>
        <p:txBody>
          <a:bodyPr wrap="square" lIns="0" tIns="0" rIns="0" bIns="0" anchor="t">
            <a:noAutofit/>
          </a:bodyPr>
          <a:lstStyle/>
          <a:p>
            <a:pPr marL="0" indent="0" algn="l">
              <a:buNone/>
            </a:pPr>
            <a:r>
              <a:rPr lang="it-IT" sz="1200" b="1" dirty="0">
                <a:solidFill>
                  <a:srgbClr val="1B1D20"/>
                </a:solidFill>
                <a:latin typeface="JetBrains Mono"/>
                <a:cs typeface="JetBrains Mono"/>
              </a:rPr>
              <a:t>n23</a:t>
            </a:r>
          </a:p>
          <a:p>
            <a:pPr marL="0" indent="0" algn="l">
              <a:buNone/>
            </a:pPr>
            <a:r>
              <a:rPr lang="it-IT" sz="1200" b="1" dirty="0">
                <a:solidFill>
                  <a:srgbClr val="B4502E"/>
                </a:solidFill>
                <a:latin typeface="JetBrains Mono"/>
                <a:cs typeface="JetBrains Mono"/>
              </a:rPr>
              <a:t>costo 10</a:t>
            </a:r>
          </a:p>
        </p:txBody>
      </p:sp>
      <p:sp>
        <p:nvSpPr>
          <p:cNvPr id="1213" name="Shape 1213"/>
          <p:cNvSpPr/>
          <p:nvPr/>
        </p:nvSpPr>
        <p:spPr>
          <a:xfrm>
            <a:off x="2489200" y="2184400"/>
            <a:ext cx="1320800" cy="711200"/>
          </a:xfrm>
          <a:prstGeom prst="rect">
            <a:avLst/>
          </a:prstGeom>
          <a:solidFill>
            <a:srgbClr val="B4502E"/>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r1</a:t>
            </a:r>
          </a:p>
          <a:p>
            <a:pPr marL="0" indent="0" algn="ctr">
              <a:buNone/>
            </a:pPr>
            <a:r>
              <a:rPr lang="it-IT" sz="1100" dirty="0">
                <a:solidFill>
                  <a:srgbClr val="F6DDD3"/>
                </a:solidFill>
                <a:latin typeface="JetBrains Mono"/>
                <a:cs typeface="JetBrains Mono"/>
              </a:rPr>
              <a:t>lo 10.255.0.1</a:t>
            </a:r>
          </a:p>
        </p:txBody>
      </p:sp>
      <p:sp>
        <p:nvSpPr>
          <p:cNvPr id="1214" name="Shape 1214"/>
          <p:cNvSpPr/>
          <p:nvPr/>
        </p:nvSpPr>
        <p:spPr>
          <a:xfrm>
            <a:off x="4927600" y="21844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r2</a:t>
            </a:r>
          </a:p>
          <a:p>
            <a:pPr marL="0" indent="0" algn="ctr">
              <a:buNone/>
            </a:pPr>
            <a:r>
              <a:rPr lang="it-IT" sz="1100" dirty="0">
                <a:solidFill>
                  <a:srgbClr val="C9CCD1"/>
                </a:solidFill>
                <a:latin typeface="JetBrains Mono"/>
                <a:cs typeface="JetBrains Mono"/>
              </a:rPr>
              <a:t>lo 10.255.0.2</a:t>
            </a:r>
          </a:p>
        </p:txBody>
      </p:sp>
      <p:sp>
        <p:nvSpPr>
          <p:cNvPr id="1215" name="Shape 1215"/>
          <p:cNvSpPr/>
          <p:nvPr/>
        </p:nvSpPr>
        <p:spPr>
          <a:xfrm>
            <a:off x="2489200" y="43688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r4</a:t>
            </a:r>
          </a:p>
          <a:p>
            <a:pPr marL="0" indent="0" algn="ctr">
              <a:buNone/>
            </a:pPr>
            <a:r>
              <a:rPr lang="it-IT" sz="1100" dirty="0">
                <a:solidFill>
                  <a:srgbClr val="C9CCD1"/>
                </a:solidFill>
                <a:latin typeface="JetBrains Mono"/>
                <a:cs typeface="JetBrains Mono"/>
              </a:rPr>
              <a:t>lo 10.255.0.4</a:t>
            </a:r>
          </a:p>
        </p:txBody>
      </p:sp>
      <p:sp>
        <p:nvSpPr>
          <p:cNvPr id="1216" name="Shape 1216"/>
          <p:cNvSpPr/>
          <p:nvPr/>
        </p:nvSpPr>
        <p:spPr>
          <a:xfrm>
            <a:off x="4927600" y="43688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r3</a:t>
            </a:r>
          </a:p>
          <a:p>
            <a:pPr marL="0" indent="0" algn="ctr">
              <a:buNone/>
            </a:pPr>
            <a:r>
              <a:rPr lang="it-IT" sz="1100" dirty="0">
                <a:solidFill>
                  <a:srgbClr val="C9CCD1"/>
                </a:solidFill>
                <a:latin typeface="JetBrains Mono"/>
                <a:cs typeface="JetBrains Mono"/>
              </a:rPr>
              <a:t>lo 10.255.0.3</a:t>
            </a:r>
          </a:p>
        </p:txBody>
      </p:sp>
      <p:sp>
        <p:nvSpPr>
          <p:cNvPr id="1217" name="Shape 1217"/>
          <p:cNvSpPr/>
          <p:nvPr/>
        </p:nvSpPr>
        <p:spPr>
          <a:xfrm>
            <a:off x="812800" y="2235200"/>
            <a:ext cx="1270000" cy="609600"/>
          </a:xfrm>
          <a:prstGeom prst="rect">
            <a:avLst/>
          </a:prstGeom>
          <a:solidFill>
            <a:srgbClr val="F6F5F0"/>
          </a:solidFill>
          <a:ln w="9525">
            <a:solidFill>
              <a:srgbClr val="1B1D20"/>
            </a:solidFill>
          </a:ln>
        </p:spPr>
        <p:txBody>
          <a:bodyPr wrap="square" lIns="0" tIns="0" rIns="0" bIns="0" anchor="ctr">
            <a:noAutofit/>
          </a:bodyPr>
          <a:lstStyle/>
          <a:p>
            <a:pPr marL="0" indent="0" algn="ctr">
              <a:buNone/>
            </a:pPr>
            <a:r>
              <a:rPr lang="it-IT" sz="1600" b="1" dirty="0">
                <a:solidFill>
                  <a:srgbClr val="1B1D20"/>
                </a:solidFill>
                <a:latin typeface="IBM Plex Sans"/>
                <a:cs typeface="IBM Plex Sans"/>
              </a:rPr>
              <a:t>pc_a</a:t>
            </a:r>
          </a:p>
          <a:p>
            <a:pPr marL="0" indent="0" algn="ctr">
              <a:buNone/>
            </a:pPr>
            <a:r>
              <a:rPr lang="it-IT" sz="1100" dirty="0">
                <a:solidFill>
                  <a:srgbClr val="5B5F66"/>
                </a:solidFill>
                <a:latin typeface="JetBrains Mono"/>
                <a:cs typeface="JetBrains Mono"/>
              </a:rPr>
              <a:t>192.168.10.10</a:t>
            </a:r>
          </a:p>
        </p:txBody>
      </p:sp>
      <p:sp>
        <p:nvSpPr>
          <p:cNvPr id="1218" name="Shape 1218"/>
          <p:cNvSpPr/>
          <p:nvPr/>
        </p:nvSpPr>
        <p:spPr>
          <a:xfrm>
            <a:off x="6654800" y="4419600"/>
            <a:ext cx="1270000" cy="609600"/>
          </a:xfrm>
          <a:prstGeom prst="rect">
            <a:avLst/>
          </a:prstGeom>
          <a:solidFill>
            <a:srgbClr val="F6F5F0"/>
          </a:solidFill>
          <a:ln w="9525">
            <a:solidFill>
              <a:srgbClr val="1B1D20"/>
            </a:solidFill>
          </a:ln>
        </p:spPr>
        <p:txBody>
          <a:bodyPr wrap="square" lIns="0" tIns="0" rIns="0" bIns="0" anchor="ctr">
            <a:noAutofit/>
          </a:bodyPr>
          <a:lstStyle/>
          <a:p>
            <a:pPr marL="0" indent="0" algn="ctr">
              <a:buNone/>
            </a:pPr>
            <a:r>
              <a:rPr lang="it-IT" sz="1600" b="1" dirty="0">
                <a:solidFill>
                  <a:srgbClr val="1B1D20"/>
                </a:solidFill>
                <a:latin typeface="IBM Plex Sans"/>
                <a:cs typeface="IBM Plex Sans"/>
              </a:rPr>
              <a:t>pc_b</a:t>
            </a:r>
          </a:p>
          <a:p>
            <a:pPr marL="0" indent="0" algn="ctr">
              <a:buNone/>
            </a:pPr>
            <a:r>
              <a:rPr lang="it-IT" sz="1100" dirty="0">
                <a:solidFill>
                  <a:srgbClr val="5B5F66"/>
                </a:solidFill>
                <a:latin typeface="JetBrains Mono"/>
                <a:cs typeface="JetBrains Mono"/>
              </a:rPr>
              <a:t>192.168.20.10</a:t>
            </a:r>
          </a:p>
        </p:txBody>
      </p:sp>
      <p:sp>
        <p:nvSpPr>
          <p:cNvPr id="1219" name="Shape 1219"/>
          <p:cNvSpPr txBox="1"/>
          <p:nvPr/>
        </p:nvSpPr>
        <p:spPr>
          <a:xfrm>
            <a:off x="812800" y="1981200"/>
            <a:ext cx="2032000" cy="203200"/>
          </a:xfrm>
          <a:prstGeom prst="rect">
            <a:avLst/>
          </a:prstGeom>
          <a:noFill/>
          <a:ln>
            <a:noFill/>
          </a:ln>
        </p:spPr>
        <p:txBody>
          <a:bodyPr wrap="square" lIns="0" tIns="0" rIns="0" bIns="0" anchor="t">
            <a:noAutofit/>
          </a:bodyPr>
          <a:lstStyle/>
          <a:p>
            <a:pPr marL="0" indent="0" algn="l">
              <a:buNone/>
            </a:pPr>
            <a:r>
              <a:rPr lang="it-IT" sz="1100" dirty="0">
                <a:solidFill>
                  <a:srgbClr val="8A8F96"/>
                </a:solidFill>
                <a:latin typeface="JetBrains Mono"/>
                <a:cs typeface="JetBrains Mono"/>
              </a:rPr>
              <a:t>SEDE A · lanA</a:t>
            </a:r>
          </a:p>
        </p:txBody>
      </p:sp>
      <p:sp>
        <p:nvSpPr>
          <p:cNvPr id="1220" name="Shape 1220"/>
          <p:cNvSpPr txBox="1"/>
          <p:nvPr/>
        </p:nvSpPr>
        <p:spPr>
          <a:xfrm>
            <a:off x="6654800" y="5105400"/>
            <a:ext cx="1524000" cy="203200"/>
          </a:xfrm>
          <a:prstGeom prst="rect">
            <a:avLst/>
          </a:prstGeom>
          <a:noFill/>
          <a:ln>
            <a:noFill/>
          </a:ln>
        </p:spPr>
        <p:txBody>
          <a:bodyPr wrap="square" lIns="0" tIns="0" rIns="0" bIns="0" anchor="t">
            <a:noAutofit/>
          </a:bodyPr>
          <a:lstStyle/>
          <a:p>
            <a:pPr marL="0" indent="0" algn="l">
              <a:buNone/>
            </a:pPr>
            <a:r>
              <a:rPr lang="it-IT" sz="1100" dirty="0">
                <a:solidFill>
                  <a:srgbClr val="8A8F96"/>
                </a:solidFill>
                <a:latin typeface="JetBrains Mono"/>
                <a:cs typeface="JetBrains Mono"/>
              </a:rPr>
              <a:t>SEDE B · lanB</a:t>
            </a:r>
          </a:p>
        </p:txBody>
      </p:sp>
      <p:cxnSp>
        <p:nvCxnSpPr>
          <p:cNvPr id="1221" name="Line 1221"/>
          <p:cNvCxnSpPr/>
          <p:nvPr/>
        </p:nvCxnSpPr>
        <p:spPr>
          <a:xfrm>
            <a:off x="812800" y="5664200"/>
            <a:ext cx="304800" cy="0"/>
          </a:xfrm>
          <a:prstGeom prst="line">
            <a:avLst/>
          </a:prstGeom>
          <a:ln w="38100">
            <a:solidFill>
              <a:srgbClr val="B4502E"/>
            </a:solidFill>
          </a:ln>
        </p:spPr>
      </p:cxnSp>
      <p:sp>
        <p:nvSpPr>
          <p:cNvPr id="1222" name="Shape 1222"/>
          <p:cNvSpPr txBox="1"/>
          <p:nvPr/>
        </p:nvSpPr>
        <p:spPr>
          <a:xfrm>
            <a:off x="1219200" y="5549900"/>
            <a:ext cx="3175000" cy="228600"/>
          </a:xfrm>
          <a:prstGeom prst="rect">
            <a:avLst/>
          </a:prstGeom>
          <a:noFill/>
          <a:ln>
            <a:noFill/>
          </a:ln>
        </p:spPr>
        <p:txBody>
          <a:bodyPr wrap="square" lIns="0" tIns="0" rIns="0" bIns="0" anchor="t">
            <a:noAutofit/>
          </a:bodyPr>
          <a:lstStyle/>
          <a:p>
            <a:pPr marL="0" indent="0" algn="l">
              <a:buNone/>
            </a:pPr>
            <a:r>
              <a:rPr lang="it-IT" sz="1200" dirty="0">
                <a:solidFill>
                  <a:srgbClr val="525355"/>
                </a:solidFill>
                <a:latin typeface="IBM Plex Sans"/>
                <a:cs typeface="IBM Plex Sans"/>
              </a:rPr>
              <a:t>percorso scelto</a:t>
            </a:r>
          </a:p>
        </p:txBody>
      </p:sp>
      <p:cxnSp>
        <p:nvCxnSpPr>
          <p:cNvPr id="1223" name="Line 1223"/>
          <p:cNvCxnSpPr/>
          <p:nvPr/>
        </p:nvCxnSpPr>
        <p:spPr>
          <a:xfrm>
            <a:off x="2882900" y="5664200"/>
            <a:ext cx="304800" cy="0"/>
          </a:xfrm>
          <a:prstGeom prst="line">
            <a:avLst/>
          </a:prstGeom>
          <a:ln w="19050">
            <a:solidFill>
              <a:srgbClr val="8A8F96"/>
            </a:solidFill>
            <a:prstDash val="dash"/>
          </a:ln>
        </p:spPr>
      </p:cxnSp>
      <p:sp>
        <p:nvSpPr>
          <p:cNvPr id="1224" name="Shape 1224"/>
          <p:cNvSpPr txBox="1"/>
          <p:nvPr/>
        </p:nvSpPr>
        <p:spPr>
          <a:xfrm>
            <a:off x="3289300" y="5549900"/>
            <a:ext cx="3175000" cy="228600"/>
          </a:xfrm>
          <a:prstGeom prst="rect">
            <a:avLst/>
          </a:prstGeom>
          <a:noFill/>
          <a:ln>
            <a:noFill/>
          </a:ln>
        </p:spPr>
        <p:txBody>
          <a:bodyPr wrap="square" lIns="0" tIns="0" rIns="0" bIns="0" anchor="t">
            <a:noAutofit/>
          </a:bodyPr>
          <a:lstStyle/>
          <a:p>
            <a:pPr marL="0" indent="0" algn="l">
              <a:buNone/>
            </a:pPr>
            <a:r>
              <a:rPr lang="it-IT" sz="1200" dirty="0">
                <a:solidFill>
                  <a:srgbClr val="525355"/>
                </a:solidFill>
                <a:latin typeface="IBM Plex Sans"/>
                <a:cs typeface="IBM Plex Sans"/>
              </a:rPr>
              <a:t>alternativa, non usata</a:t>
            </a:r>
          </a:p>
        </p:txBody>
      </p:sp>
      <p:cxnSp>
        <p:nvCxnSpPr>
          <p:cNvPr id="1225" name="Line 1225"/>
          <p:cNvCxnSpPr/>
          <p:nvPr/>
        </p:nvCxnSpPr>
        <p:spPr>
          <a:xfrm>
            <a:off x="8128000" y="1905000"/>
            <a:ext cx="0" cy="3810000"/>
          </a:xfrm>
          <a:prstGeom prst="line">
            <a:avLst/>
          </a:prstGeom>
          <a:ln w="12700">
            <a:solidFill>
              <a:srgbClr val="E1E0DD"/>
            </a:solidFill>
          </a:ln>
        </p:spPr>
      </p:cxnSp>
      <p:sp>
        <p:nvSpPr>
          <p:cNvPr id="1226" name="Shape 1226"/>
          <p:cNvSpPr txBox="1"/>
          <p:nvPr/>
        </p:nvSpPr>
        <p:spPr>
          <a:xfrm>
            <a:off x="8331200" y="1905000"/>
            <a:ext cx="3048000" cy="254000"/>
          </a:xfrm>
          <a:prstGeom prst="rect">
            <a:avLst/>
          </a:prstGeom>
          <a:noFill/>
          <a:ln>
            <a:noFill/>
          </a:ln>
        </p:spPr>
        <p:txBody>
          <a:bodyPr wrap="square" lIns="0" tIns="0" rIns="0" bIns="0" anchor="t">
            <a:noAutofit/>
          </a:bodyPr>
          <a:lstStyle/>
          <a:p>
            <a:pPr marL="0" indent="0" algn="l">
              <a:buNone/>
            </a:pPr>
            <a:r>
              <a:rPr lang="it-IT" sz="1400" dirty="0">
                <a:solidFill>
                  <a:srgbClr val="B4502E"/>
                </a:solidFill>
                <a:latin typeface="JetBrains Mono"/>
                <a:cs typeface="JetBrains Mono"/>
              </a:rPr>
              <a:t>03 · SPF e routing</a:t>
            </a:r>
          </a:p>
        </p:txBody>
      </p:sp>
      <p:sp>
        <p:nvSpPr>
          <p:cNvPr id="1227" name="Shape 1227"/>
          <p:cNvSpPr txBox="1"/>
          <p:nvPr/>
        </p:nvSpPr>
        <p:spPr>
          <a:xfrm>
            <a:off x="8331200" y="2286000"/>
            <a:ext cx="3048000" cy="508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r1 </a:t>
            </a:r>
            <a:r>
              <a:rPr lang="it-IT" sz="1600" dirty="0">
                <a:solidFill>
                  <a:srgbClr val="1B1D20"/>
                </a:solidFill>
                <a:latin typeface="IBM Plex Sans"/>
                <a:cs typeface="IBM Plex Sans"/>
              </a:rPr>
              <a:t>esegue Dijkstra sulla LSDB e somma i costi verso r3.</a:t>
            </a:r>
          </a:p>
        </p:txBody>
      </p:sp>
      <p:sp>
        <p:nvSpPr>
          <p:cNvPr id="1228" name="Shape 1228"/>
          <p:cNvSpPr txBox="1"/>
          <p:nvPr/>
        </p:nvSpPr>
        <p:spPr>
          <a:xfrm>
            <a:off x="8331200" y="2971800"/>
            <a:ext cx="3048000" cy="279400"/>
          </a:xfrm>
          <a:prstGeom prst="rect">
            <a:avLst/>
          </a:prstGeom>
          <a:noFill/>
          <a:ln>
            <a:noFill/>
          </a:ln>
        </p:spPr>
        <p:txBody>
          <a:bodyPr wrap="square" lIns="0" tIns="0" rIns="0" bIns="0" anchor="t">
            <a:noAutofit/>
          </a:bodyPr>
          <a:lstStyle/>
          <a:p>
            <a:pPr marL="0" indent="0" algn="l">
              <a:buNone/>
            </a:pPr>
            <a:r>
              <a:rPr lang="it-IT" sz="1400" b="1" dirty="0">
                <a:solidFill>
                  <a:srgbClr val="B4502E"/>
                </a:solidFill>
                <a:latin typeface="JetBrains Mono"/>
                <a:cs typeface="JetBrains Mono"/>
              </a:rPr>
              <a:t>via r2   10 + 10  = 20</a:t>
            </a:r>
          </a:p>
        </p:txBody>
      </p:sp>
      <p:sp>
        <p:nvSpPr>
          <p:cNvPr id="1229" name="Shape 1229"/>
          <p:cNvSpPr txBox="1"/>
          <p:nvPr/>
        </p:nvSpPr>
        <p:spPr>
          <a:xfrm>
            <a:off x="8331200" y="3302000"/>
            <a:ext cx="3048000" cy="279400"/>
          </a:xfrm>
          <a:prstGeom prst="rect">
            <a:avLst/>
          </a:prstGeom>
          <a:noFill/>
          <a:ln>
            <a:noFill/>
          </a:ln>
        </p:spPr>
        <p:txBody>
          <a:bodyPr wrap="square" lIns="0" tIns="0" rIns="0" bIns="0" anchor="t">
            <a:noAutofit/>
          </a:bodyPr>
          <a:lstStyle/>
          <a:p>
            <a:pPr marL="0" indent="0" algn="l">
              <a:buNone/>
            </a:pPr>
            <a:r>
              <a:rPr lang="it-IT" sz="1400" dirty="0">
                <a:solidFill>
                  <a:srgbClr val="8A8F96"/>
                </a:solidFill>
                <a:latin typeface="JetBrains Mono"/>
                <a:cs typeface="JetBrains Mono"/>
              </a:rPr>
              <a:t>via r4  100 + 100 = 200</a:t>
            </a:r>
          </a:p>
        </p:txBody>
      </p:sp>
      <p:sp>
        <p:nvSpPr>
          <p:cNvPr id="1230" name="Shape 1230"/>
          <p:cNvSpPr txBox="1"/>
          <p:nvPr/>
        </p:nvSpPr>
        <p:spPr>
          <a:xfrm>
            <a:off x="8331200" y="3733800"/>
            <a:ext cx="3048000" cy="508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Vince il costo minore: </a:t>
            </a:r>
            <a:r>
              <a:rPr lang="it-IT" sz="1600" dirty="0">
                <a:solidFill>
                  <a:srgbClr val="1B1D20"/>
                </a:solidFill>
                <a:latin typeface="IBM Plex Sans"/>
                <a:cs typeface="IBM Plex Sans"/>
              </a:rPr>
              <a:t>in tabella va la rotta verso lanB:</a:t>
            </a:r>
          </a:p>
        </p:txBody>
      </p:sp>
      <p:sp>
        <p:nvSpPr>
          <p:cNvPr id="1231" name="Shape 1231"/>
          <p:cNvSpPr/>
          <p:nvPr/>
        </p:nvSpPr>
        <p:spPr>
          <a:xfrm>
            <a:off x="8331200" y="4419600"/>
            <a:ext cx="3048000" cy="660400"/>
          </a:xfrm>
          <a:prstGeom prst="rect">
            <a:avLst/>
          </a:prstGeom>
          <a:solidFill>
            <a:srgbClr val="17191C"/>
          </a:solidFill>
          <a:ln>
            <a:noFill/>
          </a:ln>
        </p:spPr>
        <p:txBody>
          <a:bodyPr wrap="square" lIns="127000" tIns="0" rIns="127000" bIns="0" anchor="ctr">
            <a:noAutofit/>
          </a:bodyPr>
          <a:lstStyle/>
          <a:p>
            <a:pPr marL="0" indent="0" algn="l">
              <a:buNone/>
            </a:pPr>
            <a:r>
              <a:rPr lang="it-IT" sz="1200" dirty="0">
                <a:solidFill>
                  <a:srgbClr val="F2F1EC"/>
                </a:solidFill>
                <a:latin typeface="JetBrains Mono"/>
                <a:cs typeface="JetBrains Mono"/>
              </a:rPr>
              <a:t>192.168.20.0/24</a:t>
            </a:r>
          </a:p>
          <a:p>
            <a:pPr marL="0" indent="0" algn="l">
              <a:buNone/>
            </a:pPr>
            <a:r>
              <a:rPr lang="it-IT" sz="1200" dirty="0">
                <a:solidFill>
                  <a:srgbClr val="F2F1EC"/>
                </a:solidFill>
                <a:latin typeface="JetBrains Mono"/>
                <a:cs typeface="JetBrains Mono"/>
              </a:rPr>
              <a:t>  via 10.0.0.2 dev eth1</a:t>
            </a:r>
          </a:p>
        </p:txBody>
      </p:sp>
    </p:spTree>
    <p:extLst>
      <p:ext uri="{BB962C8B-B14F-4D97-AF65-F5344CB8AC3E}">
        <p14:creationId xmlns:p14="http://schemas.microsoft.com/office/powerpoint/2010/main" val="16381573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Guasto su n12: il traffico passa per r4</a:t>
            </a:r>
          </a:p>
        </p:txBody>
      </p:sp>
      <p:cxnSp>
        <p:nvCxnSpPr>
          <p:cNvPr id="1201" name="Line 1201"/>
          <p:cNvCxnSpPr/>
          <p:nvPr/>
        </p:nvCxnSpPr>
        <p:spPr>
          <a:xfrm>
            <a:off x="2082800" y="2540000"/>
            <a:ext cx="406400" cy="0"/>
          </a:xfrm>
          <a:prstGeom prst="line">
            <a:avLst/>
          </a:prstGeom>
          <a:ln w="19050">
            <a:solidFill>
              <a:srgbClr val="1B1D20"/>
            </a:solidFill>
          </a:ln>
        </p:spPr>
      </p:cxnSp>
      <p:cxnSp>
        <p:nvCxnSpPr>
          <p:cNvPr id="1202" name="Line 1202"/>
          <p:cNvCxnSpPr/>
          <p:nvPr/>
        </p:nvCxnSpPr>
        <p:spPr>
          <a:xfrm>
            <a:off x="3810000" y="2540000"/>
            <a:ext cx="1117600" cy="0"/>
          </a:xfrm>
          <a:prstGeom prst="line">
            <a:avLst/>
          </a:prstGeom>
          <a:ln w="19050">
            <a:solidFill>
              <a:srgbClr val="C9CCD1"/>
            </a:solidFill>
            <a:prstDash val="dash"/>
          </a:ln>
        </p:spPr>
      </p:cxnSp>
      <p:cxnSp>
        <p:nvCxnSpPr>
          <p:cNvPr id="1203" name="Line 1203"/>
          <p:cNvCxnSpPr/>
          <p:nvPr/>
        </p:nvCxnSpPr>
        <p:spPr>
          <a:xfrm>
            <a:off x="3149600" y="2895600"/>
            <a:ext cx="0" cy="1473200"/>
          </a:xfrm>
          <a:prstGeom prst="line">
            <a:avLst/>
          </a:prstGeom>
          <a:ln w="38100">
            <a:solidFill>
              <a:srgbClr val="B4502E"/>
            </a:solidFill>
          </a:ln>
        </p:spPr>
      </p:cxnSp>
      <p:cxnSp>
        <p:nvCxnSpPr>
          <p:cNvPr id="1204" name="Line 1204"/>
          <p:cNvCxnSpPr/>
          <p:nvPr/>
        </p:nvCxnSpPr>
        <p:spPr>
          <a:xfrm>
            <a:off x="5588000" y="2895600"/>
            <a:ext cx="0" cy="1473200"/>
          </a:xfrm>
          <a:prstGeom prst="line">
            <a:avLst/>
          </a:prstGeom>
          <a:ln w="19050">
            <a:solidFill>
              <a:srgbClr val="1B1D20"/>
            </a:solidFill>
          </a:ln>
        </p:spPr>
      </p:cxnSp>
      <p:cxnSp>
        <p:nvCxnSpPr>
          <p:cNvPr id="1205" name="Line 1205"/>
          <p:cNvCxnSpPr/>
          <p:nvPr/>
        </p:nvCxnSpPr>
        <p:spPr>
          <a:xfrm>
            <a:off x="3810000" y="4724400"/>
            <a:ext cx="1117600" cy="0"/>
          </a:xfrm>
          <a:prstGeom prst="line">
            <a:avLst/>
          </a:prstGeom>
          <a:ln w="38100">
            <a:solidFill>
              <a:srgbClr val="B4502E"/>
            </a:solidFill>
          </a:ln>
        </p:spPr>
      </p:cxnSp>
      <p:cxnSp>
        <p:nvCxnSpPr>
          <p:cNvPr id="1206" name="Line 1206"/>
          <p:cNvCxnSpPr/>
          <p:nvPr/>
        </p:nvCxnSpPr>
        <p:spPr>
          <a:xfrm>
            <a:off x="6248400" y="4724400"/>
            <a:ext cx="406400" cy="0"/>
          </a:xfrm>
          <a:prstGeom prst="line">
            <a:avLst/>
          </a:prstGeom>
          <a:ln w="19050">
            <a:solidFill>
              <a:srgbClr val="1B1D20"/>
            </a:solidFill>
          </a:ln>
        </p:spPr>
      </p:cxnSp>
      <p:sp>
        <p:nvSpPr>
          <p:cNvPr id="1207" name="Shape 1207"/>
          <p:cNvSpPr txBox="1"/>
          <p:nvPr/>
        </p:nvSpPr>
        <p:spPr>
          <a:xfrm>
            <a:off x="3810000" y="22606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1B1D20"/>
                </a:solidFill>
                <a:latin typeface="JetBrains Mono"/>
                <a:cs typeface="JetBrains Mono"/>
              </a:rPr>
              <a:t>n12</a:t>
            </a:r>
          </a:p>
        </p:txBody>
      </p:sp>
      <p:sp>
        <p:nvSpPr>
          <p:cNvPr id="1208" name="Shape 1208"/>
          <p:cNvSpPr txBox="1"/>
          <p:nvPr/>
        </p:nvSpPr>
        <p:spPr>
          <a:xfrm>
            <a:off x="3810000" y="2616200"/>
            <a:ext cx="1117600" cy="203200"/>
          </a:xfrm>
          <a:prstGeom prst="rect">
            <a:avLst/>
          </a:prstGeom>
          <a:noFill/>
          <a:ln>
            <a:noFill/>
          </a:ln>
        </p:spPr>
        <p:txBody>
          <a:bodyPr wrap="square" lIns="0" tIns="0" rIns="0" bIns="0" anchor="t">
            <a:noAutofit/>
          </a:bodyPr>
          <a:lstStyle/>
          <a:p>
            <a:pPr marL="0" indent="0" algn="ctr">
              <a:buNone/>
            </a:pPr>
            <a:r>
              <a:rPr lang="it-IT" sz="1200" dirty="0">
                <a:solidFill>
                  <a:srgbClr val="8A8F96"/>
                </a:solidFill>
                <a:latin typeface="JetBrains Mono"/>
                <a:cs typeface="JetBrains Mono"/>
              </a:rPr>
              <a:t>guasto</a:t>
            </a:r>
          </a:p>
        </p:txBody>
      </p:sp>
      <p:sp>
        <p:nvSpPr>
          <p:cNvPr id="1209" name="Shape 1209"/>
          <p:cNvSpPr txBox="1"/>
          <p:nvPr/>
        </p:nvSpPr>
        <p:spPr>
          <a:xfrm>
            <a:off x="3810000" y="44450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1B1D20"/>
                </a:solidFill>
                <a:latin typeface="JetBrains Mono"/>
                <a:cs typeface="JetBrains Mono"/>
              </a:rPr>
              <a:t>n34</a:t>
            </a:r>
          </a:p>
        </p:txBody>
      </p:sp>
      <p:sp>
        <p:nvSpPr>
          <p:cNvPr id="1210" name="Shape 1210"/>
          <p:cNvSpPr txBox="1"/>
          <p:nvPr/>
        </p:nvSpPr>
        <p:spPr>
          <a:xfrm>
            <a:off x="3810000" y="4800600"/>
            <a:ext cx="1117600" cy="203200"/>
          </a:xfrm>
          <a:prstGeom prst="rect">
            <a:avLst/>
          </a:prstGeom>
          <a:noFill/>
          <a:ln>
            <a:noFill/>
          </a:ln>
        </p:spPr>
        <p:txBody>
          <a:bodyPr wrap="square" lIns="0" tIns="0" rIns="0" bIns="0" anchor="t">
            <a:noAutofit/>
          </a:bodyPr>
          <a:lstStyle/>
          <a:p>
            <a:pPr marL="0" indent="0" algn="ctr">
              <a:buNone/>
            </a:pPr>
            <a:r>
              <a:rPr lang="it-IT" sz="1200" b="1" dirty="0">
                <a:solidFill>
                  <a:srgbClr val="B4502E"/>
                </a:solidFill>
                <a:latin typeface="JetBrains Mono"/>
                <a:cs typeface="JetBrains Mono"/>
              </a:rPr>
              <a:t>costo 100</a:t>
            </a:r>
          </a:p>
        </p:txBody>
      </p:sp>
      <p:sp>
        <p:nvSpPr>
          <p:cNvPr id="1211" name="Shape 1211"/>
          <p:cNvSpPr txBox="1"/>
          <p:nvPr/>
        </p:nvSpPr>
        <p:spPr>
          <a:xfrm>
            <a:off x="1600200" y="3378200"/>
            <a:ext cx="1447800" cy="457200"/>
          </a:xfrm>
          <a:prstGeom prst="rect">
            <a:avLst/>
          </a:prstGeom>
          <a:noFill/>
          <a:ln>
            <a:noFill/>
          </a:ln>
        </p:spPr>
        <p:txBody>
          <a:bodyPr wrap="square" lIns="0" tIns="0" rIns="0" bIns="0" anchor="t">
            <a:noAutofit/>
          </a:bodyPr>
          <a:lstStyle/>
          <a:p>
            <a:pPr marL="0" indent="0" algn="r">
              <a:buNone/>
            </a:pPr>
            <a:r>
              <a:rPr lang="it-IT" sz="1200" b="1" dirty="0">
                <a:solidFill>
                  <a:srgbClr val="1B1D20"/>
                </a:solidFill>
                <a:latin typeface="JetBrains Mono"/>
                <a:cs typeface="JetBrains Mono"/>
              </a:rPr>
              <a:t>n41</a:t>
            </a:r>
          </a:p>
          <a:p>
            <a:pPr marL="0" indent="0" algn="r">
              <a:buNone/>
            </a:pPr>
            <a:r>
              <a:rPr lang="it-IT" sz="1200" b="1" dirty="0">
                <a:solidFill>
                  <a:srgbClr val="B4502E"/>
                </a:solidFill>
                <a:latin typeface="JetBrains Mono"/>
                <a:cs typeface="JetBrains Mono"/>
              </a:rPr>
              <a:t>costo 100</a:t>
            </a:r>
          </a:p>
        </p:txBody>
      </p:sp>
      <p:sp>
        <p:nvSpPr>
          <p:cNvPr id="1212" name="Shape 1212"/>
          <p:cNvSpPr txBox="1"/>
          <p:nvPr/>
        </p:nvSpPr>
        <p:spPr>
          <a:xfrm>
            <a:off x="5715000" y="3378200"/>
            <a:ext cx="1447800" cy="457200"/>
          </a:xfrm>
          <a:prstGeom prst="rect">
            <a:avLst/>
          </a:prstGeom>
          <a:noFill/>
          <a:ln>
            <a:noFill/>
          </a:ln>
        </p:spPr>
        <p:txBody>
          <a:bodyPr wrap="square" lIns="0" tIns="0" rIns="0" bIns="0" anchor="t">
            <a:noAutofit/>
          </a:bodyPr>
          <a:lstStyle/>
          <a:p>
            <a:pPr marL="0" indent="0" algn="l">
              <a:buNone/>
            </a:pPr>
            <a:r>
              <a:rPr lang="it-IT" sz="1200" b="1" dirty="0">
                <a:solidFill>
                  <a:srgbClr val="1B1D20"/>
                </a:solidFill>
                <a:latin typeface="JetBrains Mono"/>
                <a:cs typeface="JetBrains Mono"/>
              </a:rPr>
              <a:t>n23</a:t>
            </a:r>
          </a:p>
          <a:p>
            <a:pPr marL="0" indent="0" algn="l">
              <a:buNone/>
            </a:pPr>
            <a:r>
              <a:rPr lang="it-IT" sz="1200" dirty="0">
                <a:solidFill>
                  <a:srgbClr val="525355"/>
                </a:solidFill>
                <a:latin typeface="JetBrains Mono"/>
                <a:cs typeface="JetBrains Mono"/>
              </a:rPr>
              <a:t>costo 10</a:t>
            </a:r>
          </a:p>
        </p:txBody>
      </p:sp>
      <p:sp>
        <p:nvSpPr>
          <p:cNvPr id="1213" name="Shape 1213"/>
          <p:cNvSpPr/>
          <p:nvPr/>
        </p:nvSpPr>
        <p:spPr>
          <a:xfrm>
            <a:off x="2489200" y="2184400"/>
            <a:ext cx="1320800" cy="711200"/>
          </a:xfrm>
          <a:prstGeom prst="rect">
            <a:avLst/>
          </a:prstGeom>
          <a:solidFill>
            <a:srgbClr val="B4502E"/>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r1</a:t>
            </a:r>
          </a:p>
          <a:p>
            <a:pPr marL="0" indent="0" algn="ctr">
              <a:buNone/>
            </a:pPr>
            <a:r>
              <a:rPr lang="it-IT" sz="1100" dirty="0">
                <a:solidFill>
                  <a:srgbClr val="F6DDD3"/>
                </a:solidFill>
                <a:latin typeface="JetBrains Mono"/>
                <a:cs typeface="JetBrains Mono"/>
              </a:rPr>
              <a:t>lo 10.255.0.1</a:t>
            </a:r>
          </a:p>
        </p:txBody>
      </p:sp>
      <p:sp>
        <p:nvSpPr>
          <p:cNvPr id="1214" name="Shape 1214"/>
          <p:cNvSpPr/>
          <p:nvPr/>
        </p:nvSpPr>
        <p:spPr>
          <a:xfrm>
            <a:off x="4927600" y="21844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r2</a:t>
            </a:r>
          </a:p>
          <a:p>
            <a:pPr marL="0" indent="0" algn="ctr">
              <a:buNone/>
            </a:pPr>
            <a:r>
              <a:rPr lang="it-IT" sz="1100" dirty="0">
                <a:solidFill>
                  <a:srgbClr val="C9CCD1"/>
                </a:solidFill>
                <a:latin typeface="JetBrains Mono"/>
                <a:cs typeface="JetBrains Mono"/>
              </a:rPr>
              <a:t>lo 10.255.0.2</a:t>
            </a:r>
          </a:p>
        </p:txBody>
      </p:sp>
      <p:sp>
        <p:nvSpPr>
          <p:cNvPr id="1215" name="Shape 1215"/>
          <p:cNvSpPr/>
          <p:nvPr/>
        </p:nvSpPr>
        <p:spPr>
          <a:xfrm>
            <a:off x="2489200" y="43688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r4</a:t>
            </a:r>
          </a:p>
          <a:p>
            <a:pPr marL="0" indent="0" algn="ctr">
              <a:buNone/>
            </a:pPr>
            <a:r>
              <a:rPr lang="it-IT" sz="1100" dirty="0">
                <a:solidFill>
                  <a:srgbClr val="C9CCD1"/>
                </a:solidFill>
                <a:latin typeface="JetBrains Mono"/>
                <a:cs typeface="JetBrains Mono"/>
              </a:rPr>
              <a:t>lo 10.255.0.4</a:t>
            </a:r>
          </a:p>
        </p:txBody>
      </p:sp>
      <p:sp>
        <p:nvSpPr>
          <p:cNvPr id="1216" name="Shape 1216"/>
          <p:cNvSpPr/>
          <p:nvPr/>
        </p:nvSpPr>
        <p:spPr>
          <a:xfrm>
            <a:off x="4927600" y="4368800"/>
            <a:ext cx="1320800" cy="711200"/>
          </a:xfrm>
          <a:prstGeom prst="rect">
            <a:avLst/>
          </a:prstGeom>
          <a:solidFill>
            <a:srgbClr val="1B1D20"/>
          </a:solidFill>
          <a:ln>
            <a:noFill/>
          </a:ln>
        </p:spPr>
        <p:txBody>
          <a:bodyPr wrap="square" lIns="0" tIns="0" rIns="0" bIns="0" anchor="ctr">
            <a:noAutofit/>
          </a:bodyPr>
          <a:lstStyle/>
          <a:p>
            <a:pPr marL="0" indent="0" algn="ctr">
              <a:buNone/>
            </a:pPr>
            <a:r>
              <a:rPr lang="it-IT" sz="2000" b="1" dirty="0">
                <a:solidFill>
                  <a:srgbClr val="FFFFFF"/>
                </a:solidFill>
                <a:latin typeface="IBM Plex Sans"/>
                <a:cs typeface="IBM Plex Sans"/>
              </a:rPr>
              <a:t>r3</a:t>
            </a:r>
          </a:p>
          <a:p>
            <a:pPr marL="0" indent="0" algn="ctr">
              <a:buNone/>
            </a:pPr>
            <a:r>
              <a:rPr lang="it-IT" sz="1100" dirty="0">
                <a:solidFill>
                  <a:srgbClr val="C9CCD1"/>
                </a:solidFill>
                <a:latin typeface="JetBrains Mono"/>
                <a:cs typeface="JetBrains Mono"/>
              </a:rPr>
              <a:t>lo 10.255.0.3</a:t>
            </a:r>
          </a:p>
        </p:txBody>
      </p:sp>
      <p:sp>
        <p:nvSpPr>
          <p:cNvPr id="1217" name="Shape 1217"/>
          <p:cNvSpPr/>
          <p:nvPr/>
        </p:nvSpPr>
        <p:spPr>
          <a:xfrm>
            <a:off x="812800" y="2235200"/>
            <a:ext cx="1270000" cy="609600"/>
          </a:xfrm>
          <a:prstGeom prst="rect">
            <a:avLst/>
          </a:prstGeom>
          <a:solidFill>
            <a:srgbClr val="F6F5F0"/>
          </a:solidFill>
          <a:ln w="9525">
            <a:solidFill>
              <a:srgbClr val="1B1D20"/>
            </a:solidFill>
          </a:ln>
        </p:spPr>
        <p:txBody>
          <a:bodyPr wrap="square" lIns="0" tIns="0" rIns="0" bIns="0" anchor="ctr">
            <a:noAutofit/>
          </a:bodyPr>
          <a:lstStyle/>
          <a:p>
            <a:pPr marL="0" indent="0" algn="ctr">
              <a:buNone/>
            </a:pPr>
            <a:r>
              <a:rPr lang="it-IT" sz="1600" b="1" dirty="0">
                <a:solidFill>
                  <a:srgbClr val="1B1D20"/>
                </a:solidFill>
                <a:latin typeface="IBM Plex Sans"/>
                <a:cs typeface="IBM Plex Sans"/>
              </a:rPr>
              <a:t>pc_a</a:t>
            </a:r>
          </a:p>
          <a:p>
            <a:pPr marL="0" indent="0" algn="ctr">
              <a:buNone/>
            </a:pPr>
            <a:r>
              <a:rPr lang="it-IT" sz="1100" dirty="0">
                <a:solidFill>
                  <a:srgbClr val="5B5F66"/>
                </a:solidFill>
                <a:latin typeface="JetBrains Mono"/>
                <a:cs typeface="JetBrains Mono"/>
              </a:rPr>
              <a:t>192.168.10.10</a:t>
            </a:r>
          </a:p>
        </p:txBody>
      </p:sp>
      <p:sp>
        <p:nvSpPr>
          <p:cNvPr id="1218" name="Shape 1218"/>
          <p:cNvSpPr/>
          <p:nvPr/>
        </p:nvSpPr>
        <p:spPr>
          <a:xfrm>
            <a:off x="6654800" y="4419600"/>
            <a:ext cx="1270000" cy="609600"/>
          </a:xfrm>
          <a:prstGeom prst="rect">
            <a:avLst/>
          </a:prstGeom>
          <a:solidFill>
            <a:srgbClr val="F6F5F0"/>
          </a:solidFill>
          <a:ln w="9525">
            <a:solidFill>
              <a:srgbClr val="1B1D20"/>
            </a:solidFill>
          </a:ln>
        </p:spPr>
        <p:txBody>
          <a:bodyPr wrap="square" lIns="0" tIns="0" rIns="0" bIns="0" anchor="ctr">
            <a:noAutofit/>
          </a:bodyPr>
          <a:lstStyle/>
          <a:p>
            <a:pPr marL="0" indent="0" algn="ctr">
              <a:buNone/>
            </a:pPr>
            <a:r>
              <a:rPr lang="it-IT" sz="1600" b="1" dirty="0">
                <a:solidFill>
                  <a:srgbClr val="1B1D20"/>
                </a:solidFill>
                <a:latin typeface="IBM Plex Sans"/>
                <a:cs typeface="IBM Plex Sans"/>
              </a:rPr>
              <a:t>pc_b</a:t>
            </a:r>
          </a:p>
          <a:p>
            <a:pPr marL="0" indent="0" algn="ctr">
              <a:buNone/>
            </a:pPr>
            <a:r>
              <a:rPr lang="it-IT" sz="1100" dirty="0">
                <a:solidFill>
                  <a:srgbClr val="5B5F66"/>
                </a:solidFill>
                <a:latin typeface="JetBrains Mono"/>
                <a:cs typeface="JetBrains Mono"/>
              </a:rPr>
              <a:t>192.168.20.10</a:t>
            </a:r>
          </a:p>
        </p:txBody>
      </p:sp>
      <p:sp>
        <p:nvSpPr>
          <p:cNvPr id="1219" name="Shape 1219"/>
          <p:cNvSpPr txBox="1"/>
          <p:nvPr/>
        </p:nvSpPr>
        <p:spPr>
          <a:xfrm>
            <a:off x="812800" y="1981200"/>
            <a:ext cx="2032000" cy="203200"/>
          </a:xfrm>
          <a:prstGeom prst="rect">
            <a:avLst/>
          </a:prstGeom>
          <a:noFill/>
          <a:ln>
            <a:noFill/>
          </a:ln>
        </p:spPr>
        <p:txBody>
          <a:bodyPr wrap="square" lIns="0" tIns="0" rIns="0" bIns="0" anchor="t">
            <a:noAutofit/>
          </a:bodyPr>
          <a:lstStyle/>
          <a:p>
            <a:pPr marL="0" indent="0" algn="l">
              <a:buNone/>
            </a:pPr>
            <a:r>
              <a:rPr lang="it-IT" sz="1100" dirty="0">
                <a:solidFill>
                  <a:srgbClr val="8A8F96"/>
                </a:solidFill>
                <a:latin typeface="JetBrains Mono"/>
                <a:cs typeface="JetBrains Mono"/>
              </a:rPr>
              <a:t>SEDE A · lanA</a:t>
            </a:r>
          </a:p>
        </p:txBody>
      </p:sp>
      <p:sp>
        <p:nvSpPr>
          <p:cNvPr id="1220" name="Shape 1220"/>
          <p:cNvSpPr txBox="1"/>
          <p:nvPr/>
        </p:nvSpPr>
        <p:spPr>
          <a:xfrm>
            <a:off x="6654800" y="5105400"/>
            <a:ext cx="1524000" cy="203200"/>
          </a:xfrm>
          <a:prstGeom prst="rect">
            <a:avLst/>
          </a:prstGeom>
          <a:noFill/>
          <a:ln>
            <a:noFill/>
          </a:ln>
        </p:spPr>
        <p:txBody>
          <a:bodyPr wrap="square" lIns="0" tIns="0" rIns="0" bIns="0" anchor="t">
            <a:noAutofit/>
          </a:bodyPr>
          <a:lstStyle/>
          <a:p>
            <a:pPr marL="0" indent="0" algn="l">
              <a:buNone/>
            </a:pPr>
            <a:r>
              <a:rPr lang="it-IT" sz="1100" dirty="0">
                <a:solidFill>
                  <a:srgbClr val="8A8F96"/>
                </a:solidFill>
                <a:latin typeface="JetBrains Mono"/>
                <a:cs typeface="JetBrains Mono"/>
              </a:rPr>
              <a:t>SEDE B · lanB</a:t>
            </a:r>
          </a:p>
        </p:txBody>
      </p:sp>
      <p:sp>
        <p:nvSpPr>
          <p:cNvPr id="1221" name="Shape 1221"/>
          <p:cNvSpPr/>
          <p:nvPr/>
        </p:nvSpPr>
        <p:spPr>
          <a:xfrm>
            <a:off x="4241800" y="2413000"/>
            <a:ext cx="254000" cy="254000"/>
          </a:xfrm>
          <a:prstGeom prst="rect">
            <a:avLst/>
          </a:prstGeom>
          <a:solidFill>
            <a:srgbClr val="FFFFFF"/>
          </a:solidFill>
          <a:ln>
            <a:noFill/>
          </a:ln>
        </p:spPr>
        <p:txBody>
          <a:bodyPr wrap="square" lIns="0" tIns="0" rIns="0" bIns="0" anchor="ctr">
            <a:noAutofit/>
          </a:bodyPr>
          <a:lstStyle/>
          <a:p>
            <a:pPr marL="0" indent="0" algn="ctr">
              <a:buNone/>
            </a:pPr>
            <a:r>
              <a:rPr lang="it-IT" sz="1800" b="1" dirty="0">
                <a:solidFill>
                  <a:srgbClr val="1B1D20"/>
                </a:solidFill>
                <a:latin typeface="IBM Plex Sans"/>
                <a:cs typeface="IBM Plex Sans"/>
              </a:rPr>
              <a:t>×</a:t>
            </a:r>
          </a:p>
        </p:txBody>
      </p:sp>
      <p:cxnSp>
        <p:nvCxnSpPr>
          <p:cNvPr id="1222" name="Line 1222"/>
          <p:cNvCxnSpPr/>
          <p:nvPr/>
        </p:nvCxnSpPr>
        <p:spPr>
          <a:xfrm>
            <a:off x="812800" y="5664200"/>
            <a:ext cx="304800" cy="0"/>
          </a:xfrm>
          <a:prstGeom prst="line">
            <a:avLst/>
          </a:prstGeom>
          <a:ln w="38100">
            <a:solidFill>
              <a:srgbClr val="B4502E"/>
            </a:solidFill>
          </a:ln>
        </p:spPr>
      </p:cxnSp>
      <p:sp>
        <p:nvSpPr>
          <p:cNvPr id="1223" name="Shape 1223"/>
          <p:cNvSpPr txBox="1"/>
          <p:nvPr/>
        </p:nvSpPr>
        <p:spPr>
          <a:xfrm>
            <a:off x="1219200" y="5549900"/>
            <a:ext cx="3175000" cy="228600"/>
          </a:xfrm>
          <a:prstGeom prst="rect">
            <a:avLst/>
          </a:prstGeom>
          <a:noFill/>
          <a:ln>
            <a:noFill/>
          </a:ln>
        </p:spPr>
        <p:txBody>
          <a:bodyPr wrap="square" lIns="0" tIns="0" rIns="0" bIns="0" anchor="t">
            <a:noAutofit/>
          </a:bodyPr>
          <a:lstStyle/>
          <a:p>
            <a:pPr marL="0" indent="0" algn="l">
              <a:buNone/>
            </a:pPr>
            <a:r>
              <a:rPr lang="it-IT" sz="1200" dirty="0">
                <a:solidFill>
                  <a:srgbClr val="525355"/>
                </a:solidFill>
                <a:latin typeface="IBM Plex Sans"/>
                <a:cs typeface="IBM Plex Sans"/>
              </a:rPr>
              <a:t>nuovo percorso, costo 200</a:t>
            </a:r>
          </a:p>
        </p:txBody>
      </p:sp>
      <p:cxnSp>
        <p:nvCxnSpPr>
          <p:cNvPr id="1224" name="Line 1224"/>
          <p:cNvCxnSpPr/>
          <p:nvPr/>
        </p:nvCxnSpPr>
        <p:spPr>
          <a:xfrm>
            <a:off x="3721100" y="5664200"/>
            <a:ext cx="304800" cy="0"/>
          </a:xfrm>
          <a:prstGeom prst="line">
            <a:avLst/>
          </a:prstGeom>
          <a:ln w="19050">
            <a:solidFill>
              <a:srgbClr val="C9CCD1"/>
            </a:solidFill>
            <a:prstDash val="dash"/>
          </a:ln>
        </p:spPr>
      </p:cxnSp>
      <p:sp>
        <p:nvSpPr>
          <p:cNvPr id="1225" name="Shape 1225"/>
          <p:cNvSpPr txBox="1"/>
          <p:nvPr/>
        </p:nvSpPr>
        <p:spPr>
          <a:xfrm>
            <a:off x="4127500" y="5549900"/>
            <a:ext cx="3175000" cy="228600"/>
          </a:xfrm>
          <a:prstGeom prst="rect">
            <a:avLst/>
          </a:prstGeom>
          <a:noFill/>
          <a:ln>
            <a:noFill/>
          </a:ln>
        </p:spPr>
        <p:txBody>
          <a:bodyPr wrap="square" lIns="0" tIns="0" rIns="0" bIns="0" anchor="t">
            <a:noAutofit/>
          </a:bodyPr>
          <a:lstStyle/>
          <a:p>
            <a:pPr marL="0" indent="0" algn="l">
              <a:buNone/>
            </a:pPr>
            <a:r>
              <a:rPr lang="it-IT" sz="1200" dirty="0">
                <a:solidFill>
                  <a:srgbClr val="525355"/>
                </a:solidFill>
                <a:latin typeface="IBM Plex Sans"/>
                <a:cs typeface="IBM Plex Sans"/>
              </a:rPr>
              <a:t>link guasto</a:t>
            </a:r>
          </a:p>
        </p:txBody>
      </p:sp>
      <p:cxnSp>
        <p:nvCxnSpPr>
          <p:cNvPr id="1226" name="Line 1226"/>
          <p:cNvCxnSpPr/>
          <p:nvPr/>
        </p:nvCxnSpPr>
        <p:spPr>
          <a:xfrm>
            <a:off x="8128000" y="1905000"/>
            <a:ext cx="0" cy="3810000"/>
          </a:xfrm>
          <a:prstGeom prst="line">
            <a:avLst/>
          </a:prstGeom>
          <a:ln w="12700">
            <a:solidFill>
              <a:srgbClr val="E1E0DD"/>
            </a:solidFill>
          </a:ln>
        </p:spPr>
      </p:cxnSp>
      <p:sp>
        <p:nvSpPr>
          <p:cNvPr id="1227" name="Shape 1227"/>
          <p:cNvSpPr txBox="1"/>
          <p:nvPr/>
        </p:nvSpPr>
        <p:spPr>
          <a:xfrm>
            <a:off x="8331200" y="1905000"/>
            <a:ext cx="3048000" cy="254000"/>
          </a:xfrm>
          <a:prstGeom prst="rect">
            <a:avLst/>
          </a:prstGeom>
          <a:noFill/>
          <a:ln>
            <a:noFill/>
          </a:ln>
        </p:spPr>
        <p:txBody>
          <a:bodyPr wrap="square" lIns="0" tIns="0" rIns="0" bIns="0" anchor="t">
            <a:noAutofit/>
          </a:bodyPr>
          <a:lstStyle/>
          <a:p>
            <a:pPr marL="0" indent="0" algn="l">
              <a:buNone/>
            </a:pPr>
            <a:r>
              <a:rPr lang="it-IT" sz="1400" dirty="0">
                <a:solidFill>
                  <a:srgbClr val="B4502E"/>
                </a:solidFill>
                <a:latin typeface="JetBrains Mono"/>
                <a:cs typeface="JetBrains Mono"/>
              </a:rPr>
              <a:t>04 · Guasto e riconvergenza</a:t>
            </a:r>
          </a:p>
        </p:txBody>
      </p:sp>
      <p:sp>
        <p:nvSpPr>
          <p:cNvPr id="1228" name="Shape 1228"/>
          <p:cNvSpPr txBox="1"/>
          <p:nvPr/>
        </p:nvSpPr>
        <p:spPr>
          <a:xfrm>
            <a:off x="8331200" y="2286000"/>
            <a:ext cx="3048000" cy="762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r1 e r2 </a:t>
            </a:r>
            <a:r>
              <a:rPr lang="it-IT" sz="1600" dirty="0">
                <a:solidFill>
                  <a:srgbClr val="1B1D20"/>
                </a:solidFill>
                <a:latin typeface="IBM Plex Sans"/>
                <a:cs typeface="IBM Plex Sans"/>
              </a:rPr>
              <a:t>perdono l'adiacenza e inviano nuove LSA senza quel link.</a:t>
            </a:r>
          </a:p>
        </p:txBody>
      </p:sp>
      <p:sp>
        <p:nvSpPr>
          <p:cNvPr id="1229" name="Shape 1229"/>
          <p:cNvSpPr txBox="1"/>
          <p:nvPr/>
        </p:nvSpPr>
        <p:spPr>
          <a:xfrm>
            <a:off x="8331200" y="3225800"/>
            <a:ext cx="3048000" cy="508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Ogni router </a:t>
            </a:r>
            <a:r>
              <a:rPr lang="it-IT" sz="1600" dirty="0">
                <a:solidFill>
                  <a:srgbClr val="1B1D20"/>
                </a:solidFill>
                <a:latin typeface="IBM Plex Sans"/>
                <a:cs typeface="IBM Plex Sans"/>
              </a:rPr>
              <a:t>rifà lo SPF: verso r3 resta solo la via r4.</a:t>
            </a:r>
          </a:p>
        </p:txBody>
      </p:sp>
      <p:sp>
        <p:nvSpPr>
          <p:cNvPr id="1230" name="Shape 1230"/>
          <p:cNvSpPr/>
          <p:nvPr/>
        </p:nvSpPr>
        <p:spPr>
          <a:xfrm>
            <a:off x="8331200" y="3911600"/>
            <a:ext cx="3048000" cy="660400"/>
          </a:xfrm>
          <a:prstGeom prst="rect">
            <a:avLst/>
          </a:prstGeom>
          <a:solidFill>
            <a:srgbClr val="17191C"/>
          </a:solidFill>
          <a:ln>
            <a:noFill/>
          </a:ln>
        </p:spPr>
        <p:txBody>
          <a:bodyPr wrap="square" lIns="127000" tIns="0" rIns="127000" bIns="0" anchor="ctr">
            <a:noAutofit/>
          </a:bodyPr>
          <a:lstStyle/>
          <a:p>
            <a:pPr marL="0" indent="0" algn="l">
              <a:buNone/>
            </a:pPr>
            <a:r>
              <a:rPr lang="it-IT" sz="1200" dirty="0">
                <a:solidFill>
                  <a:srgbClr val="F2F1EC"/>
                </a:solidFill>
                <a:latin typeface="JetBrains Mono"/>
                <a:cs typeface="JetBrains Mono"/>
              </a:rPr>
              <a:t>192.168.20.0/24</a:t>
            </a:r>
          </a:p>
          <a:p>
            <a:pPr marL="0" indent="0" algn="l">
              <a:buNone/>
            </a:pPr>
            <a:r>
              <a:rPr lang="it-IT" sz="1200" dirty="0">
                <a:solidFill>
                  <a:srgbClr val="F2F1EC"/>
                </a:solidFill>
                <a:latin typeface="JetBrains Mono"/>
                <a:cs typeface="JetBrains Mono"/>
              </a:rPr>
              <a:t>  via 10.0.0.13 dev eth2</a:t>
            </a:r>
          </a:p>
        </p:txBody>
      </p:sp>
      <p:sp>
        <p:nvSpPr>
          <p:cNvPr id="1231" name="Shape 1231"/>
          <p:cNvSpPr txBox="1"/>
          <p:nvPr/>
        </p:nvSpPr>
        <p:spPr>
          <a:xfrm>
            <a:off x="8331200" y="4749800"/>
            <a:ext cx="3048000" cy="508000"/>
          </a:xfrm>
          <a:prstGeom prst="rect">
            <a:avLst/>
          </a:prstGeom>
          <a:noFill/>
          <a:ln>
            <a:noFill/>
          </a:ln>
        </p:spPr>
        <p:txBody>
          <a:bodyPr wrap="square" lIns="0" tIns="0" rIns="0" bIns="0" anchor="t">
            <a:noAutofit/>
          </a:bodyPr>
          <a:lstStyle/>
          <a:p>
            <a:pPr marL="0" indent="0" algn="l">
              <a:buNone/>
            </a:pPr>
            <a:r>
              <a:rPr lang="it-IT" sz="1600" b="1" dirty="0">
                <a:solidFill>
                  <a:srgbClr val="1B1D20"/>
                </a:solidFill>
                <a:latin typeface="IBM Plex Sans"/>
                <a:cs typeface="IBM Plex Sans"/>
              </a:rPr>
              <a:t>Nel lab: </a:t>
            </a:r>
            <a:r>
              <a:rPr lang="it-IT" sz="1600" dirty="0">
                <a:solidFill>
                  <a:srgbClr val="1B1D20"/>
                </a:solidFill>
                <a:latin typeface="IBM Plex Sans"/>
                <a:cs typeface="IBM Plex Sans"/>
              </a:rPr>
              <a:t>lo proviamo nella fase di failover.</a:t>
            </a:r>
          </a:p>
        </p:txBody>
      </p:sp>
    </p:spTree>
    <p:extLst>
      <p:ext uri="{BB962C8B-B14F-4D97-AF65-F5344CB8AC3E}">
        <p14:creationId xmlns:p14="http://schemas.microsoft.com/office/powerpoint/2010/main" val="14630627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5">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a:bodyPr>
          <a:lstStyle/>
          <a:p>
            <a:pPr marL="0" indent="0" algn="l">
              <a:lnSpc>
                <a:spcPts val="4500"/>
              </a:lnSpc>
              <a:buNone/>
            </a:pPr>
            <a:r>
              <a:rPr lang="it-IT" sz="3600" b="1" i="0" noProof="0" dirty="0">
                <a:solidFill>
                  <a:srgbClr val="1B1D20"/>
                </a:solidFill>
                <a:latin typeface="IBM Plex Sans" pitchFamily="34" charset="0"/>
                <a:ea typeface="IBM Plex Sans" pitchFamily="34" charset="-122"/>
                <a:cs typeface="IBM Plex Sans" pitchFamily="34" charset="-120"/>
              </a:rPr>
              <a:t>Piano di indirizzamento, router per router</a:t>
            </a:r>
            <a:endParaRPr lang="it-IT" sz="3600" noProof="0" dirty="0"/>
          </a:p>
        </p:txBody>
      </p:sp>
      <p:graphicFrame>
        <p:nvGraphicFramePr>
          <p:cNvPr id="5" name="Table 0"/>
          <p:cNvGraphicFramePr>
            <a:graphicFrameLocks noGrp="1"/>
          </p:cNvGraphicFramePr>
          <p:nvPr/>
        </p:nvGraphicFramePr>
        <p:xfrm>
          <a:off x="825500" y="1795785"/>
          <a:ext cx="10553700" cy="1930400"/>
        </p:xfrm>
        <a:graphic>
          <a:graphicData uri="http://schemas.openxmlformats.org/drawingml/2006/table">
            <a:tbl>
              <a:tblPr/>
              <a:tblGrid>
                <a:gridCol w="949833">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2321814">
                  <a:extLst>
                    <a:ext uri="{9D8B030D-6E8A-4147-A177-3AD203B41FA5}">
                      <a16:colId xmlns:a16="http://schemas.microsoft.com/office/drawing/2014/main" val="20003"/>
                    </a:ext>
                  </a:extLst>
                </a:gridCol>
                <a:gridCol w="2321814">
                  <a:extLst>
                    <a:ext uri="{9D8B030D-6E8A-4147-A177-3AD203B41FA5}">
                      <a16:colId xmlns:a16="http://schemas.microsoft.com/office/drawing/2014/main" val="20004"/>
                    </a:ext>
                  </a:extLst>
                </a:gridCol>
              </a:tblGrid>
              <a:tr h="386080">
                <a:tc>
                  <a:txBody>
                    <a:bodyPr/>
                    <a:lstStyle/>
                    <a:p>
                      <a:pPr marL="0" indent="0">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router</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eth0</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eth1</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eth2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lo</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86080">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r1</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192.168.10.1/24 · </a:t>
                      </a:r>
                      <a:r>
                        <a:rPr lang="it-IT" sz="1600" noProof="0" dirty="0" err="1">
                          <a:solidFill>
                            <a:srgbClr val="1B1D20"/>
                          </a:solidFill>
                          <a:latin typeface="IBM Plex Sans" pitchFamily="34" charset="0"/>
                          <a:ea typeface="IBM Plex Sans" pitchFamily="34" charset="-122"/>
                          <a:cs typeface="IBM Plex Sans" pitchFamily="34" charset="-120"/>
                        </a:rPr>
                        <a:t>lanA</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10.0.0.1/30 · n12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10.0.0.14/30 · n41</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10.255.0.1/32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r2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10.0.0.2/30 · n12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10.0.0.5/30 · n23</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8A8F96"/>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10.255.0.2/32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r3</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192.168.20.1/24 · </a:t>
                      </a:r>
                      <a:r>
                        <a:rPr lang="it-IT" sz="1600" noProof="0" dirty="0" err="1">
                          <a:solidFill>
                            <a:srgbClr val="1B1D20"/>
                          </a:solidFill>
                          <a:latin typeface="IBM Plex Sans" pitchFamily="34" charset="0"/>
                          <a:ea typeface="IBM Plex Sans" pitchFamily="34" charset="-122"/>
                          <a:cs typeface="IBM Plex Sans" pitchFamily="34" charset="-120"/>
                        </a:rPr>
                        <a:t>lanB</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10.0.0.6/30 · n23</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10.0.0.9/30 · n34</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10.255.0.3/32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86080">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r4</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10.0.0.10/30 · n34</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10.0.0.13/30 · n41</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8A8F96"/>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10.255.0.4/32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12800" y="4460230"/>
            <a:ext cx="327461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err="1">
                <a:solidFill>
                  <a:srgbClr val="B4502E"/>
                </a:solidFill>
                <a:latin typeface="JetBrains Mono" pitchFamily="49" charset="0"/>
                <a:ea typeface="JetBrains Mono" pitchFamily="49" charset="-122"/>
                <a:cs typeface="JetBrains Mono" pitchFamily="49" charset="-120"/>
              </a:rPr>
              <a:t>host</a:t>
            </a:r>
            <a:r>
              <a:rPr lang="it-IT" sz="1600" noProof="0" dirty="0">
                <a:solidFill>
                  <a:srgbClr val="B4502E"/>
                </a:solidFill>
                <a:latin typeface="JetBrains Mono" pitchFamily="49" charset="0"/>
                <a:ea typeface="JetBrains Mono" pitchFamily="49" charset="-122"/>
                <a:cs typeface="JetBrains Mono" pitchFamily="49" charset="-120"/>
              </a:rPr>
              <a:t> di sede</a:t>
            </a:r>
            <a:endParaRPr lang="it-IT" sz="1600" noProof="0" dirty="0"/>
          </a:p>
        </p:txBody>
      </p:sp>
      <p:sp>
        <p:nvSpPr>
          <p:cNvPr id="7" name="Text 4"/>
          <p:cNvSpPr/>
          <p:nvPr/>
        </p:nvSpPr>
        <p:spPr>
          <a:xfrm>
            <a:off x="812800" y="4724400"/>
            <a:ext cx="3274610" cy="558800"/>
          </a:xfrm>
          <a:prstGeom prst="rect">
            <a:avLst/>
          </a:prstGeom>
          <a:noFill/>
          <a:ln/>
        </p:spPr>
        <p:txBody>
          <a:bodyPr wrap="square" lIns="0" tIns="0" rIns="0" bIns="0" rtlCol="0" anchor="t">
            <a:normAutofit/>
          </a:bodyPr>
          <a:lstStyle/>
          <a:p>
            <a:pPr marL="0" indent="0" algn="l">
              <a:lnSpc>
                <a:spcPts val="2100"/>
              </a:lnSpc>
              <a:buNone/>
            </a:pPr>
            <a:r>
              <a:rPr lang="it-IT" sz="1600" noProof="0" dirty="0" err="1">
                <a:solidFill>
                  <a:srgbClr val="1B1D20"/>
                </a:solidFill>
                <a:latin typeface="IBM Plex Sans" pitchFamily="34" charset="0"/>
                <a:ea typeface="IBM Plex Sans" pitchFamily="34" charset="-122"/>
                <a:cs typeface="IBM Plex Sans" pitchFamily="34" charset="-120"/>
              </a:rPr>
              <a:t>pc_a</a:t>
            </a:r>
            <a:r>
              <a:rPr lang="it-IT" sz="1600" noProof="0" dirty="0">
                <a:solidFill>
                  <a:srgbClr val="1B1D20"/>
                </a:solidFill>
                <a:latin typeface="IBM Plex Sans" pitchFamily="34" charset="0"/>
                <a:ea typeface="IBM Plex Sans" pitchFamily="34" charset="-122"/>
                <a:cs typeface="IBM Plex Sans" pitchFamily="34" charset="-120"/>
              </a:rPr>
              <a:t>: 192.168.10.10/24, </a:t>
            </a:r>
            <a:r>
              <a:rPr lang="it-IT" sz="1600" noProof="0" dirty="0" err="1">
                <a:solidFill>
                  <a:srgbClr val="1B1D20"/>
                </a:solidFill>
                <a:latin typeface="IBM Plex Sans" pitchFamily="34" charset="0"/>
                <a:ea typeface="IBM Plex Sans" pitchFamily="34" charset="-122"/>
                <a:cs typeface="IBM Plex Sans" pitchFamily="34" charset="-120"/>
              </a:rPr>
              <a:t>gw</a:t>
            </a:r>
            <a:r>
              <a:rPr lang="it-IT" sz="1600" noProof="0" dirty="0">
                <a:solidFill>
                  <a:srgbClr val="1B1D20"/>
                </a:solidFill>
                <a:latin typeface="IBM Plex Sans" pitchFamily="34" charset="0"/>
                <a:ea typeface="IBM Plex Sans" pitchFamily="34" charset="-122"/>
                <a:cs typeface="IBM Plex Sans" pitchFamily="34" charset="-120"/>
              </a:rPr>
              <a:t> 192.168.10.1</a:t>
            </a:r>
            <a:endParaRPr lang="it-IT" sz="1600" noProof="0" dirty="0"/>
          </a:p>
        </p:txBody>
      </p:sp>
      <p:sp>
        <p:nvSpPr>
          <p:cNvPr id="8" name="Text 5"/>
          <p:cNvSpPr/>
          <p:nvPr/>
        </p:nvSpPr>
        <p:spPr>
          <a:xfrm>
            <a:off x="812800" y="5308600"/>
            <a:ext cx="3274610"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pc_b: 192.168.20.10/24, </a:t>
            </a:r>
            <a:r>
              <a:rPr lang="it-IT" sz="1600" noProof="0" dirty="0" err="1">
                <a:solidFill>
                  <a:srgbClr val="1B1D20"/>
                </a:solidFill>
                <a:latin typeface="IBM Plex Sans" pitchFamily="34" charset="0"/>
                <a:ea typeface="IBM Plex Sans" pitchFamily="34" charset="-122"/>
                <a:cs typeface="IBM Plex Sans" pitchFamily="34" charset="-120"/>
              </a:rPr>
              <a:t>gw</a:t>
            </a:r>
            <a:r>
              <a:rPr lang="it-IT" sz="1600" noProof="0" dirty="0">
                <a:solidFill>
                  <a:srgbClr val="1B1D20"/>
                </a:solidFill>
                <a:latin typeface="IBM Plex Sans" pitchFamily="34" charset="0"/>
                <a:ea typeface="IBM Plex Sans" pitchFamily="34" charset="-122"/>
                <a:cs typeface="IBM Plex Sans" pitchFamily="34" charset="-120"/>
              </a:rPr>
              <a:t> 192.168.20.1</a:t>
            </a:r>
            <a:endParaRPr lang="it-IT" sz="1600" noProof="0" dirty="0"/>
          </a:p>
        </p:txBody>
      </p:sp>
      <p:sp>
        <p:nvSpPr>
          <p:cNvPr id="9" name="Shape 6"/>
          <p:cNvSpPr/>
          <p:nvPr/>
        </p:nvSpPr>
        <p:spPr>
          <a:xfrm>
            <a:off x="4249208" y="4460230"/>
            <a:ext cx="0" cy="1381760"/>
          </a:xfrm>
          <a:prstGeom prst="line">
            <a:avLst/>
          </a:prstGeom>
          <a:noFill/>
          <a:ln w="6350">
            <a:solidFill>
              <a:srgbClr val="CFCCC4"/>
            </a:solidFill>
            <a:prstDash val="solid"/>
          </a:ln>
        </p:spPr>
        <p:txBody>
          <a:bodyPr/>
          <a:lstStyle/>
          <a:p>
            <a:endParaRPr lang="it-IT" noProof="0" dirty="0"/>
          </a:p>
        </p:txBody>
      </p:sp>
      <p:sp>
        <p:nvSpPr>
          <p:cNvPr id="10" name="Text 7"/>
          <p:cNvSpPr/>
          <p:nvPr/>
        </p:nvSpPr>
        <p:spPr>
          <a:xfrm>
            <a:off x="4506383" y="4460230"/>
            <a:ext cx="327461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link di </a:t>
            </a:r>
            <a:r>
              <a:rPr lang="it-IT" sz="1600" noProof="0" dirty="0" err="1">
                <a:solidFill>
                  <a:srgbClr val="B4502E"/>
                </a:solidFill>
                <a:latin typeface="JetBrains Mono" pitchFamily="49" charset="0"/>
                <a:ea typeface="JetBrains Mono" pitchFamily="49" charset="-122"/>
                <a:cs typeface="JetBrains Mono" pitchFamily="49" charset="-120"/>
              </a:rPr>
              <a:t>backbone</a:t>
            </a:r>
            <a:r>
              <a:rPr lang="it-IT" sz="1600" noProof="0" dirty="0">
                <a:solidFill>
                  <a:srgbClr val="B4502E"/>
                </a:solidFill>
                <a:latin typeface="JetBrains Mono" pitchFamily="49" charset="0"/>
                <a:ea typeface="JetBrains Mono" pitchFamily="49" charset="-122"/>
                <a:cs typeface="JetBrains Mono" pitchFamily="49" charset="-120"/>
              </a:rPr>
              <a:t> /30</a:t>
            </a:r>
            <a:endParaRPr lang="it-IT" sz="1600" noProof="0" dirty="0"/>
          </a:p>
        </p:txBody>
      </p:sp>
      <p:sp>
        <p:nvSpPr>
          <p:cNvPr id="11" name="Text 8"/>
          <p:cNvSpPr/>
          <p:nvPr/>
        </p:nvSpPr>
        <p:spPr>
          <a:xfrm>
            <a:off x="4506383" y="4724400"/>
            <a:ext cx="3274610"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Due soli indirizzi utili per link: .1/.2, .5/.6, .9/.10, .13/.14</a:t>
            </a:r>
            <a:endParaRPr lang="it-IT" sz="1600" noProof="0" dirty="0"/>
          </a:p>
        </p:txBody>
      </p:sp>
      <p:sp>
        <p:nvSpPr>
          <p:cNvPr id="12" name="Shape 9"/>
          <p:cNvSpPr/>
          <p:nvPr/>
        </p:nvSpPr>
        <p:spPr>
          <a:xfrm>
            <a:off x="7942792" y="4460230"/>
            <a:ext cx="0" cy="1381760"/>
          </a:xfrm>
          <a:prstGeom prst="line">
            <a:avLst/>
          </a:prstGeom>
          <a:noFill/>
          <a:ln w="6350">
            <a:solidFill>
              <a:srgbClr val="CFCCC4"/>
            </a:solidFill>
            <a:prstDash val="solid"/>
          </a:ln>
        </p:spPr>
        <p:txBody>
          <a:bodyPr/>
          <a:lstStyle/>
          <a:p>
            <a:endParaRPr lang="it-IT" noProof="0" dirty="0"/>
          </a:p>
        </p:txBody>
      </p:sp>
      <p:sp>
        <p:nvSpPr>
          <p:cNvPr id="13" name="Text 10"/>
          <p:cNvSpPr/>
          <p:nvPr/>
        </p:nvSpPr>
        <p:spPr>
          <a:xfrm>
            <a:off x="8199967" y="4460230"/>
            <a:ext cx="327461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già configurato</a:t>
            </a:r>
            <a:endParaRPr lang="it-IT" sz="1600" noProof="0" dirty="0"/>
          </a:p>
        </p:txBody>
      </p:sp>
      <p:sp>
        <p:nvSpPr>
          <p:cNvPr id="14" name="Text 11"/>
          <p:cNvSpPr/>
          <p:nvPr/>
        </p:nvSpPr>
        <p:spPr>
          <a:xfrm>
            <a:off x="8199967" y="4724400"/>
            <a:ext cx="3274610" cy="558800"/>
          </a:xfrm>
          <a:prstGeom prst="rect">
            <a:avLst/>
          </a:prstGeom>
          <a:noFill/>
          <a:ln/>
        </p:spPr>
        <p:txBody>
          <a:bodyPr wrap="square" lIns="0" tIns="0" rIns="0" bIns="0" rtlCol="0" anchor="t">
            <a:normAutofit fontScale="85000" lnSpcReduction="10000"/>
          </a:bodyPr>
          <a:lstStyle/>
          <a:p>
            <a:pPr marL="0" indent="0" algn="l">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Tutti gli indirizzi, </a:t>
            </a:r>
            <a:r>
              <a:rPr lang="it-IT" sz="1600" noProof="0" dirty="0" err="1">
                <a:solidFill>
                  <a:srgbClr val="1B1D20"/>
                </a:solidFill>
                <a:latin typeface="IBM Plex Sans" pitchFamily="34" charset="0"/>
                <a:ea typeface="IBM Plex Sans" pitchFamily="34" charset="-122"/>
                <a:cs typeface="IBM Plex Sans" pitchFamily="34" charset="-120"/>
              </a:rPr>
              <a:t>loopback</a:t>
            </a:r>
            <a:r>
              <a:rPr lang="it-IT" sz="1600" noProof="0" dirty="0">
                <a:solidFill>
                  <a:srgbClr val="1B1D20"/>
                </a:solidFill>
                <a:latin typeface="IBM Plex Sans" pitchFamily="34" charset="0"/>
                <a:ea typeface="IBM Plex Sans" pitchFamily="34" charset="-122"/>
                <a:cs typeface="IBM Plex Sans" pitchFamily="34" charset="-120"/>
              </a:rPr>
              <a:t> comprese, sono già negli startup della produzione</a:t>
            </a:r>
            <a:endParaRPr lang="it-IT" sz="1600" noProof="0" dirty="0"/>
          </a:p>
        </p:txBody>
      </p:sp>
    </p:spTree>
    <p:extLst>
      <p:ext uri="{BB962C8B-B14F-4D97-AF65-F5344CB8AC3E}">
        <p14:creationId xmlns:p14="http://schemas.microsoft.com/office/powerpoint/2010/main" val="1972746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Come è configurata la produzione</a:t>
            </a:r>
            <a:endParaRPr lang="it-IT" sz="4000" noProof="0" dirty="0"/>
          </a:p>
        </p:txBody>
      </p:sp>
      <p:sp>
        <p:nvSpPr>
          <p:cNvPr id="5" name="Text 3"/>
          <p:cNvSpPr/>
          <p:nvPr/>
        </p:nvSpPr>
        <p:spPr>
          <a:xfrm>
            <a:off x="812800" y="1922140"/>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B4502E"/>
                </a:solidFill>
                <a:latin typeface="JetBrains Mono" pitchFamily="49" charset="0"/>
                <a:ea typeface="JetBrains Mono" pitchFamily="49" charset="-122"/>
                <a:cs typeface="JetBrains Mono" pitchFamily="49" charset="-120"/>
              </a:rPr>
              <a:t>01</a:t>
            </a:r>
            <a:endParaRPr lang="it-IT" sz="1600" noProof="0" dirty="0"/>
          </a:p>
        </p:txBody>
      </p:sp>
      <p:sp>
        <p:nvSpPr>
          <p:cNvPr id="6" name="Text 4"/>
          <p:cNvSpPr/>
          <p:nvPr/>
        </p:nvSpPr>
        <p:spPr>
          <a:xfrm>
            <a:off x="1473200" y="1889770"/>
            <a:ext cx="102031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OSPF in area 0 su tutti i router</a:t>
            </a:r>
            <a:endParaRPr lang="it-IT" sz="2000" noProof="0" dirty="0"/>
          </a:p>
        </p:txBody>
      </p:sp>
      <p:sp>
        <p:nvSpPr>
          <p:cNvPr id="7" name="Text 5"/>
          <p:cNvSpPr/>
          <p:nvPr/>
        </p:nvSpPr>
        <p:spPr>
          <a:xfrm>
            <a:off x="1473200" y="2219970"/>
            <a:ext cx="1020318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Sono annunciate le reti di </a:t>
            </a:r>
            <a:r>
              <a:rPr lang="it-IT" sz="1600" noProof="0" dirty="0" err="1">
                <a:solidFill>
                  <a:srgbClr val="5B5F66"/>
                </a:solidFill>
                <a:latin typeface="IBM Plex Sans" pitchFamily="34" charset="0"/>
                <a:ea typeface="IBM Plex Sans" pitchFamily="34" charset="-122"/>
                <a:cs typeface="IBM Plex Sans" pitchFamily="34" charset="-120"/>
              </a:rPr>
              <a:t>backbone</a:t>
            </a:r>
            <a:r>
              <a:rPr lang="it-IT" sz="1600" noProof="0" dirty="0">
                <a:solidFill>
                  <a:srgbClr val="5B5F66"/>
                </a:solidFill>
                <a:latin typeface="IBM Plex Sans" pitchFamily="34" charset="0"/>
                <a:ea typeface="IBM Plex Sans" pitchFamily="34" charset="-122"/>
                <a:cs typeface="IBM Plex Sans" pitchFamily="34" charset="-120"/>
              </a:rPr>
              <a:t>, le </a:t>
            </a:r>
            <a:r>
              <a:rPr lang="it-IT" sz="1600" noProof="0" dirty="0" err="1">
                <a:solidFill>
                  <a:srgbClr val="5B5F66"/>
                </a:solidFill>
                <a:latin typeface="IBM Plex Sans" pitchFamily="34" charset="0"/>
                <a:ea typeface="IBM Plex Sans" pitchFamily="34" charset="-122"/>
                <a:cs typeface="IBM Plex Sans" pitchFamily="34" charset="-120"/>
              </a:rPr>
              <a:t>loopback</a:t>
            </a:r>
            <a:r>
              <a:rPr lang="it-IT" sz="1600" noProof="0" dirty="0">
                <a:solidFill>
                  <a:srgbClr val="5B5F66"/>
                </a:solidFill>
                <a:latin typeface="IBM Plex Sans" pitchFamily="34" charset="0"/>
                <a:ea typeface="IBM Plex Sans" pitchFamily="34" charset="-122"/>
                <a:cs typeface="IBM Plex Sans" pitchFamily="34" charset="-120"/>
              </a:rPr>
              <a:t> e le LAN di sede.</a:t>
            </a:r>
            <a:endParaRPr lang="it-IT" sz="1600" noProof="0" dirty="0"/>
          </a:p>
        </p:txBody>
      </p:sp>
      <p:sp>
        <p:nvSpPr>
          <p:cNvPr id="8" name="Text 6"/>
          <p:cNvSpPr/>
          <p:nvPr/>
        </p:nvSpPr>
        <p:spPr>
          <a:xfrm>
            <a:off x="812800" y="2689225"/>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B4502E"/>
                </a:solidFill>
                <a:latin typeface="JetBrains Mono" pitchFamily="49" charset="0"/>
                <a:ea typeface="JetBrains Mono" pitchFamily="49" charset="-122"/>
                <a:cs typeface="JetBrains Mono" pitchFamily="49" charset="-120"/>
              </a:rPr>
              <a:t>02</a:t>
            </a:r>
            <a:endParaRPr lang="it-IT" sz="1600" noProof="0" dirty="0"/>
          </a:p>
        </p:txBody>
      </p:sp>
      <p:sp>
        <p:nvSpPr>
          <p:cNvPr id="9" name="Text 7"/>
          <p:cNvSpPr/>
          <p:nvPr/>
        </p:nvSpPr>
        <p:spPr>
          <a:xfrm>
            <a:off x="1473200" y="2656830"/>
            <a:ext cx="102031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LAN di sede passive</a:t>
            </a:r>
            <a:endParaRPr lang="it-IT" sz="2000" noProof="0" dirty="0"/>
          </a:p>
        </p:txBody>
      </p:sp>
      <p:sp>
        <p:nvSpPr>
          <p:cNvPr id="10" name="Text 8"/>
          <p:cNvSpPr/>
          <p:nvPr/>
        </p:nvSpPr>
        <p:spPr>
          <a:xfrm>
            <a:off x="1473200" y="2987030"/>
            <a:ext cx="1020318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Annunciate in OSPF, ma senza adiacenze verso gli utenti.</a:t>
            </a:r>
            <a:endParaRPr lang="it-IT" sz="1600" noProof="0" dirty="0"/>
          </a:p>
        </p:txBody>
      </p:sp>
      <p:sp>
        <p:nvSpPr>
          <p:cNvPr id="11" name="Text 9"/>
          <p:cNvSpPr/>
          <p:nvPr/>
        </p:nvSpPr>
        <p:spPr>
          <a:xfrm>
            <a:off x="812800" y="3456310"/>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B4502E"/>
                </a:solidFill>
                <a:latin typeface="JetBrains Mono" pitchFamily="49" charset="0"/>
                <a:ea typeface="JetBrains Mono" pitchFamily="49" charset="-122"/>
                <a:cs typeface="JetBrains Mono" pitchFamily="49" charset="-120"/>
              </a:rPr>
              <a:t>03</a:t>
            </a:r>
            <a:endParaRPr lang="it-IT" sz="1600" noProof="0" dirty="0"/>
          </a:p>
        </p:txBody>
      </p:sp>
      <p:sp>
        <p:nvSpPr>
          <p:cNvPr id="12" name="Text 10"/>
          <p:cNvSpPr/>
          <p:nvPr/>
        </p:nvSpPr>
        <p:spPr>
          <a:xfrm>
            <a:off x="1473200" y="3423915"/>
            <a:ext cx="102031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Tra le sedi si passa per r2; r4 è il backup</a:t>
            </a:r>
            <a:endParaRPr lang="it-IT" sz="2000" noProof="0" dirty="0"/>
          </a:p>
        </p:txBody>
      </p:sp>
      <p:sp>
        <p:nvSpPr>
          <p:cNvPr id="13" name="Text 11"/>
          <p:cNvSpPr/>
          <p:nvPr/>
        </p:nvSpPr>
        <p:spPr>
          <a:xfrm>
            <a:off x="1473200" y="3754115"/>
            <a:ext cx="1020318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Costo 10 su n12 e n23, costo 100 su n34 e n41.</a:t>
            </a:r>
            <a:endParaRPr lang="it-IT" sz="1600" noProof="0" dirty="0"/>
          </a:p>
        </p:txBody>
      </p:sp>
      <p:sp>
        <p:nvSpPr>
          <p:cNvPr id="14" name="Text 12"/>
          <p:cNvSpPr/>
          <p:nvPr/>
        </p:nvSpPr>
        <p:spPr>
          <a:xfrm>
            <a:off x="812800" y="4223395"/>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B4502E"/>
                </a:solidFill>
                <a:latin typeface="JetBrains Mono" pitchFamily="49" charset="0"/>
                <a:ea typeface="JetBrains Mono" pitchFamily="49" charset="-122"/>
                <a:cs typeface="JetBrains Mono" pitchFamily="49" charset="-120"/>
              </a:rPr>
              <a:t>04</a:t>
            </a:r>
            <a:endParaRPr lang="it-IT" sz="1600" noProof="0" dirty="0"/>
          </a:p>
        </p:txBody>
      </p:sp>
      <p:sp>
        <p:nvSpPr>
          <p:cNvPr id="15" name="Text 13"/>
          <p:cNvSpPr/>
          <p:nvPr/>
        </p:nvSpPr>
        <p:spPr>
          <a:xfrm>
            <a:off x="1473200" y="4191000"/>
            <a:ext cx="102031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Ogni router raggiunge le </a:t>
            </a:r>
            <a:r>
              <a:rPr lang="it-IT" sz="2000" b="1" noProof="0" dirty="0" err="1">
                <a:solidFill>
                  <a:srgbClr val="1B1D20"/>
                </a:solidFill>
                <a:latin typeface="IBM Plex Sans" pitchFamily="34" charset="0"/>
                <a:ea typeface="IBM Plex Sans" pitchFamily="34" charset="-122"/>
                <a:cs typeface="IBM Plex Sans" pitchFamily="34" charset="-120"/>
              </a:rPr>
              <a:t>loopback</a:t>
            </a:r>
            <a:r>
              <a:rPr lang="it-IT" sz="2000" b="1" noProof="0" dirty="0">
                <a:solidFill>
                  <a:srgbClr val="1B1D20"/>
                </a:solidFill>
                <a:latin typeface="IBM Plex Sans" pitchFamily="34" charset="0"/>
                <a:ea typeface="IBM Plex Sans" pitchFamily="34" charset="-122"/>
                <a:cs typeface="IBM Plex Sans" pitchFamily="34" charset="-120"/>
              </a:rPr>
              <a:t> di tutti gli altri</a:t>
            </a:r>
            <a:endParaRPr lang="it-IT" sz="2000" noProof="0" dirty="0"/>
          </a:p>
        </p:txBody>
      </p:sp>
      <p:sp>
        <p:nvSpPr>
          <p:cNvPr id="16" name="Text 14"/>
          <p:cNvSpPr/>
          <p:nvPr/>
        </p:nvSpPr>
        <p:spPr>
          <a:xfrm>
            <a:off x="1473200" y="4521200"/>
            <a:ext cx="1020318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La </a:t>
            </a:r>
            <a:r>
              <a:rPr lang="it-IT" sz="1600" noProof="0" dirty="0" err="1">
                <a:solidFill>
                  <a:srgbClr val="5B5F66"/>
                </a:solidFill>
                <a:latin typeface="IBM Plex Sans" pitchFamily="34" charset="0"/>
                <a:ea typeface="IBM Plex Sans" pitchFamily="34" charset="-122"/>
                <a:cs typeface="IBM Plex Sans" pitchFamily="34" charset="-120"/>
              </a:rPr>
              <a:t>loopback</a:t>
            </a:r>
            <a:r>
              <a:rPr lang="it-IT" sz="1600" noProof="0" dirty="0">
                <a:solidFill>
                  <a:srgbClr val="5B5F66"/>
                </a:solidFill>
                <a:latin typeface="IBM Plex Sans" pitchFamily="34" charset="0"/>
                <a:ea typeface="IBM Plex Sans" pitchFamily="34" charset="-122"/>
                <a:cs typeface="IBM Plex Sans" pitchFamily="34" charset="-120"/>
              </a:rPr>
              <a:t> 10.255.0.N è anche il router-id OSPF.</a:t>
            </a:r>
            <a:endParaRPr lang="it-IT" sz="1600" noProof="0" dirty="0"/>
          </a:p>
        </p:txBody>
      </p:sp>
      <p:sp>
        <p:nvSpPr>
          <p:cNvPr id="17" name="Text 15"/>
          <p:cNvSpPr/>
          <p:nvPr/>
        </p:nvSpPr>
        <p:spPr>
          <a:xfrm>
            <a:off x="812800" y="4990455"/>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B4502E"/>
                </a:solidFill>
                <a:latin typeface="JetBrains Mono" pitchFamily="49" charset="0"/>
                <a:ea typeface="JetBrains Mono" pitchFamily="49" charset="-122"/>
                <a:cs typeface="JetBrains Mono" pitchFamily="49" charset="-120"/>
              </a:rPr>
              <a:t>05</a:t>
            </a:r>
            <a:endParaRPr lang="it-IT" sz="1600" noProof="0" dirty="0"/>
          </a:p>
        </p:txBody>
      </p:sp>
      <p:sp>
        <p:nvSpPr>
          <p:cNvPr id="18" name="Text 16"/>
          <p:cNvSpPr/>
          <p:nvPr/>
        </p:nvSpPr>
        <p:spPr>
          <a:xfrm>
            <a:off x="1473200" y="4958085"/>
            <a:ext cx="102031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Link di </a:t>
            </a:r>
            <a:r>
              <a:rPr lang="it-IT" sz="2000" b="1" noProof="0" dirty="0" err="1">
                <a:solidFill>
                  <a:srgbClr val="1B1D20"/>
                </a:solidFill>
                <a:latin typeface="IBM Plex Sans" pitchFamily="34" charset="0"/>
                <a:ea typeface="IBM Plex Sans" pitchFamily="34" charset="-122"/>
                <a:cs typeface="IBM Plex Sans" pitchFamily="34" charset="-120"/>
              </a:rPr>
              <a:t>backbone</a:t>
            </a:r>
            <a:r>
              <a:rPr lang="it-IT" sz="2000" b="1" noProof="0" dirty="0">
                <a:solidFill>
                  <a:srgbClr val="1B1D20"/>
                </a:solidFill>
                <a:latin typeface="IBM Plex Sans" pitchFamily="34" charset="0"/>
                <a:ea typeface="IBM Plex Sans" pitchFamily="34" charset="-122"/>
                <a:cs typeface="IBM Plex Sans" pitchFamily="34" charset="-120"/>
              </a:rPr>
              <a:t> punto-punto</a:t>
            </a:r>
            <a:endParaRPr lang="it-IT" sz="2000" noProof="0" dirty="0"/>
          </a:p>
        </p:txBody>
      </p:sp>
      <p:sp>
        <p:nvSpPr>
          <p:cNvPr id="19" name="Text 17"/>
          <p:cNvSpPr/>
          <p:nvPr/>
        </p:nvSpPr>
        <p:spPr>
          <a:xfrm>
            <a:off x="1473200" y="5288285"/>
            <a:ext cx="1020318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Niente elezione DR/BDR sui /30: le adiacenze salgono più in fretta.</a:t>
            </a:r>
            <a:endParaRPr lang="it-IT" sz="1600" noProof="0" dirty="0"/>
          </a:p>
        </p:txBody>
      </p:sp>
    </p:spTree>
    <p:extLst>
      <p:ext uri="{BB962C8B-B14F-4D97-AF65-F5344CB8AC3E}">
        <p14:creationId xmlns:p14="http://schemas.microsoft.com/office/powerpoint/2010/main" val="406749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1">
    <p:bg>
      <p:bgPr>
        <a:solidFill>
          <a:srgbClr val="FFFFFF">
            <a:alpha val="100000"/>
          </a:srgbClr>
        </a:solidFill>
        <a:effectLst/>
      </p:bgPr>
    </p:bg>
    <p:spTree>
      <p:nvGrpSpPr>
        <p:cNvPr id="1" name=""/>
        <p:cNvGrpSpPr/>
        <p:nvPr/>
      </p:nvGrpSpPr>
      <p:grpSpPr>
        <a:xfrm>
          <a:off x="0" y="0"/>
          <a:ext cx="0" cy="0"/>
          <a:chOff x="0" y="0"/>
          <a:chExt cx="0" cy="0"/>
        </a:xfrm>
      </p:grpSpPr>
      <p:sp>
        <p:nvSpPr>
          <p:cNvPr id="3" name="Shape 0"/>
          <p:cNvSpPr/>
          <p:nvPr/>
        </p:nvSpPr>
        <p:spPr>
          <a:xfrm>
            <a:off x="0" y="0"/>
            <a:ext cx="152400" cy="6858000"/>
          </a:xfrm>
          <a:prstGeom prst="rect">
            <a:avLst/>
          </a:prstGeom>
          <a:solidFill>
            <a:srgbClr val="E37E5F"/>
          </a:solidFill>
          <a:ln/>
        </p:spPr>
        <p:txBody>
          <a:bodyPr/>
          <a:lstStyle/>
          <a:p>
            <a:endParaRPr lang="it-IT" noProof="0" dirty="0"/>
          </a:p>
        </p:txBody>
      </p:sp>
      <p:sp>
        <p:nvSpPr>
          <p:cNvPr id="5"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La configurazione OSPF di r1</a:t>
            </a:r>
            <a:endParaRPr lang="it-IT" sz="4000" noProof="0" dirty="0"/>
          </a:p>
        </p:txBody>
      </p:sp>
      <p:sp>
        <p:nvSpPr>
          <p:cNvPr id="6" name="Shape 3"/>
          <p:cNvSpPr/>
          <p:nvPr/>
        </p:nvSpPr>
        <p:spPr>
          <a:xfrm>
            <a:off x="812800" y="1838970"/>
            <a:ext cx="4445000" cy="3949700"/>
          </a:xfrm>
          <a:prstGeom prst="rect">
            <a:avLst/>
          </a:prstGeom>
          <a:solidFill>
            <a:srgbClr val="17191C"/>
          </a:solidFill>
          <a:ln/>
        </p:spPr>
        <p:txBody>
          <a:bodyPr/>
          <a:lstStyle/>
          <a:p>
            <a:endParaRPr lang="it-IT" noProof="0" dirty="0"/>
          </a:p>
        </p:txBody>
      </p:sp>
      <p:sp>
        <p:nvSpPr>
          <p:cNvPr id="7" name="Text 4"/>
          <p:cNvSpPr/>
          <p:nvPr/>
        </p:nvSpPr>
        <p:spPr>
          <a:xfrm>
            <a:off x="990600" y="1965970"/>
            <a:ext cx="4267200" cy="240030"/>
          </a:xfrm>
          <a:prstGeom prst="rect">
            <a:avLst/>
          </a:prstGeom>
          <a:noFill/>
          <a:ln/>
        </p:spPr>
        <p:txBody>
          <a:bodyPr wrap="square" lIns="0" tIns="0" rIns="0" bIns="0" rtlCol="0" anchor="t">
            <a:normAutofit fontScale="85000" lnSpcReduction="10000"/>
          </a:bodyPr>
          <a:lstStyle/>
          <a:p>
            <a:pPr marL="0" indent="0" algn="l">
              <a:lnSpc>
                <a:spcPts val="2000"/>
              </a:lnSpc>
              <a:buNone/>
            </a:pPr>
            <a:r>
              <a:rPr lang="it-IT" sz="1600" b="1" noProof="0" dirty="0">
                <a:solidFill>
                  <a:srgbClr val="E37E5F"/>
                </a:solidFill>
                <a:latin typeface="JetBrains Mono" pitchFamily="49" charset="0"/>
                <a:ea typeface="JetBrains Mono" pitchFamily="49" charset="-122"/>
                <a:cs typeface="JetBrains Mono" pitchFamily="49" charset="-120"/>
              </a:rPr>
              <a:t>r1/</a:t>
            </a:r>
            <a:r>
              <a:rPr lang="it-IT" sz="1600" b="1" noProof="0" dirty="0" err="1">
                <a:solidFill>
                  <a:srgbClr val="E37E5F"/>
                </a:solidFill>
                <a:latin typeface="JetBrains Mono" pitchFamily="49" charset="0"/>
                <a:ea typeface="JetBrains Mono" pitchFamily="49" charset="-122"/>
                <a:cs typeface="JetBrains Mono" pitchFamily="49" charset="-120"/>
              </a:rPr>
              <a:t>etc</a:t>
            </a:r>
            <a:r>
              <a:rPr lang="it-IT" sz="1600" b="1" noProof="0" dirty="0">
                <a:solidFill>
                  <a:srgbClr val="E37E5F"/>
                </a:solidFill>
                <a:latin typeface="JetBrains Mono" pitchFamily="49" charset="0"/>
                <a:ea typeface="JetBrains Mono" pitchFamily="49" charset="-122"/>
                <a:cs typeface="JetBrains Mono" pitchFamily="49" charset="-120"/>
              </a:rPr>
              <a:t>/</a:t>
            </a:r>
            <a:r>
              <a:rPr lang="it-IT" sz="1600" b="1" noProof="0" dirty="0" err="1">
                <a:solidFill>
                  <a:srgbClr val="E37E5F"/>
                </a:solidFill>
                <a:latin typeface="JetBrains Mono" pitchFamily="49" charset="0"/>
                <a:ea typeface="JetBrains Mono" pitchFamily="49" charset="-122"/>
                <a:cs typeface="JetBrains Mono" pitchFamily="49" charset="-120"/>
              </a:rPr>
              <a:t>frr</a:t>
            </a:r>
            <a:r>
              <a:rPr lang="it-IT" sz="1600" b="1" noProof="0" dirty="0">
                <a:solidFill>
                  <a:srgbClr val="E37E5F"/>
                </a:solidFill>
                <a:latin typeface="JetBrains Mono" pitchFamily="49" charset="0"/>
                <a:ea typeface="JetBrains Mono" pitchFamily="49" charset="-122"/>
                <a:cs typeface="JetBrains Mono" pitchFamily="49" charset="-120"/>
              </a:rPr>
              <a:t>/</a:t>
            </a:r>
            <a:r>
              <a:rPr lang="it-IT" sz="1600" b="1" noProof="0" dirty="0" err="1">
                <a:solidFill>
                  <a:srgbClr val="E37E5F"/>
                </a:solidFill>
                <a:latin typeface="JetBrains Mono" pitchFamily="49" charset="0"/>
                <a:ea typeface="JetBrains Mono" pitchFamily="49" charset="-122"/>
                <a:cs typeface="JetBrains Mono" pitchFamily="49" charset="-120"/>
              </a:rPr>
              <a:t>frr.conf</a:t>
            </a:r>
            <a:endParaRPr lang="it-IT" sz="1600" noProof="0" dirty="0"/>
          </a:p>
        </p:txBody>
      </p:sp>
      <p:sp>
        <p:nvSpPr>
          <p:cNvPr id="8" name="Text 5"/>
          <p:cNvSpPr/>
          <p:nvPr/>
        </p:nvSpPr>
        <p:spPr>
          <a:xfrm>
            <a:off x="990600" y="2231380"/>
            <a:ext cx="4267200" cy="3454400"/>
          </a:xfrm>
          <a:prstGeom prst="rect">
            <a:avLst/>
          </a:prstGeom>
          <a:noFill/>
          <a:ln/>
        </p:spPr>
        <p:txBody>
          <a:bodyPr wrap="square" lIns="0" tIns="0" rIns="0" bIns="0" rtlCol="0" anchor="t">
            <a:noAutofit/>
          </a:bodyPr>
          <a:lstStyle/>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interface eth0</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ip ospf </a:t>
            </a:r>
            <a:r>
              <a:rPr lang="it-IT" sz="1600" noProof="0" dirty="0">
                <a:solidFill>
                  <a:srgbClr val="E37E5F"/>
                </a:solidFill>
                <a:latin typeface="JetBrains Mono" pitchFamily="49" charset="0"/>
                <a:ea typeface="JetBrains Mono" pitchFamily="49" charset="-122"/>
                <a:cs typeface="JetBrains Mono" pitchFamily="49" charset="-120"/>
              </a:rPr>
              <a:t>passive</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interface eth1</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ip ospf network </a:t>
            </a:r>
            <a:r>
              <a:rPr lang="it-IT" sz="1600" noProof="0" dirty="0">
                <a:solidFill>
                  <a:srgbClr val="E37E5F"/>
                </a:solidFill>
                <a:latin typeface="JetBrains Mono" pitchFamily="49" charset="0"/>
                <a:ea typeface="JetBrains Mono" pitchFamily="49" charset="-122"/>
                <a:cs typeface="JetBrains Mono" pitchFamily="49" charset="-120"/>
              </a:rPr>
              <a:t>point-to-point</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ip ospf </a:t>
            </a:r>
            <a:r>
              <a:rPr lang="it-IT" sz="1600" noProof="0" dirty="0">
                <a:solidFill>
                  <a:srgbClr val="E37E5F"/>
                </a:solidFill>
                <a:latin typeface="JetBrains Mono" pitchFamily="49" charset="0"/>
                <a:ea typeface="JetBrains Mono" pitchFamily="49" charset="-122"/>
                <a:cs typeface="JetBrains Mono" pitchFamily="49" charset="-120"/>
              </a:rPr>
              <a:t>cost 10</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interface eth2</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ip ospf network </a:t>
            </a:r>
            <a:r>
              <a:rPr lang="it-IT" sz="1600" noProof="0" dirty="0">
                <a:solidFill>
                  <a:srgbClr val="E37E5F"/>
                </a:solidFill>
                <a:latin typeface="JetBrains Mono" pitchFamily="49" charset="0"/>
                <a:ea typeface="JetBrains Mono" pitchFamily="49" charset="-122"/>
                <a:cs typeface="JetBrains Mono" pitchFamily="49" charset="-120"/>
              </a:rPr>
              <a:t>point-to-point</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ip ospf </a:t>
            </a:r>
            <a:r>
              <a:rPr lang="it-IT" sz="1600" noProof="0" dirty="0">
                <a:solidFill>
                  <a:srgbClr val="E37E5F"/>
                </a:solidFill>
                <a:latin typeface="JetBrains Mono" pitchFamily="49" charset="0"/>
                <a:ea typeface="JetBrains Mono" pitchFamily="49" charset="-122"/>
                <a:cs typeface="JetBrains Mono" pitchFamily="49" charset="-120"/>
              </a:rPr>
              <a:t>cost 100</a:t>
            </a:r>
            <a:endParaRPr lang="it-IT" sz="1600" noProof="0" dirty="0"/>
          </a:p>
          <a:p>
            <a:pPr marL="0" indent="0" algn="l">
              <a:lnSpc>
                <a:spcPts val="1800"/>
              </a:lnSpc>
              <a:buNone/>
            </a:pPr>
            <a:r>
              <a:rPr lang="it-IT" sz="1600" noProof="0" dirty="0">
                <a:solidFill>
                  <a:srgbClr val="8A8F96"/>
                </a:solidFill>
                <a:latin typeface="JetBrains Mono" pitchFamily="49" charset="0"/>
                <a:ea typeface="JetBrains Mono" pitchFamily="49" charset="-122"/>
                <a:cs typeface="JetBrains Mono" pitchFamily="49" charset="-120"/>
              </a:rPr>
              <a:t>!</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router ospf</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ospf </a:t>
            </a:r>
            <a:r>
              <a:rPr lang="it-IT" sz="1600" noProof="0" dirty="0">
                <a:solidFill>
                  <a:srgbClr val="E37E5F"/>
                </a:solidFill>
                <a:latin typeface="JetBrains Mono" pitchFamily="49" charset="0"/>
                <a:ea typeface="JetBrains Mono" pitchFamily="49" charset="-122"/>
                <a:cs typeface="JetBrains Mono" pitchFamily="49" charset="-120"/>
              </a:rPr>
              <a:t>router-id 10.255.0.1</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network 10.255.0.1/32 </a:t>
            </a:r>
            <a:r>
              <a:rPr lang="it-IT" sz="1600" noProof="0" dirty="0">
                <a:solidFill>
                  <a:srgbClr val="E37E5F"/>
                </a:solidFill>
                <a:latin typeface="JetBrains Mono" pitchFamily="49" charset="0"/>
                <a:ea typeface="JetBrains Mono" pitchFamily="49" charset="-122"/>
                <a:cs typeface="JetBrains Mono" pitchFamily="49" charset="-120"/>
              </a:rPr>
              <a:t>area 0</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network 192.168.10.0/24 </a:t>
            </a:r>
            <a:r>
              <a:rPr lang="it-IT" sz="1600" noProof="0" dirty="0">
                <a:solidFill>
                  <a:srgbClr val="E37E5F"/>
                </a:solidFill>
                <a:latin typeface="JetBrains Mono" pitchFamily="49" charset="0"/>
                <a:ea typeface="JetBrains Mono" pitchFamily="49" charset="-122"/>
                <a:cs typeface="JetBrains Mono" pitchFamily="49" charset="-120"/>
              </a:rPr>
              <a:t>area 0</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network 10.0.0.0/30 </a:t>
            </a:r>
            <a:r>
              <a:rPr lang="it-IT" sz="1600" noProof="0" dirty="0">
                <a:solidFill>
                  <a:srgbClr val="E37E5F"/>
                </a:solidFill>
                <a:latin typeface="JetBrains Mono" pitchFamily="49" charset="0"/>
                <a:ea typeface="JetBrains Mono" pitchFamily="49" charset="-122"/>
                <a:cs typeface="JetBrains Mono" pitchFamily="49" charset="-120"/>
              </a:rPr>
              <a:t>area 0</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network 10.0.0.12/30 </a:t>
            </a:r>
            <a:r>
              <a:rPr lang="it-IT" sz="1600" noProof="0" dirty="0">
                <a:solidFill>
                  <a:srgbClr val="E37E5F"/>
                </a:solidFill>
                <a:latin typeface="JetBrains Mono" pitchFamily="49" charset="0"/>
                <a:ea typeface="JetBrains Mono" pitchFamily="49" charset="-122"/>
                <a:cs typeface="JetBrains Mono" pitchFamily="49" charset="-120"/>
              </a:rPr>
              <a:t>area 0</a:t>
            </a:r>
            <a:endParaRPr lang="it-IT" sz="1600" noProof="0" dirty="0"/>
          </a:p>
        </p:txBody>
      </p:sp>
      <p:sp>
        <p:nvSpPr>
          <p:cNvPr id="9" name="Shape 10"/>
          <p:cNvSpPr/>
          <p:nvPr/>
        </p:nvSpPr>
        <p:spPr>
          <a:xfrm>
            <a:off x="5530850" y="1866900"/>
            <a:ext cx="0" cy="1009650"/>
          </a:xfrm>
          <a:prstGeom prst="line">
            <a:avLst/>
          </a:prstGeom>
          <a:noFill/>
          <a:ln w="38100">
            <a:solidFill>
              <a:srgbClr val="E37E5F"/>
            </a:solidFill>
            <a:prstDash val="solid"/>
          </a:ln>
        </p:spPr>
        <p:txBody>
          <a:bodyPr/>
          <a:lstStyle/>
          <a:p>
            <a:endParaRPr lang="it-IT" noProof="0" dirty="0"/>
          </a:p>
        </p:txBody>
      </p:sp>
      <p:sp>
        <p:nvSpPr>
          <p:cNvPr id="10" name="Text 11"/>
          <p:cNvSpPr/>
          <p:nvPr/>
        </p:nvSpPr>
        <p:spPr>
          <a:xfrm>
            <a:off x="5689600" y="1841500"/>
            <a:ext cx="5810250" cy="27305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Blocchi interface</a:t>
            </a:r>
            <a:endParaRPr lang="it-IT" sz="1600" noProof="0" dirty="0"/>
          </a:p>
        </p:txBody>
      </p:sp>
      <p:sp>
        <p:nvSpPr>
          <p:cNvPr id="11" name="Text 12"/>
          <p:cNvSpPr/>
          <p:nvPr/>
        </p:nvSpPr>
        <p:spPr>
          <a:xfrm>
            <a:off x="5689600" y="2114550"/>
            <a:ext cx="5810250" cy="76200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JetBrains Mono" pitchFamily="34" charset="0"/>
                <a:ea typeface="JetBrains Mono" pitchFamily="34" charset="-122"/>
                <a:cs typeface="JetBrains Mono" pitchFamily="34" charset="-120"/>
              </a:rPr>
              <a:t>passive</a:t>
            </a:r>
            <a:r>
              <a:rPr lang="it-IT" sz="1600" noProof="0" dirty="0">
                <a:solidFill>
                  <a:srgbClr val="1B1D20"/>
                </a:solidFill>
                <a:latin typeface="IBM Plex Sans" pitchFamily="34" charset="0"/>
                <a:ea typeface="IBM Plex Sans" pitchFamily="34" charset="-122"/>
                <a:cs typeface="IBM Plex Sans" pitchFamily="34" charset="-120"/>
              </a:rPr>
              <a:t> · eth0, sede A: annunciata, senza Hello</a:t>
            </a:r>
            <a:endParaRPr lang="it-IT" sz="1600" noProof="0" dirty="0"/>
          </a:p>
          <a:p>
            <a:pPr marL="0" indent="0" algn="l">
              <a:lnSpc>
                <a:spcPts val="2000"/>
              </a:lnSpc>
              <a:buNone/>
            </a:pPr>
            <a:r>
              <a:rPr lang="it-IT" sz="1600" b="1" noProof="0" dirty="0">
                <a:solidFill>
                  <a:srgbClr val="1B1D20"/>
                </a:solidFill>
                <a:latin typeface="JetBrains Mono" pitchFamily="34" charset="0"/>
                <a:ea typeface="JetBrains Mono" pitchFamily="34" charset="-122"/>
                <a:cs typeface="JetBrains Mono" pitchFamily="34" charset="-120"/>
              </a:rPr>
              <a:t>point-to-point</a:t>
            </a:r>
            <a:r>
              <a:rPr lang="it-IT" sz="1600" noProof="0" dirty="0">
                <a:solidFill>
                  <a:srgbClr val="1B1D20"/>
                </a:solidFill>
                <a:latin typeface="IBM Plex Sans" pitchFamily="34" charset="0"/>
                <a:ea typeface="IBM Plex Sans" pitchFamily="34" charset="-122"/>
                <a:cs typeface="IBM Plex Sans" pitchFamily="34" charset="-120"/>
              </a:rPr>
              <a:t> · nessuna elezione DR/BDR</a:t>
            </a:r>
            <a:endParaRPr lang="it-IT" sz="1600" noProof="0" dirty="0"/>
          </a:p>
          <a:p>
            <a:pPr marL="0" indent="0" algn="l">
              <a:lnSpc>
                <a:spcPts val="2000"/>
              </a:lnSpc>
              <a:buNone/>
            </a:pPr>
            <a:r>
              <a:rPr lang="it-IT" sz="1600" b="1" noProof="0" dirty="0">
                <a:solidFill>
                  <a:srgbClr val="1B1D20"/>
                </a:solidFill>
                <a:latin typeface="JetBrains Mono" pitchFamily="34" charset="0"/>
                <a:ea typeface="JetBrains Mono" pitchFamily="34" charset="-122"/>
                <a:cs typeface="JetBrains Mono" pitchFamily="34" charset="-120"/>
              </a:rPr>
              <a:t>cost</a:t>
            </a:r>
            <a:r>
              <a:rPr lang="it-IT" sz="1600" noProof="0" dirty="0">
                <a:solidFill>
                  <a:srgbClr val="1B1D20"/>
                </a:solidFill>
                <a:latin typeface="IBM Plex Sans" pitchFamily="34" charset="0"/>
                <a:ea typeface="IBM Plex Sans" pitchFamily="34" charset="-122"/>
                <a:cs typeface="IBM Plex Sans" pitchFamily="34" charset="-120"/>
              </a:rPr>
              <a:t> · 10 su n12 (eth1), 100 su n41 (eth2)</a:t>
            </a:r>
            <a:endParaRPr lang="it-IT" sz="1600" noProof="0" dirty="0"/>
          </a:p>
        </p:txBody>
      </p:sp>
      <p:sp>
        <p:nvSpPr>
          <p:cNvPr id="12" name="Shape 10"/>
          <p:cNvSpPr/>
          <p:nvPr/>
        </p:nvSpPr>
        <p:spPr>
          <a:xfrm>
            <a:off x="5530850" y="3130550"/>
            <a:ext cx="0" cy="1517650"/>
          </a:xfrm>
          <a:prstGeom prst="line">
            <a:avLst/>
          </a:prstGeom>
          <a:noFill/>
          <a:ln w="38100">
            <a:solidFill>
              <a:srgbClr val="E37E5F"/>
            </a:solidFill>
            <a:prstDash val="solid"/>
          </a:ln>
        </p:spPr>
        <p:txBody>
          <a:bodyPr/>
          <a:lstStyle/>
          <a:p>
            <a:endParaRPr lang="it-IT" noProof="0" dirty="0"/>
          </a:p>
        </p:txBody>
      </p:sp>
      <p:sp>
        <p:nvSpPr>
          <p:cNvPr id="13" name="Text 11"/>
          <p:cNvSpPr/>
          <p:nvPr/>
        </p:nvSpPr>
        <p:spPr>
          <a:xfrm>
            <a:off x="5689600" y="3105150"/>
            <a:ext cx="5810250" cy="27305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Blocco router ospf</a:t>
            </a:r>
            <a:endParaRPr lang="it-IT" sz="1600" noProof="0" dirty="0"/>
          </a:p>
        </p:txBody>
      </p:sp>
      <p:sp>
        <p:nvSpPr>
          <p:cNvPr id="14" name="Text 12"/>
          <p:cNvSpPr/>
          <p:nvPr/>
        </p:nvSpPr>
        <p:spPr>
          <a:xfrm>
            <a:off x="5689600" y="3378200"/>
            <a:ext cx="5810250" cy="127000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JetBrains Mono" pitchFamily="34" charset="0"/>
                <a:ea typeface="JetBrains Mono" pitchFamily="34" charset="-122"/>
                <a:cs typeface="JetBrains Mono" pitchFamily="34" charset="-120"/>
              </a:rPr>
              <a:t>router-id</a:t>
            </a:r>
            <a:r>
              <a:rPr lang="it-IT" sz="1600" noProof="0" dirty="0">
                <a:solidFill>
                  <a:srgbClr val="1B1D20"/>
                </a:solidFill>
                <a:latin typeface="IBM Plex Sans" pitchFamily="34" charset="0"/>
                <a:ea typeface="IBM Plex Sans" pitchFamily="34" charset="-122"/>
                <a:cs typeface="IBM Plex Sans" pitchFamily="34" charset="-120"/>
              </a:rPr>
              <a:t> · la loopback di r1</a:t>
            </a:r>
            <a:endParaRPr lang="it-IT" sz="1600" noProof="0" dirty="0"/>
          </a:p>
          <a:p>
            <a:pPr marL="0" indent="0" algn="l">
              <a:lnSpc>
                <a:spcPts val="2000"/>
              </a:lnSpc>
              <a:buNone/>
            </a:pPr>
            <a:r>
              <a:rPr lang="it-IT" sz="1600" b="1" noProof="0" dirty="0">
                <a:solidFill>
                  <a:srgbClr val="1B1D20"/>
                </a:solidFill>
                <a:latin typeface="JetBrains Mono" pitchFamily="34" charset="0"/>
                <a:ea typeface="JetBrains Mono" pitchFamily="34" charset="-122"/>
                <a:cs typeface="JetBrains Mono" pitchFamily="34" charset="-120"/>
              </a:rPr>
              <a:t>network … area 0</a:t>
            </a:r>
            <a:r>
              <a:rPr lang="it-IT" sz="1600" noProof="0" dirty="0">
                <a:solidFill>
                  <a:srgbClr val="1B1D20"/>
                </a:solidFill>
                <a:latin typeface="IBM Plex Sans" pitchFamily="34" charset="0"/>
                <a:ea typeface="IBM Plex Sans" pitchFamily="34" charset="-122"/>
                <a:cs typeface="IBM Plex Sans" pitchFamily="34" charset="-120"/>
              </a:rPr>
              <a:t> · accende OSPF sulle interfacce in quel prefisso e lo annuncia</a:t>
            </a:r>
            <a:endParaRPr lang="it-IT" sz="1600" noProof="0" dirty="0"/>
          </a:p>
          <a:p>
            <a:pPr marL="0" indent="0" algn="l">
              <a:lnSpc>
                <a:spcPts val="2000"/>
              </a:lnSpc>
              <a:buNone/>
            </a:pPr>
            <a:r>
              <a:rPr lang="it-IT" sz="1600" b="1" noProof="0" dirty="0">
                <a:solidFill>
                  <a:srgbClr val="1B1D20"/>
                </a:solidFill>
                <a:latin typeface="JetBrains Mono" pitchFamily="34" charset="0"/>
                <a:ea typeface="JetBrains Mono" pitchFamily="34" charset="-122"/>
                <a:cs typeface="JetBrains Mono" pitchFamily="34" charset="-120"/>
              </a:rPr>
              <a:t>area 0</a:t>
            </a:r>
            <a:r>
              <a:rPr lang="it-IT" sz="1600" noProof="0" dirty="0">
                <a:solidFill>
                  <a:srgbClr val="1B1D20"/>
                </a:solidFill>
                <a:latin typeface="IBM Plex Sans" pitchFamily="34" charset="0"/>
                <a:ea typeface="IBM Plex Sans" pitchFamily="34" charset="-122"/>
                <a:cs typeface="IBM Plex Sans" pitchFamily="34" charset="-120"/>
              </a:rPr>
              <a:t> · un'area è un gruppo di router con la stessa LSDB; la 0 è il backbone, qui l'unica</a:t>
            </a:r>
            <a:endParaRPr lang="it-IT" sz="1600" noProof="0" dirty="0"/>
          </a:p>
        </p:txBody>
      </p:sp>
      <p:sp>
        <p:nvSpPr>
          <p:cNvPr id="15" name="Shape 10"/>
          <p:cNvSpPr/>
          <p:nvPr/>
        </p:nvSpPr>
        <p:spPr>
          <a:xfrm>
            <a:off x="5530850" y="4902200"/>
            <a:ext cx="0" cy="755650"/>
          </a:xfrm>
          <a:prstGeom prst="line">
            <a:avLst/>
          </a:prstGeom>
          <a:noFill/>
          <a:ln w="38100">
            <a:solidFill>
              <a:srgbClr val="E37E5F"/>
            </a:solidFill>
            <a:prstDash val="solid"/>
          </a:ln>
        </p:spPr>
        <p:txBody>
          <a:bodyPr/>
          <a:lstStyle/>
          <a:p>
            <a:endParaRPr lang="it-IT" noProof="0" dirty="0"/>
          </a:p>
        </p:txBody>
      </p:sp>
      <p:sp>
        <p:nvSpPr>
          <p:cNvPr id="16" name="Text 11"/>
          <p:cNvSpPr/>
          <p:nvPr/>
        </p:nvSpPr>
        <p:spPr>
          <a:xfrm>
            <a:off x="5689600" y="4876800"/>
            <a:ext cx="5810250" cy="27305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File </a:t>
            </a:r>
            <a:r>
              <a:rPr lang="it-IT" sz="1600" b="1" noProof="0" dirty="0" err="1">
                <a:solidFill>
                  <a:srgbClr val="1B1D20"/>
                </a:solidFill>
                <a:latin typeface="IBM Plex Sans" pitchFamily="34" charset="0"/>
                <a:ea typeface="IBM Plex Sans" pitchFamily="34" charset="-122"/>
                <a:cs typeface="IBM Plex Sans" pitchFamily="34" charset="-120"/>
              </a:rPr>
              <a:t>daemons</a:t>
            </a:r>
            <a:r>
              <a:rPr lang="it-IT" sz="1600" b="1" noProof="0" dirty="0">
                <a:solidFill>
                  <a:srgbClr val="1B1D20"/>
                </a:solidFill>
                <a:latin typeface="IBM Plex Sans" pitchFamily="34" charset="0"/>
                <a:ea typeface="IBM Plex Sans" pitchFamily="34" charset="-122"/>
                <a:cs typeface="IBM Plex Sans" pitchFamily="34" charset="-120"/>
              </a:rPr>
              <a:t> (/</a:t>
            </a:r>
            <a:r>
              <a:rPr lang="it-IT" sz="1600" b="1" noProof="0" dirty="0" err="1">
                <a:solidFill>
                  <a:srgbClr val="1B1D20"/>
                </a:solidFill>
                <a:latin typeface="IBM Plex Sans" pitchFamily="34" charset="0"/>
                <a:ea typeface="IBM Plex Sans" pitchFamily="34" charset="-122"/>
                <a:cs typeface="IBM Plex Sans" pitchFamily="34" charset="-120"/>
              </a:rPr>
              <a:t>etc</a:t>
            </a:r>
            <a:r>
              <a:rPr lang="it-IT" sz="1600" b="1" noProof="0" dirty="0">
                <a:solidFill>
                  <a:srgbClr val="1B1D20"/>
                </a:solidFill>
                <a:latin typeface="IBM Plex Sans" pitchFamily="34" charset="0"/>
                <a:ea typeface="IBM Plex Sans" pitchFamily="34" charset="-122"/>
                <a:cs typeface="IBM Plex Sans" pitchFamily="34" charset="-120"/>
              </a:rPr>
              <a:t>/</a:t>
            </a:r>
            <a:r>
              <a:rPr lang="it-IT" sz="1600" b="1" noProof="0" dirty="0" err="1">
                <a:solidFill>
                  <a:srgbClr val="1B1D20"/>
                </a:solidFill>
                <a:latin typeface="IBM Plex Sans" pitchFamily="34" charset="0"/>
                <a:ea typeface="IBM Plex Sans" pitchFamily="34" charset="-122"/>
                <a:cs typeface="IBM Plex Sans" pitchFamily="34" charset="-120"/>
              </a:rPr>
              <a:t>frr</a:t>
            </a:r>
            <a:r>
              <a:rPr lang="it-IT" sz="1600" b="1" noProof="0" dirty="0">
                <a:solidFill>
                  <a:srgbClr val="1B1D20"/>
                </a:solidFill>
                <a:latin typeface="IBM Plex Sans" pitchFamily="34" charset="0"/>
                <a:ea typeface="IBM Plex Sans" pitchFamily="34" charset="-122"/>
                <a:cs typeface="IBM Plex Sans" pitchFamily="34" charset="-120"/>
              </a:rPr>
              <a:t>/</a:t>
            </a:r>
            <a:r>
              <a:rPr lang="it-IT" sz="1600" b="1" noProof="0" dirty="0" err="1">
                <a:solidFill>
                  <a:srgbClr val="1B1D20"/>
                </a:solidFill>
                <a:latin typeface="IBM Plex Sans" pitchFamily="34" charset="0"/>
                <a:ea typeface="IBM Plex Sans" pitchFamily="34" charset="-122"/>
                <a:cs typeface="IBM Plex Sans" pitchFamily="34" charset="-120"/>
              </a:rPr>
              <a:t>dae</a:t>
            </a:r>
            <a:r>
              <a:rPr lang="it-IT" sz="1600" b="1" dirty="0" err="1">
                <a:solidFill>
                  <a:srgbClr val="1B1D20"/>
                </a:solidFill>
                <a:latin typeface="IBM Plex Sans" pitchFamily="34" charset="0"/>
                <a:ea typeface="IBM Plex Sans" pitchFamily="34" charset="-122"/>
                <a:cs typeface="IBM Plex Sans" pitchFamily="34" charset="-120"/>
              </a:rPr>
              <a:t>mons</a:t>
            </a:r>
            <a:r>
              <a:rPr lang="it-IT" sz="1600" b="1"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17" name="Text 12"/>
          <p:cNvSpPr/>
          <p:nvPr/>
        </p:nvSpPr>
        <p:spPr>
          <a:xfrm>
            <a:off x="5689600" y="5149850"/>
            <a:ext cx="5810250" cy="50800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JetBrains Mono" pitchFamily="34" charset="0"/>
                <a:ea typeface="JetBrains Mono" pitchFamily="34" charset="-122"/>
                <a:cs typeface="JetBrains Mono" pitchFamily="34" charset="-120"/>
              </a:rPr>
              <a:t>ospfd=yes</a:t>
            </a:r>
            <a:r>
              <a:rPr lang="it-IT" sz="1600" noProof="0" dirty="0">
                <a:solidFill>
                  <a:srgbClr val="1B1D20"/>
                </a:solidFill>
                <a:latin typeface="IBM Plex Sans" pitchFamily="34" charset="0"/>
                <a:ea typeface="IBM Plex Sans" pitchFamily="34" charset="-122"/>
                <a:cs typeface="IBM Plex Sans" pitchFamily="34" charset="-120"/>
              </a:rPr>
              <a:t>, oltre a </a:t>
            </a:r>
            <a:r>
              <a:rPr lang="it-IT" sz="1600" b="1" noProof="0" dirty="0">
                <a:solidFill>
                  <a:srgbClr val="1B1D20"/>
                </a:solidFill>
                <a:latin typeface="JetBrains Mono" pitchFamily="34" charset="0"/>
                <a:ea typeface="JetBrains Mono" pitchFamily="34" charset="-122"/>
                <a:cs typeface="JetBrains Mono" pitchFamily="34" charset="-120"/>
              </a:rPr>
              <a:t>zebra=yes</a:t>
            </a:r>
            <a:r>
              <a:rPr lang="it-IT" sz="1600" noProof="0" dirty="0">
                <a:solidFill>
                  <a:srgbClr val="1B1D20"/>
                </a:solidFill>
                <a:latin typeface="IBM Plex Sans" pitchFamily="34" charset="0"/>
                <a:ea typeface="IBM Plex Sans" pitchFamily="34" charset="-122"/>
                <a:cs typeface="IBM Plex Sans" pitchFamily="34" charset="-120"/>
              </a:rPr>
              <a:t>: senza il demone, il blocco router ospf non ha effetto</a:t>
            </a:r>
            <a:endParaRPr lang="it-IT" sz="1600" noProof="0" dirty="0"/>
          </a:p>
        </p:txBody>
      </p:sp>
    </p:spTree>
    <p:extLst>
      <p:ext uri="{BB962C8B-B14F-4D97-AF65-F5344CB8AC3E}">
        <p14:creationId xmlns:p14="http://schemas.microsoft.com/office/powerpoint/2010/main" val="15504551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7">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Fase 1: avvio ed esplora</a:t>
            </a:r>
            <a:r>
              <a:rPr lang="it-IT" b="1" dirty="0"/>
              <a:t>zione</a:t>
            </a:r>
            <a:r>
              <a:rPr lang="it-IT" sz="4000" b="1" i="0" noProof="0">
                <a:solidFill>
                  <a:srgbClr val="1B1D20"/>
                </a:solidFill>
                <a:latin typeface="IBM Plex Sans" pitchFamily="34" charset="0"/>
                <a:ea typeface="IBM Plex Sans" pitchFamily="34" charset="-122"/>
                <a:cs typeface="IBM Plex Sans" pitchFamily="34" charset="-120"/>
              </a:rPr>
              <a:t> del lab</a:t>
            </a:r>
            <a:endParaRPr lang="it-IT" sz="4000" noProof="0" dirty="0"/>
          </a:p>
        </p:txBody>
      </p:sp>
      <p:sp>
        <p:nvSpPr>
          <p:cNvPr id="5" name="Shape 3"/>
          <p:cNvSpPr/>
          <p:nvPr/>
        </p:nvSpPr>
        <p:spPr>
          <a:xfrm>
            <a:off x="812800" y="1838970"/>
            <a:ext cx="10566400" cy="1851660"/>
          </a:xfrm>
          <a:prstGeom prst="rect">
            <a:avLst/>
          </a:prstGeom>
          <a:solidFill>
            <a:srgbClr val="17191C"/>
          </a:solidFill>
          <a:ln/>
        </p:spPr>
        <p:txBody>
          <a:bodyPr/>
          <a:lstStyle/>
          <a:p>
            <a:endParaRPr lang="it-IT" noProof="0" dirty="0"/>
          </a:p>
        </p:txBody>
      </p:sp>
      <p:sp>
        <p:nvSpPr>
          <p:cNvPr id="6" name="Text 4"/>
          <p:cNvSpPr/>
          <p:nvPr/>
        </p:nvSpPr>
        <p:spPr>
          <a:xfrm>
            <a:off x="1016000" y="1991370"/>
            <a:ext cx="1046480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8A8F96"/>
                </a:solidFill>
                <a:latin typeface="JetBrains Mono" pitchFamily="49" charset="0"/>
                <a:ea typeface="JetBrains Mono" pitchFamily="49" charset="-122"/>
                <a:cs typeface="JetBrains Mono" pitchFamily="49" charset="-120"/>
              </a:rPr>
              <a:t># Linux / </a:t>
            </a:r>
            <a:r>
              <a:rPr lang="it-IT" sz="1600" noProof="0" dirty="0" err="1">
                <a:solidFill>
                  <a:srgbClr val="8A8F96"/>
                </a:solidFill>
                <a:latin typeface="JetBrains Mono" pitchFamily="49" charset="0"/>
                <a:ea typeface="JetBrains Mono" pitchFamily="49" charset="-122"/>
                <a:cs typeface="JetBrains Mono" pitchFamily="49" charset="-120"/>
              </a:rPr>
              <a:t>macOS</a:t>
            </a:r>
            <a:endParaRPr lang="it-IT" sz="1600" noProof="0" dirty="0"/>
          </a:p>
        </p:txBody>
      </p:sp>
      <p:sp>
        <p:nvSpPr>
          <p:cNvPr id="7" name="Text 5"/>
          <p:cNvSpPr/>
          <p:nvPr/>
        </p:nvSpPr>
        <p:spPr>
          <a:xfrm>
            <a:off x="1016000" y="2249165"/>
            <a:ext cx="1046480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mkdir</a:t>
            </a:r>
            <a:r>
              <a:rPr lang="it-IT" sz="1600" noProof="0" dirty="0">
                <a:solidFill>
                  <a:srgbClr val="F2F1EC"/>
                </a:solidFill>
                <a:latin typeface="JetBrains Mono" pitchFamily="49" charset="0"/>
                <a:ea typeface="JetBrains Mono" pitchFamily="49" charset="-122"/>
                <a:cs typeface="JetBrains Mono" pitchFamily="49" charset="-120"/>
              </a:rPr>
              <a:t> -p labs/lab2</a:t>
            </a:r>
            <a:endParaRPr lang="it-IT" sz="1600" noProof="0" dirty="0"/>
          </a:p>
        </p:txBody>
      </p:sp>
      <p:sp>
        <p:nvSpPr>
          <p:cNvPr id="8" name="Text 6"/>
          <p:cNvSpPr/>
          <p:nvPr/>
        </p:nvSpPr>
        <p:spPr>
          <a:xfrm>
            <a:off x="1016000" y="2506985"/>
            <a:ext cx="1046480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cp</a:t>
            </a:r>
            <a:r>
              <a:rPr lang="it-IT" sz="1600" noProof="0" dirty="0">
                <a:solidFill>
                  <a:srgbClr val="F2F1EC"/>
                </a:solidFill>
                <a:latin typeface="JetBrains Mono" pitchFamily="49" charset="0"/>
                <a:ea typeface="JetBrains Mono" pitchFamily="49" charset="-122"/>
                <a:cs typeface="JetBrains Mono" pitchFamily="49" charset="-120"/>
              </a:rPr>
              <a:t> -r lab2-digital-twin/</a:t>
            </a:r>
            <a:r>
              <a:rPr lang="it-IT" sz="1600" noProof="0" dirty="0">
                <a:solidFill>
                  <a:srgbClr val="E37E5F"/>
                </a:solidFill>
                <a:latin typeface="JetBrains Mono" pitchFamily="49" charset="0"/>
                <a:ea typeface="JetBrains Mono" pitchFamily="49" charset="-122"/>
                <a:cs typeface="JetBrains Mono" pitchFamily="49" charset="-120"/>
              </a:rPr>
              <a:t>produzione</a:t>
            </a:r>
            <a:r>
              <a:rPr lang="it-IT" sz="1600" noProof="0" dirty="0">
                <a:solidFill>
                  <a:srgbClr val="F2F1EC"/>
                </a:solidFill>
                <a:latin typeface="JetBrains Mono" pitchFamily="49" charset="0"/>
                <a:ea typeface="JetBrains Mono" pitchFamily="49" charset="-122"/>
                <a:cs typeface="JetBrains Mono" pitchFamily="49" charset="-120"/>
              </a:rPr>
              <a:t> labs/lab2/ospf</a:t>
            </a:r>
            <a:endParaRPr lang="it-IT" sz="1600" noProof="0" dirty="0"/>
          </a:p>
        </p:txBody>
      </p:sp>
      <p:sp>
        <p:nvSpPr>
          <p:cNvPr id="9" name="Text 7"/>
          <p:cNvSpPr/>
          <p:nvPr/>
        </p:nvSpPr>
        <p:spPr>
          <a:xfrm>
            <a:off x="1016000" y="2764780"/>
            <a:ext cx="1046480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cd labs/lab2/ospf &amp;&amp; kathara </a:t>
            </a:r>
            <a:r>
              <a:rPr lang="it-IT" sz="1600" noProof="0" dirty="0" err="1">
                <a:solidFill>
                  <a:srgbClr val="F2F1EC"/>
                </a:solidFill>
                <a:latin typeface="JetBrains Mono" pitchFamily="49" charset="0"/>
                <a:ea typeface="JetBrains Mono" pitchFamily="49" charset="-122"/>
                <a:cs typeface="JetBrains Mono" pitchFamily="49" charset="-120"/>
              </a:rPr>
              <a:t>lstart</a:t>
            </a:r>
            <a:endParaRPr lang="it-IT" sz="1600" noProof="0" dirty="0"/>
          </a:p>
        </p:txBody>
      </p:sp>
      <p:sp>
        <p:nvSpPr>
          <p:cNvPr id="10" name="Text 8"/>
          <p:cNvSpPr/>
          <p:nvPr/>
        </p:nvSpPr>
        <p:spPr>
          <a:xfrm>
            <a:off x="1016000" y="3022600"/>
            <a:ext cx="1046480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8A8F96"/>
                </a:solidFill>
                <a:latin typeface="JetBrains Mono" pitchFamily="49" charset="0"/>
                <a:ea typeface="JetBrains Mono" pitchFamily="49" charset="-122"/>
                <a:cs typeface="JetBrains Mono" pitchFamily="49" charset="-120"/>
              </a:rPr>
              <a:t># Windows (</a:t>
            </a:r>
            <a:r>
              <a:rPr lang="it-IT" sz="1600" noProof="0" dirty="0" err="1">
                <a:solidFill>
                  <a:srgbClr val="8A8F96"/>
                </a:solidFill>
                <a:latin typeface="JetBrains Mono" pitchFamily="49" charset="0"/>
                <a:ea typeface="JetBrains Mono" pitchFamily="49" charset="-122"/>
                <a:cs typeface="JetBrains Mono" pitchFamily="49" charset="-120"/>
              </a:rPr>
              <a:t>PowerShell</a:t>
            </a:r>
            <a:r>
              <a:rPr lang="it-IT" sz="1600" noProof="0" dirty="0">
                <a:solidFill>
                  <a:srgbClr val="8A8F96"/>
                </a:solidFill>
                <a:latin typeface="JetBrains Mono" pitchFamily="49" charset="0"/>
                <a:ea typeface="JetBrains Mono" pitchFamily="49" charset="-122"/>
                <a:cs typeface="JetBrains Mono" pitchFamily="49" charset="-120"/>
              </a:rPr>
              <a:t>)</a:t>
            </a:r>
            <a:endParaRPr lang="it-IT" sz="1600" noProof="0" dirty="0"/>
          </a:p>
        </p:txBody>
      </p:sp>
      <p:sp>
        <p:nvSpPr>
          <p:cNvPr id="11" name="Text 9"/>
          <p:cNvSpPr/>
          <p:nvPr/>
        </p:nvSpPr>
        <p:spPr>
          <a:xfrm>
            <a:off x="1016000" y="3280420"/>
            <a:ext cx="1046480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A8DC6E"/>
                </a:solidFill>
                <a:latin typeface="JetBrains Mono" pitchFamily="49" charset="0"/>
                <a:ea typeface="JetBrains Mono" pitchFamily="49" charset="-122"/>
                <a:cs typeface="JetBrains Mono" pitchFamily="49" charset="-120"/>
              </a:rPr>
              <a:t>&gt;</a:t>
            </a:r>
            <a:r>
              <a:rPr lang="it-IT" sz="1600" noProof="0" dirty="0">
                <a:solidFill>
                  <a:srgbClr val="F2F1EC"/>
                </a:solidFill>
                <a:latin typeface="JetBrains Mono" pitchFamily="49" charset="0"/>
                <a:ea typeface="JetBrains Mono" pitchFamily="49" charset="-122"/>
                <a:cs typeface="JetBrains Mono" pitchFamily="49" charset="-120"/>
              </a:rPr>
              <a:t> Copy-Item -</a:t>
            </a:r>
            <a:r>
              <a:rPr lang="it-IT" sz="1600" noProof="0" dirty="0" err="1">
                <a:solidFill>
                  <a:srgbClr val="F2F1EC"/>
                </a:solidFill>
                <a:latin typeface="JetBrains Mono" pitchFamily="49" charset="0"/>
                <a:ea typeface="JetBrains Mono" pitchFamily="49" charset="-122"/>
                <a:cs typeface="JetBrains Mono" pitchFamily="49" charset="-120"/>
              </a:rPr>
              <a:t>Recurse</a:t>
            </a:r>
            <a:r>
              <a:rPr lang="it-IT" sz="1600" noProof="0" dirty="0">
                <a:solidFill>
                  <a:srgbClr val="F2F1EC"/>
                </a:solidFill>
                <a:latin typeface="JetBrains Mono" pitchFamily="49" charset="0"/>
                <a:ea typeface="JetBrains Mono" pitchFamily="49" charset="-122"/>
                <a:cs typeface="JetBrains Mono" pitchFamily="49" charset="-120"/>
              </a:rPr>
              <a:t> lab2-digital-twin\</a:t>
            </a:r>
            <a:r>
              <a:rPr lang="it-IT" sz="1600" noProof="0" dirty="0">
                <a:solidFill>
                  <a:srgbClr val="E37E5F"/>
                </a:solidFill>
                <a:latin typeface="JetBrains Mono" pitchFamily="49" charset="0"/>
                <a:ea typeface="JetBrains Mono" pitchFamily="49" charset="-122"/>
                <a:cs typeface="JetBrains Mono" pitchFamily="49" charset="-120"/>
              </a:rPr>
              <a:t>produzione</a:t>
            </a:r>
            <a:r>
              <a:rPr lang="it-IT" sz="1600" noProof="0" dirty="0">
                <a:solidFill>
                  <a:srgbClr val="F2F1EC"/>
                </a:solidFill>
                <a:latin typeface="JetBrains Mono" pitchFamily="49" charset="0"/>
                <a:ea typeface="JetBrains Mono" pitchFamily="49" charset="-122"/>
                <a:cs typeface="JetBrains Mono" pitchFamily="49" charset="-120"/>
              </a:rPr>
              <a:t> labs\lab2\ospf</a:t>
            </a:r>
            <a:endParaRPr lang="it-IT" sz="1600" noProof="0" dirty="0"/>
          </a:p>
        </p:txBody>
      </p:sp>
      <p:sp>
        <p:nvSpPr>
          <p:cNvPr id="12" name="Text 10"/>
          <p:cNvSpPr/>
          <p:nvPr/>
        </p:nvSpPr>
        <p:spPr>
          <a:xfrm>
            <a:off x="812800" y="4816797"/>
            <a:ext cx="196215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le adiacenze</a:t>
            </a:r>
            <a:endParaRPr lang="it-IT" sz="1600" noProof="0" dirty="0"/>
          </a:p>
        </p:txBody>
      </p:sp>
      <p:sp>
        <p:nvSpPr>
          <p:cNvPr id="13" name="Text 11"/>
          <p:cNvSpPr/>
          <p:nvPr/>
        </p:nvSpPr>
        <p:spPr>
          <a:xfrm>
            <a:off x="2870200" y="4764410"/>
            <a:ext cx="8764270" cy="316865"/>
          </a:xfrm>
          <a:prstGeom prst="rect">
            <a:avLst/>
          </a:prstGeom>
          <a:noFill/>
          <a:ln/>
        </p:spPr>
        <p:txBody>
          <a:bodyPr wrap="square" lIns="0" tIns="0" rIns="0" bIns="0" rtlCol="0" anchor="t">
            <a:normAutofit/>
          </a:bodyPr>
          <a:lstStyle/>
          <a:p>
            <a:pPr marL="0" indent="0" algn="l">
              <a:lnSpc>
                <a:spcPts val="2295"/>
              </a:lnSpc>
              <a:buNone/>
            </a:pPr>
            <a:r>
              <a:rPr lang="it-IT" sz="1800" noProof="0" dirty="0">
                <a:solidFill>
                  <a:srgbClr val="1B1D20"/>
                </a:solidFill>
                <a:latin typeface="IBM Plex Sans" pitchFamily="34" charset="0"/>
                <a:ea typeface="IBM Plex Sans" pitchFamily="34" charset="-122"/>
                <a:cs typeface="IBM Plex Sans" pitchFamily="34" charset="-120"/>
              </a:rPr>
              <a:t>In </a:t>
            </a:r>
            <a:r>
              <a:rPr lang="it-IT" sz="1800" noProof="0" dirty="0" err="1">
                <a:solidFill>
                  <a:srgbClr val="1B1D20"/>
                </a:solidFill>
                <a:latin typeface="IBM Plex Sans" pitchFamily="34" charset="0"/>
                <a:ea typeface="IBM Plex Sans" pitchFamily="34" charset="-122"/>
                <a:cs typeface="IBM Plex Sans" pitchFamily="34" charset="-120"/>
              </a:rPr>
              <a:t>vtysh</a:t>
            </a:r>
            <a:r>
              <a:rPr lang="it-IT" sz="1800" noProof="0" dirty="0">
                <a:solidFill>
                  <a:srgbClr val="1B1D20"/>
                </a:solidFill>
                <a:latin typeface="IBM Plex Sans" pitchFamily="34" charset="0"/>
                <a:ea typeface="IBM Plex Sans" pitchFamily="34" charset="-122"/>
                <a:cs typeface="IBM Plex Sans" pitchFamily="34" charset="-120"/>
              </a:rPr>
              <a:t> su r1: show </a:t>
            </a:r>
            <a:r>
              <a:rPr lang="it-IT" sz="1800" noProof="0" dirty="0" err="1">
                <a:solidFill>
                  <a:srgbClr val="1B1D20"/>
                </a:solidFill>
                <a:latin typeface="IBM Plex Sans" pitchFamily="34" charset="0"/>
                <a:ea typeface="IBM Plex Sans" pitchFamily="34" charset="-122"/>
                <a:cs typeface="IBM Plex Sans" pitchFamily="34" charset="-120"/>
              </a:rPr>
              <a:t>ip</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ospf</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neighbor</a:t>
            </a:r>
            <a:r>
              <a:rPr lang="it-IT" sz="1800" noProof="0" dirty="0">
                <a:solidFill>
                  <a:srgbClr val="1B1D20"/>
                </a:solidFill>
                <a:latin typeface="IBM Plex Sans" pitchFamily="34" charset="0"/>
                <a:ea typeface="IBM Plex Sans" pitchFamily="34" charset="-122"/>
                <a:cs typeface="IBM Plex Sans" pitchFamily="34" charset="-120"/>
              </a:rPr>
              <a:t>. Due vicini, tutti Full/-.</a:t>
            </a:r>
            <a:endParaRPr lang="it-IT" sz="1800" noProof="0" dirty="0"/>
          </a:p>
        </p:txBody>
      </p:sp>
      <p:sp>
        <p:nvSpPr>
          <p:cNvPr id="14" name="Text 12"/>
          <p:cNvSpPr/>
          <p:nvPr/>
        </p:nvSpPr>
        <p:spPr>
          <a:xfrm>
            <a:off x="812800" y="5209853"/>
            <a:ext cx="196215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le rotte</a:t>
            </a:r>
            <a:endParaRPr lang="it-IT" sz="1600" noProof="0" dirty="0"/>
          </a:p>
        </p:txBody>
      </p:sp>
      <p:sp>
        <p:nvSpPr>
          <p:cNvPr id="15" name="Text 13"/>
          <p:cNvSpPr/>
          <p:nvPr/>
        </p:nvSpPr>
        <p:spPr>
          <a:xfrm>
            <a:off x="2870200" y="5157465"/>
            <a:ext cx="8764270" cy="316865"/>
          </a:xfrm>
          <a:prstGeom prst="rect">
            <a:avLst/>
          </a:prstGeom>
          <a:noFill/>
          <a:ln/>
        </p:spPr>
        <p:txBody>
          <a:bodyPr wrap="square" lIns="0" tIns="0" rIns="0" bIns="0" rtlCol="0" anchor="t">
            <a:normAutofit/>
          </a:bodyPr>
          <a:lstStyle/>
          <a:p>
            <a:pPr marL="0" indent="0" algn="l">
              <a:lnSpc>
                <a:spcPts val="2295"/>
              </a:lnSpc>
              <a:buNone/>
            </a:pPr>
            <a:r>
              <a:rPr lang="it-IT" sz="1800" noProof="0" dirty="0">
                <a:solidFill>
                  <a:srgbClr val="1B1D20"/>
                </a:solidFill>
                <a:latin typeface="IBM Plex Sans" pitchFamily="34" charset="0"/>
                <a:ea typeface="IBM Plex Sans" pitchFamily="34" charset="-122"/>
                <a:cs typeface="IBM Plex Sans" pitchFamily="34" charset="-120"/>
              </a:rPr>
              <a:t>show </a:t>
            </a:r>
            <a:r>
              <a:rPr lang="it-IT" sz="1800" noProof="0" dirty="0" err="1">
                <a:solidFill>
                  <a:srgbClr val="1B1D20"/>
                </a:solidFill>
                <a:latin typeface="IBM Plex Sans" pitchFamily="34" charset="0"/>
                <a:ea typeface="IBM Plex Sans" pitchFamily="34" charset="-122"/>
                <a:cs typeface="IBM Plex Sans" pitchFamily="34" charset="-120"/>
              </a:rPr>
              <a:t>ip</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route</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ospf</a:t>
            </a:r>
            <a:r>
              <a:rPr lang="it-IT" sz="1800" noProof="0" dirty="0">
                <a:solidFill>
                  <a:srgbClr val="1B1D20"/>
                </a:solidFill>
                <a:latin typeface="IBM Plex Sans" pitchFamily="34" charset="0"/>
                <a:ea typeface="IBM Plex Sans" pitchFamily="34" charset="-122"/>
                <a:cs typeface="IBM Plex Sans" pitchFamily="34" charset="-120"/>
              </a:rPr>
              <a:t>: la sede B via 10.0.0.2, cioè r2, con costo 30.</a:t>
            </a:r>
            <a:endParaRPr lang="it-IT" sz="1800" noProof="0" dirty="0"/>
          </a:p>
        </p:txBody>
      </p:sp>
      <p:sp>
        <p:nvSpPr>
          <p:cNvPr id="16" name="Text 14"/>
          <p:cNvSpPr/>
          <p:nvPr/>
        </p:nvSpPr>
        <p:spPr>
          <a:xfrm>
            <a:off x="812800" y="5602932"/>
            <a:ext cx="1962150"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il </a:t>
            </a:r>
            <a:r>
              <a:rPr lang="it-IT" sz="1600" noProof="0" dirty="0" err="1">
                <a:solidFill>
                  <a:srgbClr val="B4502E"/>
                </a:solidFill>
                <a:latin typeface="JetBrains Mono" pitchFamily="49" charset="0"/>
                <a:ea typeface="JetBrains Mono" pitchFamily="49" charset="-122"/>
                <a:cs typeface="JetBrains Mono" pitchFamily="49" charset="-120"/>
              </a:rPr>
              <a:t>failover</a:t>
            </a:r>
            <a:endParaRPr lang="it-IT" sz="1600" noProof="0" dirty="0"/>
          </a:p>
        </p:txBody>
      </p:sp>
      <p:sp>
        <p:nvSpPr>
          <p:cNvPr id="17" name="Text 15"/>
          <p:cNvSpPr/>
          <p:nvPr/>
        </p:nvSpPr>
        <p:spPr>
          <a:xfrm>
            <a:off x="2870200" y="5550545"/>
            <a:ext cx="8764270" cy="316865"/>
          </a:xfrm>
          <a:prstGeom prst="rect">
            <a:avLst/>
          </a:prstGeom>
          <a:noFill/>
          <a:ln/>
        </p:spPr>
        <p:txBody>
          <a:bodyPr wrap="square" lIns="0" tIns="0" rIns="0" bIns="0" rtlCol="0" anchor="t">
            <a:normAutofit/>
          </a:bodyPr>
          <a:lstStyle/>
          <a:p>
            <a:pPr marL="0" indent="0" algn="l">
              <a:lnSpc>
                <a:spcPts val="2295"/>
              </a:lnSpc>
              <a:buNone/>
            </a:pPr>
            <a:r>
              <a:rPr lang="it-IT" sz="1800" noProof="0" dirty="0">
                <a:solidFill>
                  <a:srgbClr val="1B1D20"/>
                </a:solidFill>
                <a:latin typeface="IBM Plex Sans" pitchFamily="34" charset="0"/>
                <a:ea typeface="IBM Plex Sans" pitchFamily="34" charset="-122"/>
                <a:cs typeface="IBM Plex Sans" pitchFamily="34" charset="-120"/>
              </a:rPr>
              <a:t>Con n12 giù su entrambe le estremità, il traffico passa per r4.</a:t>
            </a:r>
            <a:endParaRPr lang="it-IT" sz="1800" noProof="0" dirty="0"/>
          </a:p>
        </p:txBody>
      </p:sp>
    </p:spTree>
    <p:extLst>
      <p:ext uri="{BB962C8B-B14F-4D97-AF65-F5344CB8AC3E}">
        <p14:creationId xmlns:p14="http://schemas.microsoft.com/office/powerpoint/2010/main" val="19604855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8">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Su r1: le adiacenze OSPF</a:t>
            </a:r>
            <a:endParaRPr lang="it-IT" sz="4000" noProof="0" dirty="0"/>
          </a:p>
        </p:txBody>
      </p:sp>
      <p:pic>
        <p:nvPicPr>
          <p:cNvPr id="5" name="Image 0" descr="Terminale di r1: vtysh, banner di FRRouting 10.6.0 e show ip ospf neighbor con due vicini 10.255.0.2 e 10.255.0.4 in stato Full/-"/>
          <p:cNvPicPr>
            <a:picLocks noChangeAspect="1"/>
          </p:cNvPicPr>
          <p:nvPr/>
        </p:nvPicPr>
        <p:blipFill>
          <a:blip r:embed="rId3"/>
          <a:srcRect t="-41" b="-41"/>
          <a:stretch/>
        </p:blipFill>
        <p:spPr>
          <a:xfrm>
            <a:off x="812800" y="1838970"/>
            <a:ext cx="10566400" cy="2089150"/>
          </a:xfrm>
          <a:prstGeom prst="rect">
            <a:avLst/>
          </a:prstGeom>
        </p:spPr>
      </p:pic>
      <p:sp>
        <p:nvSpPr>
          <p:cNvPr id="6" name="Shape 3"/>
          <p:cNvSpPr/>
          <p:nvPr/>
        </p:nvSpPr>
        <p:spPr>
          <a:xfrm>
            <a:off x="831850" y="4764410"/>
            <a:ext cx="0" cy="291465"/>
          </a:xfrm>
          <a:prstGeom prst="line">
            <a:avLst/>
          </a:prstGeom>
          <a:noFill/>
          <a:ln w="38100">
            <a:solidFill>
              <a:srgbClr val="E37E5F"/>
            </a:solidFill>
            <a:prstDash val="solid"/>
          </a:ln>
        </p:spPr>
        <p:txBody>
          <a:bodyPr/>
          <a:lstStyle/>
          <a:p>
            <a:endParaRPr lang="it-IT" noProof="0" dirty="0"/>
          </a:p>
        </p:txBody>
      </p:sp>
      <p:sp>
        <p:nvSpPr>
          <p:cNvPr id="7" name="Text 4"/>
          <p:cNvSpPr/>
          <p:nvPr/>
        </p:nvSpPr>
        <p:spPr>
          <a:xfrm>
            <a:off x="1028700" y="4764410"/>
            <a:ext cx="10661015" cy="316865"/>
          </a:xfrm>
          <a:prstGeom prst="rect">
            <a:avLst/>
          </a:prstGeom>
          <a:noFill/>
          <a:ln/>
        </p:spPr>
        <p:txBody>
          <a:bodyPr wrap="square" lIns="0" tIns="0" rIns="0" bIns="0" rtlCol="0" anchor="t">
            <a:normAutofit/>
          </a:bodyPr>
          <a:lstStyle/>
          <a:p>
            <a:pPr marL="0" indent="0" algn="l">
              <a:lnSpc>
                <a:spcPts val="2295"/>
              </a:lnSpc>
              <a:buNone/>
            </a:pPr>
            <a:r>
              <a:rPr lang="it-IT" sz="1800" b="1" noProof="0" dirty="0" err="1">
                <a:solidFill>
                  <a:srgbClr val="1B1D20"/>
                </a:solidFill>
                <a:latin typeface="IBM Plex Sans" pitchFamily="34" charset="0"/>
                <a:ea typeface="IBM Plex Sans" pitchFamily="34" charset="-122"/>
                <a:cs typeface="IBM Plex Sans" pitchFamily="34" charset="-120"/>
              </a:rPr>
              <a:t>vtysh</a:t>
            </a:r>
            <a:r>
              <a:rPr lang="it-IT" sz="1800" b="1" noProof="0" dirty="0">
                <a:solidFill>
                  <a:srgbClr val="1B1D20"/>
                </a:solidFill>
                <a:latin typeface="IBM Plex Sans" pitchFamily="34" charset="0"/>
                <a:ea typeface="IBM Plex Sans" pitchFamily="34" charset="-122"/>
                <a:cs typeface="IBM Plex Sans" pitchFamily="34" charset="-120"/>
              </a:rPr>
              <a:t> apre la CLI di FRR.</a:t>
            </a:r>
            <a:r>
              <a:rPr lang="it-IT" sz="1800" noProof="0" dirty="0">
                <a:solidFill>
                  <a:srgbClr val="1B1D20"/>
                </a:solidFill>
                <a:latin typeface="IBM Plex Sans" pitchFamily="34" charset="0"/>
                <a:ea typeface="IBM Plex Sans" pitchFamily="34" charset="-122"/>
                <a:cs typeface="IBM Plex Sans" pitchFamily="34" charset="-120"/>
              </a:rPr>
              <a:t> Il prompt passa da root@r1:/# a r1#.</a:t>
            </a:r>
            <a:endParaRPr lang="it-IT" sz="1800" noProof="0" dirty="0"/>
          </a:p>
        </p:txBody>
      </p:sp>
      <p:sp>
        <p:nvSpPr>
          <p:cNvPr id="8" name="Shape 5"/>
          <p:cNvSpPr/>
          <p:nvPr/>
        </p:nvSpPr>
        <p:spPr>
          <a:xfrm>
            <a:off x="831850" y="5157465"/>
            <a:ext cx="0" cy="291465"/>
          </a:xfrm>
          <a:prstGeom prst="line">
            <a:avLst/>
          </a:prstGeom>
          <a:noFill/>
          <a:ln w="38100">
            <a:solidFill>
              <a:srgbClr val="E37E5F"/>
            </a:solidFill>
            <a:prstDash val="solid"/>
          </a:ln>
        </p:spPr>
        <p:txBody>
          <a:bodyPr/>
          <a:lstStyle/>
          <a:p>
            <a:endParaRPr lang="it-IT" noProof="0" dirty="0"/>
          </a:p>
        </p:txBody>
      </p:sp>
      <p:sp>
        <p:nvSpPr>
          <p:cNvPr id="9" name="Text 6"/>
          <p:cNvSpPr/>
          <p:nvPr/>
        </p:nvSpPr>
        <p:spPr>
          <a:xfrm>
            <a:off x="1028700" y="5157465"/>
            <a:ext cx="10661015" cy="316865"/>
          </a:xfrm>
          <a:prstGeom prst="rect">
            <a:avLst/>
          </a:prstGeom>
          <a:noFill/>
          <a:ln/>
        </p:spPr>
        <p:txBody>
          <a:bodyPr wrap="square" lIns="0" tIns="0" rIns="0" bIns="0" rtlCol="0" anchor="t">
            <a:normAutofit/>
          </a:bodyPr>
          <a:lstStyle/>
          <a:p>
            <a:pPr marL="0" indent="0" algn="l">
              <a:lnSpc>
                <a:spcPts val="2295"/>
              </a:lnSpc>
              <a:buNone/>
            </a:pPr>
            <a:r>
              <a:rPr lang="it-IT" sz="1800" b="1" noProof="0" dirty="0">
                <a:solidFill>
                  <a:srgbClr val="1B1D20"/>
                </a:solidFill>
                <a:latin typeface="IBM Plex Sans" pitchFamily="34" charset="0"/>
                <a:ea typeface="IBM Plex Sans" pitchFamily="34" charset="-122"/>
                <a:cs typeface="IBM Plex Sans" pitchFamily="34" charset="-120"/>
              </a:rPr>
              <a:t>Full/- su entrambi i vicini.</a:t>
            </a:r>
            <a:r>
              <a:rPr lang="it-IT" sz="1800" noProof="0" dirty="0">
                <a:solidFill>
                  <a:srgbClr val="1B1D20"/>
                </a:solidFill>
                <a:latin typeface="IBM Plex Sans" pitchFamily="34" charset="0"/>
                <a:ea typeface="IBM Plex Sans" pitchFamily="34" charset="-122"/>
                <a:cs typeface="IBM Plex Sans" pitchFamily="34" charset="-120"/>
              </a:rPr>
              <a:t> Adiacenza completa su link punto-punto: nessun DR.</a:t>
            </a:r>
            <a:endParaRPr lang="it-IT" sz="1800" noProof="0" dirty="0"/>
          </a:p>
        </p:txBody>
      </p:sp>
      <p:sp>
        <p:nvSpPr>
          <p:cNvPr id="10" name="Shape 7"/>
          <p:cNvSpPr/>
          <p:nvPr/>
        </p:nvSpPr>
        <p:spPr>
          <a:xfrm>
            <a:off x="831850" y="5550545"/>
            <a:ext cx="0" cy="291465"/>
          </a:xfrm>
          <a:prstGeom prst="line">
            <a:avLst/>
          </a:prstGeom>
          <a:noFill/>
          <a:ln w="38100">
            <a:solidFill>
              <a:srgbClr val="E37E5F"/>
            </a:solidFill>
            <a:prstDash val="solid"/>
          </a:ln>
        </p:spPr>
        <p:txBody>
          <a:bodyPr/>
          <a:lstStyle/>
          <a:p>
            <a:endParaRPr lang="it-IT" noProof="0" dirty="0"/>
          </a:p>
        </p:txBody>
      </p:sp>
      <p:sp>
        <p:nvSpPr>
          <p:cNvPr id="11" name="Text 8"/>
          <p:cNvSpPr/>
          <p:nvPr/>
        </p:nvSpPr>
        <p:spPr>
          <a:xfrm>
            <a:off x="1028700" y="5550545"/>
            <a:ext cx="10661015" cy="316865"/>
          </a:xfrm>
          <a:prstGeom prst="rect">
            <a:avLst/>
          </a:prstGeom>
          <a:noFill/>
          <a:ln/>
        </p:spPr>
        <p:txBody>
          <a:bodyPr wrap="square" lIns="0" tIns="0" rIns="0" bIns="0" rtlCol="0" anchor="t">
            <a:normAutofit/>
          </a:bodyPr>
          <a:lstStyle/>
          <a:p>
            <a:pPr marL="0" indent="0" algn="l">
              <a:lnSpc>
                <a:spcPts val="2295"/>
              </a:lnSpc>
              <a:buNone/>
            </a:pPr>
            <a:r>
              <a:rPr lang="it-IT" sz="1800" b="1" noProof="0" dirty="0">
                <a:solidFill>
                  <a:srgbClr val="1B1D20"/>
                </a:solidFill>
                <a:latin typeface="IBM Plex Sans" pitchFamily="34" charset="0"/>
                <a:ea typeface="IBM Plex Sans" pitchFamily="34" charset="-122"/>
                <a:cs typeface="IBM Plex Sans" pitchFamily="34" charset="-120"/>
              </a:rPr>
              <a:t>Neighbor ID = router-id.</a:t>
            </a:r>
            <a:r>
              <a:rPr lang="it-IT" sz="1800" noProof="0" dirty="0">
                <a:solidFill>
                  <a:srgbClr val="1B1D20"/>
                </a:solidFill>
                <a:latin typeface="IBM Plex Sans" pitchFamily="34" charset="0"/>
                <a:ea typeface="IBM Plex Sans" pitchFamily="34" charset="-122"/>
                <a:cs typeface="IBM Plex Sans" pitchFamily="34" charset="-120"/>
              </a:rPr>
              <a:t> Le </a:t>
            </a:r>
            <a:r>
              <a:rPr lang="it-IT" sz="1800" noProof="0" dirty="0" err="1">
                <a:solidFill>
                  <a:srgbClr val="1B1D20"/>
                </a:solidFill>
                <a:latin typeface="IBM Plex Sans" pitchFamily="34" charset="0"/>
                <a:ea typeface="IBM Plex Sans" pitchFamily="34" charset="-122"/>
                <a:cs typeface="IBM Plex Sans" pitchFamily="34" charset="-120"/>
              </a:rPr>
              <a:t>loopback</a:t>
            </a:r>
            <a:r>
              <a:rPr lang="it-IT" sz="1800" noProof="0" dirty="0">
                <a:solidFill>
                  <a:srgbClr val="1B1D20"/>
                </a:solidFill>
                <a:latin typeface="IBM Plex Sans" pitchFamily="34" charset="0"/>
                <a:ea typeface="IBM Plex Sans" pitchFamily="34" charset="-122"/>
                <a:cs typeface="IBM Plex Sans" pitchFamily="34" charset="-120"/>
              </a:rPr>
              <a:t> di r2 (10.255.0.2) e r4 (10.255.0.4).</a:t>
            </a:r>
            <a:endParaRPr lang="it-IT" sz="1800" noProof="0" dirty="0"/>
          </a:p>
        </p:txBody>
      </p:sp>
    </p:spTree>
    <p:extLst>
      <p:ext uri="{BB962C8B-B14F-4D97-AF65-F5344CB8AC3E}">
        <p14:creationId xmlns:p14="http://schemas.microsoft.com/office/powerpoint/2010/main" val="28201482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9">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Su r1: le rotte imparate da OSPF</a:t>
            </a:r>
            <a:endParaRPr lang="it-IT" sz="4000" noProof="0" dirty="0"/>
          </a:p>
        </p:txBody>
      </p:sp>
      <p:pic>
        <p:nvPicPr>
          <p:cNvPr id="5" name="Image 0" descr="Terminale di r1: show ip route ospf con le rotte O&gt;* via 10.0.0.2 verso la sede B e via 10.0.0.13 verso la loopback di r4"/>
          <p:cNvPicPr>
            <a:picLocks noChangeAspect="1"/>
          </p:cNvPicPr>
          <p:nvPr/>
        </p:nvPicPr>
        <p:blipFill>
          <a:blip r:embed="rId3"/>
          <a:srcRect t="-105" b="-105"/>
          <a:stretch/>
        </p:blipFill>
        <p:spPr>
          <a:xfrm>
            <a:off x="812800" y="1838970"/>
            <a:ext cx="7239000" cy="2908300"/>
          </a:xfrm>
          <a:prstGeom prst="rect">
            <a:avLst/>
          </a:prstGeom>
        </p:spPr>
      </p:pic>
      <p:sp>
        <p:nvSpPr>
          <p:cNvPr id="6" name="Shape 3"/>
          <p:cNvSpPr/>
          <p:nvPr/>
        </p:nvSpPr>
        <p:spPr>
          <a:xfrm>
            <a:off x="8054975" y="1838970"/>
            <a:ext cx="0" cy="2908300"/>
          </a:xfrm>
          <a:prstGeom prst="line">
            <a:avLst/>
          </a:prstGeom>
          <a:noFill/>
          <a:ln w="6350">
            <a:solidFill>
              <a:srgbClr val="CFCCC4"/>
            </a:solidFill>
            <a:prstDash val="solid"/>
          </a:ln>
        </p:spPr>
        <p:txBody>
          <a:bodyPr/>
          <a:lstStyle/>
          <a:p>
            <a:endParaRPr lang="it-IT" noProof="0" dirty="0"/>
          </a:p>
        </p:txBody>
      </p:sp>
      <p:sp>
        <p:nvSpPr>
          <p:cNvPr id="7" name="Text 4"/>
          <p:cNvSpPr/>
          <p:nvPr/>
        </p:nvSpPr>
        <p:spPr>
          <a:xfrm>
            <a:off x="8312150" y="1838970"/>
            <a:ext cx="3159062"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O&gt;* = installata</a:t>
            </a:r>
            <a:endParaRPr lang="it-IT" sz="1800" noProof="0" dirty="0"/>
          </a:p>
        </p:txBody>
      </p:sp>
      <p:sp>
        <p:nvSpPr>
          <p:cNvPr id="8" name="Text 5"/>
          <p:cNvSpPr/>
          <p:nvPr/>
        </p:nvSpPr>
        <p:spPr>
          <a:xfrm>
            <a:off x="8312150" y="2136130"/>
            <a:ext cx="3159062" cy="523240"/>
          </a:xfrm>
          <a:prstGeom prst="rect">
            <a:avLst/>
          </a:prstGeom>
          <a:noFill/>
          <a:ln/>
        </p:spPr>
        <p:txBody>
          <a:bodyPr wrap="square" lIns="0" tIns="0" rIns="0" bIns="0" rtlCol="0" anchor="t">
            <a:normAutofit fontScale="92500"/>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Le righe solo O sono reti connesse: lì vince la rotta del kernel.</a:t>
            </a:r>
            <a:endParaRPr lang="it-IT" sz="1600" noProof="0" dirty="0"/>
          </a:p>
        </p:txBody>
      </p:sp>
      <p:sp>
        <p:nvSpPr>
          <p:cNvPr id="9" name="Text 6"/>
          <p:cNvSpPr/>
          <p:nvPr/>
        </p:nvSpPr>
        <p:spPr>
          <a:xfrm>
            <a:off x="8312150" y="2837185"/>
            <a:ext cx="3159062"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Sede B via 10.0.0.2</a:t>
            </a:r>
            <a:endParaRPr lang="it-IT" sz="1800" noProof="0" dirty="0"/>
          </a:p>
        </p:txBody>
      </p:sp>
      <p:sp>
        <p:nvSpPr>
          <p:cNvPr id="10" name="Text 7"/>
          <p:cNvSpPr/>
          <p:nvPr/>
        </p:nvSpPr>
        <p:spPr>
          <a:xfrm>
            <a:off x="8312150" y="3134370"/>
            <a:ext cx="3159062" cy="5232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192.168.20.0/24 [110/30]: costo 30, passando da r2.</a:t>
            </a:r>
            <a:endParaRPr lang="it-IT" sz="1600" noProof="0" dirty="0"/>
          </a:p>
        </p:txBody>
      </p:sp>
      <p:sp>
        <p:nvSpPr>
          <p:cNvPr id="11" name="Text 8"/>
          <p:cNvSpPr/>
          <p:nvPr/>
        </p:nvSpPr>
        <p:spPr>
          <a:xfrm>
            <a:off x="8312150" y="3835400"/>
            <a:ext cx="3159062"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r4 via 10.0.0.13</a:t>
            </a:r>
            <a:endParaRPr lang="it-IT" sz="1800" noProof="0" dirty="0"/>
          </a:p>
        </p:txBody>
      </p:sp>
      <p:sp>
        <p:nvSpPr>
          <p:cNvPr id="12" name="Text 9"/>
          <p:cNvSpPr/>
          <p:nvPr/>
        </p:nvSpPr>
        <p:spPr>
          <a:xfrm>
            <a:off x="8312150" y="4132585"/>
            <a:ext cx="3159062" cy="5232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Diretto costa 100; passando da r2 costerebbe 120.</a:t>
            </a:r>
            <a:endParaRPr lang="it-IT" sz="1600" noProof="0" dirty="0"/>
          </a:p>
        </p:txBody>
      </p:sp>
    </p:spTree>
    <p:extLst>
      <p:ext uri="{BB962C8B-B14F-4D97-AF65-F5344CB8AC3E}">
        <p14:creationId xmlns:p14="http://schemas.microsoft.com/office/powerpoint/2010/main" val="3767787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0">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Prova di </a:t>
            </a:r>
            <a:r>
              <a:rPr lang="it-IT" sz="4000" b="1" i="0" noProof="0" dirty="0" err="1">
                <a:solidFill>
                  <a:srgbClr val="1B1D20"/>
                </a:solidFill>
                <a:latin typeface="IBM Plex Sans" pitchFamily="34" charset="0"/>
                <a:ea typeface="IBM Plex Sans" pitchFamily="34" charset="-122"/>
                <a:cs typeface="IBM Plex Sans" pitchFamily="34" charset="-120"/>
              </a:rPr>
              <a:t>failover</a:t>
            </a:r>
            <a:r>
              <a:rPr lang="it-IT" sz="4000" b="1" i="0" noProof="0" dirty="0">
                <a:solidFill>
                  <a:srgbClr val="1B1D20"/>
                </a:solidFill>
                <a:latin typeface="IBM Plex Sans" pitchFamily="34" charset="0"/>
                <a:ea typeface="IBM Plex Sans" pitchFamily="34" charset="-122"/>
                <a:cs typeface="IBM Plex Sans" pitchFamily="34" charset="-120"/>
              </a:rPr>
              <a:t>: abbattiamo n12</a:t>
            </a:r>
            <a:endParaRPr lang="it-IT" sz="4000" noProof="0" dirty="0"/>
          </a:p>
        </p:txBody>
      </p:sp>
      <p:sp>
        <p:nvSpPr>
          <p:cNvPr id="5" name="Shape 3"/>
          <p:cNvSpPr/>
          <p:nvPr/>
        </p:nvSpPr>
        <p:spPr>
          <a:xfrm>
            <a:off x="812800" y="1838970"/>
            <a:ext cx="5588000" cy="2058670"/>
          </a:xfrm>
          <a:prstGeom prst="rect">
            <a:avLst/>
          </a:prstGeom>
          <a:solidFill>
            <a:srgbClr val="17191C"/>
          </a:solidFill>
          <a:ln/>
        </p:spPr>
        <p:txBody>
          <a:bodyPr/>
          <a:lstStyle/>
          <a:p>
            <a:endParaRPr lang="it-IT" noProof="0" dirty="0"/>
          </a:p>
        </p:txBody>
      </p:sp>
      <p:sp>
        <p:nvSpPr>
          <p:cNvPr id="6" name="Text 4"/>
          <p:cNvSpPr/>
          <p:nvPr/>
        </p:nvSpPr>
        <p:spPr>
          <a:xfrm>
            <a:off x="939800" y="1965970"/>
            <a:ext cx="549402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8A8F96"/>
                </a:solidFill>
                <a:latin typeface="JetBrains Mono" pitchFamily="49" charset="0"/>
                <a:ea typeface="JetBrains Mono" pitchFamily="49" charset="-122"/>
                <a:cs typeface="JetBrains Mono" pitchFamily="49" charset="-120"/>
              </a:rPr>
              <a:t># guasto su n12, entrambe le estremità</a:t>
            </a:r>
            <a:endParaRPr lang="it-IT" sz="1600" noProof="0" dirty="0"/>
          </a:p>
        </p:txBody>
      </p:sp>
      <p:sp>
        <p:nvSpPr>
          <p:cNvPr id="7" name="Text 5"/>
          <p:cNvSpPr/>
          <p:nvPr/>
        </p:nvSpPr>
        <p:spPr>
          <a:xfrm>
            <a:off x="939800" y="2223765"/>
            <a:ext cx="549402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kathara </a:t>
            </a:r>
            <a:r>
              <a:rPr lang="it-IT" sz="1600" noProof="0" dirty="0" err="1">
                <a:solidFill>
                  <a:srgbClr val="F2F1EC"/>
                </a:solidFill>
                <a:latin typeface="JetBrains Mono" pitchFamily="49" charset="0"/>
                <a:ea typeface="JetBrains Mono" pitchFamily="49" charset="-122"/>
                <a:cs typeface="JetBrains Mono" pitchFamily="49" charset="-120"/>
              </a:rPr>
              <a:t>exec</a:t>
            </a:r>
            <a:r>
              <a:rPr lang="it-IT" sz="1600" noProof="0" dirty="0">
                <a:solidFill>
                  <a:srgbClr val="F2F1EC"/>
                </a:solidFill>
                <a:latin typeface="JetBrains Mono" pitchFamily="49" charset="0"/>
                <a:ea typeface="JetBrains Mono" pitchFamily="49" charset="-122"/>
                <a:cs typeface="JetBrains Mono" pitchFamily="49" charset="-120"/>
              </a:rPr>
              <a:t> r1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link set eth1 down"</a:t>
            </a:r>
            <a:endParaRPr lang="it-IT" sz="1600" noProof="0" dirty="0"/>
          </a:p>
        </p:txBody>
      </p:sp>
      <p:sp>
        <p:nvSpPr>
          <p:cNvPr id="8" name="Text 6"/>
          <p:cNvSpPr/>
          <p:nvPr/>
        </p:nvSpPr>
        <p:spPr>
          <a:xfrm>
            <a:off x="939800" y="2481585"/>
            <a:ext cx="549402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kathara </a:t>
            </a:r>
            <a:r>
              <a:rPr lang="it-IT" sz="1600" noProof="0" dirty="0" err="1">
                <a:solidFill>
                  <a:srgbClr val="F2F1EC"/>
                </a:solidFill>
                <a:latin typeface="JetBrains Mono" pitchFamily="49" charset="0"/>
                <a:ea typeface="JetBrains Mono" pitchFamily="49" charset="-122"/>
                <a:cs typeface="JetBrains Mono" pitchFamily="49" charset="-120"/>
              </a:rPr>
              <a:t>exec</a:t>
            </a:r>
            <a:r>
              <a:rPr lang="it-IT" sz="1600" noProof="0" dirty="0">
                <a:solidFill>
                  <a:srgbClr val="F2F1EC"/>
                </a:solidFill>
                <a:latin typeface="JetBrains Mono" pitchFamily="49" charset="0"/>
                <a:ea typeface="JetBrains Mono" pitchFamily="49" charset="-122"/>
                <a:cs typeface="JetBrains Mono" pitchFamily="49" charset="-120"/>
              </a:rPr>
              <a:t> r2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link set eth0 down"</a:t>
            </a:r>
            <a:endParaRPr lang="it-IT" sz="1600" noProof="0" dirty="0"/>
          </a:p>
        </p:txBody>
      </p:sp>
      <p:sp>
        <p:nvSpPr>
          <p:cNvPr id="9" name="Text 7"/>
          <p:cNvSpPr/>
          <p:nvPr/>
        </p:nvSpPr>
        <p:spPr>
          <a:xfrm>
            <a:off x="939800" y="2739380"/>
            <a:ext cx="5494020" cy="283210"/>
          </a:xfrm>
          <a:prstGeom prst="rect">
            <a:avLst/>
          </a:prstGeom>
          <a:noFill/>
          <a:ln/>
        </p:spPr>
        <p:txBody>
          <a:bodyPr wrap="square" lIns="0" tIns="0" rIns="0" bIns="0" rtlCol="0" anchor="t">
            <a:normAutofit fontScale="92500"/>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kathara </a:t>
            </a:r>
            <a:r>
              <a:rPr lang="it-IT" sz="1600" noProof="0" dirty="0" err="1">
                <a:solidFill>
                  <a:srgbClr val="F2F1EC"/>
                </a:solidFill>
                <a:latin typeface="JetBrains Mono" pitchFamily="49" charset="0"/>
                <a:ea typeface="JetBrains Mono" pitchFamily="49" charset="-122"/>
                <a:cs typeface="JetBrains Mono" pitchFamily="49" charset="-120"/>
              </a:rPr>
              <a:t>exec</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pc_a</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traceroute</a:t>
            </a:r>
            <a:r>
              <a:rPr lang="it-IT" sz="1600" noProof="0" dirty="0">
                <a:solidFill>
                  <a:srgbClr val="F2F1EC"/>
                </a:solidFill>
                <a:latin typeface="JetBrains Mono" pitchFamily="49" charset="0"/>
                <a:ea typeface="JetBrains Mono" pitchFamily="49" charset="-122"/>
                <a:cs typeface="JetBrains Mono" pitchFamily="49" charset="-120"/>
              </a:rPr>
              <a:t> -n 192.168.20.10"</a:t>
            </a:r>
            <a:endParaRPr lang="it-IT" sz="1600" noProof="0" dirty="0"/>
          </a:p>
        </p:txBody>
      </p:sp>
      <p:sp>
        <p:nvSpPr>
          <p:cNvPr id="10" name="Text 8"/>
          <p:cNvSpPr/>
          <p:nvPr/>
        </p:nvSpPr>
        <p:spPr>
          <a:xfrm>
            <a:off x="939800" y="2997200"/>
            <a:ext cx="549402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8A8F96"/>
                </a:solidFill>
                <a:latin typeface="JetBrains Mono" pitchFamily="49" charset="0"/>
                <a:ea typeface="JetBrains Mono" pitchFamily="49" charset="-122"/>
                <a:cs typeface="JetBrains Mono" pitchFamily="49" charset="-120"/>
              </a:rPr>
              <a:t># ripristino</a:t>
            </a:r>
            <a:endParaRPr lang="it-IT" sz="1600" noProof="0" dirty="0"/>
          </a:p>
        </p:txBody>
      </p:sp>
      <p:sp>
        <p:nvSpPr>
          <p:cNvPr id="11" name="Text 9"/>
          <p:cNvSpPr/>
          <p:nvPr/>
        </p:nvSpPr>
        <p:spPr>
          <a:xfrm>
            <a:off x="939800" y="3255020"/>
            <a:ext cx="549402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kathara </a:t>
            </a:r>
            <a:r>
              <a:rPr lang="it-IT" sz="1600" noProof="0" dirty="0" err="1">
                <a:solidFill>
                  <a:srgbClr val="F2F1EC"/>
                </a:solidFill>
                <a:latin typeface="JetBrains Mono" pitchFamily="49" charset="0"/>
                <a:ea typeface="JetBrains Mono" pitchFamily="49" charset="-122"/>
                <a:cs typeface="JetBrains Mono" pitchFamily="49" charset="-120"/>
              </a:rPr>
              <a:t>exec</a:t>
            </a:r>
            <a:r>
              <a:rPr lang="it-IT" sz="1600" noProof="0" dirty="0">
                <a:solidFill>
                  <a:srgbClr val="F2F1EC"/>
                </a:solidFill>
                <a:latin typeface="JetBrains Mono" pitchFamily="49" charset="0"/>
                <a:ea typeface="JetBrains Mono" pitchFamily="49" charset="-122"/>
                <a:cs typeface="JetBrains Mono" pitchFamily="49" charset="-120"/>
              </a:rPr>
              <a:t> r1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link set eth1 up"</a:t>
            </a:r>
            <a:endParaRPr lang="it-IT" sz="1600" noProof="0" dirty="0"/>
          </a:p>
        </p:txBody>
      </p:sp>
      <p:sp>
        <p:nvSpPr>
          <p:cNvPr id="12" name="Text 10"/>
          <p:cNvSpPr/>
          <p:nvPr/>
        </p:nvSpPr>
        <p:spPr>
          <a:xfrm>
            <a:off x="939800" y="3512815"/>
            <a:ext cx="5494020"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kathara </a:t>
            </a:r>
            <a:r>
              <a:rPr lang="it-IT" sz="1600" noProof="0" dirty="0" err="1">
                <a:solidFill>
                  <a:srgbClr val="F2F1EC"/>
                </a:solidFill>
                <a:latin typeface="JetBrains Mono" pitchFamily="49" charset="0"/>
                <a:ea typeface="JetBrains Mono" pitchFamily="49" charset="-122"/>
                <a:cs typeface="JetBrains Mono" pitchFamily="49" charset="-120"/>
              </a:rPr>
              <a:t>exec</a:t>
            </a:r>
            <a:r>
              <a:rPr lang="it-IT" sz="1600" noProof="0" dirty="0">
                <a:solidFill>
                  <a:srgbClr val="F2F1EC"/>
                </a:solidFill>
                <a:latin typeface="JetBrains Mono" pitchFamily="49" charset="0"/>
                <a:ea typeface="JetBrains Mono" pitchFamily="49" charset="-122"/>
                <a:cs typeface="JetBrains Mono" pitchFamily="49" charset="-120"/>
              </a:rPr>
              <a:t> r2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link set eth0 up"</a:t>
            </a:r>
            <a:endParaRPr lang="it-IT" sz="1600" noProof="0" dirty="0"/>
          </a:p>
        </p:txBody>
      </p:sp>
      <p:sp>
        <p:nvSpPr>
          <p:cNvPr id="13" name="Shape 11"/>
          <p:cNvSpPr/>
          <p:nvPr/>
        </p:nvSpPr>
        <p:spPr>
          <a:xfrm>
            <a:off x="831850" y="4100835"/>
            <a:ext cx="0" cy="858520"/>
          </a:xfrm>
          <a:prstGeom prst="line">
            <a:avLst/>
          </a:prstGeom>
          <a:noFill/>
          <a:ln w="38100">
            <a:solidFill>
              <a:srgbClr val="E37E5F"/>
            </a:solidFill>
            <a:prstDash val="solid"/>
          </a:ln>
        </p:spPr>
        <p:txBody>
          <a:bodyPr/>
          <a:lstStyle/>
          <a:p>
            <a:endParaRPr lang="it-IT" noProof="0" dirty="0"/>
          </a:p>
        </p:txBody>
      </p:sp>
      <p:sp>
        <p:nvSpPr>
          <p:cNvPr id="14" name="Text 12"/>
          <p:cNvSpPr/>
          <p:nvPr/>
        </p:nvSpPr>
        <p:spPr>
          <a:xfrm>
            <a:off x="1028700" y="4100835"/>
            <a:ext cx="5533263"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Spegniamo entrambe le estremità</a:t>
            </a:r>
            <a:endParaRPr lang="it-IT" sz="1800" noProof="0" dirty="0"/>
          </a:p>
        </p:txBody>
      </p:sp>
      <p:sp>
        <p:nvSpPr>
          <p:cNvPr id="15" name="Text 13"/>
          <p:cNvSpPr/>
          <p:nvPr/>
        </p:nvSpPr>
        <p:spPr>
          <a:xfrm>
            <a:off x="1028700" y="4425950"/>
            <a:ext cx="5533263"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Con un solo lato down, l’altro resta up: l’adiacenza cade solo allo scadere del dead </a:t>
            </a:r>
            <a:r>
              <a:rPr lang="it-IT" sz="1600" noProof="0" dirty="0" err="1">
                <a:solidFill>
                  <a:srgbClr val="1B1D20"/>
                </a:solidFill>
                <a:latin typeface="IBM Plex Sans" pitchFamily="34" charset="0"/>
                <a:ea typeface="IBM Plex Sans" pitchFamily="34" charset="-122"/>
                <a:cs typeface="IBM Plex Sans" pitchFamily="34" charset="-120"/>
              </a:rPr>
              <a:t>interval</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16" name="Shape 14"/>
          <p:cNvSpPr/>
          <p:nvPr/>
        </p:nvSpPr>
        <p:spPr>
          <a:xfrm>
            <a:off x="6657975" y="1838970"/>
            <a:ext cx="0" cy="3200400"/>
          </a:xfrm>
          <a:prstGeom prst="line">
            <a:avLst/>
          </a:prstGeom>
          <a:noFill/>
          <a:ln w="6350">
            <a:solidFill>
              <a:srgbClr val="CFCCC4"/>
            </a:solidFill>
            <a:prstDash val="solid"/>
          </a:ln>
        </p:spPr>
        <p:txBody>
          <a:bodyPr/>
          <a:lstStyle/>
          <a:p>
            <a:endParaRPr lang="it-IT" noProof="0" dirty="0"/>
          </a:p>
        </p:txBody>
      </p:sp>
      <p:sp>
        <p:nvSpPr>
          <p:cNvPr id="17" name="Text 15"/>
          <p:cNvSpPr/>
          <p:nvPr/>
        </p:nvSpPr>
        <p:spPr>
          <a:xfrm>
            <a:off x="6915150" y="1838970"/>
            <a:ext cx="4597972" cy="289560"/>
          </a:xfrm>
          <a:prstGeom prst="rect">
            <a:avLst/>
          </a:prstGeom>
          <a:noFill/>
          <a:ln/>
        </p:spPr>
        <p:txBody>
          <a:bodyPr wrap="square" lIns="0" tIns="0" rIns="0" bIns="0" rtlCol="0" anchor="t">
            <a:normAutofit/>
          </a:bodyPr>
          <a:lstStyle/>
          <a:p>
            <a:pPr marL="0" indent="0" algn="l">
              <a:lnSpc>
                <a:spcPts val="2080"/>
              </a:lnSpc>
              <a:buNone/>
            </a:pPr>
            <a:r>
              <a:rPr lang="it-IT" sz="1600" b="1" noProof="0" dirty="0">
                <a:solidFill>
                  <a:srgbClr val="5B5F66"/>
                </a:solidFill>
                <a:latin typeface="IBM Plex Sans" pitchFamily="34" charset="0"/>
                <a:ea typeface="IBM Plex Sans" pitchFamily="34" charset="-122"/>
                <a:cs typeface="IBM Plex Sans" pitchFamily="34" charset="-120"/>
              </a:rPr>
              <a:t>Con n12 giù, il </a:t>
            </a:r>
            <a:r>
              <a:rPr lang="it-IT" sz="1600" b="1" noProof="0" dirty="0" err="1">
                <a:solidFill>
                  <a:srgbClr val="5B5F66"/>
                </a:solidFill>
                <a:latin typeface="IBM Plex Sans" pitchFamily="34" charset="0"/>
                <a:ea typeface="IBM Plex Sans" pitchFamily="34" charset="-122"/>
                <a:cs typeface="IBM Plex Sans" pitchFamily="34" charset="-120"/>
              </a:rPr>
              <a:t>traceroute</a:t>
            </a:r>
            <a:r>
              <a:rPr lang="it-IT" sz="1600" b="1" noProof="0" dirty="0">
                <a:solidFill>
                  <a:srgbClr val="5B5F66"/>
                </a:solidFill>
                <a:latin typeface="IBM Plex Sans" pitchFamily="34" charset="0"/>
                <a:ea typeface="IBM Plex Sans" pitchFamily="34" charset="-122"/>
                <a:cs typeface="IBM Plex Sans" pitchFamily="34" charset="-120"/>
              </a:rPr>
              <a:t> passa per r4</a:t>
            </a:r>
            <a:endParaRPr lang="it-IT" sz="1600" noProof="0" dirty="0"/>
          </a:p>
        </p:txBody>
      </p:sp>
      <p:sp>
        <p:nvSpPr>
          <p:cNvPr id="18" name="Shape 16"/>
          <p:cNvSpPr/>
          <p:nvPr/>
        </p:nvSpPr>
        <p:spPr>
          <a:xfrm>
            <a:off x="6915150" y="2230115"/>
            <a:ext cx="4464050" cy="1285240"/>
          </a:xfrm>
          <a:prstGeom prst="rect">
            <a:avLst/>
          </a:prstGeom>
          <a:solidFill>
            <a:srgbClr val="17191C"/>
          </a:solidFill>
          <a:ln/>
        </p:spPr>
        <p:txBody>
          <a:bodyPr/>
          <a:lstStyle/>
          <a:p>
            <a:endParaRPr lang="it-IT" noProof="0" dirty="0"/>
          </a:p>
        </p:txBody>
      </p:sp>
      <p:sp>
        <p:nvSpPr>
          <p:cNvPr id="19" name="Text 17"/>
          <p:cNvSpPr/>
          <p:nvPr/>
        </p:nvSpPr>
        <p:spPr>
          <a:xfrm>
            <a:off x="7042150" y="2357115"/>
            <a:ext cx="4336352"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1 192.168.10.1</a:t>
            </a:r>
            <a:endParaRPr lang="it-IT" sz="1600" noProof="0" dirty="0"/>
          </a:p>
        </p:txBody>
      </p:sp>
      <p:sp>
        <p:nvSpPr>
          <p:cNvPr id="20" name="Text 18"/>
          <p:cNvSpPr/>
          <p:nvPr/>
        </p:nvSpPr>
        <p:spPr>
          <a:xfrm>
            <a:off x="7042150" y="2614935"/>
            <a:ext cx="4336352"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2 </a:t>
            </a:r>
            <a:r>
              <a:rPr lang="it-IT" sz="1600" noProof="0" dirty="0">
                <a:solidFill>
                  <a:srgbClr val="E37E5F"/>
                </a:solidFill>
                <a:latin typeface="JetBrains Mono" pitchFamily="49" charset="0"/>
                <a:ea typeface="JetBrains Mono" pitchFamily="49" charset="-122"/>
                <a:cs typeface="JetBrains Mono" pitchFamily="49" charset="-120"/>
              </a:rPr>
              <a:t>10.0.0.13</a:t>
            </a:r>
            <a:r>
              <a:rPr lang="it-IT" sz="1600" noProof="0" dirty="0">
                <a:solidFill>
                  <a:srgbClr val="F2F1EC"/>
                </a:solidFill>
                <a:latin typeface="JetBrains Mono" pitchFamily="49" charset="0"/>
                <a:ea typeface="JetBrains Mono" pitchFamily="49" charset="-122"/>
                <a:cs typeface="JetBrains Mono" pitchFamily="49" charset="-120"/>
              </a:rPr>
              <a:t> ← r4, backup</a:t>
            </a:r>
            <a:endParaRPr lang="it-IT" sz="1600" noProof="0" dirty="0"/>
          </a:p>
        </p:txBody>
      </p:sp>
      <p:sp>
        <p:nvSpPr>
          <p:cNvPr id="21" name="Text 19"/>
          <p:cNvSpPr/>
          <p:nvPr/>
        </p:nvSpPr>
        <p:spPr>
          <a:xfrm>
            <a:off x="7042150" y="2872730"/>
            <a:ext cx="4336352"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3 10.0.0.9</a:t>
            </a:r>
            <a:endParaRPr lang="it-IT" sz="1600" noProof="0" dirty="0"/>
          </a:p>
        </p:txBody>
      </p:sp>
      <p:sp>
        <p:nvSpPr>
          <p:cNvPr id="22" name="Text 20"/>
          <p:cNvSpPr/>
          <p:nvPr/>
        </p:nvSpPr>
        <p:spPr>
          <a:xfrm>
            <a:off x="7042150" y="3130550"/>
            <a:ext cx="4336352"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F2F1EC"/>
                </a:solidFill>
                <a:latin typeface="JetBrains Mono" pitchFamily="49" charset="0"/>
                <a:ea typeface="JetBrains Mono" pitchFamily="49" charset="-122"/>
                <a:cs typeface="JetBrains Mono" pitchFamily="49" charset="-120"/>
              </a:rPr>
              <a:t>4 192.168.20.10</a:t>
            </a:r>
            <a:endParaRPr lang="it-IT" sz="1600" noProof="0" dirty="0"/>
          </a:p>
        </p:txBody>
      </p:sp>
      <p:sp>
        <p:nvSpPr>
          <p:cNvPr id="23" name="Text 21"/>
          <p:cNvSpPr/>
          <p:nvPr/>
        </p:nvSpPr>
        <p:spPr>
          <a:xfrm>
            <a:off x="6915150" y="3845570"/>
            <a:ext cx="4597972"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al ripristino</a:t>
            </a:r>
            <a:endParaRPr lang="it-IT" sz="1600" noProof="0" dirty="0"/>
          </a:p>
        </p:txBody>
      </p:sp>
      <p:sp>
        <p:nvSpPr>
          <p:cNvPr id="24" name="Text 22"/>
          <p:cNvSpPr/>
          <p:nvPr/>
        </p:nvSpPr>
        <p:spPr>
          <a:xfrm>
            <a:off x="6915150" y="4185915"/>
            <a:ext cx="4597972" cy="87884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Il traffico torna su r2 dopo circa 10 secondi: il tempo di un hello OSPF per ricostruire l’adiacenza.</a:t>
            </a:r>
            <a:endParaRPr lang="it-IT" sz="1600" noProof="0" dirty="0"/>
          </a:p>
        </p:txBody>
      </p:sp>
    </p:spTree>
    <p:extLst>
      <p:ext uri="{BB962C8B-B14F-4D97-AF65-F5344CB8AC3E}">
        <p14:creationId xmlns:p14="http://schemas.microsoft.com/office/powerpoint/2010/main" val="20878798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1">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Il </a:t>
            </a:r>
            <a:r>
              <a:rPr lang="it-IT" sz="4000" b="1" i="0" noProof="0" dirty="0" err="1">
                <a:solidFill>
                  <a:srgbClr val="1B1D20"/>
                </a:solidFill>
                <a:latin typeface="IBM Plex Sans" pitchFamily="34" charset="0"/>
                <a:ea typeface="IBM Plex Sans" pitchFamily="34" charset="-122"/>
                <a:cs typeface="IBM Plex Sans" pitchFamily="34" charset="-120"/>
              </a:rPr>
              <a:t>failover</a:t>
            </a:r>
            <a:r>
              <a:rPr lang="it-IT" sz="4000" b="1" i="0" noProof="0" dirty="0">
                <a:solidFill>
                  <a:srgbClr val="1B1D20"/>
                </a:solidFill>
                <a:latin typeface="IBM Plex Sans" pitchFamily="34" charset="0"/>
                <a:ea typeface="IBM Plex Sans" pitchFamily="34" charset="-122"/>
                <a:cs typeface="IBM Plex Sans" pitchFamily="34" charset="-120"/>
              </a:rPr>
              <a:t>, visto da </a:t>
            </a:r>
            <a:r>
              <a:rPr lang="it-IT" sz="4000" b="1" i="0" noProof="0" dirty="0" err="1">
                <a:solidFill>
                  <a:srgbClr val="1B1D20"/>
                </a:solidFill>
                <a:latin typeface="IBM Plex Sans" pitchFamily="34" charset="0"/>
                <a:ea typeface="IBM Plex Sans" pitchFamily="34" charset="-122"/>
                <a:cs typeface="IBM Plex Sans" pitchFamily="34" charset="-120"/>
              </a:rPr>
              <a:t>pc_a</a:t>
            </a:r>
            <a:endParaRPr lang="it-IT" sz="4000" noProof="0" dirty="0"/>
          </a:p>
        </p:txBody>
      </p:sp>
      <p:sp>
        <p:nvSpPr>
          <p:cNvPr id="5" name="Text 3"/>
          <p:cNvSpPr/>
          <p:nvPr/>
        </p:nvSpPr>
        <p:spPr>
          <a:xfrm>
            <a:off x="812800" y="1788170"/>
            <a:ext cx="719455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Prima del guasto</a:t>
            </a:r>
            <a:endParaRPr lang="it-IT" sz="1600" noProof="0" dirty="0"/>
          </a:p>
        </p:txBody>
      </p:sp>
      <p:pic>
        <p:nvPicPr>
          <p:cNvPr id="6" name="Image 0" descr="Terminale di pc_a: traceroute verso 192.168.20.10 che passa da 192.168.10.1, 10.0.0.2 e 10.0.0.6"/>
          <p:cNvPicPr>
            <a:picLocks noChangeAspect="1"/>
          </p:cNvPicPr>
          <p:nvPr/>
        </p:nvPicPr>
        <p:blipFill>
          <a:blip r:embed="rId3"/>
          <a:srcRect l="-18" r="-18"/>
          <a:stretch/>
        </p:blipFill>
        <p:spPr>
          <a:xfrm>
            <a:off x="812800" y="2052315"/>
            <a:ext cx="6985000" cy="1651000"/>
          </a:xfrm>
          <a:prstGeom prst="rect">
            <a:avLst/>
          </a:prstGeom>
        </p:spPr>
      </p:pic>
      <p:sp>
        <p:nvSpPr>
          <p:cNvPr id="7" name="Text 4"/>
          <p:cNvSpPr/>
          <p:nvPr/>
        </p:nvSpPr>
        <p:spPr>
          <a:xfrm>
            <a:off x="812800" y="3906515"/>
            <a:ext cx="719455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Con n12 giù (entrambe le estremità)</a:t>
            </a:r>
            <a:endParaRPr lang="it-IT" sz="1600" noProof="0" dirty="0"/>
          </a:p>
        </p:txBody>
      </p:sp>
      <p:pic>
        <p:nvPicPr>
          <p:cNvPr id="8" name="Image 1" descr="Terminale di pc_a: traceroute verso 192.168.20.10 che passa da 192.168.10.1, 10.0.0.13 e 10.0.0.9"/>
          <p:cNvPicPr>
            <a:picLocks noChangeAspect="1"/>
          </p:cNvPicPr>
          <p:nvPr/>
        </p:nvPicPr>
        <p:blipFill>
          <a:blip r:embed="rId4"/>
          <a:srcRect l="-18" r="-18"/>
          <a:stretch/>
        </p:blipFill>
        <p:spPr>
          <a:xfrm>
            <a:off x="812800" y="4170685"/>
            <a:ext cx="6985000" cy="1651000"/>
          </a:xfrm>
          <a:prstGeom prst="rect">
            <a:avLst/>
          </a:prstGeom>
        </p:spPr>
      </p:pic>
      <p:sp>
        <p:nvSpPr>
          <p:cNvPr id="9" name="Shape 5"/>
          <p:cNvSpPr/>
          <p:nvPr/>
        </p:nvSpPr>
        <p:spPr>
          <a:xfrm>
            <a:off x="8054975" y="1788170"/>
            <a:ext cx="0" cy="4033520"/>
          </a:xfrm>
          <a:prstGeom prst="line">
            <a:avLst/>
          </a:prstGeom>
          <a:noFill/>
          <a:ln w="6350">
            <a:solidFill>
              <a:srgbClr val="CFCCC4"/>
            </a:solidFill>
            <a:prstDash val="solid"/>
          </a:ln>
        </p:spPr>
        <p:txBody>
          <a:bodyPr/>
          <a:lstStyle/>
          <a:p>
            <a:endParaRPr lang="it-IT" noProof="0" dirty="0"/>
          </a:p>
        </p:txBody>
      </p:sp>
      <p:sp>
        <p:nvSpPr>
          <p:cNvPr id="10" name="Text 6"/>
          <p:cNvSpPr/>
          <p:nvPr/>
        </p:nvSpPr>
        <p:spPr>
          <a:xfrm>
            <a:off x="8312150" y="1788170"/>
            <a:ext cx="3159062"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Hop 2: 10.0.0.2</a:t>
            </a:r>
            <a:endParaRPr lang="it-IT" sz="1800" noProof="0" dirty="0"/>
          </a:p>
        </p:txBody>
      </p:sp>
      <p:sp>
        <p:nvSpPr>
          <p:cNvPr id="11" name="Text 7"/>
          <p:cNvSpPr/>
          <p:nvPr/>
        </p:nvSpPr>
        <p:spPr>
          <a:xfrm>
            <a:off x="8312150" y="2085330"/>
            <a:ext cx="3159062"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Percorso primario, attraverso r2.</a:t>
            </a:r>
            <a:endParaRPr lang="it-IT" sz="1600" noProof="0" dirty="0"/>
          </a:p>
        </p:txBody>
      </p:sp>
      <p:sp>
        <p:nvSpPr>
          <p:cNvPr id="12" name="Text 8"/>
          <p:cNvSpPr/>
          <p:nvPr/>
        </p:nvSpPr>
        <p:spPr>
          <a:xfrm>
            <a:off x="8312150" y="2537470"/>
            <a:ext cx="3159062"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B4502E"/>
                </a:solidFill>
                <a:latin typeface="IBM Plex Sans" pitchFamily="34" charset="0"/>
                <a:ea typeface="IBM Plex Sans" pitchFamily="34" charset="-122"/>
                <a:cs typeface="IBM Plex Sans" pitchFamily="34" charset="-120"/>
              </a:rPr>
              <a:t>Hop 2: 10.0.0.13</a:t>
            </a:r>
            <a:endParaRPr lang="it-IT" sz="1800" noProof="0" dirty="0"/>
          </a:p>
        </p:txBody>
      </p:sp>
      <p:sp>
        <p:nvSpPr>
          <p:cNvPr id="13" name="Text 9"/>
          <p:cNvSpPr/>
          <p:nvPr/>
        </p:nvSpPr>
        <p:spPr>
          <a:xfrm>
            <a:off x="8312150" y="2834630"/>
            <a:ext cx="3159062"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Percorso di backup, attraverso r4.</a:t>
            </a:r>
            <a:endParaRPr lang="it-IT" sz="1600" noProof="0" dirty="0"/>
          </a:p>
        </p:txBody>
      </p:sp>
      <p:sp>
        <p:nvSpPr>
          <p:cNvPr id="14" name="Text 10"/>
          <p:cNvSpPr/>
          <p:nvPr/>
        </p:nvSpPr>
        <p:spPr>
          <a:xfrm>
            <a:off x="8312150" y="3286770"/>
            <a:ext cx="3159062" cy="28448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Cambia anche l’hop 3</a:t>
            </a:r>
            <a:endParaRPr lang="it-IT" sz="1800" noProof="0" dirty="0"/>
          </a:p>
        </p:txBody>
      </p:sp>
      <p:sp>
        <p:nvSpPr>
          <p:cNvPr id="15" name="Text 11"/>
          <p:cNvSpPr/>
          <p:nvPr/>
        </p:nvSpPr>
        <p:spPr>
          <a:xfrm>
            <a:off x="8312150" y="3583930"/>
            <a:ext cx="3159062" cy="77216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r3 risponde dall’interfaccia su n34 (10.0.0.9) invece che su n23 (10.0.0.6).</a:t>
            </a:r>
            <a:endParaRPr lang="it-IT" sz="1600" noProof="0" dirty="0"/>
          </a:p>
        </p:txBody>
      </p:sp>
    </p:spTree>
    <p:extLst>
      <p:ext uri="{BB962C8B-B14F-4D97-AF65-F5344CB8AC3E}">
        <p14:creationId xmlns:p14="http://schemas.microsoft.com/office/powerpoint/2010/main" val="3998181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2">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Fase 2: il ticket</a:t>
            </a:r>
            <a:endParaRPr lang="it-IT" sz="4000" noProof="0" dirty="0"/>
          </a:p>
        </p:txBody>
      </p:sp>
      <p:sp>
        <p:nvSpPr>
          <p:cNvPr id="5" name="Text 3"/>
          <p:cNvSpPr/>
          <p:nvPr/>
        </p:nvSpPr>
        <p:spPr>
          <a:xfrm>
            <a:off x="812800" y="1838970"/>
            <a:ext cx="10883392" cy="360680"/>
          </a:xfrm>
          <a:prstGeom prst="rect">
            <a:avLst/>
          </a:prstGeom>
          <a:noFill/>
          <a:ln/>
        </p:spPr>
        <p:txBody>
          <a:bodyPr wrap="square" lIns="0" tIns="0" rIns="0" bIns="0" rtlCol="0" anchor="t">
            <a:normAutofit/>
          </a:bodyPr>
          <a:lstStyle/>
          <a:p>
            <a:pPr marL="0" indent="0" algn="l">
              <a:lnSpc>
                <a:spcPts val="2750"/>
              </a:lnSpc>
              <a:buNone/>
            </a:pPr>
            <a:r>
              <a:rPr lang="it-IT" sz="2200" b="1" noProof="0" dirty="0">
                <a:solidFill>
                  <a:srgbClr val="B4502E"/>
                </a:solidFill>
                <a:latin typeface="IBM Plex Sans" pitchFamily="34" charset="0"/>
                <a:ea typeface="IBM Plex Sans" pitchFamily="34" charset="-122"/>
                <a:cs typeface="IBM Plex Sans" pitchFamily="34" charset="-120"/>
              </a:rPr>
              <a:t>CR-042</a:t>
            </a:r>
            <a:r>
              <a:rPr lang="it-IT" sz="2200" b="1" noProof="0" dirty="0">
                <a:solidFill>
                  <a:srgbClr val="1B1D20"/>
                </a:solidFill>
                <a:latin typeface="IBM Plex Sans" pitchFamily="34" charset="0"/>
                <a:ea typeface="IBM Plex Sans" pitchFamily="34" charset="-122"/>
                <a:cs typeface="IBM Plex Sans" pitchFamily="34" charset="-120"/>
              </a:rPr>
              <a:t> · Attivazione sede C</a:t>
            </a:r>
            <a:endParaRPr lang="it-IT" sz="2200" noProof="0" dirty="0"/>
          </a:p>
        </p:txBody>
      </p:sp>
      <p:sp>
        <p:nvSpPr>
          <p:cNvPr id="6" name="Text 4"/>
          <p:cNvSpPr/>
          <p:nvPr/>
        </p:nvSpPr>
        <p:spPr>
          <a:xfrm>
            <a:off x="812800" y="2225030"/>
            <a:ext cx="10883392"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È pronta la nuova sede C: va collegata al router r4, che ha una porta libera, su una nuova LAN.</a:t>
            </a:r>
            <a:endParaRPr lang="it-IT" sz="1600" noProof="0" dirty="0"/>
          </a:p>
        </p:txBody>
      </p:sp>
      <p:graphicFrame>
        <p:nvGraphicFramePr>
          <p:cNvPr id="7" name="Table 0"/>
          <p:cNvGraphicFramePr>
            <a:graphicFrameLocks noGrp="1"/>
          </p:cNvGraphicFramePr>
          <p:nvPr/>
        </p:nvGraphicFramePr>
        <p:xfrm>
          <a:off x="825500" y="2758430"/>
          <a:ext cx="4813300" cy="2476500"/>
        </p:xfrm>
        <a:graphic>
          <a:graphicData uri="http://schemas.openxmlformats.org/drawingml/2006/table">
            <a:tbl>
              <a:tblPr/>
              <a:tblGrid>
                <a:gridCol w="2310384">
                  <a:extLst>
                    <a:ext uri="{9D8B030D-6E8A-4147-A177-3AD203B41FA5}">
                      <a16:colId xmlns:a16="http://schemas.microsoft.com/office/drawing/2014/main" val="20000"/>
                    </a:ext>
                  </a:extLst>
                </a:gridCol>
                <a:gridCol w="2502916">
                  <a:extLst>
                    <a:ext uri="{9D8B030D-6E8A-4147-A177-3AD203B41FA5}">
                      <a16:colId xmlns:a16="http://schemas.microsoft.com/office/drawing/2014/main" val="20001"/>
                    </a:ext>
                  </a:extLst>
                </a:gridCol>
              </a:tblGrid>
              <a:tr h="412750">
                <a:tc>
                  <a:txBody>
                    <a:bodyPr/>
                    <a:lstStyle/>
                    <a:p>
                      <a:pPr marL="0" indent="0">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elemento</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valore</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12750">
                <a:tc>
                  <a:txBody>
                    <a:bodyPr/>
                    <a:lstStyle/>
                    <a:p>
                      <a:pPr marL="0" indent="0">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Dominio</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100"/>
                        </a:lnSpc>
                        <a:buNone/>
                      </a:pPr>
                      <a:r>
                        <a:rPr lang="it-IT" sz="1600" noProof="0" dirty="0" err="1">
                          <a:solidFill>
                            <a:srgbClr val="1B1D20"/>
                          </a:solidFill>
                          <a:latin typeface="IBM Plex Sans" pitchFamily="34" charset="0"/>
                          <a:ea typeface="IBM Plex Sans" pitchFamily="34" charset="-122"/>
                          <a:cs typeface="IBM Plex Sans" pitchFamily="34" charset="-120"/>
                        </a:rPr>
                        <a:t>lanC</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Rete della sede C</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192.168.30.0/24</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r4, nuova eth2</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192.168.30.1/24</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it-IT" sz="1600" noProof="0" dirty="0" err="1">
                          <a:solidFill>
                            <a:srgbClr val="1B1D20"/>
                          </a:solidFill>
                          <a:latin typeface="IBM Plex Sans" pitchFamily="34" charset="0"/>
                          <a:ea typeface="IBM Plex Sans" pitchFamily="34" charset="-122"/>
                          <a:cs typeface="IBM Plex Sans" pitchFamily="34" charset="-120"/>
                        </a:rPr>
                        <a:t>pc_c</a:t>
                      </a:r>
                      <a:r>
                        <a:rPr lang="it-IT" sz="1600" noProof="0" dirty="0">
                          <a:solidFill>
                            <a:srgbClr val="1B1D20"/>
                          </a:solidFill>
                          <a:latin typeface="IBM Plex Sans" pitchFamily="34" charset="0"/>
                          <a:ea typeface="IBM Plex Sans" pitchFamily="34" charset="-122"/>
                          <a:cs typeface="IBM Plex Sans" pitchFamily="34" charset="-120"/>
                        </a:rPr>
                        <a:t>, eth0</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192.168.30.10/24</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Gateway di </a:t>
                      </a:r>
                      <a:r>
                        <a:rPr lang="it-IT" sz="1600" noProof="0" dirty="0" err="1">
                          <a:solidFill>
                            <a:srgbClr val="1B1D20"/>
                          </a:solidFill>
                          <a:latin typeface="IBM Plex Sans" pitchFamily="34" charset="0"/>
                          <a:ea typeface="IBM Plex Sans" pitchFamily="34" charset="-122"/>
                          <a:cs typeface="IBM Plex Sans" pitchFamily="34" charset="-120"/>
                        </a:rPr>
                        <a:t>pc_c</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100"/>
                        </a:lnSpc>
                        <a:buNone/>
                      </a:pPr>
                      <a:r>
                        <a:rPr lang="it-IT" sz="1600" noProof="0" dirty="0">
                          <a:solidFill>
                            <a:srgbClr val="1B1D20"/>
                          </a:solidFill>
                          <a:latin typeface="IBM Plex Sans" pitchFamily="34" charset="0"/>
                          <a:ea typeface="IBM Plex Sans" pitchFamily="34" charset="-122"/>
                          <a:cs typeface="IBM Plex Sans" pitchFamily="34" charset="-120"/>
                        </a:rPr>
                        <a:t>192.168.30.1</a:t>
                      </a:r>
                      <a:endParaRPr lang="it-IT" sz="1600" noProof="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6045200" y="2745730"/>
            <a:ext cx="549402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B4502E"/>
                </a:solidFill>
                <a:latin typeface="JetBrains Mono" pitchFamily="49" charset="0"/>
                <a:ea typeface="JetBrains Mono" pitchFamily="49" charset="-122"/>
                <a:cs typeface="JetBrains Mono" pitchFamily="49" charset="-120"/>
              </a:rPr>
              <a:t>requisiti</a:t>
            </a:r>
            <a:endParaRPr lang="it-IT" sz="1600" noProof="0" dirty="0"/>
          </a:p>
        </p:txBody>
      </p:sp>
      <p:sp>
        <p:nvSpPr>
          <p:cNvPr id="9" name="Text 6"/>
          <p:cNvSpPr/>
          <p:nvPr/>
        </p:nvSpPr>
        <p:spPr>
          <a:xfrm>
            <a:off x="6045200" y="3060700"/>
            <a:ext cx="304800" cy="30988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B4502E"/>
                </a:solidFill>
                <a:latin typeface="JetBrains Mono" pitchFamily="49" charset="0"/>
                <a:ea typeface="JetBrains Mono" pitchFamily="49" charset="-122"/>
                <a:cs typeface="JetBrains Mono" pitchFamily="49" charset="-120"/>
              </a:rPr>
              <a:t>1</a:t>
            </a:r>
            <a:endParaRPr lang="it-IT" sz="1600" noProof="0" dirty="0"/>
          </a:p>
        </p:txBody>
      </p:sp>
      <p:sp>
        <p:nvSpPr>
          <p:cNvPr id="10" name="Text 7"/>
          <p:cNvSpPr/>
          <p:nvPr/>
        </p:nvSpPr>
        <p:spPr>
          <a:xfrm>
            <a:off x="6400800" y="3060700"/>
            <a:ext cx="5127752" cy="309880"/>
          </a:xfrm>
          <a:prstGeom prst="rect">
            <a:avLst/>
          </a:prstGeom>
          <a:noFill/>
          <a:ln/>
        </p:spPr>
        <p:txBody>
          <a:bodyPr wrap="square" lIns="0" tIns="0" rIns="0" bIns="0" rtlCol="0" anchor="t">
            <a:normAutofit/>
          </a:bodyPr>
          <a:lstStyle/>
          <a:p>
            <a:pPr marL="0" indent="0" algn="l">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lanC</a:t>
            </a:r>
            <a:r>
              <a:rPr lang="it-IT" sz="1600" noProof="0" dirty="0">
                <a:solidFill>
                  <a:srgbClr val="1B1D20"/>
                </a:solidFill>
                <a:latin typeface="IBM Plex Sans" pitchFamily="34" charset="0"/>
                <a:ea typeface="IBM Plex Sans" pitchFamily="34" charset="-122"/>
                <a:cs typeface="IBM Plex Sans" pitchFamily="34" charset="-120"/>
              </a:rPr>
              <a:t> annunciata in OSPF, area 0</a:t>
            </a:r>
            <a:endParaRPr lang="it-IT" sz="1600" noProof="0" dirty="0"/>
          </a:p>
        </p:txBody>
      </p:sp>
      <p:sp>
        <p:nvSpPr>
          <p:cNvPr id="11" name="Text 8"/>
          <p:cNvSpPr/>
          <p:nvPr/>
        </p:nvSpPr>
        <p:spPr>
          <a:xfrm>
            <a:off x="6045200" y="3446785"/>
            <a:ext cx="304800" cy="30988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B4502E"/>
                </a:solidFill>
                <a:latin typeface="JetBrains Mono" pitchFamily="49" charset="0"/>
                <a:ea typeface="JetBrains Mono" pitchFamily="49" charset="-122"/>
                <a:cs typeface="JetBrains Mono" pitchFamily="49" charset="-120"/>
              </a:rPr>
              <a:t>2</a:t>
            </a:r>
            <a:endParaRPr lang="it-IT" sz="1600" noProof="0" dirty="0"/>
          </a:p>
        </p:txBody>
      </p:sp>
      <p:sp>
        <p:nvSpPr>
          <p:cNvPr id="12" name="Text 9"/>
          <p:cNvSpPr/>
          <p:nvPr/>
        </p:nvSpPr>
        <p:spPr>
          <a:xfrm>
            <a:off x="6400800" y="3446785"/>
            <a:ext cx="5127752"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eth2 di r4 passiva</a:t>
            </a:r>
            <a:endParaRPr lang="it-IT" sz="1600" noProof="0" dirty="0"/>
          </a:p>
        </p:txBody>
      </p:sp>
      <p:sp>
        <p:nvSpPr>
          <p:cNvPr id="13" name="Text 10"/>
          <p:cNvSpPr/>
          <p:nvPr/>
        </p:nvSpPr>
        <p:spPr>
          <a:xfrm>
            <a:off x="6045200" y="3832870"/>
            <a:ext cx="304800" cy="30988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B4502E"/>
                </a:solidFill>
                <a:latin typeface="JetBrains Mono" pitchFamily="49" charset="0"/>
                <a:ea typeface="JetBrains Mono" pitchFamily="49" charset="-122"/>
                <a:cs typeface="JetBrains Mono" pitchFamily="49" charset="-120"/>
              </a:rPr>
              <a:t>3</a:t>
            </a:r>
            <a:endParaRPr lang="it-IT" sz="1600" noProof="0" dirty="0"/>
          </a:p>
        </p:txBody>
      </p:sp>
      <p:sp>
        <p:nvSpPr>
          <p:cNvPr id="14" name="Text 11"/>
          <p:cNvSpPr/>
          <p:nvPr/>
        </p:nvSpPr>
        <p:spPr>
          <a:xfrm>
            <a:off x="6400800" y="3832870"/>
            <a:ext cx="5127752"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Sede C raggiungibile da A e B, e viceversa</a:t>
            </a:r>
            <a:endParaRPr lang="it-IT" sz="1600" noProof="0" dirty="0"/>
          </a:p>
        </p:txBody>
      </p:sp>
      <p:sp>
        <p:nvSpPr>
          <p:cNvPr id="15" name="Text 12"/>
          <p:cNvSpPr/>
          <p:nvPr/>
        </p:nvSpPr>
        <p:spPr>
          <a:xfrm>
            <a:off x="6045200" y="4218930"/>
            <a:ext cx="304800" cy="59436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B4502E"/>
                </a:solidFill>
                <a:latin typeface="JetBrains Mono" pitchFamily="49" charset="0"/>
                <a:ea typeface="JetBrains Mono" pitchFamily="49" charset="-122"/>
                <a:cs typeface="JetBrains Mono" pitchFamily="49" charset="-120"/>
              </a:rPr>
              <a:t>4</a:t>
            </a:r>
            <a:endParaRPr lang="it-IT" sz="1600" noProof="0" dirty="0"/>
          </a:p>
        </p:txBody>
      </p:sp>
      <p:sp>
        <p:nvSpPr>
          <p:cNvPr id="16" name="Text 13"/>
          <p:cNvSpPr/>
          <p:nvPr/>
        </p:nvSpPr>
        <p:spPr>
          <a:xfrm>
            <a:off x="6400800" y="4218930"/>
            <a:ext cx="5127752"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Nessun impatto sul resto: adiacenze, costi e percorsi invariati, A↔B ancora via r2</a:t>
            </a:r>
            <a:endParaRPr lang="it-IT" sz="1600" noProof="0" dirty="0"/>
          </a:p>
        </p:txBody>
      </p:sp>
      <p:sp>
        <p:nvSpPr>
          <p:cNvPr id="17" name="Shape 14"/>
          <p:cNvSpPr/>
          <p:nvPr/>
        </p:nvSpPr>
        <p:spPr>
          <a:xfrm>
            <a:off x="831850" y="5506715"/>
            <a:ext cx="0" cy="335280"/>
          </a:xfrm>
          <a:prstGeom prst="line">
            <a:avLst/>
          </a:prstGeom>
          <a:noFill/>
          <a:ln w="38100">
            <a:solidFill>
              <a:srgbClr val="E37E5F"/>
            </a:solidFill>
            <a:prstDash val="solid"/>
          </a:ln>
        </p:spPr>
        <p:txBody>
          <a:bodyPr/>
          <a:lstStyle/>
          <a:p>
            <a:endParaRPr lang="it-IT" noProof="0" dirty="0"/>
          </a:p>
        </p:txBody>
      </p:sp>
      <p:sp>
        <p:nvSpPr>
          <p:cNvPr id="18" name="Text 15"/>
          <p:cNvSpPr/>
          <p:nvPr/>
        </p:nvSpPr>
        <p:spPr>
          <a:xfrm>
            <a:off x="1054100" y="5532115"/>
            <a:ext cx="10634853"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1B1D20"/>
                </a:solidFill>
                <a:latin typeface="IBM Plex Sans" pitchFamily="34" charset="0"/>
                <a:ea typeface="IBM Plex Sans" pitchFamily="34" charset="-122"/>
                <a:cs typeface="IBM Plex Sans" pitchFamily="34" charset="-120"/>
              </a:rPr>
              <a:t>Criterio di accettazione:</a:t>
            </a:r>
            <a:r>
              <a:rPr lang="it-IT" sz="1600" noProof="0" dirty="0">
                <a:solidFill>
                  <a:srgbClr val="1B1D20"/>
                </a:solidFill>
                <a:latin typeface="IBM Plex Sans" pitchFamily="34" charset="0"/>
                <a:ea typeface="IBM Plex Sans" pitchFamily="34" charset="-122"/>
                <a:cs typeface="IBM Plex Sans" pitchFamily="34" charset="-120"/>
              </a:rPr>
              <a:t> il collaudo con il </a:t>
            </a:r>
            <a:r>
              <a:rPr lang="it-IT" sz="1600" noProof="0" dirty="0" err="1">
                <a:solidFill>
                  <a:srgbClr val="1B1D20"/>
                </a:solidFill>
                <a:latin typeface="IBM Plex Sans" pitchFamily="34" charset="0"/>
                <a:ea typeface="IBM Plex Sans" pitchFamily="34" charset="-122"/>
                <a:cs typeface="IBM Plex Sans" pitchFamily="34" charset="-120"/>
              </a:rPr>
              <a:t>checker</a:t>
            </a:r>
            <a:r>
              <a:rPr lang="it-IT" sz="1600" noProof="0" dirty="0">
                <a:solidFill>
                  <a:srgbClr val="1B1D20"/>
                </a:solidFill>
                <a:latin typeface="IBM Plex Sans" pitchFamily="34" charset="0"/>
                <a:ea typeface="IBM Plex Sans" pitchFamily="34" charset="-122"/>
                <a:cs typeface="IBM Plex Sans" pitchFamily="34" charset="-120"/>
              </a:rPr>
              <a:t> del Lab 2 passa al 100%.</a:t>
            </a:r>
            <a:endParaRPr lang="it-IT" sz="1600" noProof="0" dirty="0"/>
          </a:p>
        </p:txBody>
      </p:sp>
    </p:spTree>
    <p:extLst>
      <p:ext uri="{BB962C8B-B14F-4D97-AF65-F5344CB8AC3E}">
        <p14:creationId xmlns:p14="http://schemas.microsoft.com/office/powerpoint/2010/main" val="34075550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3">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Dopo la CR-042: la sede C su r4</a:t>
            </a:r>
            <a:endParaRPr lang="it-IT" sz="4000" noProof="0" dirty="0"/>
          </a:p>
        </p:txBody>
      </p:sp>
      <p:sp>
        <p:nvSpPr>
          <p:cNvPr id="5" name="Shape 3"/>
          <p:cNvSpPr/>
          <p:nvPr/>
        </p:nvSpPr>
        <p:spPr>
          <a:xfrm>
            <a:off x="825500" y="1962150"/>
            <a:ext cx="1498600" cy="736600"/>
          </a:xfrm>
          <a:prstGeom prst="rect">
            <a:avLst/>
          </a:prstGeom>
          <a:solidFill>
            <a:srgbClr val="F7F6F2"/>
          </a:solidFill>
          <a:ln w="12700">
            <a:solidFill>
              <a:srgbClr val="1B1D20"/>
            </a:solidFill>
            <a:prstDash val="solid"/>
          </a:ln>
        </p:spPr>
        <p:txBody>
          <a:bodyPr/>
          <a:lstStyle/>
          <a:p>
            <a:endParaRPr lang="it-IT" noProof="0" dirty="0"/>
          </a:p>
        </p:txBody>
      </p:sp>
      <p:sp>
        <p:nvSpPr>
          <p:cNvPr id="6" name="Text 4"/>
          <p:cNvSpPr/>
          <p:nvPr/>
        </p:nvSpPr>
        <p:spPr>
          <a:xfrm>
            <a:off x="793750" y="2057400"/>
            <a:ext cx="15621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err="1">
                <a:solidFill>
                  <a:srgbClr val="1B1D20"/>
                </a:solidFill>
                <a:latin typeface="IBM Plex Sans" pitchFamily="34" charset="0"/>
                <a:ea typeface="IBM Plex Sans" pitchFamily="34" charset="-122"/>
                <a:cs typeface="IBM Plex Sans" pitchFamily="34" charset="-120"/>
              </a:rPr>
              <a:t>pc_a</a:t>
            </a:r>
            <a:endParaRPr lang="it-IT" sz="2200" noProof="0" dirty="0"/>
          </a:p>
        </p:txBody>
      </p:sp>
      <p:sp>
        <p:nvSpPr>
          <p:cNvPr id="7" name="Text 5"/>
          <p:cNvSpPr/>
          <p:nvPr/>
        </p:nvSpPr>
        <p:spPr>
          <a:xfrm>
            <a:off x="793750" y="2374900"/>
            <a:ext cx="15621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192.168.10.10</a:t>
            </a:r>
            <a:endParaRPr lang="it-IT" sz="1600" noProof="0" dirty="0"/>
          </a:p>
        </p:txBody>
      </p:sp>
      <p:sp>
        <p:nvSpPr>
          <p:cNvPr id="8" name="Shape 6"/>
          <p:cNvSpPr/>
          <p:nvPr/>
        </p:nvSpPr>
        <p:spPr>
          <a:xfrm>
            <a:off x="3797300" y="1949450"/>
            <a:ext cx="1524000" cy="762000"/>
          </a:xfrm>
          <a:prstGeom prst="rect">
            <a:avLst/>
          </a:prstGeom>
          <a:solidFill>
            <a:srgbClr val="1B1D20"/>
          </a:solidFill>
          <a:ln/>
        </p:spPr>
        <p:txBody>
          <a:bodyPr/>
          <a:lstStyle/>
          <a:p>
            <a:endParaRPr lang="it-IT" noProof="0" dirty="0"/>
          </a:p>
        </p:txBody>
      </p:sp>
      <p:sp>
        <p:nvSpPr>
          <p:cNvPr id="9" name="Text 7"/>
          <p:cNvSpPr/>
          <p:nvPr/>
        </p:nvSpPr>
        <p:spPr>
          <a:xfrm>
            <a:off x="3771900" y="2057400"/>
            <a:ext cx="15748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r1</a:t>
            </a:r>
            <a:endParaRPr lang="it-IT" sz="2200" noProof="0" dirty="0"/>
          </a:p>
        </p:txBody>
      </p:sp>
      <p:sp>
        <p:nvSpPr>
          <p:cNvPr id="10" name="Text 8"/>
          <p:cNvSpPr/>
          <p:nvPr/>
        </p:nvSpPr>
        <p:spPr>
          <a:xfrm>
            <a:off x="3771900" y="2374900"/>
            <a:ext cx="15748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9BDC3"/>
                </a:solidFill>
                <a:latin typeface="JetBrains Mono" pitchFamily="49" charset="0"/>
                <a:ea typeface="JetBrains Mono" pitchFamily="49" charset="-122"/>
                <a:cs typeface="JetBrains Mono" pitchFamily="49" charset="-120"/>
              </a:rPr>
              <a:t>lo 10.255.0.1</a:t>
            </a:r>
            <a:endParaRPr lang="it-IT" sz="1600" noProof="0" dirty="0"/>
          </a:p>
        </p:txBody>
      </p:sp>
      <p:sp>
        <p:nvSpPr>
          <p:cNvPr id="11" name="Shape 9"/>
          <p:cNvSpPr/>
          <p:nvPr/>
        </p:nvSpPr>
        <p:spPr>
          <a:xfrm>
            <a:off x="6997700" y="1949450"/>
            <a:ext cx="1524000" cy="762000"/>
          </a:xfrm>
          <a:prstGeom prst="rect">
            <a:avLst/>
          </a:prstGeom>
          <a:solidFill>
            <a:srgbClr val="1B1D20"/>
          </a:solidFill>
          <a:ln/>
        </p:spPr>
        <p:txBody>
          <a:bodyPr/>
          <a:lstStyle/>
          <a:p>
            <a:endParaRPr lang="it-IT" noProof="0" dirty="0"/>
          </a:p>
        </p:txBody>
      </p:sp>
      <p:sp>
        <p:nvSpPr>
          <p:cNvPr id="12" name="Text 10"/>
          <p:cNvSpPr/>
          <p:nvPr/>
        </p:nvSpPr>
        <p:spPr>
          <a:xfrm>
            <a:off x="6972300" y="2057400"/>
            <a:ext cx="15748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r2</a:t>
            </a:r>
            <a:endParaRPr lang="it-IT" sz="2200" noProof="0" dirty="0"/>
          </a:p>
        </p:txBody>
      </p:sp>
      <p:sp>
        <p:nvSpPr>
          <p:cNvPr id="13" name="Text 11"/>
          <p:cNvSpPr/>
          <p:nvPr/>
        </p:nvSpPr>
        <p:spPr>
          <a:xfrm>
            <a:off x="6972300" y="2374900"/>
            <a:ext cx="15748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9BDC3"/>
                </a:solidFill>
                <a:latin typeface="JetBrains Mono" pitchFamily="49" charset="0"/>
                <a:ea typeface="JetBrains Mono" pitchFamily="49" charset="-122"/>
                <a:cs typeface="JetBrains Mono" pitchFamily="49" charset="-120"/>
              </a:rPr>
              <a:t>lo 10.255.0.2</a:t>
            </a:r>
            <a:endParaRPr lang="it-IT" sz="1600" noProof="0" dirty="0"/>
          </a:p>
        </p:txBody>
      </p:sp>
      <p:sp>
        <p:nvSpPr>
          <p:cNvPr id="14" name="Shape 12"/>
          <p:cNvSpPr/>
          <p:nvPr/>
        </p:nvSpPr>
        <p:spPr>
          <a:xfrm>
            <a:off x="3797300" y="4552950"/>
            <a:ext cx="1524000" cy="762000"/>
          </a:xfrm>
          <a:prstGeom prst="rect">
            <a:avLst/>
          </a:prstGeom>
          <a:solidFill>
            <a:srgbClr val="1B1D20"/>
          </a:solidFill>
          <a:ln/>
        </p:spPr>
        <p:txBody>
          <a:bodyPr/>
          <a:lstStyle/>
          <a:p>
            <a:endParaRPr lang="it-IT" noProof="0" dirty="0"/>
          </a:p>
        </p:txBody>
      </p:sp>
      <p:sp>
        <p:nvSpPr>
          <p:cNvPr id="15" name="Text 13"/>
          <p:cNvSpPr/>
          <p:nvPr/>
        </p:nvSpPr>
        <p:spPr>
          <a:xfrm>
            <a:off x="3771900" y="4660900"/>
            <a:ext cx="15748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r4</a:t>
            </a:r>
            <a:endParaRPr lang="it-IT" sz="2200" noProof="0" dirty="0"/>
          </a:p>
        </p:txBody>
      </p:sp>
      <p:sp>
        <p:nvSpPr>
          <p:cNvPr id="16" name="Text 14"/>
          <p:cNvSpPr/>
          <p:nvPr/>
        </p:nvSpPr>
        <p:spPr>
          <a:xfrm>
            <a:off x="3771900" y="4978400"/>
            <a:ext cx="15748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9BDC3"/>
                </a:solidFill>
                <a:latin typeface="JetBrains Mono" pitchFamily="49" charset="0"/>
                <a:ea typeface="JetBrains Mono" pitchFamily="49" charset="-122"/>
                <a:cs typeface="JetBrains Mono" pitchFamily="49" charset="-120"/>
              </a:rPr>
              <a:t>lo 10.255.0.4</a:t>
            </a:r>
            <a:endParaRPr lang="it-IT" sz="1600" noProof="0" dirty="0"/>
          </a:p>
        </p:txBody>
      </p:sp>
      <p:sp>
        <p:nvSpPr>
          <p:cNvPr id="17" name="Shape 15"/>
          <p:cNvSpPr/>
          <p:nvPr/>
        </p:nvSpPr>
        <p:spPr>
          <a:xfrm>
            <a:off x="6997700" y="4552950"/>
            <a:ext cx="1524000" cy="762000"/>
          </a:xfrm>
          <a:prstGeom prst="rect">
            <a:avLst/>
          </a:prstGeom>
          <a:solidFill>
            <a:srgbClr val="1B1D20"/>
          </a:solidFill>
          <a:ln/>
        </p:spPr>
        <p:txBody>
          <a:bodyPr/>
          <a:lstStyle/>
          <a:p>
            <a:endParaRPr lang="it-IT" noProof="0" dirty="0"/>
          </a:p>
        </p:txBody>
      </p:sp>
      <p:sp>
        <p:nvSpPr>
          <p:cNvPr id="18" name="Text 16"/>
          <p:cNvSpPr/>
          <p:nvPr/>
        </p:nvSpPr>
        <p:spPr>
          <a:xfrm>
            <a:off x="6972300" y="4660900"/>
            <a:ext cx="15748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F2F1EC"/>
                </a:solidFill>
                <a:latin typeface="IBM Plex Sans" pitchFamily="34" charset="0"/>
                <a:ea typeface="IBM Plex Sans" pitchFamily="34" charset="-122"/>
                <a:cs typeface="IBM Plex Sans" pitchFamily="34" charset="-120"/>
              </a:rPr>
              <a:t>r3</a:t>
            </a:r>
            <a:endParaRPr lang="it-IT" sz="2200" noProof="0" dirty="0"/>
          </a:p>
        </p:txBody>
      </p:sp>
      <p:sp>
        <p:nvSpPr>
          <p:cNvPr id="19" name="Text 17"/>
          <p:cNvSpPr/>
          <p:nvPr/>
        </p:nvSpPr>
        <p:spPr>
          <a:xfrm>
            <a:off x="6972300" y="4978400"/>
            <a:ext cx="15748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B9BDC3"/>
                </a:solidFill>
                <a:latin typeface="JetBrains Mono" pitchFamily="49" charset="0"/>
                <a:ea typeface="JetBrains Mono" pitchFamily="49" charset="-122"/>
                <a:cs typeface="JetBrains Mono" pitchFamily="49" charset="-120"/>
              </a:rPr>
              <a:t>lo 10.255.0.3</a:t>
            </a:r>
            <a:endParaRPr lang="it-IT" sz="1600" noProof="0" dirty="0"/>
          </a:p>
        </p:txBody>
      </p:sp>
      <p:sp>
        <p:nvSpPr>
          <p:cNvPr id="20" name="Shape 18"/>
          <p:cNvSpPr/>
          <p:nvPr/>
        </p:nvSpPr>
        <p:spPr>
          <a:xfrm>
            <a:off x="9867900" y="4565650"/>
            <a:ext cx="1498600" cy="736600"/>
          </a:xfrm>
          <a:prstGeom prst="rect">
            <a:avLst/>
          </a:prstGeom>
          <a:solidFill>
            <a:srgbClr val="F7F6F2"/>
          </a:solidFill>
          <a:ln w="12700">
            <a:solidFill>
              <a:srgbClr val="1B1D20"/>
            </a:solidFill>
            <a:prstDash val="solid"/>
          </a:ln>
        </p:spPr>
        <p:txBody>
          <a:bodyPr/>
          <a:lstStyle/>
          <a:p>
            <a:endParaRPr lang="it-IT" noProof="0" dirty="0"/>
          </a:p>
        </p:txBody>
      </p:sp>
      <p:sp>
        <p:nvSpPr>
          <p:cNvPr id="21" name="Text 19"/>
          <p:cNvSpPr/>
          <p:nvPr/>
        </p:nvSpPr>
        <p:spPr>
          <a:xfrm>
            <a:off x="9836150" y="4660900"/>
            <a:ext cx="15621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a:solidFill>
                  <a:srgbClr val="1B1D20"/>
                </a:solidFill>
                <a:latin typeface="IBM Plex Sans" pitchFamily="34" charset="0"/>
                <a:ea typeface="IBM Plex Sans" pitchFamily="34" charset="-122"/>
                <a:cs typeface="IBM Plex Sans" pitchFamily="34" charset="-120"/>
              </a:rPr>
              <a:t>pc_b</a:t>
            </a:r>
            <a:endParaRPr lang="it-IT" sz="2200" noProof="0" dirty="0"/>
          </a:p>
        </p:txBody>
      </p:sp>
      <p:sp>
        <p:nvSpPr>
          <p:cNvPr id="22" name="Text 20"/>
          <p:cNvSpPr/>
          <p:nvPr/>
        </p:nvSpPr>
        <p:spPr>
          <a:xfrm>
            <a:off x="9836150" y="4978400"/>
            <a:ext cx="15621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192.168.20.10</a:t>
            </a:r>
            <a:endParaRPr lang="it-IT" sz="1600" noProof="0" dirty="0"/>
          </a:p>
        </p:txBody>
      </p:sp>
      <p:pic>
        <p:nvPicPr>
          <p:cNvPr id="23" name="Image 0" descr="connector"/>
          <p:cNvPicPr>
            <a:picLocks noChangeAspect="1"/>
          </p:cNvPicPr>
          <p:nvPr/>
        </p:nvPicPr>
        <p:blipFill>
          <a:blip r:embed="rId3"/>
          <a:srcRect/>
          <a:stretch/>
        </p:blipFill>
        <p:spPr>
          <a:xfrm>
            <a:off x="2286000" y="2279650"/>
            <a:ext cx="1562100" cy="101600"/>
          </a:xfrm>
          <a:prstGeom prst="rect">
            <a:avLst/>
          </a:prstGeom>
        </p:spPr>
      </p:pic>
      <p:pic>
        <p:nvPicPr>
          <p:cNvPr id="24" name="Image 1" descr="connector"/>
          <p:cNvPicPr>
            <a:picLocks noChangeAspect="1"/>
          </p:cNvPicPr>
          <p:nvPr/>
        </p:nvPicPr>
        <p:blipFill>
          <a:blip r:embed="rId4"/>
          <a:srcRect/>
          <a:stretch/>
        </p:blipFill>
        <p:spPr>
          <a:xfrm>
            <a:off x="5226050" y="2235200"/>
            <a:ext cx="1866900" cy="190500"/>
          </a:xfrm>
          <a:prstGeom prst="rect">
            <a:avLst/>
          </a:prstGeom>
        </p:spPr>
      </p:pic>
      <p:pic>
        <p:nvPicPr>
          <p:cNvPr id="25" name="Image 2" descr="connector"/>
          <p:cNvPicPr>
            <a:picLocks noChangeAspect="1"/>
          </p:cNvPicPr>
          <p:nvPr/>
        </p:nvPicPr>
        <p:blipFill>
          <a:blip r:embed="rId5"/>
          <a:srcRect/>
          <a:stretch/>
        </p:blipFill>
        <p:spPr>
          <a:xfrm>
            <a:off x="7664450" y="2616200"/>
            <a:ext cx="190500" cy="2032000"/>
          </a:xfrm>
          <a:prstGeom prst="rect">
            <a:avLst/>
          </a:prstGeom>
        </p:spPr>
      </p:pic>
      <p:pic>
        <p:nvPicPr>
          <p:cNvPr id="26" name="Image 3" descr="connector"/>
          <p:cNvPicPr>
            <a:picLocks noChangeAspect="1"/>
          </p:cNvPicPr>
          <p:nvPr/>
        </p:nvPicPr>
        <p:blipFill>
          <a:blip r:embed="rId6"/>
          <a:srcRect/>
          <a:stretch/>
        </p:blipFill>
        <p:spPr>
          <a:xfrm>
            <a:off x="5257800" y="4870450"/>
            <a:ext cx="1803400" cy="127000"/>
          </a:xfrm>
          <a:prstGeom prst="rect">
            <a:avLst/>
          </a:prstGeom>
        </p:spPr>
      </p:pic>
      <p:pic>
        <p:nvPicPr>
          <p:cNvPr id="27" name="Image 4" descr="connector"/>
          <p:cNvPicPr>
            <a:picLocks noChangeAspect="1"/>
          </p:cNvPicPr>
          <p:nvPr/>
        </p:nvPicPr>
        <p:blipFill>
          <a:blip r:embed="rId7"/>
          <a:srcRect/>
          <a:stretch/>
        </p:blipFill>
        <p:spPr>
          <a:xfrm>
            <a:off x="4495800" y="2647950"/>
            <a:ext cx="127000" cy="1968500"/>
          </a:xfrm>
          <a:prstGeom prst="rect">
            <a:avLst/>
          </a:prstGeom>
        </p:spPr>
      </p:pic>
      <p:pic>
        <p:nvPicPr>
          <p:cNvPr id="28" name="Image 5" descr="connector"/>
          <p:cNvPicPr>
            <a:picLocks noChangeAspect="1"/>
          </p:cNvPicPr>
          <p:nvPr/>
        </p:nvPicPr>
        <p:blipFill>
          <a:blip r:embed="rId8"/>
          <a:srcRect/>
          <a:stretch/>
        </p:blipFill>
        <p:spPr>
          <a:xfrm>
            <a:off x="8470900" y="4883150"/>
            <a:ext cx="1435100" cy="101600"/>
          </a:xfrm>
          <a:prstGeom prst="rect">
            <a:avLst/>
          </a:prstGeom>
        </p:spPr>
      </p:pic>
      <p:sp>
        <p:nvSpPr>
          <p:cNvPr id="29" name="Text 21"/>
          <p:cNvSpPr/>
          <p:nvPr/>
        </p:nvSpPr>
        <p:spPr>
          <a:xfrm>
            <a:off x="762000" y="1663700"/>
            <a:ext cx="16256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sede A</a:t>
            </a:r>
            <a:endParaRPr lang="it-IT" sz="1600" noProof="0" dirty="0"/>
          </a:p>
        </p:txBody>
      </p:sp>
      <p:sp>
        <p:nvSpPr>
          <p:cNvPr id="30" name="Text 22"/>
          <p:cNvSpPr/>
          <p:nvPr/>
        </p:nvSpPr>
        <p:spPr>
          <a:xfrm>
            <a:off x="2311400" y="1860550"/>
            <a:ext cx="15113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b="1" noProof="0" dirty="0" err="1">
                <a:solidFill>
                  <a:srgbClr val="1B1D20"/>
                </a:solidFill>
                <a:latin typeface="IBM Plex Sans" pitchFamily="34" charset="0"/>
                <a:ea typeface="IBM Plex Sans" pitchFamily="34" charset="-122"/>
                <a:cs typeface="IBM Plex Sans" pitchFamily="34" charset="-120"/>
              </a:rPr>
              <a:t>lanA</a:t>
            </a:r>
            <a:endParaRPr lang="it-IT" sz="1600" noProof="0" dirty="0"/>
          </a:p>
        </p:txBody>
      </p:sp>
      <p:sp>
        <p:nvSpPr>
          <p:cNvPr id="31" name="Text 23"/>
          <p:cNvSpPr/>
          <p:nvPr/>
        </p:nvSpPr>
        <p:spPr>
          <a:xfrm>
            <a:off x="2311400" y="2058665"/>
            <a:ext cx="15113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192.168.10.0/24</a:t>
            </a:r>
            <a:endParaRPr lang="it-IT" sz="1600" noProof="0" dirty="0"/>
          </a:p>
        </p:txBody>
      </p:sp>
      <p:sp>
        <p:nvSpPr>
          <p:cNvPr id="32" name="Text 24"/>
          <p:cNvSpPr/>
          <p:nvPr/>
        </p:nvSpPr>
        <p:spPr>
          <a:xfrm>
            <a:off x="5295900" y="1758950"/>
            <a:ext cx="1727200" cy="269875"/>
          </a:xfrm>
          <a:prstGeom prst="rect">
            <a:avLst/>
          </a:prstGeom>
          <a:noFill/>
          <a:ln/>
        </p:spPr>
        <p:txBody>
          <a:bodyPr wrap="square" lIns="0" tIns="0" rIns="0" bIns="0" rtlCol="0" anchor="t">
            <a:normAutofit/>
          </a:bodyPr>
          <a:lstStyle/>
          <a:p>
            <a:pPr marL="0" indent="0" algn="ctr">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n12</a:t>
            </a:r>
            <a:r>
              <a:rPr lang="it-IT" sz="1600" noProof="0" dirty="0">
                <a:solidFill>
                  <a:srgbClr val="1B1D20"/>
                </a:solidFill>
                <a:latin typeface="IBM Plex Sans" pitchFamily="34" charset="0"/>
                <a:ea typeface="IBM Plex Sans" pitchFamily="34" charset="-122"/>
                <a:cs typeface="IBM Plex Sans" pitchFamily="34" charset="-120"/>
              </a:rPr>
              <a:t> · 10.0.0.0/30</a:t>
            </a:r>
            <a:endParaRPr lang="it-IT" sz="1600" noProof="0" dirty="0"/>
          </a:p>
        </p:txBody>
      </p:sp>
      <p:sp>
        <p:nvSpPr>
          <p:cNvPr id="33" name="Text 25"/>
          <p:cNvSpPr/>
          <p:nvPr/>
        </p:nvSpPr>
        <p:spPr>
          <a:xfrm>
            <a:off x="5295900" y="2003425"/>
            <a:ext cx="1727200" cy="269875"/>
          </a:xfrm>
          <a:prstGeom prst="rect">
            <a:avLst/>
          </a:prstGeom>
          <a:noFill/>
          <a:ln/>
        </p:spPr>
        <p:txBody>
          <a:bodyPr wrap="square" lIns="0" tIns="0" rIns="0" bIns="0" rtlCol="0" anchor="t">
            <a:normAutofit/>
          </a:bodyPr>
          <a:lstStyle/>
          <a:p>
            <a:pPr marL="0" indent="0" algn="ctr">
              <a:lnSpc>
                <a:spcPts val="2000"/>
              </a:lnSpc>
              <a:buNone/>
            </a:pPr>
            <a:r>
              <a:rPr lang="it-IT" sz="1600" noProof="0" dirty="0">
                <a:solidFill>
                  <a:srgbClr val="B4502E"/>
                </a:solidFill>
                <a:latin typeface="IBM Plex Sans" pitchFamily="34" charset="0"/>
                <a:ea typeface="IBM Plex Sans" pitchFamily="34" charset="-122"/>
                <a:cs typeface="IBM Plex Sans" pitchFamily="34" charset="-120"/>
              </a:rPr>
              <a:t>costo 10</a:t>
            </a:r>
            <a:endParaRPr lang="it-IT" sz="1600" noProof="0" dirty="0"/>
          </a:p>
        </p:txBody>
      </p:sp>
      <p:sp>
        <p:nvSpPr>
          <p:cNvPr id="34" name="Text 26"/>
          <p:cNvSpPr/>
          <p:nvPr/>
        </p:nvSpPr>
        <p:spPr>
          <a:xfrm>
            <a:off x="2806700" y="3251200"/>
            <a:ext cx="1663700" cy="264583"/>
          </a:xfrm>
          <a:prstGeom prst="rect">
            <a:avLst/>
          </a:prstGeom>
          <a:noFill/>
          <a:ln/>
        </p:spPr>
        <p:txBody>
          <a:bodyPr wrap="square" lIns="0" tIns="0" rIns="0" bIns="0" rtlCol="0" anchor="t">
            <a:normAutofit/>
          </a:bodyPr>
          <a:lstStyle/>
          <a:p>
            <a:pPr marL="0" indent="0" algn="r">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n41</a:t>
            </a:r>
            <a:endParaRPr lang="it-IT" sz="1600" noProof="0" dirty="0"/>
          </a:p>
        </p:txBody>
      </p:sp>
      <p:sp>
        <p:nvSpPr>
          <p:cNvPr id="35" name="Text 27"/>
          <p:cNvSpPr/>
          <p:nvPr/>
        </p:nvSpPr>
        <p:spPr>
          <a:xfrm>
            <a:off x="2806700" y="3490392"/>
            <a:ext cx="1663700" cy="264583"/>
          </a:xfrm>
          <a:prstGeom prst="rect">
            <a:avLst/>
          </a:prstGeom>
          <a:noFill/>
          <a:ln/>
        </p:spPr>
        <p:txBody>
          <a:bodyPr wrap="square" lIns="0" tIns="0" rIns="0" bIns="0" rtlCol="0" anchor="t">
            <a:normAutofit/>
          </a:bodyPr>
          <a:lstStyle/>
          <a:p>
            <a:pPr marL="0" indent="0" algn="r">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10.0.0.12/30</a:t>
            </a:r>
            <a:endParaRPr lang="it-IT" sz="1600" noProof="0" dirty="0"/>
          </a:p>
        </p:txBody>
      </p:sp>
      <p:sp>
        <p:nvSpPr>
          <p:cNvPr id="36" name="Text 28"/>
          <p:cNvSpPr/>
          <p:nvPr/>
        </p:nvSpPr>
        <p:spPr>
          <a:xfrm>
            <a:off x="2806700" y="3729558"/>
            <a:ext cx="1663700" cy="264583"/>
          </a:xfrm>
          <a:prstGeom prst="rect">
            <a:avLst/>
          </a:prstGeom>
          <a:noFill/>
          <a:ln/>
        </p:spPr>
        <p:txBody>
          <a:bodyPr wrap="square" lIns="0" tIns="0" rIns="0" bIns="0" rtlCol="0" anchor="t">
            <a:normAutofit/>
          </a:bodyPr>
          <a:lstStyle/>
          <a:p>
            <a:pPr marL="0" indent="0" algn="r">
              <a:lnSpc>
                <a:spcPts val="2000"/>
              </a:lnSpc>
              <a:buNone/>
            </a:pPr>
            <a:r>
              <a:rPr lang="it-IT" sz="1600" noProof="0" dirty="0">
                <a:solidFill>
                  <a:srgbClr val="2B6CA3"/>
                </a:solidFill>
                <a:latin typeface="IBM Plex Sans" pitchFamily="34" charset="0"/>
                <a:ea typeface="IBM Plex Sans" pitchFamily="34" charset="-122"/>
                <a:cs typeface="IBM Plex Sans" pitchFamily="34" charset="-120"/>
              </a:rPr>
              <a:t>costo 100</a:t>
            </a:r>
            <a:endParaRPr lang="it-IT" sz="1600" noProof="0" dirty="0"/>
          </a:p>
        </p:txBody>
      </p:sp>
      <p:sp>
        <p:nvSpPr>
          <p:cNvPr id="37" name="Text 29"/>
          <p:cNvSpPr/>
          <p:nvPr/>
        </p:nvSpPr>
        <p:spPr>
          <a:xfrm>
            <a:off x="7861300" y="3251200"/>
            <a:ext cx="1689100" cy="264583"/>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n23</a:t>
            </a:r>
            <a:endParaRPr lang="it-IT" sz="1600" noProof="0" dirty="0"/>
          </a:p>
        </p:txBody>
      </p:sp>
      <p:sp>
        <p:nvSpPr>
          <p:cNvPr id="38" name="Text 30"/>
          <p:cNvSpPr/>
          <p:nvPr/>
        </p:nvSpPr>
        <p:spPr>
          <a:xfrm>
            <a:off x="7861300" y="3490392"/>
            <a:ext cx="1689100" cy="264583"/>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10.0.0.4/30</a:t>
            </a:r>
            <a:endParaRPr lang="it-IT" sz="1600" noProof="0" dirty="0"/>
          </a:p>
        </p:txBody>
      </p:sp>
      <p:sp>
        <p:nvSpPr>
          <p:cNvPr id="39" name="Text 31"/>
          <p:cNvSpPr/>
          <p:nvPr/>
        </p:nvSpPr>
        <p:spPr>
          <a:xfrm>
            <a:off x="7861300" y="3729558"/>
            <a:ext cx="1689100" cy="264583"/>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B4502E"/>
                </a:solidFill>
                <a:latin typeface="IBM Plex Sans" pitchFamily="34" charset="0"/>
                <a:ea typeface="IBM Plex Sans" pitchFamily="34" charset="-122"/>
                <a:cs typeface="IBM Plex Sans" pitchFamily="34" charset="-120"/>
              </a:rPr>
              <a:t>costo 10</a:t>
            </a:r>
            <a:endParaRPr lang="it-IT" sz="1600" noProof="0" dirty="0"/>
          </a:p>
        </p:txBody>
      </p:sp>
      <p:sp>
        <p:nvSpPr>
          <p:cNvPr id="40" name="Text 32"/>
          <p:cNvSpPr/>
          <p:nvPr/>
        </p:nvSpPr>
        <p:spPr>
          <a:xfrm>
            <a:off x="5295900" y="4362450"/>
            <a:ext cx="1727200" cy="269875"/>
          </a:xfrm>
          <a:prstGeom prst="rect">
            <a:avLst/>
          </a:prstGeom>
          <a:noFill/>
          <a:ln/>
        </p:spPr>
        <p:txBody>
          <a:bodyPr wrap="square" lIns="0" tIns="0" rIns="0" bIns="0" rtlCol="0" anchor="t">
            <a:normAutofit/>
          </a:bodyPr>
          <a:lstStyle/>
          <a:p>
            <a:pPr marL="0" indent="0" algn="ctr">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n34</a:t>
            </a:r>
            <a:r>
              <a:rPr lang="it-IT" sz="1600" noProof="0" dirty="0">
                <a:solidFill>
                  <a:srgbClr val="1B1D20"/>
                </a:solidFill>
                <a:latin typeface="IBM Plex Sans" pitchFamily="34" charset="0"/>
                <a:ea typeface="IBM Plex Sans" pitchFamily="34" charset="-122"/>
                <a:cs typeface="IBM Plex Sans" pitchFamily="34" charset="-120"/>
              </a:rPr>
              <a:t> · 10.0.0.8/30</a:t>
            </a:r>
            <a:endParaRPr lang="it-IT" sz="1600" noProof="0" dirty="0"/>
          </a:p>
        </p:txBody>
      </p:sp>
      <p:sp>
        <p:nvSpPr>
          <p:cNvPr id="41" name="Text 33"/>
          <p:cNvSpPr/>
          <p:nvPr/>
        </p:nvSpPr>
        <p:spPr>
          <a:xfrm>
            <a:off x="5295900" y="4606925"/>
            <a:ext cx="1727200" cy="269875"/>
          </a:xfrm>
          <a:prstGeom prst="rect">
            <a:avLst/>
          </a:prstGeom>
          <a:noFill/>
          <a:ln/>
        </p:spPr>
        <p:txBody>
          <a:bodyPr wrap="square" lIns="0" tIns="0" rIns="0" bIns="0" rtlCol="0" anchor="t">
            <a:normAutofit/>
          </a:bodyPr>
          <a:lstStyle/>
          <a:p>
            <a:pPr marL="0" indent="0" algn="ctr">
              <a:lnSpc>
                <a:spcPts val="2000"/>
              </a:lnSpc>
              <a:buNone/>
            </a:pPr>
            <a:r>
              <a:rPr lang="it-IT" sz="1600" noProof="0" dirty="0">
                <a:solidFill>
                  <a:srgbClr val="2B6CA3"/>
                </a:solidFill>
                <a:latin typeface="IBM Plex Sans" pitchFamily="34" charset="0"/>
                <a:ea typeface="IBM Plex Sans" pitchFamily="34" charset="-122"/>
                <a:cs typeface="IBM Plex Sans" pitchFamily="34" charset="-120"/>
              </a:rPr>
              <a:t>costo 100</a:t>
            </a:r>
            <a:endParaRPr lang="it-IT" sz="1600" noProof="0" dirty="0"/>
          </a:p>
        </p:txBody>
      </p:sp>
      <p:sp>
        <p:nvSpPr>
          <p:cNvPr id="42" name="Text 34"/>
          <p:cNvSpPr/>
          <p:nvPr/>
        </p:nvSpPr>
        <p:spPr>
          <a:xfrm>
            <a:off x="8483600" y="4464050"/>
            <a:ext cx="14097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b="1" noProof="0" dirty="0" err="1">
                <a:solidFill>
                  <a:srgbClr val="1B1D20"/>
                </a:solidFill>
                <a:latin typeface="IBM Plex Sans" pitchFamily="34" charset="0"/>
                <a:ea typeface="IBM Plex Sans" pitchFamily="34" charset="-122"/>
                <a:cs typeface="IBM Plex Sans" pitchFamily="34" charset="-120"/>
              </a:rPr>
              <a:t>lanB</a:t>
            </a:r>
            <a:endParaRPr lang="it-IT" sz="1600" noProof="0" dirty="0"/>
          </a:p>
        </p:txBody>
      </p:sp>
      <p:sp>
        <p:nvSpPr>
          <p:cNvPr id="43" name="Text 35"/>
          <p:cNvSpPr/>
          <p:nvPr/>
        </p:nvSpPr>
        <p:spPr>
          <a:xfrm>
            <a:off x="8483600" y="4662165"/>
            <a:ext cx="14097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192.168.20.0/24</a:t>
            </a:r>
            <a:endParaRPr lang="it-IT" sz="1600" noProof="0" dirty="0"/>
          </a:p>
        </p:txBody>
      </p:sp>
      <p:sp>
        <p:nvSpPr>
          <p:cNvPr id="44" name="Text 36"/>
          <p:cNvSpPr/>
          <p:nvPr/>
        </p:nvSpPr>
        <p:spPr>
          <a:xfrm>
            <a:off x="9804400" y="4267200"/>
            <a:ext cx="16256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sede B</a:t>
            </a:r>
            <a:endParaRPr lang="it-IT" sz="1600" noProof="0" dirty="0"/>
          </a:p>
        </p:txBody>
      </p:sp>
      <p:sp>
        <p:nvSpPr>
          <p:cNvPr id="45" name="Shape 37"/>
          <p:cNvSpPr/>
          <p:nvPr/>
        </p:nvSpPr>
        <p:spPr>
          <a:xfrm>
            <a:off x="825500" y="4565650"/>
            <a:ext cx="1498600" cy="736600"/>
          </a:xfrm>
          <a:prstGeom prst="rect">
            <a:avLst/>
          </a:prstGeom>
          <a:solidFill>
            <a:srgbClr val="E37E5F"/>
          </a:solidFill>
          <a:ln w="12700">
            <a:solidFill>
              <a:srgbClr val="1B1D20"/>
            </a:solidFill>
            <a:prstDash val="solid"/>
          </a:ln>
        </p:spPr>
        <p:txBody>
          <a:bodyPr/>
          <a:lstStyle/>
          <a:p>
            <a:endParaRPr lang="it-IT" noProof="0" dirty="0"/>
          </a:p>
        </p:txBody>
      </p:sp>
      <p:sp>
        <p:nvSpPr>
          <p:cNvPr id="46" name="Text 38"/>
          <p:cNvSpPr/>
          <p:nvPr/>
        </p:nvSpPr>
        <p:spPr>
          <a:xfrm>
            <a:off x="793750" y="4660900"/>
            <a:ext cx="1562100" cy="346710"/>
          </a:xfrm>
          <a:prstGeom prst="rect">
            <a:avLst/>
          </a:prstGeom>
          <a:noFill/>
          <a:ln/>
        </p:spPr>
        <p:txBody>
          <a:bodyPr wrap="square" lIns="0" tIns="0" rIns="0" bIns="0" rtlCol="0" anchor="t">
            <a:normAutofit/>
          </a:bodyPr>
          <a:lstStyle/>
          <a:p>
            <a:pPr marL="0" indent="0" algn="ctr">
              <a:lnSpc>
                <a:spcPts val="2750"/>
              </a:lnSpc>
              <a:buNone/>
            </a:pPr>
            <a:r>
              <a:rPr lang="it-IT" sz="2200" b="1" noProof="0" dirty="0" err="1">
                <a:solidFill>
                  <a:srgbClr val="1B1D20"/>
                </a:solidFill>
                <a:latin typeface="IBM Plex Sans" pitchFamily="34" charset="0"/>
                <a:ea typeface="IBM Plex Sans" pitchFamily="34" charset="-122"/>
                <a:cs typeface="IBM Plex Sans" pitchFamily="34" charset="-120"/>
              </a:rPr>
              <a:t>pc_c</a:t>
            </a:r>
            <a:endParaRPr lang="it-IT" sz="2200" noProof="0" dirty="0"/>
          </a:p>
        </p:txBody>
      </p:sp>
      <p:sp>
        <p:nvSpPr>
          <p:cNvPr id="47" name="Text 39"/>
          <p:cNvSpPr/>
          <p:nvPr/>
        </p:nvSpPr>
        <p:spPr>
          <a:xfrm>
            <a:off x="793750" y="4978400"/>
            <a:ext cx="15621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noProof="0" dirty="0">
                <a:solidFill>
                  <a:srgbClr val="1B1D20"/>
                </a:solidFill>
                <a:latin typeface="JetBrains Mono" pitchFamily="49" charset="0"/>
                <a:ea typeface="JetBrains Mono" pitchFamily="49" charset="-122"/>
                <a:cs typeface="JetBrains Mono" pitchFamily="49" charset="-120"/>
              </a:rPr>
              <a:t>192.168.30.10</a:t>
            </a:r>
            <a:endParaRPr lang="it-IT" sz="1600" noProof="0" dirty="0"/>
          </a:p>
        </p:txBody>
      </p:sp>
      <p:pic>
        <p:nvPicPr>
          <p:cNvPr id="48" name="Image 6" descr="connector"/>
          <p:cNvPicPr>
            <a:picLocks noChangeAspect="1"/>
          </p:cNvPicPr>
          <p:nvPr/>
        </p:nvPicPr>
        <p:blipFill>
          <a:blip r:embed="rId9"/>
          <a:srcRect/>
          <a:stretch/>
        </p:blipFill>
        <p:spPr>
          <a:xfrm>
            <a:off x="2266950" y="4870450"/>
            <a:ext cx="1593850" cy="127000"/>
          </a:xfrm>
          <a:prstGeom prst="rect">
            <a:avLst/>
          </a:prstGeom>
        </p:spPr>
      </p:pic>
      <p:sp>
        <p:nvSpPr>
          <p:cNvPr id="49" name="Text 40"/>
          <p:cNvSpPr/>
          <p:nvPr/>
        </p:nvSpPr>
        <p:spPr>
          <a:xfrm>
            <a:off x="2311400" y="4464050"/>
            <a:ext cx="15113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b="1" noProof="0" dirty="0" err="1">
                <a:solidFill>
                  <a:srgbClr val="1B1D20"/>
                </a:solidFill>
                <a:latin typeface="IBM Plex Sans" pitchFamily="34" charset="0"/>
                <a:ea typeface="IBM Plex Sans" pitchFamily="34" charset="-122"/>
                <a:cs typeface="IBM Plex Sans" pitchFamily="34" charset="-120"/>
              </a:rPr>
              <a:t>lanC</a:t>
            </a:r>
            <a:endParaRPr lang="it-IT" sz="1600" noProof="0" dirty="0"/>
          </a:p>
        </p:txBody>
      </p:sp>
      <p:sp>
        <p:nvSpPr>
          <p:cNvPr id="50" name="Text 41"/>
          <p:cNvSpPr/>
          <p:nvPr/>
        </p:nvSpPr>
        <p:spPr>
          <a:xfrm>
            <a:off x="2311400" y="4662165"/>
            <a:ext cx="1511300" cy="223520"/>
          </a:xfrm>
          <a:prstGeom prst="rect">
            <a:avLst/>
          </a:prstGeom>
          <a:noFill/>
          <a:ln/>
        </p:spPr>
        <p:txBody>
          <a:bodyPr wrap="square" lIns="0" tIns="0" rIns="0" bIns="0" rtlCol="0" anchor="t">
            <a:normAutofit fontScale="55000" lnSpcReduction="20000"/>
          </a:bodyPr>
          <a:lstStyle/>
          <a:p>
            <a:pPr marL="0" indent="0" algn="ctr">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192.168.30.0/24</a:t>
            </a:r>
            <a:endParaRPr lang="it-IT" sz="1600" noProof="0" dirty="0"/>
          </a:p>
        </p:txBody>
      </p:sp>
      <p:sp>
        <p:nvSpPr>
          <p:cNvPr id="51" name="Text 42"/>
          <p:cNvSpPr/>
          <p:nvPr/>
        </p:nvSpPr>
        <p:spPr>
          <a:xfrm>
            <a:off x="762000" y="4267200"/>
            <a:ext cx="1625600" cy="238760"/>
          </a:xfrm>
          <a:prstGeom prst="rect">
            <a:avLst/>
          </a:prstGeom>
          <a:noFill/>
          <a:ln/>
        </p:spPr>
        <p:txBody>
          <a:bodyPr wrap="square" lIns="0" tIns="0" rIns="0" bIns="0" rtlCol="0" anchor="t">
            <a:normAutofit fontScale="77500" lnSpcReduction="20000"/>
          </a:bodyPr>
          <a:lstStyle/>
          <a:p>
            <a:pPr marL="0" indent="0" algn="ctr">
              <a:lnSpc>
                <a:spcPts val="2000"/>
              </a:lnSpc>
              <a:buNone/>
            </a:pPr>
            <a:r>
              <a:rPr lang="it-IT" sz="1600" b="1" noProof="0" dirty="0">
                <a:solidFill>
                  <a:srgbClr val="B4502E"/>
                </a:solidFill>
                <a:latin typeface="JetBrains Mono" pitchFamily="49" charset="0"/>
                <a:ea typeface="JetBrains Mono" pitchFamily="49" charset="-122"/>
                <a:cs typeface="JetBrains Mono" pitchFamily="49" charset="-120"/>
              </a:rPr>
              <a:t>sede C · nuova</a:t>
            </a:r>
            <a:endParaRPr lang="it-IT" sz="1600" noProof="0" dirty="0"/>
          </a:p>
        </p:txBody>
      </p:sp>
      <p:sp>
        <p:nvSpPr>
          <p:cNvPr id="52" name="Shape 43"/>
          <p:cNvSpPr/>
          <p:nvPr/>
        </p:nvSpPr>
        <p:spPr>
          <a:xfrm>
            <a:off x="831850" y="5511800"/>
            <a:ext cx="0" cy="266700"/>
          </a:xfrm>
          <a:prstGeom prst="line">
            <a:avLst/>
          </a:prstGeom>
          <a:noFill/>
          <a:ln w="38100">
            <a:solidFill>
              <a:srgbClr val="E37E5F"/>
            </a:solidFill>
            <a:prstDash val="solid"/>
          </a:ln>
        </p:spPr>
        <p:txBody>
          <a:bodyPr/>
          <a:lstStyle/>
          <a:p>
            <a:endParaRPr lang="it-IT" noProof="0" dirty="0"/>
          </a:p>
        </p:txBody>
      </p:sp>
      <p:sp>
        <p:nvSpPr>
          <p:cNvPr id="53" name="Text 44"/>
          <p:cNvSpPr/>
          <p:nvPr/>
        </p:nvSpPr>
        <p:spPr>
          <a:xfrm>
            <a:off x="1003300" y="5511800"/>
            <a:ext cx="10687177" cy="292100"/>
          </a:xfrm>
          <a:prstGeom prst="rect">
            <a:avLst/>
          </a:prstGeom>
          <a:noFill/>
          <a:ln/>
        </p:spPr>
        <p:txBody>
          <a:bodyPr wrap="square" lIns="0" tIns="0" rIns="0" bIns="0" rtlCol="0" anchor="t">
            <a:normAutofit/>
          </a:bodyPr>
          <a:lstStyle/>
          <a:p>
            <a:pPr marL="0" indent="0" algn="l">
              <a:lnSpc>
                <a:spcPts val="2100"/>
              </a:lnSpc>
              <a:buNone/>
            </a:pPr>
            <a:r>
              <a:rPr lang="it-IT" sz="1600" b="1" noProof="0" dirty="0">
                <a:solidFill>
                  <a:srgbClr val="1B1D20"/>
                </a:solidFill>
                <a:latin typeface="IBM Plex Sans" pitchFamily="34" charset="0"/>
                <a:ea typeface="IBM Plex Sans" pitchFamily="34" charset="-122"/>
                <a:cs typeface="IBM Plex Sans" pitchFamily="34" charset="-120"/>
              </a:rPr>
              <a:t>CR-042</a:t>
            </a:r>
            <a:r>
              <a:rPr lang="it-IT" sz="1600" noProof="0" dirty="0">
                <a:solidFill>
                  <a:srgbClr val="1B1D20"/>
                </a:solidFill>
                <a:latin typeface="IBM Plex Sans" pitchFamily="34" charset="0"/>
                <a:ea typeface="IBM Plex Sans" pitchFamily="34" charset="-122"/>
                <a:cs typeface="IBM Plex Sans" pitchFamily="34" charset="-120"/>
              </a:rPr>
              <a:t> · r4 eth2 192.168.30.1/24 · </a:t>
            </a:r>
            <a:r>
              <a:rPr lang="it-IT" sz="1600" noProof="0" dirty="0" err="1">
                <a:solidFill>
                  <a:srgbClr val="1B1D20"/>
                </a:solidFill>
                <a:latin typeface="IBM Plex Sans" pitchFamily="34" charset="0"/>
                <a:ea typeface="IBM Plex Sans" pitchFamily="34" charset="-122"/>
                <a:cs typeface="IBM Plex Sans" pitchFamily="34" charset="-120"/>
              </a:rPr>
              <a:t>pc_c</a:t>
            </a:r>
            <a:r>
              <a:rPr lang="it-IT" sz="1600" noProof="0" dirty="0">
                <a:solidFill>
                  <a:srgbClr val="1B1D20"/>
                </a:solidFill>
                <a:latin typeface="IBM Plex Sans" pitchFamily="34" charset="0"/>
                <a:ea typeface="IBM Plex Sans" pitchFamily="34" charset="-122"/>
                <a:cs typeface="IBM Plex Sans" pitchFamily="34" charset="-120"/>
              </a:rPr>
              <a:t> 192.168.30.10/24, gw 192.168.30.1 · </a:t>
            </a:r>
            <a:r>
              <a:rPr lang="it-IT" sz="1600" noProof="0" dirty="0" err="1">
                <a:solidFill>
                  <a:srgbClr val="1B1D20"/>
                </a:solidFill>
                <a:latin typeface="IBM Plex Sans" pitchFamily="34" charset="0"/>
                <a:ea typeface="IBM Plex Sans" pitchFamily="34" charset="-122"/>
                <a:cs typeface="IBM Plex Sans" pitchFamily="34" charset="-120"/>
              </a:rPr>
              <a:t>pc_c</a:t>
            </a:r>
            <a:r>
              <a:rPr lang="it-IT" sz="1600" noProof="0" dirty="0">
                <a:solidFill>
                  <a:srgbClr val="1B1D20"/>
                </a:solidFill>
                <a:latin typeface="IBM Plex Sans" pitchFamily="34" charset="0"/>
                <a:ea typeface="IBM Plex Sans" pitchFamily="34" charset="-122"/>
                <a:cs typeface="IBM Plex Sans" pitchFamily="34" charset="-120"/>
              </a:rPr>
              <a:t> su kathara/base</a:t>
            </a:r>
            <a:endParaRPr lang="it-IT" sz="1600" noProof="0" dirty="0"/>
          </a:p>
        </p:txBody>
      </p:sp>
    </p:spTree>
    <p:extLst>
      <p:ext uri="{BB962C8B-B14F-4D97-AF65-F5344CB8AC3E}">
        <p14:creationId xmlns:p14="http://schemas.microsoft.com/office/powerpoint/2010/main" val="27492190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4">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Fase 3: applichiamo il nuovo requisito</a:t>
            </a:r>
            <a:endParaRPr lang="it-IT" sz="4000" noProof="0" dirty="0"/>
          </a:p>
        </p:txBody>
      </p:sp>
      <p:graphicFrame>
        <p:nvGraphicFramePr>
          <p:cNvPr id="5" name="Table 0"/>
          <p:cNvGraphicFramePr>
            <a:graphicFrameLocks noGrp="1"/>
          </p:cNvGraphicFramePr>
          <p:nvPr/>
        </p:nvGraphicFramePr>
        <p:xfrm>
          <a:off x="825500" y="1953270"/>
          <a:ext cx="10553700" cy="2330450"/>
        </p:xfrm>
        <a:graphic>
          <a:graphicData uri="http://schemas.openxmlformats.org/drawingml/2006/table">
            <a:tbl>
              <a:tblPr/>
              <a:tblGrid>
                <a:gridCol w="3166110">
                  <a:extLst>
                    <a:ext uri="{9D8B030D-6E8A-4147-A177-3AD203B41FA5}">
                      <a16:colId xmlns:a16="http://schemas.microsoft.com/office/drawing/2014/main" val="20000"/>
                    </a:ext>
                  </a:extLst>
                </a:gridCol>
                <a:gridCol w="7387590">
                  <a:extLst>
                    <a:ext uri="{9D8B030D-6E8A-4147-A177-3AD203B41FA5}">
                      <a16:colId xmlns:a16="http://schemas.microsoft.com/office/drawing/2014/main" val="20001"/>
                    </a:ext>
                  </a:extLst>
                </a:gridCol>
              </a:tblGrid>
              <a:tr h="466090">
                <a:tc>
                  <a:txBody>
                    <a:bodyPr/>
                    <a:lstStyle/>
                    <a:p>
                      <a:pPr marL="0" indent="0">
                        <a:lnSpc>
                          <a:spcPts val="2380"/>
                        </a:lnSpc>
                        <a:buNone/>
                      </a:pPr>
                      <a:r>
                        <a:rPr lang="it-IT" sz="1800" noProof="0" dirty="0">
                          <a:solidFill>
                            <a:srgbClr val="5B5F66"/>
                          </a:solidFill>
                          <a:latin typeface="IBM Plex Sans" pitchFamily="34" charset="0"/>
                          <a:ea typeface="IBM Plex Sans" pitchFamily="34" charset="-122"/>
                          <a:cs typeface="IBM Plex Sans" pitchFamily="34" charset="-120"/>
                        </a:rPr>
                        <a:t>file</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380"/>
                        </a:lnSpc>
                        <a:buNone/>
                      </a:pPr>
                      <a:r>
                        <a:rPr lang="it-IT" sz="1800" noProof="0" dirty="0">
                          <a:solidFill>
                            <a:srgbClr val="5B5F66"/>
                          </a:solidFill>
                          <a:latin typeface="IBM Plex Sans" pitchFamily="34" charset="0"/>
                          <a:ea typeface="IBM Plex Sans" pitchFamily="34" charset="-122"/>
                          <a:cs typeface="IBM Plex Sans" pitchFamily="34" charset="-120"/>
                        </a:rPr>
                        <a:t>cosa cambia</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66090">
                <a:tc>
                  <a:txBody>
                    <a:bodyPr/>
                    <a:lstStyle/>
                    <a:p>
                      <a:pPr marL="0" indent="0">
                        <a:lnSpc>
                          <a:spcPts val="2380"/>
                        </a:lnSpc>
                        <a:buNone/>
                      </a:pPr>
                      <a:r>
                        <a:rPr lang="it-IT" sz="1800" noProof="0" dirty="0" err="1">
                          <a:solidFill>
                            <a:srgbClr val="1B1D20"/>
                          </a:solidFill>
                          <a:latin typeface="IBM Plex Sans" pitchFamily="34" charset="0"/>
                          <a:ea typeface="IBM Plex Sans" pitchFamily="34" charset="-122"/>
                          <a:cs typeface="IBM Plex Sans" pitchFamily="34" charset="-120"/>
                        </a:rPr>
                        <a:t>lab.conf</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Il nuovo dispositivo </a:t>
                      </a:r>
                      <a:r>
                        <a:rPr lang="it-IT" sz="1800" noProof="0" dirty="0" err="1">
                          <a:solidFill>
                            <a:srgbClr val="1B1D20"/>
                          </a:solidFill>
                          <a:latin typeface="IBM Plex Sans" pitchFamily="34" charset="0"/>
                          <a:ea typeface="IBM Plex Sans" pitchFamily="34" charset="-122"/>
                          <a:cs typeface="IBM Plex Sans" pitchFamily="34" charset="-120"/>
                        </a:rPr>
                        <a:t>pc_c</a:t>
                      </a:r>
                      <a:r>
                        <a:rPr lang="it-IT" sz="1800" noProof="0" dirty="0">
                          <a:solidFill>
                            <a:srgbClr val="1B1D20"/>
                          </a:solidFill>
                          <a:latin typeface="IBM Plex Sans" pitchFamily="34" charset="0"/>
                          <a:ea typeface="IBM Plex Sans" pitchFamily="34" charset="-122"/>
                          <a:cs typeface="IBM Plex Sans" pitchFamily="34" charset="-120"/>
                        </a:rPr>
                        <a:t> su </a:t>
                      </a:r>
                      <a:r>
                        <a:rPr lang="it-IT" sz="1800" noProof="0" dirty="0" err="1">
                          <a:solidFill>
                            <a:srgbClr val="1B1D20"/>
                          </a:solidFill>
                          <a:latin typeface="IBM Plex Sans" pitchFamily="34" charset="0"/>
                          <a:ea typeface="IBM Plex Sans" pitchFamily="34" charset="-122"/>
                          <a:cs typeface="IBM Plex Sans" pitchFamily="34" charset="-120"/>
                        </a:rPr>
                        <a:t>lanC</a:t>
                      </a:r>
                      <a:r>
                        <a:rPr lang="it-IT" sz="1800" noProof="0" dirty="0">
                          <a:solidFill>
                            <a:srgbClr val="1B1D20"/>
                          </a:solidFill>
                          <a:latin typeface="IBM Plex Sans" pitchFamily="34" charset="0"/>
                          <a:ea typeface="IBM Plex Sans" pitchFamily="34" charset="-122"/>
                          <a:cs typeface="IBM Plex Sans" pitchFamily="34" charset="-120"/>
                        </a:rPr>
                        <a:t>, e la nuova interfaccia di r4 su </a:t>
                      </a:r>
                      <a:r>
                        <a:rPr lang="it-IT" sz="1800" noProof="0" dirty="0" err="1">
                          <a:solidFill>
                            <a:srgbClr val="1B1D20"/>
                          </a:solidFill>
                          <a:latin typeface="IBM Plex Sans" pitchFamily="34" charset="0"/>
                          <a:ea typeface="IBM Plex Sans" pitchFamily="34" charset="-122"/>
                          <a:cs typeface="IBM Plex Sans" pitchFamily="34" charset="-120"/>
                        </a:rPr>
                        <a:t>lanC</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466090">
                <a:tc>
                  <a:txBody>
                    <a:bodyPr/>
                    <a:lstStyle/>
                    <a:p>
                      <a:pPr marL="0" indent="0">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r4.startup</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L’indirizzo della nuova interfaccia di r4</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466090">
                <a:tc>
                  <a:txBody>
                    <a:bodyPr/>
                    <a:lstStyle/>
                    <a:p>
                      <a:pPr marL="0" indent="0">
                        <a:lnSpc>
                          <a:spcPts val="2380"/>
                        </a:lnSpc>
                        <a:buNone/>
                      </a:pPr>
                      <a:r>
                        <a:rPr lang="it-IT" sz="1800" noProof="0" dirty="0" err="1">
                          <a:solidFill>
                            <a:srgbClr val="1B1D20"/>
                          </a:solidFill>
                          <a:latin typeface="IBM Plex Sans" pitchFamily="34" charset="0"/>
                          <a:ea typeface="IBM Plex Sans" pitchFamily="34" charset="-122"/>
                          <a:cs typeface="IBM Plex Sans" pitchFamily="34" charset="-120"/>
                        </a:rPr>
                        <a:t>pc_c.startup</a:t>
                      </a:r>
                      <a:r>
                        <a:rPr lang="it-IT" sz="1800" noProof="0" dirty="0">
                          <a:solidFill>
                            <a:srgbClr val="1B1D20"/>
                          </a:solidFill>
                          <a:latin typeface="IBM Plex Sans" pitchFamily="34" charset="0"/>
                          <a:ea typeface="IBM Plex Sans" pitchFamily="34" charset="-122"/>
                          <a:cs typeface="IBM Plex Sans" pitchFamily="34" charset="-120"/>
                        </a:rPr>
                        <a:t> (nuovo)</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Indirizzo e default </a:t>
                      </a:r>
                      <a:r>
                        <a:rPr lang="it-IT" sz="1800" noProof="0" dirty="0" err="1">
                          <a:solidFill>
                            <a:srgbClr val="1B1D20"/>
                          </a:solidFill>
                          <a:latin typeface="IBM Plex Sans" pitchFamily="34" charset="0"/>
                          <a:ea typeface="IBM Plex Sans" pitchFamily="34" charset="-122"/>
                          <a:cs typeface="IBM Plex Sans" pitchFamily="34" charset="-120"/>
                        </a:rPr>
                        <a:t>route</a:t>
                      </a:r>
                      <a:r>
                        <a:rPr lang="it-IT" sz="1800" noProof="0" dirty="0">
                          <a:solidFill>
                            <a:srgbClr val="1B1D20"/>
                          </a:solidFill>
                          <a:latin typeface="IBM Plex Sans" pitchFamily="34" charset="0"/>
                          <a:ea typeface="IBM Plex Sans" pitchFamily="34" charset="-122"/>
                          <a:cs typeface="IBM Plex Sans" pitchFamily="34" charset="-120"/>
                        </a:rPr>
                        <a:t> </a:t>
                      </a:r>
                      <a:r>
                        <a:rPr lang="it-IT" sz="1800" noProof="0" dirty="0" err="1">
                          <a:solidFill>
                            <a:srgbClr val="1B1D20"/>
                          </a:solidFill>
                          <a:latin typeface="IBM Plex Sans" pitchFamily="34" charset="0"/>
                          <a:ea typeface="IBM Plex Sans" pitchFamily="34" charset="-122"/>
                          <a:cs typeface="IBM Plex Sans" pitchFamily="34" charset="-120"/>
                        </a:rPr>
                        <a:t>dell’host</a:t>
                      </a:r>
                      <a:r>
                        <a:rPr lang="it-IT" sz="1800" noProof="0" dirty="0">
                          <a:solidFill>
                            <a:srgbClr val="1B1D20"/>
                          </a:solidFill>
                          <a:latin typeface="IBM Plex Sans" pitchFamily="34" charset="0"/>
                          <a:ea typeface="IBM Plex Sans" pitchFamily="34" charset="-122"/>
                          <a:cs typeface="IBM Plex Sans" pitchFamily="34" charset="-120"/>
                        </a:rPr>
                        <a:t> della sede C</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466090">
                <a:tc>
                  <a:txBody>
                    <a:bodyPr/>
                    <a:lstStyle/>
                    <a:p>
                      <a:pPr marL="0" indent="0">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r4/</a:t>
                      </a:r>
                      <a:r>
                        <a:rPr lang="it-IT" sz="1800" noProof="0" dirty="0" err="1">
                          <a:solidFill>
                            <a:srgbClr val="1B1D20"/>
                          </a:solidFill>
                          <a:latin typeface="IBM Plex Sans" pitchFamily="34" charset="0"/>
                          <a:ea typeface="IBM Plex Sans" pitchFamily="34" charset="-122"/>
                          <a:cs typeface="IBM Plex Sans" pitchFamily="34" charset="-120"/>
                        </a:rPr>
                        <a:t>etc</a:t>
                      </a:r>
                      <a:r>
                        <a:rPr lang="it-IT" sz="1800" noProof="0" dirty="0">
                          <a:solidFill>
                            <a:srgbClr val="1B1D20"/>
                          </a:solidFill>
                          <a:latin typeface="IBM Plex Sans" pitchFamily="34" charset="0"/>
                          <a:ea typeface="IBM Plex Sans" pitchFamily="34" charset="-122"/>
                          <a:cs typeface="IBM Plex Sans" pitchFamily="34" charset="-120"/>
                        </a:rPr>
                        <a:t>/</a:t>
                      </a:r>
                      <a:r>
                        <a:rPr lang="it-IT" sz="1800" noProof="0" dirty="0" err="1">
                          <a:solidFill>
                            <a:srgbClr val="1B1D20"/>
                          </a:solidFill>
                          <a:latin typeface="IBM Plex Sans" pitchFamily="34" charset="0"/>
                          <a:ea typeface="IBM Plex Sans" pitchFamily="34" charset="-122"/>
                          <a:cs typeface="IBM Plex Sans" pitchFamily="34" charset="-120"/>
                        </a:rPr>
                        <a:t>frr</a:t>
                      </a:r>
                      <a:r>
                        <a:rPr lang="it-IT" sz="1800" noProof="0" dirty="0">
                          <a:solidFill>
                            <a:srgbClr val="1B1D20"/>
                          </a:solidFill>
                          <a:latin typeface="IBM Plex Sans" pitchFamily="34" charset="0"/>
                          <a:ea typeface="IBM Plex Sans" pitchFamily="34" charset="-122"/>
                          <a:cs typeface="IBM Plex Sans" pitchFamily="34" charset="-120"/>
                        </a:rPr>
                        <a:t>/</a:t>
                      </a:r>
                      <a:r>
                        <a:rPr lang="it-IT" sz="1800" noProof="0" dirty="0" err="1">
                          <a:solidFill>
                            <a:srgbClr val="1B1D20"/>
                          </a:solidFill>
                          <a:latin typeface="IBM Plex Sans" pitchFamily="34" charset="0"/>
                          <a:ea typeface="IBM Plex Sans" pitchFamily="34" charset="-122"/>
                          <a:cs typeface="IBM Plex Sans" pitchFamily="34" charset="-120"/>
                        </a:rPr>
                        <a:t>frr.conf</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La nuova LAN in OSPF, come interfaccia passiva</a:t>
                      </a:r>
                      <a:endParaRPr lang="it-IT" sz="1800" noProof="0" dirty="0">
                        <a:latin typeface="IBM Plex Sans" charset="0"/>
                        <a:ea typeface="IBM Plex Sans" charset="0"/>
                        <a:cs typeface="IBM Plex Sans" charset="0"/>
                      </a:endParaRPr>
                    </a:p>
                  </a:txBody>
                  <a:tcPr marL="75565" marR="75565" marT="75565" marB="7556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812800" y="4965700"/>
            <a:ext cx="5207000" cy="876300"/>
          </a:xfrm>
          <a:prstGeom prst="rect">
            <a:avLst/>
          </a:prstGeom>
          <a:solidFill>
            <a:srgbClr val="17191C"/>
          </a:solidFill>
          <a:ln/>
        </p:spPr>
        <p:txBody>
          <a:bodyPr/>
          <a:lstStyle/>
          <a:p>
            <a:endParaRPr lang="it-IT" noProof="0" dirty="0"/>
          </a:p>
        </p:txBody>
      </p:sp>
      <p:sp>
        <p:nvSpPr>
          <p:cNvPr id="7" name="Text 4"/>
          <p:cNvSpPr/>
          <p:nvPr/>
        </p:nvSpPr>
        <p:spPr>
          <a:xfrm>
            <a:off x="990600" y="5118100"/>
            <a:ext cx="499694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A8F96"/>
                </a:solidFill>
                <a:latin typeface="JetBrains Mono" pitchFamily="49" charset="0"/>
                <a:ea typeface="JetBrains Mono" pitchFamily="49" charset="-122"/>
                <a:cs typeface="JetBrains Mono" pitchFamily="49" charset="-120"/>
              </a:rPr>
              <a:t># riavvia il twin e rilegge </a:t>
            </a:r>
            <a:r>
              <a:rPr lang="it-IT" sz="1600" noProof="0" dirty="0" err="1">
                <a:solidFill>
                  <a:srgbClr val="8A8F96"/>
                </a:solidFill>
                <a:latin typeface="JetBrains Mono" pitchFamily="49" charset="0"/>
                <a:ea typeface="JetBrains Mono" pitchFamily="49" charset="-122"/>
                <a:cs typeface="JetBrains Mono" pitchFamily="49" charset="-120"/>
              </a:rPr>
              <a:t>lab.conf</a:t>
            </a:r>
            <a:endParaRPr lang="it-IT" sz="1600" noProof="0" dirty="0"/>
          </a:p>
        </p:txBody>
      </p:sp>
      <p:sp>
        <p:nvSpPr>
          <p:cNvPr id="8" name="Text 5"/>
          <p:cNvSpPr/>
          <p:nvPr/>
        </p:nvSpPr>
        <p:spPr>
          <a:xfrm>
            <a:off x="990600" y="5403850"/>
            <a:ext cx="4996942"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kathara </a:t>
            </a:r>
            <a:r>
              <a:rPr lang="it-IT" sz="1600" noProof="0" dirty="0" err="1">
                <a:solidFill>
                  <a:srgbClr val="F2F1EC"/>
                </a:solidFill>
                <a:latin typeface="JetBrains Mono" pitchFamily="49" charset="0"/>
                <a:ea typeface="JetBrains Mono" pitchFamily="49" charset="-122"/>
                <a:cs typeface="JetBrains Mono" pitchFamily="49" charset="-120"/>
              </a:rPr>
              <a:t>lrestart</a:t>
            </a:r>
            <a:endParaRPr lang="it-IT" sz="1600" noProof="0" dirty="0"/>
          </a:p>
        </p:txBody>
      </p:sp>
      <p:sp>
        <p:nvSpPr>
          <p:cNvPr id="9" name="Shape 6"/>
          <p:cNvSpPr/>
          <p:nvPr/>
        </p:nvSpPr>
        <p:spPr>
          <a:xfrm>
            <a:off x="6343650" y="5076180"/>
            <a:ext cx="0" cy="655320"/>
          </a:xfrm>
          <a:prstGeom prst="line">
            <a:avLst/>
          </a:prstGeom>
          <a:noFill/>
          <a:ln w="38100">
            <a:solidFill>
              <a:srgbClr val="E37E5F"/>
            </a:solidFill>
            <a:prstDash val="solid"/>
          </a:ln>
        </p:spPr>
        <p:txBody>
          <a:bodyPr/>
          <a:lstStyle/>
          <a:p>
            <a:endParaRPr lang="it-IT" noProof="0" dirty="0"/>
          </a:p>
        </p:txBody>
      </p:sp>
      <p:sp>
        <p:nvSpPr>
          <p:cNvPr id="10" name="Text 7"/>
          <p:cNvSpPr/>
          <p:nvPr/>
        </p:nvSpPr>
        <p:spPr>
          <a:xfrm>
            <a:off x="6565900" y="5101580"/>
            <a:ext cx="4957699" cy="629920"/>
          </a:xfrm>
          <a:prstGeom prst="rect">
            <a:avLst/>
          </a:prstGeom>
          <a:noFill/>
          <a:ln/>
        </p:spPr>
        <p:txBody>
          <a:bodyPr wrap="square" lIns="0" tIns="0" rIns="0" bIns="0" rtlCol="0" anchor="t">
            <a:normAutofit/>
          </a:bodyPr>
          <a:lstStyle/>
          <a:p>
            <a:pPr marL="0" indent="0" algn="l">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Lavoriamo sempre nella nostra copia: labs/lab2/ospf. Nessun altro file va toccato.</a:t>
            </a:r>
            <a:endParaRPr lang="it-IT" sz="1800" noProof="0" dirty="0"/>
          </a:p>
        </p:txBody>
      </p:sp>
    </p:spTree>
    <p:extLst>
      <p:ext uri="{BB962C8B-B14F-4D97-AF65-F5344CB8AC3E}">
        <p14:creationId xmlns:p14="http://schemas.microsoft.com/office/powerpoint/2010/main" val="30212135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55">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Suggerimenti per il nuovo requisito</a:t>
            </a:r>
            <a:endParaRPr lang="it-IT" sz="4000" noProof="0" dirty="0"/>
          </a:p>
        </p:txBody>
      </p:sp>
      <p:sp>
        <p:nvSpPr>
          <p:cNvPr id="5" name="Text 3"/>
          <p:cNvSpPr/>
          <p:nvPr/>
        </p:nvSpPr>
        <p:spPr>
          <a:xfrm>
            <a:off x="812800" y="1940570"/>
            <a:ext cx="5572506"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B4502E"/>
                </a:solidFill>
                <a:latin typeface="IBM Plex Sans" pitchFamily="34" charset="0"/>
                <a:ea typeface="IBM Plex Sans" pitchFamily="34" charset="-122"/>
                <a:cs typeface="IBM Plex Sans" pitchFamily="34" charset="-120"/>
              </a:rPr>
              <a:t>1 ·</a:t>
            </a:r>
            <a:r>
              <a:rPr lang="it-IT" sz="2000" b="1" noProof="0" dirty="0">
                <a:solidFill>
                  <a:srgbClr val="1B1D20"/>
                </a:solidFill>
                <a:latin typeface="IBM Plex Sans" pitchFamily="34" charset="0"/>
                <a:ea typeface="IBM Plex Sans" pitchFamily="34" charset="-122"/>
                <a:cs typeface="IBM Plex Sans" pitchFamily="34" charset="-120"/>
              </a:rPr>
              <a:t> La sintassi che serve</a:t>
            </a:r>
            <a:endParaRPr lang="it-IT" sz="2000" noProof="0" dirty="0"/>
          </a:p>
        </p:txBody>
      </p:sp>
      <p:sp>
        <p:nvSpPr>
          <p:cNvPr id="6" name="Text 4"/>
          <p:cNvSpPr/>
          <p:nvPr/>
        </p:nvSpPr>
        <p:spPr>
          <a:xfrm>
            <a:off x="812800" y="2397770"/>
            <a:ext cx="5572506"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In </a:t>
            </a:r>
            <a:r>
              <a:rPr lang="it-IT" sz="1600" noProof="0" dirty="0" err="1">
                <a:solidFill>
                  <a:srgbClr val="1B1D20"/>
                </a:solidFill>
                <a:latin typeface="IBM Plex Sans" pitchFamily="34" charset="0"/>
                <a:ea typeface="IBM Plex Sans" pitchFamily="34" charset="-122"/>
                <a:cs typeface="IBM Plex Sans" pitchFamily="34" charset="-120"/>
              </a:rPr>
              <a:t>lab.conf</a:t>
            </a:r>
            <a:r>
              <a:rPr lang="it-IT" sz="1600" noProof="0" dirty="0">
                <a:solidFill>
                  <a:srgbClr val="1B1D20"/>
                </a:solidFill>
                <a:latin typeface="IBM Plex Sans" pitchFamily="34" charset="0"/>
                <a:ea typeface="IBM Plex Sans" pitchFamily="34" charset="-122"/>
                <a:cs typeface="IBM Plex Sans" pitchFamily="34" charset="-120"/>
              </a:rPr>
              <a:t> le interfacce sono numerate senza buchi: r4 ha già eth0 ed eth1, la nuova è </a:t>
            </a:r>
            <a:r>
              <a:rPr lang="it-IT" sz="1600" b="1" noProof="0" dirty="0">
                <a:solidFill>
                  <a:srgbClr val="1B1D20"/>
                </a:solidFill>
                <a:latin typeface="IBM Plex Sans" pitchFamily="34" charset="0"/>
                <a:ea typeface="IBM Plex Sans" pitchFamily="34" charset="-122"/>
                <a:cs typeface="IBM Plex Sans" pitchFamily="34" charset="-120"/>
              </a:rPr>
              <a:t>r4[2]</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7" name="Text 5"/>
          <p:cNvSpPr/>
          <p:nvPr/>
        </p:nvSpPr>
        <p:spPr>
          <a:xfrm>
            <a:off x="812800" y="3119115"/>
            <a:ext cx="5572506"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Un </a:t>
            </a:r>
            <a:r>
              <a:rPr lang="it-IT" sz="1600" noProof="0" dirty="0" err="1">
                <a:solidFill>
                  <a:srgbClr val="1B1D20"/>
                </a:solidFill>
                <a:latin typeface="IBM Plex Sans" pitchFamily="34" charset="0"/>
                <a:ea typeface="IBM Plex Sans" pitchFamily="34" charset="-122"/>
                <a:cs typeface="IBM Plex Sans" pitchFamily="34" charset="-120"/>
              </a:rPr>
              <a:t>host</a:t>
            </a:r>
            <a:r>
              <a:rPr lang="it-IT" sz="1600" noProof="0" dirty="0">
                <a:solidFill>
                  <a:srgbClr val="1B1D20"/>
                </a:solidFill>
                <a:latin typeface="IBM Plex Sans" pitchFamily="34" charset="0"/>
                <a:ea typeface="IBM Plex Sans" pitchFamily="34" charset="-122"/>
                <a:cs typeface="IBM Plex Sans" pitchFamily="34" charset="-120"/>
              </a:rPr>
              <a:t> vuole indirizzo e default </a:t>
            </a:r>
            <a:r>
              <a:rPr lang="it-IT" sz="1600" noProof="0" dirty="0" err="1">
                <a:solidFill>
                  <a:srgbClr val="1B1D20"/>
                </a:solidFill>
                <a:latin typeface="IBM Plex Sans" pitchFamily="34" charset="0"/>
                <a:ea typeface="IBM Plex Sans" pitchFamily="34" charset="-122"/>
                <a:cs typeface="IBM Plex Sans" pitchFamily="34" charset="-120"/>
              </a:rPr>
              <a:t>route</a:t>
            </a:r>
            <a:r>
              <a:rPr lang="it-IT" sz="1600" noProof="0" dirty="0">
                <a:solidFill>
                  <a:srgbClr val="1B1D20"/>
                </a:solidFill>
                <a:latin typeface="IBM Plex Sans" pitchFamily="34" charset="0"/>
                <a:ea typeface="IBM Plex Sans" pitchFamily="34" charset="-122"/>
                <a:cs typeface="IBM Plex Sans" pitchFamily="34" charset="-120"/>
              </a:rPr>
              <a:t>: copiamo lo schema di </a:t>
            </a:r>
            <a:r>
              <a:rPr lang="it-IT" sz="1600" noProof="0" dirty="0" err="1">
                <a:solidFill>
                  <a:srgbClr val="1B1D20"/>
                </a:solidFill>
                <a:latin typeface="IBM Plex Sans" pitchFamily="34" charset="0"/>
                <a:ea typeface="IBM Plex Sans" pitchFamily="34" charset="-122"/>
                <a:cs typeface="IBM Plex Sans" pitchFamily="34" charset="-120"/>
              </a:rPr>
              <a:t>pc_a.startup</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8" name="Text 6"/>
          <p:cNvSpPr/>
          <p:nvPr/>
        </p:nvSpPr>
        <p:spPr>
          <a:xfrm>
            <a:off x="812800" y="3840485"/>
            <a:ext cx="5572506"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In FRR, come le LAN di r1 e r3: </a:t>
            </a:r>
            <a:r>
              <a:rPr lang="it-IT" sz="1600" b="1" noProof="0" dirty="0" err="1">
                <a:solidFill>
                  <a:srgbClr val="1B1D20"/>
                </a:solidFill>
                <a:latin typeface="IBM Plex Sans" pitchFamily="34" charset="0"/>
                <a:ea typeface="IBM Plex Sans" pitchFamily="34" charset="-122"/>
                <a:cs typeface="IBM Plex Sans" pitchFamily="34" charset="-120"/>
              </a:rPr>
              <a:t>ip</a:t>
            </a:r>
            <a:r>
              <a:rPr lang="it-IT" sz="1600" b="1" noProof="0" dirty="0">
                <a:solidFill>
                  <a:srgbClr val="1B1D20"/>
                </a:solidFill>
                <a:latin typeface="IBM Plex Sans" pitchFamily="34" charset="0"/>
                <a:ea typeface="IBM Plex Sans" pitchFamily="34" charset="-122"/>
                <a:cs typeface="IBM Plex Sans" pitchFamily="34" charset="-120"/>
              </a:rPr>
              <a:t> </a:t>
            </a:r>
            <a:r>
              <a:rPr lang="it-IT" sz="1600" b="1" noProof="0" dirty="0" err="1">
                <a:solidFill>
                  <a:srgbClr val="1B1D20"/>
                </a:solidFill>
                <a:latin typeface="IBM Plex Sans" pitchFamily="34" charset="0"/>
                <a:ea typeface="IBM Plex Sans" pitchFamily="34" charset="-122"/>
                <a:cs typeface="IBM Plex Sans" pitchFamily="34" charset="-120"/>
              </a:rPr>
              <a:t>ospf</a:t>
            </a:r>
            <a:r>
              <a:rPr lang="it-IT" sz="1600" b="1" noProof="0" dirty="0">
                <a:solidFill>
                  <a:srgbClr val="1B1D20"/>
                </a:solidFill>
                <a:latin typeface="IBM Plex Sans" pitchFamily="34" charset="0"/>
                <a:ea typeface="IBM Plex Sans" pitchFamily="34" charset="-122"/>
                <a:cs typeface="IBM Plex Sans" pitchFamily="34" charset="-120"/>
              </a:rPr>
              <a:t> passive</a:t>
            </a:r>
            <a:r>
              <a:rPr lang="it-IT" sz="1600" noProof="0" dirty="0">
                <a:solidFill>
                  <a:srgbClr val="1B1D20"/>
                </a:solidFill>
                <a:latin typeface="IBM Plex Sans" pitchFamily="34" charset="0"/>
                <a:ea typeface="IBM Plex Sans" pitchFamily="34" charset="-122"/>
                <a:cs typeface="IBM Plex Sans" pitchFamily="34" charset="-120"/>
              </a:rPr>
              <a:t> sull’interfaccia e una </a:t>
            </a:r>
            <a:r>
              <a:rPr lang="it-IT" sz="1600" b="1" noProof="0" dirty="0">
                <a:solidFill>
                  <a:srgbClr val="1B1D20"/>
                </a:solidFill>
                <a:latin typeface="IBM Plex Sans" pitchFamily="34" charset="0"/>
                <a:ea typeface="IBM Plex Sans" pitchFamily="34" charset="-122"/>
                <a:cs typeface="IBM Plex Sans" pitchFamily="34" charset="-120"/>
              </a:rPr>
              <a:t>network</a:t>
            </a:r>
            <a:r>
              <a:rPr lang="it-IT" sz="1600" noProof="0" dirty="0">
                <a:solidFill>
                  <a:srgbClr val="1B1D20"/>
                </a:solidFill>
                <a:latin typeface="IBM Plex Sans" pitchFamily="34" charset="0"/>
                <a:ea typeface="IBM Plex Sans" pitchFamily="34" charset="-122"/>
                <a:cs typeface="IBM Plex Sans" pitchFamily="34" charset="-120"/>
              </a:rPr>
              <a:t> in router </a:t>
            </a:r>
            <a:r>
              <a:rPr lang="it-IT" sz="1600" noProof="0" dirty="0" err="1">
                <a:solidFill>
                  <a:srgbClr val="1B1D20"/>
                </a:solidFill>
                <a:latin typeface="IBM Plex Sans" pitchFamily="34" charset="0"/>
                <a:ea typeface="IBM Plex Sans" pitchFamily="34" charset="-122"/>
                <a:cs typeface="IBM Plex Sans" pitchFamily="34" charset="-120"/>
              </a:rPr>
              <a:t>ospf</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9" name="Shape 7"/>
          <p:cNvSpPr/>
          <p:nvPr/>
        </p:nvSpPr>
        <p:spPr>
          <a:xfrm>
            <a:off x="6530975" y="1940570"/>
            <a:ext cx="0" cy="2628900"/>
          </a:xfrm>
          <a:prstGeom prst="line">
            <a:avLst/>
          </a:prstGeom>
          <a:noFill/>
          <a:ln w="6350">
            <a:solidFill>
              <a:srgbClr val="CFCCC4"/>
            </a:solidFill>
            <a:prstDash val="solid"/>
          </a:ln>
        </p:spPr>
        <p:txBody>
          <a:bodyPr/>
          <a:lstStyle/>
          <a:p>
            <a:endParaRPr lang="it-IT" noProof="0" dirty="0"/>
          </a:p>
        </p:txBody>
      </p:sp>
      <p:sp>
        <p:nvSpPr>
          <p:cNvPr id="10" name="Text 8"/>
          <p:cNvSpPr/>
          <p:nvPr/>
        </p:nvSpPr>
        <p:spPr>
          <a:xfrm>
            <a:off x="6838950" y="1940570"/>
            <a:ext cx="4676458"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B4502E"/>
                </a:solidFill>
                <a:latin typeface="IBM Plex Sans" pitchFamily="34" charset="0"/>
                <a:ea typeface="IBM Plex Sans" pitchFamily="34" charset="-122"/>
                <a:cs typeface="IBM Plex Sans" pitchFamily="34" charset="-120"/>
              </a:rPr>
              <a:t>2 ·</a:t>
            </a:r>
            <a:r>
              <a:rPr lang="it-IT" sz="2000" b="1" noProof="0" dirty="0">
                <a:solidFill>
                  <a:srgbClr val="1B1D20"/>
                </a:solidFill>
                <a:latin typeface="IBM Plex Sans" pitchFamily="34" charset="0"/>
                <a:ea typeface="IBM Plex Sans" pitchFamily="34" charset="-122"/>
                <a:cs typeface="IBM Plex Sans" pitchFamily="34" charset="-120"/>
              </a:rPr>
              <a:t> Le righe da aggiungere su r4</a:t>
            </a:r>
            <a:endParaRPr lang="it-IT" sz="2000" noProof="0" dirty="0"/>
          </a:p>
        </p:txBody>
      </p:sp>
      <p:sp>
        <p:nvSpPr>
          <p:cNvPr id="11" name="Shape 9"/>
          <p:cNvSpPr/>
          <p:nvPr/>
        </p:nvSpPr>
        <p:spPr>
          <a:xfrm>
            <a:off x="6838950" y="2397770"/>
            <a:ext cx="4540250" cy="2171700"/>
          </a:xfrm>
          <a:prstGeom prst="rect">
            <a:avLst/>
          </a:prstGeom>
          <a:solidFill>
            <a:srgbClr val="17191C"/>
          </a:solidFill>
          <a:ln/>
        </p:spPr>
        <p:txBody>
          <a:bodyPr/>
          <a:lstStyle/>
          <a:p>
            <a:endParaRPr lang="it-IT" noProof="0" dirty="0"/>
          </a:p>
        </p:txBody>
      </p:sp>
      <p:sp>
        <p:nvSpPr>
          <p:cNvPr id="12" name="Text 10"/>
          <p:cNvSpPr/>
          <p:nvPr/>
        </p:nvSpPr>
        <p:spPr>
          <a:xfrm>
            <a:off x="7016750" y="2550170"/>
            <a:ext cx="4310190"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8A8F96"/>
                </a:solidFill>
                <a:latin typeface="JetBrains Mono" pitchFamily="49" charset="0"/>
                <a:ea typeface="JetBrains Mono" pitchFamily="49" charset="-122"/>
                <a:cs typeface="JetBrains Mono" pitchFamily="49" charset="-120"/>
              </a:rPr>
              <a:t>! LAN della sede C (CR-042)</a:t>
            </a:r>
            <a:endParaRPr lang="it-IT" sz="1600" noProof="0" dirty="0"/>
          </a:p>
        </p:txBody>
      </p:sp>
      <p:sp>
        <p:nvSpPr>
          <p:cNvPr id="13" name="Text 11"/>
          <p:cNvSpPr/>
          <p:nvPr/>
        </p:nvSpPr>
        <p:spPr>
          <a:xfrm>
            <a:off x="7016750" y="2816870"/>
            <a:ext cx="4310190" cy="1625600"/>
          </a:xfrm>
          <a:prstGeom prst="rect">
            <a:avLst/>
          </a:prstGeom>
          <a:noFill/>
          <a:ln/>
        </p:spPr>
        <p:txBody>
          <a:bodyPr wrap="square" lIns="0" tIns="0" rIns="0" bIns="0" rtlCol="0" anchor="t">
            <a:normAutofit/>
          </a:bodyPr>
          <a:lstStyle/>
          <a:p>
            <a:pPr marL="0" indent="0" algn="l">
              <a:lnSpc>
                <a:spcPts val="2100"/>
              </a:lnSpc>
              <a:buNone/>
            </a:pPr>
            <a:r>
              <a:rPr lang="it-IT" sz="1600" noProof="0" dirty="0" err="1">
                <a:solidFill>
                  <a:srgbClr val="F2F1EC"/>
                </a:solidFill>
                <a:latin typeface="JetBrains Mono" pitchFamily="49" charset="0"/>
                <a:ea typeface="JetBrains Mono" pitchFamily="49" charset="-122"/>
                <a:cs typeface="JetBrains Mono" pitchFamily="49" charset="-120"/>
              </a:rPr>
              <a:t>interface</a:t>
            </a:r>
            <a:r>
              <a:rPr lang="it-IT" sz="1600" noProof="0" dirty="0">
                <a:solidFill>
                  <a:srgbClr val="F2F1EC"/>
                </a:solidFill>
                <a:latin typeface="JetBrains Mono" pitchFamily="49" charset="0"/>
                <a:ea typeface="JetBrains Mono" pitchFamily="49" charset="-122"/>
                <a:cs typeface="JetBrains Mono" pitchFamily="49" charset="-120"/>
              </a:rPr>
              <a:t> eth2</a:t>
            </a:r>
            <a:endParaRPr lang="it-IT" sz="1600" noProof="0" dirty="0"/>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ospf</a:t>
            </a:r>
            <a:r>
              <a:rPr lang="it-IT" sz="1600" noProof="0" dirty="0">
                <a:solidFill>
                  <a:srgbClr val="F2F1EC"/>
                </a:solidFill>
                <a:latin typeface="JetBrains Mono" pitchFamily="49" charset="0"/>
                <a:ea typeface="JetBrains Mono" pitchFamily="49" charset="-122"/>
                <a:cs typeface="JetBrains Mono" pitchFamily="49" charset="-120"/>
              </a:rPr>
              <a:t> passive</a:t>
            </a:r>
            <a:endParaRPr lang="it-IT" sz="1600" noProof="0" dirty="0"/>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a:t>
            </a:r>
            <a:endParaRPr lang="it-IT" sz="1600" noProof="0" dirty="0"/>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router </a:t>
            </a:r>
            <a:r>
              <a:rPr lang="it-IT" sz="1600" noProof="0" dirty="0" err="1">
                <a:solidFill>
                  <a:srgbClr val="F2F1EC"/>
                </a:solidFill>
                <a:latin typeface="JetBrains Mono" pitchFamily="49" charset="0"/>
                <a:ea typeface="JetBrains Mono" pitchFamily="49" charset="-122"/>
                <a:cs typeface="JetBrains Mono" pitchFamily="49" charset="-120"/>
              </a:rPr>
              <a:t>ospf</a:t>
            </a:r>
            <a:endParaRPr lang="it-IT" sz="1600" noProof="0" dirty="0"/>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 ...</a:t>
            </a:r>
            <a:endParaRPr lang="it-IT" sz="1600" noProof="0" dirty="0"/>
          </a:p>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a:solidFill>
                  <a:srgbClr val="E37E5F"/>
                </a:solidFill>
                <a:latin typeface="JetBrains Mono" pitchFamily="49" charset="0"/>
                <a:ea typeface="JetBrains Mono" pitchFamily="49" charset="-122"/>
                <a:cs typeface="JetBrains Mono" pitchFamily="49" charset="-120"/>
              </a:rPr>
              <a:t>network 192.168.30.0/24 area 0</a:t>
            </a:r>
            <a:endParaRPr lang="it-IT" sz="1600" noProof="0" dirty="0"/>
          </a:p>
        </p:txBody>
      </p:sp>
    </p:spTree>
    <p:extLst>
      <p:ext uri="{BB962C8B-B14F-4D97-AF65-F5344CB8AC3E}">
        <p14:creationId xmlns:p14="http://schemas.microsoft.com/office/powerpoint/2010/main" val="31317834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Fase 4: verifichiamo il nuovo requisito</a:t>
            </a:r>
            <a:endParaRPr lang="it-IT" sz="4000" noProof="0" dirty="0"/>
          </a:p>
        </p:txBody>
      </p:sp>
      <p:sp>
        <p:nvSpPr>
          <p:cNvPr id="5" name="Shape 3"/>
          <p:cNvSpPr/>
          <p:nvPr/>
        </p:nvSpPr>
        <p:spPr>
          <a:xfrm>
            <a:off x="812800" y="1940570"/>
            <a:ext cx="6426200" cy="2286000"/>
          </a:xfrm>
          <a:prstGeom prst="rect">
            <a:avLst/>
          </a:prstGeom>
          <a:solidFill>
            <a:srgbClr val="17191C"/>
          </a:solidFill>
          <a:ln/>
        </p:spPr>
        <p:txBody>
          <a:bodyPr/>
          <a:lstStyle/>
          <a:p>
            <a:endParaRPr lang="it-IT" noProof="0" dirty="0"/>
          </a:p>
        </p:txBody>
      </p:sp>
      <p:pic>
        <p:nvPicPr>
          <p:cNvPr id="6" name="Image 0" descr="Terminale di pc_c: traceroute verso la sede A che passa da 192.168.30.1 e 10.0.0.14, e verso la sede B che passa da 192.168.30.1 e 10.0.0.9"/>
          <p:cNvPicPr>
            <a:picLocks noChangeAspect="1"/>
          </p:cNvPicPr>
          <p:nvPr/>
        </p:nvPicPr>
        <p:blipFill>
          <a:blip r:embed="rId3"/>
          <a:srcRect t="-2401" b="-2401"/>
          <a:stretch/>
        </p:blipFill>
        <p:spPr>
          <a:xfrm>
            <a:off x="812800" y="1940570"/>
            <a:ext cx="6426200" cy="2286000"/>
          </a:xfrm>
          <a:prstGeom prst="rect">
            <a:avLst/>
          </a:prstGeom>
        </p:spPr>
      </p:pic>
      <p:sp>
        <p:nvSpPr>
          <p:cNvPr id="7" name="Shape 4"/>
          <p:cNvSpPr/>
          <p:nvPr/>
        </p:nvSpPr>
        <p:spPr>
          <a:xfrm>
            <a:off x="812800" y="4378970"/>
            <a:ext cx="6426200" cy="787400"/>
          </a:xfrm>
          <a:prstGeom prst="rect">
            <a:avLst/>
          </a:prstGeom>
          <a:solidFill>
            <a:srgbClr val="17191C"/>
          </a:solidFill>
          <a:ln/>
        </p:spPr>
        <p:txBody>
          <a:bodyPr/>
          <a:lstStyle/>
          <a:p>
            <a:endParaRPr lang="it-IT" noProof="0" dirty="0"/>
          </a:p>
        </p:txBody>
      </p:sp>
      <p:sp>
        <p:nvSpPr>
          <p:cNvPr id="8" name="Text 5"/>
          <p:cNvSpPr/>
          <p:nvPr/>
        </p:nvSpPr>
        <p:spPr>
          <a:xfrm>
            <a:off x="965200" y="4505970"/>
            <a:ext cx="6305042"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8A8F96"/>
                </a:solidFill>
                <a:latin typeface="JetBrains Mono" pitchFamily="49" charset="0"/>
                <a:ea typeface="JetBrains Mono" pitchFamily="49" charset="-122"/>
                <a:cs typeface="JetBrains Mono" pitchFamily="49" charset="-120"/>
              </a:rPr>
              <a:t># non regressione: da </a:t>
            </a:r>
            <a:r>
              <a:rPr lang="it-IT" sz="1600" noProof="0" dirty="0" err="1">
                <a:solidFill>
                  <a:srgbClr val="8A8F96"/>
                </a:solidFill>
                <a:latin typeface="JetBrains Mono" pitchFamily="49" charset="0"/>
                <a:ea typeface="JetBrains Mono" pitchFamily="49" charset="-122"/>
                <a:cs typeface="JetBrains Mono" pitchFamily="49" charset="-120"/>
              </a:rPr>
              <a:t>pc_a</a:t>
            </a:r>
            <a:r>
              <a:rPr lang="it-IT" sz="1600" noProof="0" dirty="0">
                <a:solidFill>
                  <a:srgbClr val="8A8F96"/>
                </a:solidFill>
                <a:latin typeface="JetBrains Mono" pitchFamily="49" charset="0"/>
                <a:ea typeface="JetBrains Mono" pitchFamily="49" charset="-122"/>
                <a:cs typeface="JetBrains Mono" pitchFamily="49" charset="-120"/>
              </a:rPr>
              <a:t> verso la sede B</a:t>
            </a:r>
            <a:endParaRPr lang="it-IT" sz="1600" noProof="0" dirty="0"/>
          </a:p>
        </p:txBody>
      </p:sp>
      <p:sp>
        <p:nvSpPr>
          <p:cNvPr id="9" name="Text 6"/>
          <p:cNvSpPr/>
          <p:nvPr/>
        </p:nvSpPr>
        <p:spPr>
          <a:xfrm>
            <a:off x="965200" y="4772670"/>
            <a:ext cx="6305042"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kathara </a:t>
            </a:r>
            <a:r>
              <a:rPr lang="it-IT" sz="1600" noProof="0" dirty="0" err="1">
                <a:solidFill>
                  <a:srgbClr val="F2F1EC"/>
                </a:solidFill>
                <a:latin typeface="JetBrains Mono" pitchFamily="49" charset="0"/>
                <a:ea typeface="JetBrains Mono" pitchFamily="49" charset="-122"/>
                <a:cs typeface="JetBrains Mono" pitchFamily="49" charset="-120"/>
              </a:rPr>
              <a:t>exec</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pc_a</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traceroute</a:t>
            </a:r>
            <a:r>
              <a:rPr lang="it-IT" sz="1600" noProof="0" dirty="0">
                <a:solidFill>
                  <a:srgbClr val="F2F1EC"/>
                </a:solidFill>
                <a:latin typeface="JetBrains Mono" pitchFamily="49" charset="0"/>
                <a:ea typeface="JetBrains Mono" pitchFamily="49" charset="-122"/>
                <a:cs typeface="JetBrains Mono" pitchFamily="49" charset="-120"/>
              </a:rPr>
              <a:t> -n 192.168.20.10"</a:t>
            </a:r>
            <a:endParaRPr lang="it-IT" sz="1600" noProof="0" dirty="0"/>
          </a:p>
        </p:txBody>
      </p:sp>
      <p:sp>
        <p:nvSpPr>
          <p:cNvPr id="10" name="Shape 7"/>
          <p:cNvSpPr/>
          <p:nvPr/>
        </p:nvSpPr>
        <p:spPr>
          <a:xfrm>
            <a:off x="7546975" y="1940570"/>
            <a:ext cx="0" cy="3225800"/>
          </a:xfrm>
          <a:prstGeom prst="line">
            <a:avLst/>
          </a:prstGeom>
          <a:noFill/>
          <a:ln w="6350">
            <a:solidFill>
              <a:srgbClr val="CFCCC4"/>
            </a:solidFill>
            <a:prstDash val="solid"/>
          </a:ln>
        </p:spPr>
        <p:txBody>
          <a:bodyPr/>
          <a:lstStyle/>
          <a:p>
            <a:endParaRPr lang="it-IT" noProof="0" dirty="0"/>
          </a:p>
        </p:txBody>
      </p:sp>
      <p:sp>
        <p:nvSpPr>
          <p:cNvPr id="11" name="Text 8"/>
          <p:cNvSpPr/>
          <p:nvPr/>
        </p:nvSpPr>
        <p:spPr>
          <a:xfrm>
            <a:off x="7854950" y="1940570"/>
            <a:ext cx="3629978"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B4502E"/>
                </a:solidFill>
                <a:latin typeface="IBM Plex Sans" pitchFamily="34" charset="0"/>
                <a:ea typeface="IBM Plex Sans" pitchFamily="34" charset="-122"/>
                <a:cs typeface="IBM Plex Sans" pitchFamily="34" charset="-120"/>
              </a:rPr>
              <a:t>Verso la sede A</a:t>
            </a:r>
            <a:endParaRPr lang="it-IT" sz="1800" noProof="0" dirty="0"/>
          </a:p>
        </p:txBody>
      </p:sp>
      <p:sp>
        <p:nvSpPr>
          <p:cNvPr id="12" name="Text 9"/>
          <p:cNvSpPr/>
          <p:nvPr/>
        </p:nvSpPr>
        <p:spPr>
          <a:xfrm>
            <a:off x="7854950" y="2265685"/>
            <a:ext cx="3629978"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Da r4 a r1: secondo hop </a:t>
            </a:r>
            <a:r>
              <a:rPr lang="it-IT" sz="1600" noProof="0" dirty="0">
                <a:solidFill>
                  <a:srgbClr val="B4502E"/>
                </a:solidFill>
                <a:latin typeface="IBM Plex Sans" pitchFamily="34" charset="0"/>
                <a:ea typeface="IBM Plex Sans" pitchFamily="34" charset="-122"/>
                <a:cs typeface="IBM Plex Sans" pitchFamily="34" charset="-120"/>
              </a:rPr>
              <a:t>10.0.0.14</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13" name="Text 10"/>
          <p:cNvSpPr/>
          <p:nvPr/>
        </p:nvSpPr>
        <p:spPr>
          <a:xfrm>
            <a:off x="7854950" y="2778770"/>
            <a:ext cx="3629978"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B4502E"/>
                </a:solidFill>
                <a:latin typeface="IBM Plex Sans" pitchFamily="34" charset="0"/>
                <a:ea typeface="IBM Plex Sans" pitchFamily="34" charset="-122"/>
                <a:cs typeface="IBM Plex Sans" pitchFamily="34" charset="-120"/>
              </a:rPr>
              <a:t>Verso la sede B</a:t>
            </a:r>
            <a:endParaRPr lang="it-IT" sz="1800" noProof="0" dirty="0"/>
          </a:p>
        </p:txBody>
      </p:sp>
      <p:sp>
        <p:nvSpPr>
          <p:cNvPr id="14" name="Text 11"/>
          <p:cNvSpPr/>
          <p:nvPr/>
        </p:nvSpPr>
        <p:spPr>
          <a:xfrm>
            <a:off x="7854950" y="3103885"/>
            <a:ext cx="3629978"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Da r4 a r3: secondo hop </a:t>
            </a:r>
            <a:r>
              <a:rPr lang="it-IT" sz="1600" noProof="0" dirty="0">
                <a:solidFill>
                  <a:srgbClr val="B4502E"/>
                </a:solidFill>
                <a:latin typeface="IBM Plex Sans" pitchFamily="34" charset="0"/>
                <a:ea typeface="IBM Plex Sans" pitchFamily="34" charset="-122"/>
                <a:cs typeface="IBM Plex Sans" pitchFamily="34" charset="-120"/>
              </a:rPr>
              <a:t>10.0.0.9</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15" name="Shape 12"/>
          <p:cNvSpPr/>
          <p:nvPr/>
        </p:nvSpPr>
        <p:spPr>
          <a:xfrm>
            <a:off x="7854950" y="3623320"/>
            <a:ext cx="3524250" cy="0"/>
          </a:xfrm>
          <a:prstGeom prst="line">
            <a:avLst/>
          </a:prstGeom>
          <a:noFill/>
          <a:ln w="12700">
            <a:solidFill>
              <a:srgbClr val="2B6CA3"/>
            </a:solidFill>
            <a:prstDash val="solid"/>
          </a:ln>
        </p:spPr>
        <p:txBody>
          <a:bodyPr/>
          <a:lstStyle/>
          <a:p>
            <a:endParaRPr lang="it-IT" noProof="0" dirty="0"/>
          </a:p>
        </p:txBody>
      </p:sp>
      <p:sp>
        <p:nvSpPr>
          <p:cNvPr id="16" name="Text 13"/>
          <p:cNvSpPr/>
          <p:nvPr/>
        </p:nvSpPr>
        <p:spPr>
          <a:xfrm>
            <a:off x="7854950" y="3782070"/>
            <a:ext cx="3629978"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2B6CA3"/>
                </a:solidFill>
                <a:latin typeface="IBM Plex Sans" pitchFamily="34" charset="0"/>
                <a:ea typeface="IBM Plex Sans" pitchFamily="34" charset="-122"/>
                <a:cs typeface="IBM Plex Sans" pitchFamily="34" charset="-120"/>
              </a:rPr>
              <a:t>Non regressione</a:t>
            </a:r>
            <a:endParaRPr lang="it-IT" sz="1800" noProof="0" dirty="0"/>
          </a:p>
        </p:txBody>
      </p:sp>
      <p:sp>
        <p:nvSpPr>
          <p:cNvPr id="17" name="Text 14"/>
          <p:cNvSpPr/>
          <p:nvPr/>
        </p:nvSpPr>
        <p:spPr>
          <a:xfrm>
            <a:off x="7854950" y="4107185"/>
            <a:ext cx="3629978"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Da </a:t>
            </a:r>
            <a:r>
              <a:rPr lang="it-IT" sz="1600" noProof="0" dirty="0" err="1">
                <a:solidFill>
                  <a:srgbClr val="1B1D20"/>
                </a:solidFill>
                <a:latin typeface="IBM Plex Sans" pitchFamily="34" charset="0"/>
                <a:ea typeface="IBM Plex Sans" pitchFamily="34" charset="-122"/>
                <a:cs typeface="IBM Plex Sans" pitchFamily="34" charset="-120"/>
              </a:rPr>
              <a:t>pc_a</a:t>
            </a:r>
            <a:r>
              <a:rPr lang="it-IT" sz="1600" noProof="0" dirty="0">
                <a:solidFill>
                  <a:srgbClr val="1B1D20"/>
                </a:solidFill>
                <a:latin typeface="IBM Plex Sans" pitchFamily="34" charset="0"/>
                <a:ea typeface="IBM Plex Sans" pitchFamily="34" charset="-122"/>
                <a:cs typeface="IBM Plex Sans" pitchFamily="34" charset="-120"/>
              </a:rPr>
              <a:t> verso la B, il secondo hop resta 10.0.0.2 (r2).</a:t>
            </a:r>
            <a:endParaRPr lang="it-IT" sz="1600" noProof="0" dirty="0"/>
          </a:p>
        </p:txBody>
      </p:sp>
    </p:spTree>
    <p:extLst>
      <p:ext uri="{BB962C8B-B14F-4D97-AF65-F5344CB8AC3E}">
        <p14:creationId xmlns:p14="http://schemas.microsoft.com/office/powerpoint/2010/main" val="40013494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7">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Il collaudo con il </a:t>
            </a:r>
            <a:r>
              <a:rPr lang="it-IT" sz="4000" b="1" i="0" noProof="0" dirty="0" err="1">
                <a:solidFill>
                  <a:srgbClr val="1B1D20"/>
                </a:solidFill>
                <a:latin typeface="IBM Plex Sans" pitchFamily="34" charset="0"/>
                <a:ea typeface="IBM Plex Sans" pitchFamily="34" charset="-122"/>
                <a:cs typeface="IBM Plex Sans" pitchFamily="34" charset="-120"/>
              </a:rPr>
              <a:t>checker</a:t>
            </a:r>
            <a:endParaRPr lang="it-IT" sz="4000" noProof="0" dirty="0"/>
          </a:p>
        </p:txBody>
      </p:sp>
      <p:sp>
        <p:nvSpPr>
          <p:cNvPr id="5" name="Shape 3"/>
          <p:cNvSpPr/>
          <p:nvPr/>
        </p:nvSpPr>
        <p:spPr>
          <a:xfrm>
            <a:off x="812800" y="1835150"/>
            <a:ext cx="10566400" cy="1206500"/>
          </a:xfrm>
          <a:prstGeom prst="rect">
            <a:avLst/>
          </a:prstGeom>
          <a:solidFill>
            <a:srgbClr val="17191C"/>
          </a:solidFill>
          <a:ln/>
        </p:spPr>
        <p:txBody>
          <a:bodyPr/>
          <a:lstStyle/>
          <a:p>
            <a:endParaRPr lang="it-IT" noProof="0" dirty="0"/>
          </a:p>
        </p:txBody>
      </p:sp>
      <p:sp>
        <p:nvSpPr>
          <p:cNvPr id="15" name="Text 13"/>
          <p:cNvSpPr/>
          <p:nvPr/>
        </p:nvSpPr>
        <p:spPr>
          <a:xfrm>
            <a:off x="990600" y="1962150"/>
            <a:ext cx="10517124" cy="264795"/>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8A8F96"/>
                </a:solidFill>
                <a:latin typeface="JetBrains Mono" pitchFamily="49" charset="0"/>
                <a:ea typeface="JetBrains Mono" pitchFamily="49" charset="-122"/>
                <a:cs typeface="JetBrains Mono" pitchFamily="49" charset="-120"/>
              </a:rPr>
              <a:t># dalla radice del repository, </a:t>
            </a:r>
            <a:r>
              <a:rPr lang="it-IT" sz="1600" noProof="0" dirty="0" err="1">
                <a:solidFill>
                  <a:srgbClr val="8A8F96"/>
                </a:solidFill>
                <a:latin typeface="JetBrains Mono" pitchFamily="49" charset="0"/>
                <a:ea typeface="JetBrains Mono" pitchFamily="49" charset="-122"/>
                <a:cs typeface="JetBrains Mono" pitchFamily="49" charset="-120"/>
              </a:rPr>
              <a:t>virtualenv</a:t>
            </a:r>
            <a:r>
              <a:rPr lang="it-IT" sz="1600" noProof="0" dirty="0">
                <a:solidFill>
                  <a:srgbClr val="8A8F96"/>
                </a:solidFill>
                <a:latin typeface="JetBrains Mono" pitchFamily="49" charset="0"/>
                <a:ea typeface="JetBrains Mono" pitchFamily="49" charset="-122"/>
                <a:cs typeface="JetBrains Mono" pitchFamily="49" charset="-120"/>
              </a:rPr>
              <a:t> attivo</a:t>
            </a:r>
            <a:endParaRPr lang="it-IT" sz="1600" noProof="0" dirty="0"/>
          </a:p>
        </p:txBody>
      </p:sp>
      <p:sp>
        <p:nvSpPr>
          <p:cNvPr id="6" name="Text 4"/>
          <p:cNvSpPr/>
          <p:nvPr/>
        </p:nvSpPr>
        <p:spPr>
          <a:xfrm>
            <a:off x="990600" y="2203450"/>
            <a:ext cx="10517124" cy="26035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kathara </a:t>
            </a:r>
            <a:r>
              <a:rPr lang="it-IT" sz="1600" noProof="0" dirty="0" err="1">
                <a:solidFill>
                  <a:srgbClr val="F2F1EC"/>
                </a:solidFill>
                <a:latin typeface="JetBrains Mono" pitchFamily="49" charset="0"/>
                <a:ea typeface="JetBrains Mono" pitchFamily="49" charset="-122"/>
                <a:cs typeface="JetBrains Mono" pitchFamily="49" charset="-120"/>
              </a:rPr>
              <a:t>lclean</a:t>
            </a:r>
            <a:r>
              <a:rPr lang="it-IT" sz="1600" noProof="0" dirty="0">
                <a:solidFill>
                  <a:srgbClr val="F2F1EC"/>
                </a:solidFill>
                <a:latin typeface="JetBrains Mono" pitchFamily="49" charset="0"/>
                <a:ea typeface="JetBrains Mono" pitchFamily="49" charset="-122"/>
                <a:cs typeface="JetBrains Mono" pitchFamily="49" charset="-120"/>
              </a:rPr>
              <a:t> -d labs/lab2/ospf</a:t>
            </a:r>
            <a:endParaRPr lang="it-IT" sz="1600" noProof="0" dirty="0"/>
          </a:p>
        </p:txBody>
      </p:sp>
      <p:sp>
        <p:nvSpPr>
          <p:cNvPr id="7" name="Text 5"/>
          <p:cNvSpPr/>
          <p:nvPr/>
        </p:nvSpPr>
        <p:spPr>
          <a:xfrm>
            <a:off x="990600" y="2444750"/>
            <a:ext cx="10517124"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python</a:t>
            </a:r>
            <a:r>
              <a:rPr lang="it-IT" sz="1600" noProof="0" dirty="0">
                <a:solidFill>
                  <a:srgbClr val="F2F1EC"/>
                </a:solidFill>
                <a:latin typeface="JetBrains Mono" pitchFamily="49" charset="0"/>
                <a:ea typeface="JetBrains Mono" pitchFamily="49" charset="-122"/>
                <a:cs typeface="JetBrains Mono" pitchFamily="49" charset="-120"/>
              </a:rPr>
              <a:t> -m </a:t>
            </a:r>
            <a:r>
              <a:rPr lang="it-IT" sz="1600" noProof="0" dirty="0" err="1">
                <a:solidFill>
                  <a:srgbClr val="F2F1EC"/>
                </a:solidFill>
                <a:latin typeface="JetBrains Mono" pitchFamily="49" charset="0"/>
                <a:ea typeface="JetBrains Mono" pitchFamily="49" charset="-122"/>
                <a:cs typeface="JetBrains Mono" pitchFamily="49" charset="-120"/>
              </a:rPr>
              <a:t>kathara_lab_checker</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config</a:t>
            </a:r>
            <a:r>
              <a:rPr lang="it-IT" sz="1600" noProof="0" dirty="0">
                <a:solidFill>
                  <a:srgbClr val="F2F1EC"/>
                </a:solidFill>
                <a:latin typeface="JetBrains Mono" pitchFamily="49" charset="0"/>
                <a:ea typeface="JetBrains Mono" pitchFamily="49" charset="-122"/>
                <a:cs typeface="JetBrains Mono" pitchFamily="49" charset="-120"/>
              </a:rPr>
              <a:t> lab2-digital-twin/</a:t>
            </a:r>
            <a:r>
              <a:rPr lang="it-IT" sz="1600" noProof="0" dirty="0" err="1">
                <a:solidFill>
                  <a:srgbClr val="F2F1EC"/>
                </a:solidFill>
                <a:latin typeface="JetBrains Mono" pitchFamily="49" charset="0"/>
                <a:ea typeface="JetBrains Mono" pitchFamily="49" charset="-122"/>
                <a:cs typeface="JetBrains Mono" pitchFamily="49" charset="-120"/>
              </a:rPr>
              <a:t>checker</a:t>
            </a:r>
            <a:r>
              <a:rPr lang="it-IT" sz="1600" noProof="0" dirty="0">
                <a:solidFill>
                  <a:srgbClr val="F2F1EC"/>
                </a:solidFill>
                <a:latin typeface="JetBrains Mono" pitchFamily="49" charset="0"/>
                <a:ea typeface="JetBrains Mono" pitchFamily="49" charset="-122"/>
                <a:cs typeface="JetBrains Mono" pitchFamily="49" charset="-120"/>
              </a:rPr>
              <a:t>/</a:t>
            </a:r>
            <a:r>
              <a:rPr lang="it-IT" sz="1600" noProof="0" dirty="0" err="1">
                <a:solidFill>
                  <a:srgbClr val="F2F1EC"/>
                </a:solidFill>
                <a:latin typeface="JetBrains Mono" pitchFamily="49" charset="0"/>
                <a:ea typeface="JetBrains Mono" pitchFamily="49" charset="-122"/>
                <a:cs typeface="JetBrains Mono" pitchFamily="49" charset="-120"/>
              </a:rPr>
              <a:t>correction.yaml</a:t>
            </a:r>
            <a:r>
              <a:rPr lang="it-IT" sz="1600" noProof="0" dirty="0">
                <a:solidFill>
                  <a:srgbClr val="F2F1EC"/>
                </a:solidFill>
                <a:latin typeface="JetBrains Mono" pitchFamily="49" charset="0"/>
                <a:ea typeface="JetBrains Mono" pitchFamily="49" charset="-122"/>
                <a:cs typeface="JetBrains Mono" pitchFamily="49" charset="-120"/>
              </a:rPr>
              <a:t> --lab labs/lab2/ospf </a:t>
            </a:r>
            <a:r>
              <a:rPr lang="it-IT" sz="1600" noProof="0" dirty="0">
                <a:solidFill>
                  <a:srgbClr val="E37E5F"/>
                </a:solidFill>
                <a:latin typeface="JetBrains Mono" pitchFamily="49" charset="0"/>
                <a:ea typeface="JetBrains Mono" pitchFamily="49" charset="-122"/>
                <a:cs typeface="JetBrains Mono" pitchFamily="49" charset="-120"/>
              </a:rPr>
              <a:t>--no-cache</a:t>
            </a:r>
            <a:r>
              <a:rPr lang="it-IT" sz="1600" noProof="0" dirty="0">
                <a:solidFill>
                  <a:srgbClr val="F2F1EC"/>
                </a:solidFill>
                <a:latin typeface="JetBrains Mono" pitchFamily="49" charset="0"/>
                <a:ea typeface="JetBrains Mono" pitchFamily="49" charset="-122"/>
                <a:cs typeface="JetBrains Mono" pitchFamily="49" charset="-120"/>
              </a:rPr>
              <a:t> --report-</a:t>
            </a:r>
            <a:r>
              <a:rPr lang="it-IT" sz="1600" noProof="0" dirty="0" err="1">
                <a:solidFill>
                  <a:srgbClr val="F2F1EC"/>
                </a:solidFill>
                <a:latin typeface="JetBrains Mono" pitchFamily="49" charset="0"/>
                <a:ea typeface="JetBrains Mono" pitchFamily="49" charset="-122"/>
                <a:cs typeface="JetBrains Mono" pitchFamily="49" charset="-120"/>
              </a:rPr>
              <a:t>type</a:t>
            </a:r>
            <a:r>
              <a:rPr lang="it-IT" sz="1600" noProof="0" dirty="0">
                <a:solidFill>
                  <a:srgbClr val="F2F1EC"/>
                </a:solidFill>
                <a:latin typeface="JetBrains Mono" pitchFamily="49" charset="0"/>
                <a:ea typeface="JetBrains Mono" pitchFamily="49" charset="-122"/>
                <a:cs typeface="JetBrains Mono" pitchFamily="49" charset="-120"/>
              </a:rPr>
              <a:t> csv</a:t>
            </a:r>
            <a:endParaRPr lang="it-IT" sz="1600" noProof="0" dirty="0"/>
          </a:p>
        </p:txBody>
      </p:sp>
      <p:sp>
        <p:nvSpPr>
          <p:cNvPr id="8" name="Text 6"/>
          <p:cNvSpPr/>
          <p:nvPr/>
        </p:nvSpPr>
        <p:spPr>
          <a:xfrm>
            <a:off x="812800" y="3350270"/>
            <a:ext cx="5124482"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B4502E"/>
                </a:solidFill>
                <a:latin typeface="IBM Plex Sans" pitchFamily="34" charset="0"/>
                <a:ea typeface="IBM Plex Sans" pitchFamily="34" charset="-122"/>
                <a:cs typeface="IBM Plex Sans" pitchFamily="34" charset="-120"/>
              </a:rPr>
              <a:t>Il nuovo requisito</a:t>
            </a:r>
            <a:endParaRPr lang="it-IT" sz="2000" noProof="0" dirty="0"/>
          </a:p>
        </p:txBody>
      </p:sp>
      <p:sp>
        <p:nvSpPr>
          <p:cNvPr id="9" name="Text 7"/>
          <p:cNvSpPr/>
          <p:nvPr/>
        </p:nvSpPr>
        <p:spPr>
          <a:xfrm>
            <a:off x="812800" y="3731270"/>
            <a:ext cx="5124482" cy="878840"/>
          </a:xfrm>
          <a:prstGeom prst="rect">
            <a:avLst/>
          </a:prstGeom>
          <a:noFill/>
          <a:ln/>
        </p:spPr>
        <p:txBody>
          <a:bodyPr wrap="square" lIns="0" tIns="0" rIns="0" bIns="0" rtlCol="0" anchor="t">
            <a:normAutofit/>
          </a:bodyPr>
          <a:lstStyle/>
          <a:p>
            <a:pPr marL="0" indent="0" algn="l">
              <a:lnSpc>
                <a:spcPts val="2240"/>
              </a:lnSpc>
              <a:buNone/>
            </a:pPr>
            <a:r>
              <a:rPr lang="it-IT" sz="1600" noProof="0" dirty="0" err="1">
                <a:solidFill>
                  <a:srgbClr val="1B1D20"/>
                </a:solidFill>
                <a:latin typeface="IBM Plex Sans" pitchFamily="34" charset="0"/>
                <a:ea typeface="IBM Plex Sans" pitchFamily="34" charset="-122"/>
                <a:cs typeface="IBM Plex Sans" pitchFamily="34" charset="-120"/>
              </a:rPr>
              <a:t>pc_c</a:t>
            </a:r>
            <a:r>
              <a:rPr lang="it-IT" sz="1600" noProof="0" dirty="0">
                <a:solidFill>
                  <a:srgbClr val="1B1D20"/>
                </a:solidFill>
                <a:latin typeface="IBM Plex Sans" pitchFamily="34" charset="0"/>
                <a:ea typeface="IBM Plex Sans" pitchFamily="34" charset="-122"/>
                <a:cs typeface="IBM Plex Sans" pitchFamily="34" charset="-120"/>
              </a:rPr>
              <a:t> e </a:t>
            </a:r>
            <a:r>
              <a:rPr lang="it-IT" sz="1600" noProof="0" dirty="0" err="1">
                <a:solidFill>
                  <a:srgbClr val="1B1D20"/>
                </a:solidFill>
                <a:latin typeface="IBM Plex Sans" pitchFamily="34" charset="0"/>
                <a:ea typeface="IBM Plex Sans" pitchFamily="34" charset="-122"/>
                <a:cs typeface="IBM Plex Sans" pitchFamily="34" charset="-120"/>
              </a:rPr>
              <a:t>lanC</a:t>
            </a:r>
            <a:r>
              <a:rPr lang="it-IT" sz="1600" noProof="0" dirty="0">
                <a:solidFill>
                  <a:srgbClr val="1B1D20"/>
                </a:solidFill>
                <a:latin typeface="IBM Plex Sans" pitchFamily="34" charset="0"/>
                <a:ea typeface="IBM Plex Sans" pitchFamily="34" charset="-122"/>
                <a:cs typeface="IBM Plex Sans" pitchFamily="34" charset="-120"/>
              </a:rPr>
              <a:t> con i loro indirizzi · eth2 di r4 passiva · la nuova rotta su tutti i router · le tre sedi raggiungibili · i percorsi da </a:t>
            </a:r>
            <a:r>
              <a:rPr lang="it-IT" sz="1600" noProof="0" dirty="0" err="1">
                <a:solidFill>
                  <a:srgbClr val="1B1D20"/>
                </a:solidFill>
                <a:latin typeface="IBM Plex Sans" pitchFamily="34" charset="0"/>
                <a:ea typeface="IBM Plex Sans" pitchFamily="34" charset="-122"/>
                <a:cs typeface="IBM Plex Sans" pitchFamily="34" charset="-120"/>
              </a:rPr>
              <a:t>pc_c</a:t>
            </a:r>
            <a:endParaRPr lang="it-IT" sz="1600" noProof="0" dirty="0"/>
          </a:p>
        </p:txBody>
      </p:sp>
      <p:sp>
        <p:nvSpPr>
          <p:cNvPr id="10" name="Shape 8"/>
          <p:cNvSpPr/>
          <p:nvPr/>
        </p:nvSpPr>
        <p:spPr>
          <a:xfrm>
            <a:off x="6096000" y="3350270"/>
            <a:ext cx="0" cy="1234440"/>
          </a:xfrm>
          <a:prstGeom prst="line">
            <a:avLst/>
          </a:prstGeom>
          <a:noFill/>
          <a:ln w="6350">
            <a:solidFill>
              <a:srgbClr val="CFCCC4"/>
            </a:solidFill>
            <a:prstDash val="solid"/>
          </a:ln>
        </p:spPr>
        <p:txBody>
          <a:bodyPr/>
          <a:lstStyle/>
          <a:p>
            <a:endParaRPr lang="it-IT" noProof="0" dirty="0"/>
          </a:p>
        </p:txBody>
      </p:sp>
      <p:sp>
        <p:nvSpPr>
          <p:cNvPr id="11" name="Text 9"/>
          <p:cNvSpPr/>
          <p:nvPr/>
        </p:nvSpPr>
        <p:spPr>
          <a:xfrm>
            <a:off x="6403975" y="3350270"/>
            <a:ext cx="5124482"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2B6CA3"/>
                </a:solidFill>
                <a:latin typeface="IBM Plex Sans" pitchFamily="34" charset="0"/>
                <a:ea typeface="IBM Plex Sans" pitchFamily="34" charset="-122"/>
                <a:cs typeface="IBM Plex Sans" pitchFamily="34" charset="-120"/>
              </a:rPr>
              <a:t>La non regressione</a:t>
            </a:r>
            <a:endParaRPr lang="it-IT" sz="2000" noProof="0" dirty="0"/>
          </a:p>
        </p:txBody>
      </p:sp>
      <p:sp>
        <p:nvSpPr>
          <p:cNvPr id="12" name="Text 10"/>
          <p:cNvSpPr/>
          <p:nvPr/>
        </p:nvSpPr>
        <p:spPr>
          <a:xfrm>
            <a:off x="6403975" y="3731270"/>
            <a:ext cx="5124482" cy="87884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1B1D20"/>
                </a:solidFill>
                <a:latin typeface="IBM Plex Sans" pitchFamily="34" charset="0"/>
                <a:ea typeface="IBM Plex Sans" pitchFamily="34" charset="-122"/>
                <a:cs typeface="IBM Plex Sans" pitchFamily="34" charset="-120"/>
              </a:rPr>
              <a:t>Adiacenze, costi e punto-punto invariati · tabelle di routing complete · </a:t>
            </a:r>
            <a:r>
              <a:rPr lang="it-IT" sz="1600" noProof="0" dirty="0" err="1">
                <a:solidFill>
                  <a:srgbClr val="1B1D20"/>
                </a:solidFill>
                <a:latin typeface="IBM Plex Sans" pitchFamily="34" charset="0"/>
                <a:ea typeface="IBM Plex Sans" pitchFamily="34" charset="-122"/>
                <a:cs typeface="IBM Plex Sans" pitchFamily="34" charset="-120"/>
              </a:rPr>
              <a:t>loopback</a:t>
            </a:r>
            <a:r>
              <a:rPr lang="it-IT" sz="1600" noProof="0" dirty="0">
                <a:solidFill>
                  <a:srgbClr val="1B1D20"/>
                </a:solidFill>
                <a:latin typeface="IBM Plex Sans" pitchFamily="34" charset="0"/>
                <a:ea typeface="IBM Plex Sans" pitchFamily="34" charset="-122"/>
                <a:cs typeface="IBM Plex Sans" pitchFamily="34" charset="-120"/>
              </a:rPr>
              <a:t> raggiungibili · A↔B ancora via r2</a:t>
            </a:r>
            <a:endParaRPr lang="it-IT" sz="1600" noProof="0" dirty="0"/>
          </a:p>
        </p:txBody>
      </p:sp>
      <p:sp>
        <p:nvSpPr>
          <p:cNvPr id="13" name="Shape 11"/>
          <p:cNvSpPr/>
          <p:nvPr/>
        </p:nvSpPr>
        <p:spPr>
          <a:xfrm>
            <a:off x="831850" y="5186685"/>
            <a:ext cx="0" cy="655320"/>
          </a:xfrm>
          <a:prstGeom prst="line">
            <a:avLst/>
          </a:prstGeom>
          <a:noFill/>
          <a:ln w="38100">
            <a:solidFill>
              <a:srgbClr val="E37E5F"/>
            </a:solidFill>
            <a:prstDash val="solid"/>
          </a:ln>
        </p:spPr>
        <p:txBody>
          <a:bodyPr/>
          <a:lstStyle/>
          <a:p>
            <a:endParaRPr lang="it-IT" noProof="0" dirty="0"/>
          </a:p>
        </p:txBody>
      </p:sp>
      <p:sp>
        <p:nvSpPr>
          <p:cNvPr id="14" name="Text 12"/>
          <p:cNvSpPr/>
          <p:nvPr/>
        </p:nvSpPr>
        <p:spPr>
          <a:xfrm>
            <a:off x="1054100" y="5212085"/>
            <a:ext cx="10634853" cy="629920"/>
          </a:xfrm>
          <a:prstGeom prst="rect">
            <a:avLst/>
          </a:prstGeom>
          <a:noFill/>
          <a:ln/>
        </p:spPr>
        <p:txBody>
          <a:bodyPr wrap="square" lIns="0" tIns="0" rIns="0" bIns="0" rtlCol="0" anchor="t">
            <a:normAutofit/>
          </a:bodyPr>
          <a:lstStyle/>
          <a:p>
            <a:pPr marL="0" indent="0" algn="l">
              <a:lnSpc>
                <a:spcPts val="2380"/>
              </a:lnSpc>
              <a:buNone/>
            </a:pPr>
            <a:r>
              <a:rPr lang="it-IT" sz="1800" noProof="0" dirty="0">
                <a:solidFill>
                  <a:srgbClr val="1B1D20"/>
                </a:solidFill>
                <a:latin typeface="IBM Plex Sans" pitchFamily="34" charset="0"/>
                <a:ea typeface="IBM Plex Sans" pitchFamily="34" charset="-122"/>
                <a:cs typeface="IBM Plex Sans" pitchFamily="34" charset="-120"/>
              </a:rPr>
              <a:t>Attesa di </a:t>
            </a:r>
            <a:r>
              <a:rPr lang="it-IT" sz="1800" b="1" noProof="0" dirty="0">
                <a:solidFill>
                  <a:srgbClr val="1B1D20"/>
                </a:solidFill>
                <a:latin typeface="IBM Plex Sans" pitchFamily="34" charset="0"/>
                <a:ea typeface="IBM Plex Sans" pitchFamily="34" charset="-122"/>
                <a:cs typeface="IBM Plex Sans" pitchFamily="34" charset="-120"/>
              </a:rPr>
              <a:t>60 secondi</a:t>
            </a:r>
            <a:r>
              <a:rPr lang="it-IT" sz="1800" noProof="0" dirty="0">
                <a:solidFill>
                  <a:srgbClr val="1B1D20"/>
                </a:solidFill>
                <a:latin typeface="IBM Plex Sans" pitchFamily="34" charset="0"/>
                <a:ea typeface="IBM Plex Sans" pitchFamily="34" charset="-122"/>
                <a:cs typeface="IBM Plex Sans" pitchFamily="34" charset="-120"/>
              </a:rPr>
              <a:t> per la convergenza. La soluzione passa </a:t>
            </a:r>
            <a:r>
              <a:rPr lang="it-IT" sz="1800" b="1" noProof="0" dirty="0">
                <a:solidFill>
                  <a:srgbClr val="1B1D20"/>
                </a:solidFill>
                <a:latin typeface="IBM Plex Sans" pitchFamily="34" charset="0"/>
                <a:ea typeface="IBM Plex Sans" pitchFamily="34" charset="-122"/>
                <a:cs typeface="IBM Plex Sans" pitchFamily="34" charset="-120"/>
              </a:rPr>
              <a:t>143 test su 143</a:t>
            </a:r>
            <a:r>
              <a:rPr lang="it-IT" sz="1800" noProof="0" dirty="0">
                <a:solidFill>
                  <a:srgbClr val="1B1D20"/>
                </a:solidFill>
                <a:latin typeface="IBM Plex Sans" pitchFamily="34" charset="0"/>
                <a:ea typeface="IBM Plex Sans" pitchFamily="34" charset="-122"/>
                <a:cs typeface="IBM Plex Sans" pitchFamily="34" charset="-120"/>
              </a:rPr>
              <a:t>; la produzione così com’è ne passa 120 su 145.</a:t>
            </a:r>
            <a:endParaRPr lang="it-IT" sz="1800" noProof="0" dirty="0"/>
          </a:p>
        </p:txBody>
      </p:sp>
    </p:spTree>
    <p:extLst>
      <p:ext uri="{BB962C8B-B14F-4D97-AF65-F5344CB8AC3E}">
        <p14:creationId xmlns:p14="http://schemas.microsoft.com/office/powerpoint/2010/main" val="24940189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58">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Errori frequenti</a:t>
            </a:r>
            <a:endParaRPr lang="it-IT" sz="4000" noProof="0" dirty="0"/>
          </a:p>
        </p:txBody>
      </p:sp>
      <p:sp>
        <p:nvSpPr>
          <p:cNvPr id="5" name="Shape 3"/>
          <p:cNvSpPr/>
          <p:nvPr/>
        </p:nvSpPr>
        <p:spPr>
          <a:xfrm>
            <a:off x="812800" y="2326015"/>
            <a:ext cx="10566400" cy="0"/>
          </a:xfrm>
          <a:prstGeom prst="line">
            <a:avLst/>
          </a:prstGeom>
          <a:noFill/>
          <a:ln w="6350">
            <a:solidFill>
              <a:srgbClr val="CFCCC4"/>
            </a:solidFill>
            <a:prstDash val="solid"/>
          </a:ln>
        </p:spPr>
        <p:txBody>
          <a:bodyPr/>
          <a:lstStyle/>
          <a:p>
            <a:endParaRPr lang="it-IT" noProof="0" dirty="0"/>
          </a:p>
        </p:txBody>
      </p:sp>
      <p:sp>
        <p:nvSpPr>
          <p:cNvPr id="6" name="Text 4"/>
          <p:cNvSpPr/>
          <p:nvPr/>
        </p:nvSpPr>
        <p:spPr>
          <a:xfrm>
            <a:off x="812800" y="1940570"/>
            <a:ext cx="3139440" cy="306070"/>
          </a:xfrm>
          <a:prstGeom prst="rect">
            <a:avLst/>
          </a:prstGeom>
          <a:noFill/>
          <a:ln/>
        </p:spPr>
        <p:txBody>
          <a:bodyPr wrap="square" lIns="0" tIns="0" rIns="0" bIns="0" rtlCol="0" anchor="t">
            <a:normAutofit/>
          </a:bodyPr>
          <a:lstStyle/>
          <a:p>
            <a:pPr marL="0" indent="0" algn="l">
              <a:lnSpc>
                <a:spcPts val="2250"/>
              </a:lnSpc>
              <a:buNone/>
            </a:pPr>
            <a:r>
              <a:rPr lang="it-IT" sz="1800" b="1" noProof="0" dirty="0" err="1">
                <a:solidFill>
                  <a:srgbClr val="B4502E"/>
                </a:solidFill>
                <a:latin typeface="IBM Plex Sans" pitchFamily="34" charset="0"/>
                <a:ea typeface="IBM Plex Sans" pitchFamily="34" charset="-122"/>
                <a:cs typeface="IBM Plex Sans" pitchFamily="34" charset="-120"/>
              </a:rPr>
              <a:t>pc_c</a:t>
            </a:r>
            <a:r>
              <a:rPr lang="it-IT" sz="1800" b="1" noProof="0" dirty="0">
                <a:solidFill>
                  <a:srgbClr val="B4502E"/>
                </a:solidFill>
                <a:latin typeface="IBM Plex Sans" pitchFamily="34" charset="0"/>
                <a:ea typeface="IBM Plex Sans" pitchFamily="34" charset="-122"/>
                <a:cs typeface="IBM Plex Sans" pitchFamily="34" charset="-120"/>
              </a:rPr>
              <a:t> non compare</a:t>
            </a:r>
            <a:endParaRPr lang="it-IT" sz="1800" noProof="0" dirty="0"/>
          </a:p>
        </p:txBody>
      </p:sp>
      <p:sp>
        <p:nvSpPr>
          <p:cNvPr id="7" name="Text 5"/>
          <p:cNvSpPr/>
          <p:nvPr/>
        </p:nvSpPr>
        <p:spPr>
          <a:xfrm>
            <a:off x="4114800" y="1940570"/>
            <a:ext cx="7482332" cy="306070"/>
          </a:xfrm>
          <a:prstGeom prst="rect">
            <a:avLst/>
          </a:prstGeom>
          <a:noFill/>
          <a:ln/>
        </p:spPr>
        <p:txBody>
          <a:bodyPr wrap="square" lIns="0" tIns="0" rIns="0" bIns="0" rtlCol="0" anchor="t">
            <a:normAutofit/>
          </a:bodyPr>
          <a:lstStyle/>
          <a:p>
            <a:pPr marL="0" indent="0" algn="l">
              <a:lnSpc>
                <a:spcPts val="2160"/>
              </a:lnSpc>
              <a:buNone/>
            </a:pPr>
            <a:r>
              <a:rPr lang="it-IT" sz="1600" noProof="0" dirty="0">
                <a:solidFill>
                  <a:srgbClr val="1B1D20"/>
                </a:solidFill>
                <a:latin typeface="IBM Plex Sans" pitchFamily="34" charset="0"/>
                <a:ea typeface="IBM Plex Sans" pitchFamily="34" charset="-122"/>
                <a:cs typeface="IBM Plex Sans" pitchFamily="34" charset="-120"/>
              </a:rPr>
              <a:t>Dopo aver modificato </a:t>
            </a:r>
            <a:r>
              <a:rPr lang="it-IT" sz="1600" noProof="0" dirty="0" err="1">
                <a:solidFill>
                  <a:srgbClr val="1B1D20"/>
                </a:solidFill>
                <a:latin typeface="IBM Plex Sans" pitchFamily="34" charset="0"/>
                <a:ea typeface="IBM Plex Sans" pitchFamily="34" charset="-122"/>
                <a:cs typeface="IBM Plex Sans" pitchFamily="34" charset="-120"/>
              </a:rPr>
              <a:t>lab.conf</a:t>
            </a:r>
            <a:r>
              <a:rPr lang="it-IT" sz="1600" noProof="0" dirty="0">
                <a:solidFill>
                  <a:srgbClr val="1B1D20"/>
                </a:solidFill>
                <a:latin typeface="IBM Plex Sans" pitchFamily="34" charset="0"/>
                <a:ea typeface="IBM Plex Sans" pitchFamily="34" charset="-122"/>
                <a:cs typeface="IBM Plex Sans" pitchFamily="34" charset="-120"/>
              </a:rPr>
              <a:t> serve kathara </a:t>
            </a:r>
            <a:r>
              <a:rPr lang="it-IT" sz="1600" noProof="0" dirty="0" err="1">
                <a:solidFill>
                  <a:srgbClr val="1B1D20"/>
                </a:solidFill>
                <a:latin typeface="IBM Plex Sans" pitchFamily="34" charset="0"/>
                <a:ea typeface="IBM Plex Sans" pitchFamily="34" charset="-122"/>
                <a:cs typeface="IBM Plex Sans" pitchFamily="34" charset="-120"/>
              </a:rPr>
              <a:t>lrestart</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8" name="Shape 6"/>
          <p:cNvSpPr/>
          <p:nvPr/>
        </p:nvSpPr>
        <p:spPr>
          <a:xfrm>
            <a:off x="812800" y="2816230"/>
            <a:ext cx="10566400" cy="0"/>
          </a:xfrm>
          <a:prstGeom prst="line">
            <a:avLst/>
          </a:prstGeom>
          <a:noFill/>
          <a:ln w="6350">
            <a:solidFill>
              <a:srgbClr val="CFCCC4"/>
            </a:solidFill>
            <a:prstDash val="solid"/>
          </a:ln>
        </p:spPr>
        <p:txBody>
          <a:bodyPr/>
          <a:lstStyle/>
          <a:p>
            <a:endParaRPr lang="it-IT" noProof="0" dirty="0"/>
          </a:p>
        </p:txBody>
      </p:sp>
      <p:sp>
        <p:nvSpPr>
          <p:cNvPr id="9" name="Text 7"/>
          <p:cNvSpPr/>
          <p:nvPr/>
        </p:nvSpPr>
        <p:spPr>
          <a:xfrm>
            <a:off x="812800" y="2430785"/>
            <a:ext cx="3139440" cy="30607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B4502E"/>
                </a:solidFill>
                <a:latin typeface="IBM Plex Sans" pitchFamily="34" charset="0"/>
                <a:ea typeface="IBM Plex Sans" pitchFamily="34" charset="-122"/>
                <a:cs typeface="IBM Plex Sans" pitchFamily="34" charset="-120"/>
              </a:rPr>
              <a:t>r4 non ha eth2</a:t>
            </a:r>
            <a:endParaRPr lang="it-IT" sz="1800" noProof="0" dirty="0"/>
          </a:p>
        </p:txBody>
      </p:sp>
      <p:sp>
        <p:nvSpPr>
          <p:cNvPr id="10" name="Text 8"/>
          <p:cNvSpPr/>
          <p:nvPr/>
        </p:nvSpPr>
        <p:spPr>
          <a:xfrm>
            <a:off x="4114800" y="2430785"/>
            <a:ext cx="7482332" cy="306070"/>
          </a:xfrm>
          <a:prstGeom prst="rect">
            <a:avLst/>
          </a:prstGeom>
          <a:noFill/>
          <a:ln/>
        </p:spPr>
        <p:txBody>
          <a:bodyPr wrap="square" lIns="0" tIns="0" rIns="0" bIns="0" rtlCol="0" anchor="t">
            <a:normAutofit/>
          </a:bodyPr>
          <a:lstStyle/>
          <a:p>
            <a:pPr marL="0" indent="0" algn="l">
              <a:lnSpc>
                <a:spcPts val="2160"/>
              </a:lnSpc>
              <a:buNone/>
            </a:pPr>
            <a:r>
              <a:rPr lang="it-IT" sz="1600" noProof="0" dirty="0">
                <a:solidFill>
                  <a:srgbClr val="1B1D20"/>
                </a:solidFill>
                <a:latin typeface="IBM Plex Sans" pitchFamily="34" charset="0"/>
                <a:ea typeface="IBM Plex Sans" pitchFamily="34" charset="-122"/>
                <a:cs typeface="IBM Plex Sans" pitchFamily="34" charset="-120"/>
              </a:rPr>
              <a:t>Manca r4[2]="</a:t>
            </a:r>
            <a:r>
              <a:rPr lang="it-IT" sz="1600" noProof="0" dirty="0" err="1">
                <a:solidFill>
                  <a:srgbClr val="1B1D20"/>
                </a:solidFill>
                <a:latin typeface="IBM Plex Sans" pitchFamily="34" charset="0"/>
                <a:ea typeface="IBM Plex Sans" pitchFamily="34" charset="-122"/>
                <a:cs typeface="IBM Plex Sans" pitchFamily="34" charset="-120"/>
              </a:rPr>
              <a:t>lanC</a:t>
            </a:r>
            <a:r>
              <a:rPr lang="it-IT" sz="1600" noProof="0" dirty="0">
                <a:solidFill>
                  <a:srgbClr val="1B1D20"/>
                </a:solidFill>
                <a:latin typeface="IBM Plex Sans" pitchFamily="34" charset="0"/>
                <a:ea typeface="IBM Plex Sans" pitchFamily="34" charset="-122"/>
                <a:cs typeface="IBM Plex Sans" pitchFamily="34" charset="-120"/>
              </a:rPr>
              <a:t>", o la numerazione salta un numero.</a:t>
            </a:r>
            <a:endParaRPr lang="it-IT" sz="1600" noProof="0" dirty="0"/>
          </a:p>
        </p:txBody>
      </p:sp>
      <p:sp>
        <p:nvSpPr>
          <p:cNvPr id="11" name="Shape 9"/>
          <p:cNvSpPr/>
          <p:nvPr/>
        </p:nvSpPr>
        <p:spPr>
          <a:xfrm>
            <a:off x="812800" y="3306445"/>
            <a:ext cx="10566400" cy="0"/>
          </a:xfrm>
          <a:prstGeom prst="line">
            <a:avLst/>
          </a:prstGeom>
          <a:noFill/>
          <a:ln w="6350">
            <a:solidFill>
              <a:srgbClr val="CFCCC4"/>
            </a:solidFill>
            <a:prstDash val="solid"/>
          </a:ln>
        </p:spPr>
        <p:txBody>
          <a:bodyPr/>
          <a:lstStyle/>
          <a:p>
            <a:endParaRPr lang="it-IT" noProof="0" dirty="0"/>
          </a:p>
        </p:txBody>
      </p:sp>
      <p:sp>
        <p:nvSpPr>
          <p:cNvPr id="12" name="Text 10"/>
          <p:cNvSpPr/>
          <p:nvPr/>
        </p:nvSpPr>
        <p:spPr>
          <a:xfrm>
            <a:off x="812800" y="2921000"/>
            <a:ext cx="3139440" cy="30607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B4502E"/>
                </a:solidFill>
                <a:latin typeface="IBM Plex Sans" pitchFamily="34" charset="0"/>
                <a:ea typeface="IBM Plex Sans" pitchFamily="34" charset="-122"/>
                <a:cs typeface="IBM Plex Sans" pitchFamily="34" charset="-120"/>
              </a:rPr>
              <a:t>Sede C isolata</a:t>
            </a:r>
            <a:endParaRPr lang="it-IT" sz="1800" noProof="0" dirty="0"/>
          </a:p>
        </p:txBody>
      </p:sp>
      <p:sp>
        <p:nvSpPr>
          <p:cNvPr id="13" name="Text 11"/>
          <p:cNvSpPr/>
          <p:nvPr/>
        </p:nvSpPr>
        <p:spPr>
          <a:xfrm>
            <a:off x="4114800" y="2921000"/>
            <a:ext cx="7482332" cy="306070"/>
          </a:xfrm>
          <a:prstGeom prst="rect">
            <a:avLst/>
          </a:prstGeom>
          <a:noFill/>
          <a:ln/>
        </p:spPr>
        <p:txBody>
          <a:bodyPr wrap="square" lIns="0" tIns="0" rIns="0" bIns="0" rtlCol="0" anchor="t">
            <a:normAutofit/>
          </a:bodyPr>
          <a:lstStyle/>
          <a:p>
            <a:pPr marL="0" indent="0" algn="l">
              <a:lnSpc>
                <a:spcPts val="2160"/>
              </a:lnSpc>
              <a:buNone/>
            </a:pPr>
            <a:r>
              <a:rPr lang="it-IT" sz="1600" noProof="0" dirty="0">
                <a:solidFill>
                  <a:srgbClr val="1B1D20"/>
                </a:solidFill>
                <a:latin typeface="IBM Plex Sans" pitchFamily="34" charset="0"/>
                <a:ea typeface="IBM Plex Sans" pitchFamily="34" charset="-122"/>
                <a:cs typeface="IBM Plex Sans" pitchFamily="34" charset="-120"/>
              </a:rPr>
              <a:t>Manca la network di </a:t>
            </a:r>
            <a:r>
              <a:rPr lang="it-IT" sz="1600" noProof="0" dirty="0" err="1">
                <a:solidFill>
                  <a:srgbClr val="1B1D20"/>
                </a:solidFill>
                <a:latin typeface="IBM Plex Sans" pitchFamily="34" charset="0"/>
                <a:ea typeface="IBM Plex Sans" pitchFamily="34" charset="-122"/>
                <a:cs typeface="IBM Plex Sans" pitchFamily="34" charset="-120"/>
              </a:rPr>
              <a:t>lanC</a:t>
            </a:r>
            <a:r>
              <a:rPr lang="it-IT" sz="1600" noProof="0" dirty="0">
                <a:solidFill>
                  <a:srgbClr val="1B1D20"/>
                </a:solidFill>
                <a:latin typeface="IBM Plex Sans" pitchFamily="34" charset="0"/>
                <a:ea typeface="IBM Plex Sans" pitchFamily="34" charset="-122"/>
                <a:cs typeface="IBM Plex Sans" pitchFamily="34" charset="-120"/>
              </a:rPr>
              <a:t> su r4, o </a:t>
            </a:r>
            <a:r>
              <a:rPr lang="it-IT" sz="1600" noProof="0" dirty="0" err="1">
                <a:solidFill>
                  <a:srgbClr val="1B1D20"/>
                </a:solidFill>
                <a:latin typeface="IBM Plex Sans" pitchFamily="34" charset="0"/>
                <a:ea typeface="IBM Plex Sans" pitchFamily="34" charset="-122"/>
                <a:cs typeface="IBM Plex Sans" pitchFamily="34" charset="-120"/>
              </a:rPr>
              <a:t>pc_c</a:t>
            </a:r>
            <a:r>
              <a:rPr lang="it-IT" sz="1600" noProof="0" dirty="0">
                <a:solidFill>
                  <a:srgbClr val="1B1D20"/>
                </a:solidFill>
                <a:latin typeface="IBM Plex Sans" pitchFamily="34" charset="0"/>
                <a:ea typeface="IBM Plex Sans" pitchFamily="34" charset="-122"/>
                <a:cs typeface="IBM Plex Sans" pitchFamily="34" charset="-120"/>
              </a:rPr>
              <a:t> non ha la default </a:t>
            </a:r>
            <a:r>
              <a:rPr lang="it-IT" sz="1600" noProof="0" dirty="0" err="1">
                <a:solidFill>
                  <a:srgbClr val="1B1D20"/>
                </a:solidFill>
                <a:latin typeface="IBM Plex Sans" pitchFamily="34" charset="0"/>
                <a:ea typeface="IBM Plex Sans" pitchFamily="34" charset="-122"/>
                <a:cs typeface="IBM Plex Sans" pitchFamily="34" charset="-120"/>
              </a:rPr>
              <a:t>route</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p>
        </p:txBody>
      </p:sp>
      <p:sp>
        <p:nvSpPr>
          <p:cNvPr id="14" name="Shape 12"/>
          <p:cNvSpPr/>
          <p:nvPr/>
        </p:nvSpPr>
        <p:spPr>
          <a:xfrm>
            <a:off x="812800" y="3796660"/>
            <a:ext cx="10566400" cy="0"/>
          </a:xfrm>
          <a:prstGeom prst="line">
            <a:avLst/>
          </a:prstGeom>
          <a:noFill/>
          <a:ln w="6350">
            <a:solidFill>
              <a:srgbClr val="CFCCC4"/>
            </a:solidFill>
            <a:prstDash val="solid"/>
          </a:ln>
        </p:spPr>
        <p:txBody>
          <a:bodyPr/>
          <a:lstStyle/>
          <a:p>
            <a:endParaRPr lang="it-IT" noProof="0" dirty="0"/>
          </a:p>
        </p:txBody>
      </p:sp>
      <p:sp>
        <p:nvSpPr>
          <p:cNvPr id="15" name="Text 13"/>
          <p:cNvSpPr/>
          <p:nvPr/>
        </p:nvSpPr>
        <p:spPr>
          <a:xfrm>
            <a:off x="812800" y="3411215"/>
            <a:ext cx="3139440" cy="30607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B4502E"/>
                </a:solidFill>
                <a:latin typeface="IBM Plex Sans" pitchFamily="34" charset="0"/>
                <a:ea typeface="IBM Plex Sans" pitchFamily="34" charset="-122"/>
                <a:cs typeface="IBM Plex Sans" pitchFamily="34" charset="-120"/>
              </a:rPr>
              <a:t>eth2 non passiva</a:t>
            </a:r>
            <a:endParaRPr lang="it-IT" sz="1800" noProof="0" dirty="0"/>
          </a:p>
        </p:txBody>
      </p:sp>
      <p:sp>
        <p:nvSpPr>
          <p:cNvPr id="16" name="Text 14"/>
          <p:cNvSpPr/>
          <p:nvPr/>
        </p:nvSpPr>
        <p:spPr>
          <a:xfrm>
            <a:off x="4114800" y="3411215"/>
            <a:ext cx="7482332" cy="306070"/>
          </a:xfrm>
          <a:prstGeom prst="rect">
            <a:avLst/>
          </a:prstGeom>
          <a:noFill/>
          <a:ln/>
        </p:spPr>
        <p:txBody>
          <a:bodyPr wrap="square" lIns="0" tIns="0" rIns="0" bIns="0" rtlCol="0" anchor="t">
            <a:normAutofit/>
          </a:bodyPr>
          <a:lstStyle/>
          <a:p>
            <a:pPr marL="0" indent="0" algn="l">
              <a:lnSpc>
                <a:spcPts val="2160"/>
              </a:lnSpc>
              <a:buNone/>
            </a:pPr>
            <a:r>
              <a:rPr lang="it-IT" sz="1600" noProof="0" dirty="0">
                <a:solidFill>
                  <a:srgbClr val="1B1D20"/>
                </a:solidFill>
                <a:latin typeface="IBM Plex Sans" pitchFamily="34" charset="0"/>
                <a:ea typeface="IBM Plex Sans" pitchFamily="34" charset="-122"/>
                <a:cs typeface="IBM Plex Sans" pitchFamily="34" charset="-120"/>
              </a:rPr>
              <a:t>OSPF cercherebbe vicini verso gli utenti: il </a:t>
            </a:r>
            <a:r>
              <a:rPr lang="it-IT" sz="1600" noProof="0" dirty="0" err="1">
                <a:solidFill>
                  <a:srgbClr val="1B1D20"/>
                </a:solidFill>
                <a:latin typeface="IBM Plex Sans" pitchFamily="34" charset="0"/>
                <a:ea typeface="IBM Plex Sans" pitchFamily="34" charset="-122"/>
                <a:cs typeface="IBM Plex Sans" pitchFamily="34" charset="-120"/>
              </a:rPr>
              <a:t>checker</a:t>
            </a:r>
            <a:r>
              <a:rPr lang="it-IT" sz="1600" noProof="0" dirty="0">
                <a:solidFill>
                  <a:srgbClr val="1B1D20"/>
                </a:solidFill>
                <a:latin typeface="IBM Plex Sans" pitchFamily="34" charset="0"/>
                <a:ea typeface="IBM Plex Sans" pitchFamily="34" charset="-122"/>
                <a:cs typeface="IBM Plex Sans" pitchFamily="34" charset="-120"/>
              </a:rPr>
              <a:t> lo segnala.</a:t>
            </a:r>
            <a:endParaRPr lang="it-IT" sz="1600" noProof="0" dirty="0"/>
          </a:p>
        </p:txBody>
      </p:sp>
      <p:sp>
        <p:nvSpPr>
          <p:cNvPr id="17" name="Shape 15"/>
          <p:cNvSpPr/>
          <p:nvPr/>
        </p:nvSpPr>
        <p:spPr>
          <a:xfrm>
            <a:off x="812800" y="4286875"/>
            <a:ext cx="10566400" cy="0"/>
          </a:xfrm>
          <a:prstGeom prst="line">
            <a:avLst/>
          </a:prstGeom>
          <a:noFill/>
          <a:ln w="6350">
            <a:solidFill>
              <a:srgbClr val="CFCCC4"/>
            </a:solidFill>
            <a:prstDash val="solid"/>
          </a:ln>
        </p:spPr>
        <p:txBody>
          <a:bodyPr/>
          <a:lstStyle/>
          <a:p>
            <a:endParaRPr lang="it-IT" noProof="0" dirty="0"/>
          </a:p>
        </p:txBody>
      </p:sp>
      <p:sp>
        <p:nvSpPr>
          <p:cNvPr id="18" name="Text 16"/>
          <p:cNvSpPr/>
          <p:nvPr/>
        </p:nvSpPr>
        <p:spPr>
          <a:xfrm>
            <a:off x="812800" y="3901430"/>
            <a:ext cx="3139440" cy="30607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B4502E"/>
                </a:solidFill>
                <a:latin typeface="IBM Plex Sans" pitchFamily="34" charset="0"/>
                <a:ea typeface="IBM Plex Sans" pitchFamily="34" charset="-122"/>
                <a:cs typeface="IBM Plex Sans" pitchFamily="34" charset="-120"/>
              </a:rPr>
              <a:t>Test che prima passavano</a:t>
            </a:r>
            <a:endParaRPr lang="it-IT" sz="1800" noProof="0" dirty="0"/>
          </a:p>
        </p:txBody>
      </p:sp>
      <p:sp>
        <p:nvSpPr>
          <p:cNvPr id="19" name="Text 17"/>
          <p:cNvSpPr/>
          <p:nvPr/>
        </p:nvSpPr>
        <p:spPr>
          <a:xfrm>
            <a:off x="4114800" y="3901430"/>
            <a:ext cx="7482332" cy="306070"/>
          </a:xfrm>
          <a:prstGeom prst="rect">
            <a:avLst/>
          </a:prstGeom>
          <a:noFill/>
          <a:ln/>
        </p:spPr>
        <p:txBody>
          <a:bodyPr wrap="square" lIns="0" tIns="0" rIns="0" bIns="0" rtlCol="0" anchor="t">
            <a:normAutofit/>
          </a:bodyPr>
          <a:lstStyle/>
          <a:p>
            <a:pPr marL="0" indent="0" algn="l">
              <a:lnSpc>
                <a:spcPts val="2160"/>
              </a:lnSpc>
              <a:buNone/>
            </a:pPr>
            <a:r>
              <a:rPr lang="it-IT" sz="1600" noProof="0" dirty="0">
                <a:solidFill>
                  <a:srgbClr val="1B1D20"/>
                </a:solidFill>
                <a:latin typeface="IBM Plex Sans" pitchFamily="34" charset="0"/>
                <a:ea typeface="IBM Plex Sans" pitchFamily="34" charset="-122"/>
                <a:cs typeface="IBM Plex Sans" pitchFamily="34" charset="-120"/>
              </a:rPr>
              <a:t>Oltre al nuovo requisito è cambiato altro (es. un costo): regressione.</a:t>
            </a:r>
            <a:endParaRPr lang="it-IT" sz="1600" noProof="0" dirty="0"/>
          </a:p>
        </p:txBody>
      </p:sp>
      <p:sp>
        <p:nvSpPr>
          <p:cNvPr id="20" name="Text 18"/>
          <p:cNvSpPr/>
          <p:nvPr/>
        </p:nvSpPr>
        <p:spPr>
          <a:xfrm>
            <a:off x="812800" y="4391670"/>
            <a:ext cx="3139440" cy="30607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2B6CA3"/>
                </a:solidFill>
                <a:latin typeface="IBM Plex Sans" pitchFamily="34" charset="0"/>
                <a:ea typeface="IBM Plex Sans" pitchFamily="34" charset="-122"/>
                <a:cs typeface="IBM Plex Sans" pitchFamily="34" charset="-120"/>
              </a:rPr>
              <a:t>Due </a:t>
            </a:r>
            <a:r>
              <a:rPr lang="it-IT" sz="1800" b="1" noProof="0" dirty="0" err="1">
                <a:solidFill>
                  <a:srgbClr val="2B6CA3"/>
                </a:solidFill>
                <a:latin typeface="IBM Plex Sans" pitchFamily="34" charset="0"/>
                <a:ea typeface="IBM Plex Sans" pitchFamily="34" charset="-122"/>
                <a:cs typeface="IBM Plex Sans" pitchFamily="34" charset="-120"/>
              </a:rPr>
              <a:t>next</a:t>
            </a:r>
            <a:r>
              <a:rPr lang="it-IT" sz="1800" b="1" noProof="0" dirty="0">
                <a:solidFill>
                  <a:srgbClr val="2B6CA3"/>
                </a:solidFill>
                <a:latin typeface="IBM Plex Sans" pitchFamily="34" charset="0"/>
                <a:ea typeface="IBM Plex Sans" pitchFamily="34" charset="-122"/>
                <a:cs typeface="IBM Plex Sans" pitchFamily="34" charset="-120"/>
              </a:rPr>
              <a:t>-hop su r2</a:t>
            </a:r>
            <a:endParaRPr lang="it-IT" sz="1800" noProof="0" dirty="0"/>
          </a:p>
        </p:txBody>
      </p:sp>
      <p:sp>
        <p:nvSpPr>
          <p:cNvPr id="21" name="Text 19"/>
          <p:cNvSpPr/>
          <p:nvPr/>
        </p:nvSpPr>
        <p:spPr>
          <a:xfrm>
            <a:off x="4114800" y="4391670"/>
            <a:ext cx="8077200" cy="306070"/>
          </a:xfrm>
          <a:prstGeom prst="rect">
            <a:avLst/>
          </a:prstGeom>
          <a:noFill/>
          <a:ln/>
        </p:spPr>
        <p:txBody>
          <a:bodyPr wrap="square" lIns="0" tIns="0" rIns="0" bIns="0" rtlCol="0" anchor="t">
            <a:normAutofit/>
          </a:bodyPr>
          <a:lstStyle/>
          <a:p>
            <a:pPr marL="0" indent="0" algn="l">
              <a:lnSpc>
                <a:spcPts val="2160"/>
              </a:lnSpc>
              <a:buNone/>
            </a:pPr>
            <a:r>
              <a:rPr lang="it-IT" sz="1600" noProof="0" dirty="0">
                <a:solidFill>
                  <a:srgbClr val="1B1D20"/>
                </a:solidFill>
                <a:latin typeface="IBM Plex Sans" pitchFamily="34" charset="0"/>
                <a:ea typeface="IBM Plex Sans" pitchFamily="34" charset="-122"/>
                <a:cs typeface="IBM Plex Sans" pitchFamily="34" charset="-120"/>
              </a:rPr>
              <a:t>Non è un errore: verso la sede C i percorsi via r1 e via r3 costano uguale (ECMP).</a:t>
            </a:r>
            <a:endParaRPr lang="it-IT" sz="1600" noProof="0" dirty="0"/>
          </a:p>
        </p:txBody>
      </p:sp>
    </p:spTree>
    <p:extLst>
      <p:ext uri="{BB962C8B-B14F-4D97-AF65-F5344CB8AC3E}">
        <p14:creationId xmlns:p14="http://schemas.microsoft.com/office/powerpoint/2010/main" val="1499274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p:nvPr/>
        </p:nvSpPr>
        <p:spPr>
          <a:xfrm>
            <a:off x="812800" y="1714500"/>
            <a:ext cx="10883900" cy="30480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8A6D00"/>
                </a:solidFill>
                <a:latin typeface="JetBrains Mono" pitchFamily="49" charset="0"/>
                <a:ea typeface="JetBrains Mono" pitchFamily="49" charset="-122"/>
                <a:cs typeface="JetBrains Mono" pitchFamily="49" charset="-120"/>
              </a:rPr>
              <a:t>lab 3 /</a:t>
            </a:r>
            <a:endParaRPr lang="it-IT" sz="1600" noProof="0" dirty="0"/>
          </a:p>
        </p:txBody>
      </p:sp>
      <p:sp>
        <p:nvSpPr>
          <p:cNvPr id="5" name="Text 3"/>
          <p:cNvSpPr>
            <a:spLocks noGrp="1"/>
          </p:cNvSpPr>
          <p:nvPr>
            <p:ph type="title"/>
          </p:nvPr>
        </p:nvSpPr>
        <p:spPr>
          <a:xfrm>
            <a:off x="812800" y="2095500"/>
            <a:ext cx="10566400" cy="889000"/>
          </a:xfrm>
          <a:prstGeom prst="rect">
            <a:avLst/>
          </a:prstGeom>
          <a:noFill/>
          <a:ln/>
        </p:spPr>
        <p:txBody>
          <a:bodyPr wrap="square" lIns="0" tIns="0" rIns="0" bIns="0" rtlCol="0" anchor="t">
            <a:normAutofit/>
          </a:bodyPr>
          <a:lstStyle/>
          <a:p>
            <a:pPr marL="0" indent="0" algn="l">
              <a:lnSpc>
                <a:spcPts val="7000"/>
              </a:lnSpc>
              <a:buNone/>
            </a:pPr>
            <a:r>
              <a:rPr lang="it-IT" sz="6000" b="1" i="0" noProof="0" dirty="0">
                <a:solidFill>
                  <a:srgbClr val="1B1D20"/>
                </a:solidFill>
                <a:latin typeface="IBM Plex Sans" pitchFamily="34" charset="0"/>
                <a:ea typeface="IBM Plex Sans" pitchFamily="34" charset="-122"/>
                <a:cs typeface="IBM Plex Sans" pitchFamily="34" charset="-120"/>
              </a:rPr>
              <a:t>Il twin diventa codice</a:t>
            </a:r>
            <a:endParaRPr lang="it-IT" sz="6000" noProof="0" dirty="0"/>
          </a:p>
        </p:txBody>
      </p:sp>
      <p:sp>
        <p:nvSpPr>
          <p:cNvPr id="6" name="Text 4"/>
          <p:cNvSpPr/>
          <p:nvPr/>
        </p:nvSpPr>
        <p:spPr>
          <a:xfrm>
            <a:off x="812800" y="3263900"/>
            <a:ext cx="9156700" cy="762000"/>
          </a:xfrm>
          <a:prstGeom prst="rect">
            <a:avLst/>
          </a:prstGeom>
          <a:noFill/>
          <a:ln/>
        </p:spPr>
        <p:txBody>
          <a:bodyPr wrap="square" lIns="0" tIns="0" rIns="0" bIns="0" rtlCol="0" anchor="t">
            <a:normAutofit/>
          </a:bodyPr>
          <a:lstStyle/>
          <a:p>
            <a:pPr marL="0" indent="0" algn="l">
              <a:lnSpc>
                <a:spcPts val="2970"/>
              </a:lnSpc>
              <a:buNone/>
            </a:pPr>
            <a:r>
              <a:rPr lang="it-IT" sz="2200" noProof="0" dirty="0">
                <a:solidFill>
                  <a:srgbClr val="5B5F66"/>
                </a:solidFill>
                <a:latin typeface="IBM Plex Sans" pitchFamily="34" charset="0"/>
                <a:ea typeface="IBM Plex Sans" pitchFamily="34" charset="-122"/>
                <a:cs typeface="IBM Plex Sans" pitchFamily="34" charset="-120"/>
              </a:rPr>
              <a:t>Prima il nostro primo lab con le API Python di Kathará. Poi uno script avvia il nostro twin del Lab 2 e lo rompe, apposta, per misurare il traffico.</a:t>
            </a:r>
            <a:endParaRPr lang="it-IT" sz="2200" noProof="0" dirty="0"/>
          </a:p>
        </p:txBody>
      </p:sp>
      <p:sp>
        <p:nvSpPr>
          <p:cNvPr id="7" name="Text 5"/>
          <p:cNvSpPr/>
          <p:nvPr/>
        </p:nvSpPr>
        <p:spPr>
          <a:xfrm>
            <a:off x="812800" y="4330700"/>
            <a:ext cx="10883900" cy="27940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6B7078"/>
                </a:solidFill>
                <a:latin typeface="JetBrains Mono" pitchFamily="49" charset="0"/>
                <a:ea typeface="JetBrains Mono" pitchFamily="49" charset="-122"/>
                <a:cs typeface="JetBrains Mono" pitchFamily="49" charset="-120"/>
              </a:rPr>
              <a:t>35 min · lab3-api/README.md, primo_lab.py, chaos.py</a:t>
            </a:r>
            <a:endParaRPr lang="it-IT" sz="1600" noProof="0" dirty="0"/>
          </a:p>
        </p:txBody>
      </p:sp>
    </p:spTree>
    <p:extLst>
      <p:ext uri="{BB962C8B-B14F-4D97-AF65-F5344CB8AC3E}">
        <p14:creationId xmlns:p14="http://schemas.microsoft.com/office/powerpoint/2010/main" val="41775662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3">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a:bodyPr>
          <a:lstStyle/>
          <a:p>
            <a:pPr marL="0" indent="0" algn="l">
              <a:lnSpc>
                <a:spcPts val="4500"/>
              </a:lnSpc>
              <a:buNone/>
            </a:pPr>
            <a:r>
              <a:rPr lang="it-IT" sz="3600" b="1" i="0" noProof="0" dirty="0">
                <a:solidFill>
                  <a:srgbClr val="1B1D20"/>
                </a:solidFill>
                <a:latin typeface="IBM Plex Sans" pitchFamily="34" charset="0"/>
                <a:ea typeface="IBM Plex Sans" pitchFamily="34" charset="-122"/>
                <a:cs typeface="IBM Plex Sans" pitchFamily="34" charset="-120"/>
              </a:rPr>
              <a:t>Come funzionano le API </a:t>
            </a:r>
            <a:endParaRPr lang="it-IT" sz="3600" noProof="0" dirty="0"/>
          </a:p>
        </p:txBody>
      </p:sp>
      <p:sp>
        <p:nvSpPr>
          <p:cNvPr id="5" name="Text 3"/>
          <p:cNvSpPr/>
          <p:nvPr/>
        </p:nvSpPr>
        <p:spPr>
          <a:xfrm>
            <a:off x="812800" y="1706860"/>
            <a:ext cx="10883392" cy="59436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1B1D20"/>
                </a:solidFill>
                <a:latin typeface="IBM Plex Sans" pitchFamily="34" charset="0"/>
                <a:ea typeface="IBM Plex Sans" pitchFamily="34" charset="-122"/>
                <a:cs typeface="IBM Plex Sans" pitchFamily="34" charset="-120"/>
              </a:rPr>
              <a:t>primo_lab.py</a:t>
            </a:r>
            <a:r>
              <a:rPr lang="it-IT" sz="1600" noProof="0" dirty="0">
                <a:solidFill>
                  <a:srgbClr val="5B5F66"/>
                </a:solidFill>
                <a:latin typeface="IBM Plex Sans" pitchFamily="34" charset="0"/>
                <a:ea typeface="IBM Plex Sans" pitchFamily="34" charset="-122"/>
                <a:cs typeface="IBM Plex Sans" pitchFamily="34" charset="-120"/>
              </a:rPr>
              <a:t> ricostruisce da codice la topologia del Lab 1, la avvia, fa un </a:t>
            </a:r>
            <a:r>
              <a:rPr lang="it-IT" sz="1600" noProof="0" dirty="0" err="1">
                <a:solidFill>
                  <a:srgbClr val="5B5F66"/>
                </a:solidFill>
                <a:latin typeface="IBM Plex Sans" pitchFamily="34" charset="0"/>
                <a:ea typeface="IBM Plex Sans" pitchFamily="34" charset="-122"/>
                <a:cs typeface="IBM Plex Sans" pitchFamily="34" charset="-120"/>
              </a:rPr>
              <a:t>ping</a:t>
            </a:r>
            <a:r>
              <a:rPr lang="it-IT" sz="1600" noProof="0" dirty="0">
                <a:solidFill>
                  <a:srgbClr val="5B5F66"/>
                </a:solidFill>
                <a:latin typeface="IBM Plex Sans" pitchFamily="34" charset="0"/>
                <a:ea typeface="IBM Plex Sans" pitchFamily="34" charset="-122"/>
                <a:cs typeface="IBM Plex Sans" pitchFamily="34" charset="-120"/>
              </a:rPr>
              <a:t> da pc1 a pc2 e la ferma. I dati sono già nel dizionario DEVICES: mancano cinque chiamate.</a:t>
            </a:r>
            <a:endParaRPr lang="it-IT" sz="1600" noProof="0" dirty="0"/>
          </a:p>
        </p:txBody>
      </p:sp>
      <p:graphicFrame>
        <p:nvGraphicFramePr>
          <p:cNvPr id="6" name="Table 0"/>
          <p:cNvGraphicFramePr>
            <a:graphicFrameLocks noGrp="1"/>
          </p:cNvGraphicFramePr>
          <p:nvPr/>
        </p:nvGraphicFramePr>
        <p:xfrm>
          <a:off x="825500" y="2466330"/>
          <a:ext cx="10553700" cy="2316480"/>
        </p:xfrm>
        <a:graphic>
          <a:graphicData uri="http://schemas.openxmlformats.org/drawingml/2006/table">
            <a:tbl>
              <a:tblPr/>
              <a:tblGrid>
                <a:gridCol w="1055370">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386080">
                <a:tc>
                  <a:txBody>
                    <a:bodyPr/>
                    <a:lstStyle/>
                    <a:p>
                      <a:pPr marL="0" indent="0">
                        <a:lnSpc>
                          <a:spcPts val="2000"/>
                        </a:lnSpc>
                        <a:buNone/>
                      </a:pPr>
                      <a:r>
                        <a:rPr lang="it-IT" sz="1600" noProof="0" dirty="0" err="1">
                          <a:solidFill>
                            <a:srgbClr val="5B5F66"/>
                          </a:solidFill>
                          <a:latin typeface="IBM Plex Sans" pitchFamily="34" charset="0"/>
                          <a:ea typeface="IBM Plex Sans" pitchFamily="34" charset="-122"/>
                          <a:cs typeface="IBM Plex Sans" pitchFamily="34" charset="-120"/>
                        </a:rPr>
                        <a:t>todo</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cosa fa</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chiamata</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86080">
                <a:tc>
                  <a:txBody>
                    <a:bodyPr/>
                    <a:lstStyle/>
                    <a:p>
                      <a:pPr marL="0" indent="0">
                        <a:lnSpc>
                          <a:spcPts val="2000"/>
                        </a:lnSpc>
                        <a:buNone/>
                      </a:pPr>
                      <a:r>
                        <a:rPr lang="it-IT" sz="1600" noProof="0" dirty="0">
                          <a:solidFill>
                            <a:srgbClr val="857612"/>
                          </a:solidFill>
                          <a:latin typeface="IBM Plex Sans" pitchFamily="34" charset="0"/>
                          <a:ea typeface="IBM Plex Sans" pitchFamily="34" charset="-122"/>
                          <a:cs typeface="IBM Plex Sans" pitchFamily="34" charset="-120"/>
                        </a:rPr>
                        <a:t>1</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Crea il dispositivo</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err="1">
                          <a:solidFill>
                            <a:srgbClr val="1B1D20"/>
                          </a:solidFill>
                          <a:latin typeface="IBM Plex Sans" pitchFamily="34" charset="0"/>
                          <a:ea typeface="IBM Plex Sans" pitchFamily="34" charset="-122"/>
                          <a:cs typeface="IBM Plex Sans" pitchFamily="34" charset="-120"/>
                        </a:rPr>
                        <a:t>lab.new_machine</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lnSpc>
                          <a:spcPts val="2000"/>
                        </a:lnSpc>
                        <a:buNone/>
                      </a:pPr>
                      <a:r>
                        <a:rPr lang="it-IT" sz="1600" noProof="0" dirty="0">
                          <a:solidFill>
                            <a:srgbClr val="857612"/>
                          </a:solidFill>
                          <a:latin typeface="IBM Plex Sans" pitchFamily="34" charset="0"/>
                          <a:ea typeface="IBM Plex Sans" pitchFamily="34" charset="-122"/>
                          <a:cs typeface="IBM Plex Sans" pitchFamily="34" charset="-120"/>
                        </a:rPr>
                        <a:t>2</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Collega un’interfaccia a un dominio</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err="1">
                          <a:solidFill>
                            <a:srgbClr val="1B1D20"/>
                          </a:solidFill>
                          <a:latin typeface="IBM Plex Sans" pitchFamily="34" charset="0"/>
                          <a:ea typeface="IBM Plex Sans" pitchFamily="34" charset="-122"/>
                          <a:cs typeface="IBM Plex Sans" pitchFamily="34" charset="-120"/>
                        </a:rPr>
                        <a:t>lab.connect_machine_to_link</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lnSpc>
                          <a:spcPts val="2000"/>
                        </a:lnSpc>
                        <a:buNone/>
                      </a:pPr>
                      <a:r>
                        <a:rPr lang="it-IT" sz="1600" noProof="0" dirty="0">
                          <a:solidFill>
                            <a:srgbClr val="857612"/>
                          </a:solidFill>
                          <a:latin typeface="IBM Plex Sans" pitchFamily="34" charset="0"/>
                          <a:ea typeface="IBM Plex Sans" pitchFamily="34" charset="-122"/>
                          <a:cs typeface="IBM Plex Sans" pitchFamily="34" charset="-120"/>
                        </a:rPr>
                        <a:t>3</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Scrive il file .startup</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err="1">
                          <a:solidFill>
                            <a:srgbClr val="1B1D20"/>
                          </a:solidFill>
                          <a:latin typeface="IBM Plex Sans" pitchFamily="34" charset="0"/>
                          <a:ea typeface="IBM Plex Sans" pitchFamily="34" charset="-122"/>
                          <a:cs typeface="IBM Plex Sans" pitchFamily="34" charset="-120"/>
                        </a:rPr>
                        <a:t>lab.create_startup_file_from_list</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86080">
                <a:tc>
                  <a:txBody>
                    <a:bodyPr/>
                    <a:lstStyle/>
                    <a:p>
                      <a:pPr marL="0" indent="0">
                        <a:lnSpc>
                          <a:spcPts val="2000"/>
                        </a:lnSpc>
                        <a:buNone/>
                      </a:pPr>
                      <a:r>
                        <a:rPr lang="it-IT" sz="1600" noProof="0" dirty="0">
                          <a:solidFill>
                            <a:srgbClr val="857612"/>
                          </a:solidFill>
                          <a:latin typeface="IBM Plex Sans" pitchFamily="34" charset="0"/>
                          <a:ea typeface="IBM Plex Sans" pitchFamily="34" charset="-122"/>
                          <a:cs typeface="IBM Plex Sans" pitchFamily="34" charset="-120"/>
                        </a:rPr>
                        <a:t>4</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Avvia il lab</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err="1">
                          <a:solidFill>
                            <a:srgbClr val="1B1D20"/>
                          </a:solidFill>
                          <a:latin typeface="IBM Plex Sans" pitchFamily="34" charset="0"/>
                          <a:ea typeface="IBM Plex Sans" pitchFamily="34" charset="-122"/>
                          <a:cs typeface="IBM Plex Sans" pitchFamily="34" charset="-120"/>
                        </a:rPr>
                        <a:t>manager.deploy_lab</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86080">
                <a:tc>
                  <a:txBody>
                    <a:bodyPr/>
                    <a:lstStyle/>
                    <a:p>
                      <a:pPr marL="0" indent="0">
                        <a:lnSpc>
                          <a:spcPts val="2000"/>
                        </a:lnSpc>
                        <a:buNone/>
                      </a:pPr>
                      <a:r>
                        <a:rPr lang="it-IT" sz="1600" noProof="0" dirty="0">
                          <a:solidFill>
                            <a:srgbClr val="857612"/>
                          </a:solidFill>
                          <a:latin typeface="IBM Plex Sans" pitchFamily="34" charset="0"/>
                          <a:ea typeface="IBM Plex Sans" pitchFamily="34" charset="-122"/>
                          <a:cs typeface="IBM Plex Sans" pitchFamily="34" charset="-120"/>
                        </a:rPr>
                        <a:t>5</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Esegue il </a:t>
                      </a:r>
                      <a:r>
                        <a:rPr lang="it-IT" sz="1600" noProof="0" dirty="0" err="1">
                          <a:solidFill>
                            <a:srgbClr val="1B1D20"/>
                          </a:solidFill>
                          <a:latin typeface="IBM Plex Sans" pitchFamily="34" charset="0"/>
                          <a:ea typeface="IBM Plex Sans" pitchFamily="34" charset="-122"/>
                          <a:cs typeface="IBM Plex Sans" pitchFamily="34" charset="-120"/>
                        </a:rPr>
                        <a:t>ping</a:t>
                      </a:r>
                      <a:r>
                        <a:rPr lang="it-IT" sz="1600" noProof="0" dirty="0">
                          <a:solidFill>
                            <a:srgbClr val="1B1D20"/>
                          </a:solidFill>
                          <a:latin typeface="IBM Plex Sans" pitchFamily="34" charset="0"/>
                          <a:ea typeface="IBM Plex Sans" pitchFamily="34" charset="-122"/>
                          <a:cs typeface="IBM Plex Sans" pitchFamily="34" charset="-120"/>
                        </a:rPr>
                        <a:t> da pc1</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000"/>
                        </a:lnSpc>
                        <a:buNone/>
                      </a:pPr>
                      <a:r>
                        <a:rPr lang="it-IT" sz="1600" noProof="0" dirty="0" err="1">
                          <a:solidFill>
                            <a:srgbClr val="1B1D20"/>
                          </a:solidFill>
                          <a:latin typeface="IBM Plex Sans" pitchFamily="34" charset="0"/>
                          <a:ea typeface="IBM Plex Sans" pitchFamily="34" charset="-122"/>
                          <a:cs typeface="IBM Plex Sans" pitchFamily="34" charset="-120"/>
                        </a:rPr>
                        <a:t>manager.exec</a:t>
                      </a:r>
                      <a:r>
                        <a:rPr lang="it-IT" sz="1600" noProof="0" dirty="0">
                          <a:solidFill>
                            <a:srgbClr val="1B1D20"/>
                          </a:solidFill>
                          <a:latin typeface="IBM Plex Sans" pitchFamily="34" charset="0"/>
                          <a:ea typeface="IBM Plex Sans" pitchFamily="34" charset="-122"/>
                          <a:cs typeface="IBM Plex Sans" pitchFamily="34" charset="-120"/>
                        </a:rPr>
                        <a:t>(...)</a:t>
                      </a:r>
                      <a:endParaRPr lang="it-IT" sz="1600" noProof="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812800" y="5072360"/>
            <a:ext cx="10566400" cy="769620"/>
          </a:xfrm>
          <a:prstGeom prst="rect">
            <a:avLst/>
          </a:prstGeom>
          <a:solidFill>
            <a:srgbClr val="17191C"/>
          </a:solidFill>
          <a:ln/>
        </p:spPr>
        <p:txBody>
          <a:bodyPr/>
          <a:lstStyle/>
          <a:p>
            <a:endParaRPr lang="it-IT" noProof="0" dirty="0"/>
          </a:p>
        </p:txBody>
      </p:sp>
      <p:sp>
        <p:nvSpPr>
          <p:cNvPr id="8" name="Text 5"/>
          <p:cNvSpPr/>
          <p:nvPr/>
        </p:nvSpPr>
        <p:spPr>
          <a:xfrm>
            <a:off x="990600" y="5199360"/>
            <a:ext cx="10517124"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8A8F96"/>
                </a:solidFill>
                <a:latin typeface="JetBrains Mono" pitchFamily="49" charset="0"/>
                <a:ea typeface="JetBrains Mono" pitchFamily="49" charset="-122"/>
                <a:cs typeface="JetBrains Mono" pitchFamily="49" charset="-120"/>
              </a:rPr>
              <a:t># dopo ogni TODO: si ferma al primo che manca e dice quale</a:t>
            </a:r>
            <a:endParaRPr lang="it-IT" sz="1600" noProof="0" dirty="0"/>
          </a:p>
        </p:txBody>
      </p:sp>
      <p:sp>
        <p:nvSpPr>
          <p:cNvPr id="9" name="Text 6"/>
          <p:cNvSpPr/>
          <p:nvPr/>
        </p:nvSpPr>
        <p:spPr>
          <a:xfrm>
            <a:off x="990600" y="5457180"/>
            <a:ext cx="10517124" cy="283210"/>
          </a:xfrm>
          <a:prstGeom prst="rect">
            <a:avLst/>
          </a:prstGeom>
          <a:noFill/>
          <a:ln/>
        </p:spPr>
        <p:txBody>
          <a:bodyPr wrap="square" lIns="0" tIns="0" rIns="0" bIns="0" rtlCol="0" anchor="t">
            <a:normAutofit/>
          </a:bodyPr>
          <a:lstStyle/>
          <a:p>
            <a:pPr marL="0" indent="0" algn="l">
              <a:lnSpc>
                <a:spcPts val="203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python</a:t>
            </a:r>
            <a:r>
              <a:rPr lang="it-IT" sz="1600" noProof="0" dirty="0">
                <a:solidFill>
                  <a:srgbClr val="F2F1EC"/>
                </a:solidFill>
                <a:latin typeface="JetBrains Mono" pitchFamily="49" charset="0"/>
                <a:ea typeface="JetBrains Mono" pitchFamily="49" charset="-122"/>
                <a:cs typeface="JetBrains Mono" pitchFamily="49" charset="-120"/>
              </a:rPr>
              <a:t> lab3-api/</a:t>
            </a:r>
            <a:r>
              <a:rPr lang="it-IT" sz="1600" noProof="0" dirty="0">
                <a:solidFill>
                  <a:srgbClr val="E1D368"/>
                </a:solidFill>
                <a:latin typeface="JetBrains Mono" pitchFamily="49" charset="0"/>
                <a:ea typeface="JetBrains Mono" pitchFamily="49" charset="-122"/>
                <a:cs typeface="JetBrains Mono" pitchFamily="49" charset="-120"/>
              </a:rPr>
              <a:t>primo_lab.py</a:t>
            </a:r>
            <a:endParaRPr lang="it-IT" sz="1600" noProof="0" dirty="0"/>
          </a:p>
        </p:txBody>
      </p:sp>
    </p:spTree>
    <p:extLst>
      <p:ext uri="{BB962C8B-B14F-4D97-AF65-F5344CB8AC3E}">
        <p14:creationId xmlns:p14="http://schemas.microsoft.com/office/powerpoint/2010/main" val="30338294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4">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Suggerimenti per i TODO</a:t>
            </a:r>
            <a:endParaRPr lang="it-IT" sz="4000" noProof="0" dirty="0"/>
          </a:p>
        </p:txBody>
      </p:sp>
      <p:sp>
        <p:nvSpPr>
          <p:cNvPr id="5" name="Text 3"/>
          <p:cNvSpPr/>
          <p:nvPr/>
        </p:nvSpPr>
        <p:spPr>
          <a:xfrm>
            <a:off x="812800" y="1922165"/>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857612"/>
                </a:solidFill>
                <a:latin typeface="JetBrains Mono" pitchFamily="49" charset="0"/>
                <a:ea typeface="JetBrains Mono" pitchFamily="49" charset="-122"/>
                <a:cs typeface="JetBrains Mono" pitchFamily="49" charset="-120"/>
              </a:rPr>
              <a:t>01</a:t>
            </a:r>
            <a:endParaRPr lang="it-IT" sz="1600" noProof="0" dirty="0"/>
          </a:p>
        </p:txBody>
      </p:sp>
      <p:sp>
        <p:nvSpPr>
          <p:cNvPr id="6" name="Text 4"/>
          <p:cNvSpPr/>
          <p:nvPr/>
        </p:nvSpPr>
        <p:spPr>
          <a:xfrm>
            <a:off x="1473200" y="1889770"/>
            <a:ext cx="102031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Gli argomenti sono già lì</a:t>
            </a:r>
            <a:endParaRPr lang="it-IT" sz="2000" noProof="0" dirty="0"/>
          </a:p>
        </p:txBody>
      </p:sp>
      <p:sp>
        <p:nvSpPr>
          <p:cNvPr id="7" name="Text 5"/>
          <p:cNvSpPr/>
          <p:nvPr/>
        </p:nvSpPr>
        <p:spPr>
          <a:xfrm>
            <a:off x="1473200" y="2270770"/>
            <a:ext cx="10203180" cy="59436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Nel ciclo su DEVICES abbiamo già </a:t>
            </a:r>
            <a:r>
              <a:rPr lang="it-IT" sz="1600" b="1" noProof="0" dirty="0">
                <a:solidFill>
                  <a:srgbClr val="1B1D20"/>
                </a:solidFill>
                <a:latin typeface="IBM Plex Sans" pitchFamily="34" charset="0"/>
                <a:ea typeface="IBM Plex Sans" pitchFamily="34" charset="-122"/>
                <a:cs typeface="IBM Plex Sans" pitchFamily="34" charset="-120"/>
              </a:rPr>
              <a:t>name</a:t>
            </a:r>
            <a:r>
              <a:rPr lang="it-IT" sz="1600" noProof="0" dirty="0">
                <a:solidFill>
                  <a:srgbClr val="5B5F66"/>
                </a:solidFill>
                <a:latin typeface="IBM Plex Sans" pitchFamily="34" charset="0"/>
                <a:ea typeface="IBM Plex Sans" pitchFamily="34" charset="-122"/>
                <a:cs typeface="IBM Plex Sans" pitchFamily="34" charset="-120"/>
              </a:rPr>
              <a:t>, </a:t>
            </a:r>
            <a:r>
              <a:rPr lang="it-IT" sz="1600" b="1" noProof="0" dirty="0">
                <a:solidFill>
                  <a:srgbClr val="1B1D20"/>
                </a:solidFill>
                <a:latin typeface="IBM Plex Sans" pitchFamily="34" charset="0"/>
                <a:ea typeface="IBM Plex Sans" pitchFamily="34" charset="-122"/>
                <a:cs typeface="IBM Plex Sans" pitchFamily="34" charset="-120"/>
              </a:rPr>
              <a:t>domain</a:t>
            </a:r>
            <a:r>
              <a:rPr lang="it-IT" sz="1600" noProof="0" dirty="0">
                <a:solidFill>
                  <a:srgbClr val="5B5F66"/>
                </a:solidFill>
                <a:latin typeface="IBM Plex Sans" pitchFamily="34" charset="0"/>
                <a:ea typeface="IBM Plex Sans" pitchFamily="34" charset="-122"/>
                <a:cs typeface="IBM Plex Sans" pitchFamily="34" charset="-120"/>
              </a:rPr>
              <a:t>, </a:t>
            </a:r>
            <a:r>
              <a:rPr lang="it-IT" sz="1600" b="1" noProof="0" dirty="0" err="1">
                <a:solidFill>
                  <a:srgbClr val="1B1D20"/>
                </a:solidFill>
                <a:latin typeface="IBM Plex Sans" pitchFamily="34" charset="0"/>
                <a:ea typeface="IBM Plex Sans" pitchFamily="34" charset="-122"/>
                <a:cs typeface="IBM Plex Sans" pitchFamily="34" charset="-120"/>
              </a:rPr>
              <a:t>number</a:t>
            </a:r>
            <a:r>
              <a:rPr lang="it-IT" sz="1600" noProof="0" dirty="0">
                <a:solidFill>
                  <a:srgbClr val="5B5F66"/>
                </a:solidFill>
                <a:latin typeface="IBM Plex Sans" pitchFamily="34" charset="0"/>
                <a:ea typeface="IBM Plex Sans" pitchFamily="34" charset="-122"/>
                <a:cs typeface="IBM Plex Sans" pitchFamily="34" charset="-120"/>
              </a:rPr>
              <a:t> e la lista </a:t>
            </a:r>
            <a:r>
              <a:rPr lang="it-IT" sz="1600" b="1" noProof="0" dirty="0">
                <a:solidFill>
                  <a:srgbClr val="1B1D20"/>
                </a:solidFill>
                <a:latin typeface="IBM Plex Sans" pitchFamily="34" charset="0"/>
                <a:ea typeface="IBM Plex Sans" pitchFamily="34" charset="-122"/>
                <a:cs typeface="IBM Plex Sans" pitchFamily="34" charset="-120"/>
              </a:rPr>
              <a:t>startup</a:t>
            </a:r>
            <a:r>
              <a:rPr lang="it-IT" sz="1600" noProof="0" dirty="0">
                <a:solidFill>
                  <a:srgbClr val="5B5F66"/>
                </a:solidFill>
                <a:latin typeface="IBM Plex Sans" pitchFamily="34" charset="0"/>
                <a:ea typeface="IBM Plex Sans" pitchFamily="34" charset="-122"/>
                <a:cs typeface="IBM Plex Sans" pitchFamily="34" charset="-120"/>
              </a:rPr>
              <a:t>; la costante </a:t>
            </a:r>
            <a:r>
              <a:rPr lang="it-IT" sz="1600" b="1" noProof="0" dirty="0">
                <a:solidFill>
                  <a:srgbClr val="1B1D20"/>
                </a:solidFill>
                <a:latin typeface="IBM Plex Sans" pitchFamily="34" charset="0"/>
                <a:ea typeface="IBM Plex Sans" pitchFamily="34" charset="-122"/>
                <a:cs typeface="IBM Plex Sans" pitchFamily="34" charset="-120"/>
              </a:rPr>
              <a:t>IMAGE</a:t>
            </a:r>
            <a:r>
              <a:rPr lang="it-IT" sz="1600" noProof="0" dirty="0">
                <a:solidFill>
                  <a:srgbClr val="5B5F66"/>
                </a:solidFill>
                <a:latin typeface="IBM Plex Sans" pitchFamily="34" charset="0"/>
                <a:ea typeface="IBM Plex Sans" pitchFamily="34" charset="-122"/>
                <a:cs typeface="IBM Plex Sans" pitchFamily="34" charset="-120"/>
              </a:rPr>
              <a:t> è l’immagine. Le chiamate su lab costruiscono il modello, quelle su manager agiscono su Docker.</a:t>
            </a:r>
            <a:endParaRPr lang="it-IT" sz="1600" noProof="0" dirty="0"/>
          </a:p>
        </p:txBody>
      </p:sp>
      <p:sp>
        <p:nvSpPr>
          <p:cNvPr id="8" name="Text 6"/>
          <p:cNvSpPr/>
          <p:nvPr/>
        </p:nvSpPr>
        <p:spPr>
          <a:xfrm>
            <a:off x="812800" y="3151485"/>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857612"/>
                </a:solidFill>
                <a:latin typeface="JetBrains Mono" pitchFamily="49" charset="0"/>
                <a:ea typeface="JetBrains Mono" pitchFamily="49" charset="-122"/>
                <a:cs typeface="JetBrains Mono" pitchFamily="49" charset="-120"/>
              </a:rPr>
              <a:t>02</a:t>
            </a:r>
            <a:endParaRPr lang="it-IT" sz="1600" noProof="0" dirty="0"/>
          </a:p>
        </p:txBody>
      </p:sp>
      <p:sp>
        <p:nvSpPr>
          <p:cNvPr id="9" name="Text 7"/>
          <p:cNvSpPr/>
          <p:nvPr/>
        </p:nvSpPr>
        <p:spPr>
          <a:xfrm>
            <a:off x="1473200" y="3119140"/>
            <a:ext cx="102031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Le chiamate complete</a:t>
            </a:r>
            <a:endParaRPr lang="it-IT" sz="2000" noProof="0" dirty="0"/>
          </a:p>
        </p:txBody>
      </p:sp>
      <p:sp>
        <p:nvSpPr>
          <p:cNvPr id="10" name="Shape 8"/>
          <p:cNvSpPr/>
          <p:nvPr/>
        </p:nvSpPr>
        <p:spPr>
          <a:xfrm>
            <a:off x="1473200" y="3500140"/>
            <a:ext cx="9906000" cy="1854200"/>
          </a:xfrm>
          <a:prstGeom prst="rect">
            <a:avLst/>
          </a:prstGeom>
          <a:solidFill>
            <a:srgbClr val="17191C"/>
          </a:solidFill>
          <a:ln/>
        </p:spPr>
        <p:txBody>
          <a:bodyPr/>
          <a:lstStyle/>
          <a:p>
            <a:endParaRPr lang="it-IT" noProof="0" dirty="0"/>
          </a:p>
        </p:txBody>
      </p:sp>
      <p:sp>
        <p:nvSpPr>
          <p:cNvPr id="11" name="Text 9"/>
          <p:cNvSpPr/>
          <p:nvPr/>
        </p:nvSpPr>
        <p:spPr>
          <a:xfrm>
            <a:off x="1651000" y="3627140"/>
            <a:ext cx="9836912"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machine = </a:t>
            </a:r>
            <a:r>
              <a:rPr lang="it-IT" sz="1600" noProof="0" dirty="0" err="1">
                <a:solidFill>
                  <a:srgbClr val="F2F1EC"/>
                </a:solidFill>
                <a:latin typeface="JetBrains Mono" pitchFamily="49" charset="0"/>
                <a:ea typeface="JetBrains Mono" pitchFamily="49" charset="-122"/>
                <a:cs typeface="JetBrains Mono" pitchFamily="49" charset="-120"/>
              </a:rPr>
              <a:t>lab.new_machine</a:t>
            </a:r>
            <a:r>
              <a:rPr lang="it-IT" sz="1600" noProof="0" dirty="0">
                <a:solidFill>
                  <a:srgbClr val="F2F1EC"/>
                </a:solidFill>
                <a:latin typeface="JetBrains Mono" pitchFamily="49" charset="0"/>
                <a:ea typeface="JetBrains Mono" pitchFamily="49" charset="-122"/>
                <a:cs typeface="JetBrains Mono" pitchFamily="49" charset="-120"/>
              </a:rPr>
              <a:t>(name, image=IMAGE)</a:t>
            </a:r>
            <a:endParaRPr lang="it-IT" sz="1600" noProof="0" dirty="0"/>
          </a:p>
        </p:txBody>
      </p:sp>
      <p:sp>
        <p:nvSpPr>
          <p:cNvPr id="12" name="Text 10"/>
          <p:cNvSpPr/>
          <p:nvPr/>
        </p:nvSpPr>
        <p:spPr>
          <a:xfrm>
            <a:off x="1651000" y="3893840"/>
            <a:ext cx="9836912" cy="292100"/>
          </a:xfrm>
          <a:prstGeom prst="rect">
            <a:avLst/>
          </a:prstGeom>
          <a:noFill/>
          <a:ln/>
        </p:spPr>
        <p:txBody>
          <a:bodyPr wrap="square" lIns="0" tIns="0" rIns="0" bIns="0" rtlCol="0" anchor="t">
            <a:normAutofit/>
          </a:bodyPr>
          <a:lstStyle/>
          <a:p>
            <a:pPr marL="0" indent="0" algn="l">
              <a:lnSpc>
                <a:spcPts val="2100"/>
              </a:lnSpc>
              <a:buNone/>
            </a:pPr>
            <a:r>
              <a:rPr lang="it-IT" sz="1600" noProof="0" dirty="0" err="1">
                <a:solidFill>
                  <a:srgbClr val="F2F1EC"/>
                </a:solidFill>
                <a:latin typeface="JetBrains Mono" pitchFamily="49" charset="0"/>
                <a:ea typeface="JetBrains Mono" pitchFamily="49" charset="-122"/>
                <a:cs typeface="JetBrains Mono" pitchFamily="49" charset="-120"/>
              </a:rPr>
              <a:t>lab.connect_machine_to_link</a:t>
            </a:r>
            <a:r>
              <a:rPr lang="it-IT" sz="1600" noProof="0" dirty="0">
                <a:solidFill>
                  <a:srgbClr val="F2F1EC"/>
                </a:solidFill>
                <a:latin typeface="JetBrains Mono" pitchFamily="49" charset="0"/>
                <a:ea typeface="JetBrains Mono" pitchFamily="49" charset="-122"/>
                <a:cs typeface="JetBrains Mono" pitchFamily="49" charset="-120"/>
              </a:rPr>
              <a:t>(name, domain, </a:t>
            </a:r>
            <a:r>
              <a:rPr lang="it-IT" sz="1600" noProof="0" dirty="0" err="1">
                <a:solidFill>
                  <a:srgbClr val="F2F1EC"/>
                </a:solidFill>
                <a:latin typeface="JetBrains Mono" pitchFamily="49" charset="0"/>
                <a:ea typeface="JetBrains Mono" pitchFamily="49" charset="-122"/>
                <a:cs typeface="JetBrains Mono" pitchFamily="49" charset="-120"/>
              </a:rPr>
              <a:t>machine_iface_number</a:t>
            </a:r>
            <a:r>
              <a:rPr lang="it-IT" sz="1600" noProof="0" dirty="0">
                <a:solidFill>
                  <a:srgbClr val="F2F1EC"/>
                </a:solidFill>
                <a:latin typeface="JetBrains Mono" pitchFamily="49" charset="0"/>
                <a:ea typeface="JetBrains Mono" pitchFamily="49" charset="-122"/>
                <a:cs typeface="JetBrains Mono" pitchFamily="49" charset="-120"/>
              </a:rPr>
              <a:t>=</a:t>
            </a:r>
            <a:r>
              <a:rPr lang="it-IT" sz="1600" noProof="0" dirty="0" err="1">
                <a:solidFill>
                  <a:srgbClr val="F2F1EC"/>
                </a:solidFill>
                <a:latin typeface="JetBrains Mono" pitchFamily="49" charset="0"/>
                <a:ea typeface="JetBrains Mono" pitchFamily="49" charset="-122"/>
                <a:cs typeface="JetBrains Mono" pitchFamily="49" charset="-120"/>
              </a:rPr>
              <a:t>number</a:t>
            </a:r>
            <a:r>
              <a:rPr lang="it-IT" sz="1600" noProof="0" dirty="0">
                <a:solidFill>
                  <a:srgbClr val="F2F1EC"/>
                </a:solidFill>
                <a:latin typeface="JetBrains Mono" pitchFamily="49" charset="0"/>
                <a:ea typeface="JetBrains Mono" pitchFamily="49" charset="-122"/>
                <a:cs typeface="JetBrains Mono" pitchFamily="49" charset="-120"/>
              </a:rPr>
              <a:t>)</a:t>
            </a:r>
            <a:endParaRPr lang="it-IT" sz="1600" noProof="0" dirty="0"/>
          </a:p>
        </p:txBody>
      </p:sp>
      <p:sp>
        <p:nvSpPr>
          <p:cNvPr id="13" name="Text 11"/>
          <p:cNvSpPr/>
          <p:nvPr/>
        </p:nvSpPr>
        <p:spPr>
          <a:xfrm>
            <a:off x="1651000" y="4160540"/>
            <a:ext cx="9836912" cy="292100"/>
          </a:xfrm>
          <a:prstGeom prst="rect">
            <a:avLst/>
          </a:prstGeom>
          <a:noFill/>
          <a:ln/>
        </p:spPr>
        <p:txBody>
          <a:bodyPr wrap="square" lIns="0" tIns="0" rIns="0" bIns="0" rtlCol="0" anchor="t">
            <a:normAutofit/>
          </a:bodyPr>
          <a:lstStyle/>
          <a:p>
            <a:pPr marL="0" indent="0" algn="l">
              <a:lnSpc>
                <a:spcPts val="2100"/>
              </a:lnSpc>
              <a:buNone/>
            </a:pPr>
            <a:r>
              <a:rPr lang="it-IT" sz="1600" noProof="0" dirty="0" err="1">
                <a:solidFill>
                  <a:srgbClr val="F2F1EC"/>
                </a:solidFill>
                <a:latin typeface="JetBrains Mono" pitchFamily="49" charset="0"/>
                <a:ea typeface="JetBrains Mono" pitchFamily="49" charset="-122"/>
                <a:cs typeface="JetBrains Mono" pitchFamily="49" charset="-120"/>
              </a:rPr>
              <a:t>lab.create_startup_file_from_list</a:t>
            </a:r>
            <a:r>
              <a:rPr lang="it-IT" sz="1600" noProof="0" dirty="0">
                <a:solidFill>
                  <a:srgbClr val="F2F1EC"/>
                </a:solidFill>
                <a:latin typeface="JetBrains Mono" pitchFamily="49" charset="0"/>
                <a:ea typeface="JetBrains Mono" pitchFamily="49" charset="-122"/>
                <a:cs typeface="JetBrains Mono" pitchFamily="49" charset="-120"/>
              </a:rPr>
              <a:t>(machine, startup)</a:t>
            </a:r>
            <a:endParaRPr lang="it-IT" sz="1600" noProof="0" dirty="0"/>
          </a:p>
        </p:txBody>
      </p:sp>
      <p:sp>
        <p:nvSpPr>
          <p:cNvPr id="14" name="Text 12"/>
          <p:cNvSpPr/>
          <p:nvPr/>
        </p:nvSpPr>
        <p:spPr>
          <a:xfrm>
            <a:off x="1651000" y="4427240"/>
            <a:ext cx="9836912" cy="292100"/>
          </a:xfrm>
          <a:prstGeom prst="rect">
            <a:avLst/>
          </a:prstGeom>
          <a:noFill/>
          <a:ln/>
        </p:spPr>
        <p:txBody>
          <a:bodyPr wrap="square" lIns="0" tIns="0" rIns="0" bIns="0" rtlCol="0" anchor="t">
            <a:normAutofit/>
          </a:bodyPr>
          <a:lstStyle/>
          <a:p>
            <a:pPr marL="0" indent="0" algn="l">
              <a:lnSpc>
                <a:spcPts val="2100"/>
              </a:lnSpc>
              <a:buNone/>
            </a:pPr>
            <a:r>
              <a:rPr lang="it-IT" sz="1600" noProof="0" dirty="0" err="1">
                <a:solidFill>
                  <a:srgbClr val="F2F1EC"/>
                </a:solidFill>
                <a:latin typeface="JetBrains Mono" pitchFamily="49" charset="0"/>
                <a:ea typeface="JetBrains Mono" pitchFamily="49" charset="-122"/>
                <a:cs typeface="JetBrains Mono" pitchFamily="49" charset="-120"/>
              </a:rPr>
              <a:t>manager.deploy_lab</a:t>
            </a:r>
            <a:r>
              <a:rPr lang="it-IT" sz="1600" noProof="0" dirty="0">
                <a:solidFill>
                  <a:srgbClr val="F2F1EC"/>
                </a:solidFill>
                <a:latin typeface="JetBrains Mono" pitchFamily="49" charset="0"/>
                <a:ea typeface="JetBrains Mono" pitchFamily="49" charset="-122"/>
                <a:cs typeface="JetBrains Mono" pitchFamily="49" charset="-120"/>
              </a:rPr>
              <a:t>(lab)</a:t>
            </a:r>
            <a:endParaRPr lang="it-IT" sz="1600" noProof="0" dirty="0"/>
          </a:p>
        </p:txBody>
      </p:sp>
      <p:sp>
        <p:nvSpPr>
          <p:cNvPr id="15" name="Text 13"/>
          <p:cNvSpPr/>
          <p:nvPr/>
        </p:nvSpPr>
        <p:spPr>
          <a:xfrm>
            <a:off x="1651000" y="4693940"/>
            <a:ext cx="9836912" cy="292100"/>
          </a:xfrm>
          <a:prstGeom prst="rect">
            <a:avLst/>
          </a:prstGeom>
          <a:noFill/>
          <a:ln/>
        </p:spPr>
        <p:txBody>
          <a:bodyPr wrap="square" lIns="0" tIns="0" rIns="0" bIns="0" rtlCol="0" anchor="t">
            <a:normAutofit/>
          </a:bodyPr>
          <a:lstStyle/>
          <a:p>
            <a:pPr marL="0" indent="0" algn="l">
              <a:lnSpc>
                <a:spcPts val="2100"/>
              </a:lnSpc>
              <a:buNone/>
            </a:pPr>
            <a:r>
              <a:rPr lang="it-IT" sz="1600" noProof="0" dirty="0" err="1">
                <a:solidFill>
                  <a:srgbClr val="F2F1EC"/>
                </a:solidFill>
                <a:latin typeface="JetBrains Mono" pitchFamily="49" charset="0"/>
                <a:ea typeface="JetBrains Mono" pitchFamily="49" charset="-122"/>
                <a:cs typeface="JetBrains Mono" pitchFamily="49" charset="-120"/>
              </a:rPr>
              <a:t>stdout</a:t>
            </a:r>
            <a:r>
              <a:rPr lang="it-IT" sz="1600" noProof="0" dirty="0">
                <a:solidFill>
                  <a:srgbClr val="F2F1EC"/>
                </a:solidFill>
                <a:latin typeface="JetBrains Mono" pitchFamily="49" charset="0"/>
                <a:ea typeface="JetBrains Mono" pitchFamily="49" charset="-122"/>
                <a:cs typeface="JetBrains Mono" pitchFamily="49" charset="-120"/>
              </a:rPr>
              <a:t>, _, </a:t>
            </a:r>
            <a:r>
              <a:rPr lang="it-IT" sz="1600" noProof="0" dirty="0" err="1">
                <a:solidFill>
                  <a:srgbClr val="F2F1EC"/>
                </a:solidFill>
                <a:latin typeface="JetBrains Mono" pitchFamily="49" charset="0"/>
                <a:ea typeface="JetBrains Mono" pitchFamily="49" charset="-122"/>
                <a:cs typeface="JetBrains Mono" pitchFamily="49" charset="-120"/>
              </a:rPr>
              <a:t>exit_code</a:t>
            </a:r>
            <a:r>
              <a:rPr lang="it-IT" sz="1600" noProof="0" dirty="0">
                <a:solidFill>
                  <a:srgbClr val="F2F1EC"/>
                </a:solidFill>
                <a:latin typeface="JetBrains Mono" pitchFamily="49" charset="0"/>
                <a:ea typeface="JetBrains Mono" pitchFamily="49" charset="-122"/>
                <a:cs typeface="JetBrains Mono" pitchFamily="49" charset="-120"/>
              </a:rPr>
              <a:t> = </a:t>
            </a:r>
            <a:r>
              <a:rPr lang="it-IT" sz="1600" noProof="0" dirty="0" err="1">
                <a:solidFill>
                  <a:srgbClr val="F2F1EC"/>
                </a:solidFill>
                <a:latin typeface="JetBrains Mono" pitchFamily="49" charset="0"/>
                <a:ea typeface="JetBrains Mono" pitchFamily="49" charset="-122"/>
                <a:cs typeface="JetBrains Mono" pitchFamily="49" charset="-120"/>
              </a:rPr>
              <a:t>manager.exec</a:t>
            </a:r>
            <a:r>
              <a:rPr lang="it-IT" sz="1600" noProof="0" dirty="0">
                <a:solidFill>
                  <a:srgbClr val="F2F1EC"/>
                </a:solidFill>
                <a:latin typeface="JetBrains Mono" pitchFamily="49" charset="0"/>
                <a:ea typeface="JetBrains Mono" pitchFamily="49" charset="-122"/>
                <a:cs typeface="JetBrains Mono" pitchFamily="49" charset="-120"/>
              </a:rPr>
              <a:t>("pc1", "</a:t>
            </a:r>
            <a:r>
              <a:rPr lang="it-IT" sz="1600" noProof="0" dirty="0" err="1">
                <a:solidFill>
                  <a:srgbClr val="F2F1EC"/>
                </a:solidFill>
                <a:latin typeface="JetBrains Mono" pitchFamily="49" charset="0"/>
                <a:ea typeface="JetBrains Mono" pitchFamily="49" charset="-122"/>
                <a:cs typeface="JetBrains Mono" pitchFamily="49" charset="-120"/>
              </a:rPr>
              <a:t>ping</a:t>
            </a:r>
            <a:r>
              <a:rPr lang="it-IT" sz="1600" noProof="0" dirty="0">
                <a:solidFill>
                  <a:srgbClr val="F2F1EC"/>
                </a:solidFill>
                <a:latin typeface="JetBrains Mono" pitchFamily="49" charset="0"/>
                <a:ea typeface="JetBrains Mono" pitchFamily="49" charset="-122"/>
                <a:cs typeface="JetBrains Mono" pitchFamily="49" charset="-120"/>
              </a:rPr>
              <a:t> -c 3 192.168.2.10",</a:t>
            </a:r>
            <a:endParaRPr lang="it-IT" sz="1600" noProof="0" dirty="0"/>
          </a:p>
        </p:txBody>
      </p:sp>
      <p:sp>
        <p:nvSpPr>
          <p:cNvPr id="16" name="Text 14"/>
          <p:cNvSpPr/>
          <p:nvPr/>
        </p:nvSpPr>
        <p:spPr>
          <a:xfrm>
            <a:off x="2082800" y="4960640"/>
            <a:ext cx="9392158"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F2F1EC"/>
                </a:solidFill>
                <a:latin typeface="JetBrains Mono" pitchFamily="49" charset="0"/>
                <a:ea typeface="JetBrains Mono" pitchFamily="49" charset="-122"/>
                <a:cs typeface="JetBrains Mono" pitchFamily="49" charset="-120"/>
              </a:rPr>
              <a:t>lab=lab, </a:t>
            </a:r>
            <a:r>
              <a:rPr lang="it-IT" sz="1600" noProof="0" dirty="0" err="1">
                <a:solidFill>
                  <a:srgbClr val="E1D368"/>
                </a:solidFill>
                <a:latin typeface="JetBrains Mono" pitchFamily="49" charset="0"/>
                <a:ea typeface="JetBrains Mono" pitchFamily="49" charset="-122"/>
                <a:cs typeface="JetBrains Mono" pitchFamily="49" charset="-120"/>
              </a:rPr>
              <a:t>wait</a:t>
            </a:r>
            <a:r>
              <a:rPr lang="it-IT" sz="1600" noProof="0" dirty="0">
                <a:solidFill>
                  <a:srgbClr val="E1D368"/>
                </a:solidFill>
                <a:latin typeface="JetBrains Mono" pitchFamily="49" charset="0"/>
                <a:ea typeface="JetBrains Mono" pitchFamily="49" charset="-122"/>
                <a:cs typeface="JetBrains Mono" pitchFamily="49" charset="-120"/>
              </a:rPr>
              <a:t>=True</a:t>
            </a:r>
            <a:r>
              <a:rPr lang="it-IT" sz="1600" noProof="0" dirty="0">
                <a:solidFill>
                  <a:srgbClr val="F2F1EC"/>
                </a:solidFill>
                <a:latin typeface="JetBrains Mono" pitchFamily="49" charset="0"/>
                <a:ea typeface="JetBrains Mono" pitchFamily="49" charset="-122"/>
                <a:cs typeface="JetBrains Mono" pitchFamily="49" charset="-120"/>
              </a:rPr>
              <a:t>, stream=False)</a:t>
            </a:r>
            <a:endParaRPr lang="it-IT" sz="1600" noProof="0" dirty="0"/>
          </a:p>
        </p:txBody>
      </p:sp>
    </p:spTree>
    <p:extLst>
      <p:ext uri="{BB962C8B-B14F-4D97-AF65-F5344CB8AC3E}">
        <p14:creationId xmlns:p14="http://schemas.microsoft.com/office/powerpoint/2010/main" val="27293387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4">
    <p:bg>
      <p:bgPr>
        <a:solidFill>
          <a:srgbClr val="FFFFFF">
            <a:alpha val="100000"/>
          </a:srgbClr>
        </a:solidFill>
        <a:effectLst/>
      </p:bgPr>
    </p:bg>
    <p:spTree>
      <p:nvGrpSpPr>
        <p:cNvPr id="1" name=""/>
        <p:cNvGrpSpPr/>
        <p:nvPr/>
      </p:nvGrpSpPr>
      <p:grpSpPr>
        <a:xfrm>
          <a:off x="0" y="0"/>
          <a:ext cx="0" cy="0"/>
          <a:chOff x="0" y="0"/>
          <a:chExt cx="0" cy="0"/>
        </a:xfrm>
      </p:grpSpPr>
      <p:sp>
        <p:nvSpPr>
          <p:cNvPr id="3" name="Shape 0"/>
          <p:cNvSpPr/>
          <p:nvPr/>
        </p:nvSpPr>
        <p:spPr>
          <a:xfrm>
            <a:off x="0" y="0"/>
            <a:ext cx="152400" cy="6858000"/>
          </a:xfrm>
          <a:prstGeom prst="rect">
            <a:avLst/>
          </a:prstGeom>
          <a:solidFill>
            <a:srgbClr val="E1D368"/>
          </a:solidFill>
          <a:ln/>
        </p:spPr>
        <p:txBody>
          <a:bodyPr/>
          <a:lstStyle/>
          <a:p>
            <a:endParaRPr lang="it-IT" noProof="0" dirty="0"/>
          </a:p>
        </p:txBody>
      </p:sp>
      <p:sp>
        <p:nvSpPr>
          <p:cNvPr id="5"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La soluzione di primo_lab.py</a:t>
            </a:r>
            <a:endParaRPr lang="it-IT" sz="4000" noProof="0" dirty="0"/>
          </a:p>
        </p:txBody>
      </p:sp>
      <p:sp>
        <p:nvSpPr>
          <p:cNvPr id="6" name="Text 4"/>
          <p:cNvSpPr/>
          <p:nvPr/>
        </p:nvSpPr>
        <p:spPr>
          <a:xfrm>
            <a:off x="812800" y="1841500"/>
            <a:ext cx="5734050" cy="254000"/>
          </a:xfrm>
          <a:prstGeom prst="rect">
            <a:avLst/>
          </a:prstGeom>
          <a:noFill/>
          <a:ln/>
        </p:spPr>
        <p:txBody>
          <a:bodyPr wrap="square" lIns="0" tIns="0" rIns="0" bIns="0" rtlCol="0" anchor="t">
            <a:normAutofit fontScale="25000" lnSpcReduction="20000"/>
          </a:bodyPr>
          <a:lstStyle/>
          <a:p>
            <a:pPr marL="0" indent="0" algn="l">
              <a:lnSpc>
                <a:spcPts val="2500"/>
              </a:lnSpc>
              <a:buNone/>
            </a:pPr>
            <a:r>
              <a:rPr lang="it-IT" sz="1600" b="1" noProof="0" dirty="0">
                <a:solidFill>
                  <a:srgbClr val="1B1D20"/>
                </a:solidFill>
                <a:latin typeface="IBM Plex Sans" pitchFamily="34" charset="0"/>
                <a:ea typeface="IBM Plex Sans" pitchFamily="34" charset="-122"/>
                <a:cs typeface="IBM Plex Sans" pitchFamily="34" charset="-120"/>
              </a:rPr>
              <a:t>build_lab() · il modello in memoria</a:t>
            </a:r>
            <a:endParaRPr lang="it-IT" sz="2000" noProof="0" dirty="0"/>
          </a:p>
        </p:txBody>
      </p:sp>
      <p:sp>
        <p:nvSpPr>
          <p:cNvPr id="7" name="Shape 8"/>
          <p:cNvSpPr/>
          <p:nvPr/>
        </p:nvSpPr>
        <p:spPr>
          <a:xfrm>
            <a:off x="812800" y="2133600"/>
            <a:ext cx="5734050" cy="3098800"/>
          </a:xfrm>
          <a:prstGeom prst="rect">
            <a:avLst/>
          </a:prstGeom>
          <a:solidFill>
            <a:srgbClr val="17191C"/>
          </a:solidFill>
          <a:ln/>
        </p:spPr>
        <p:txBody>
          <a:bodyPr/>
          <a:lstStyle/>
          <a:p>
            <a:endParaRPr lang="it-IT" noProof="0" dirty="0"/>
          </a:p>
        </p:txBody>
      </p:sp>
      <p:sp>
        <p:nvSpPr>
          <p:cNvPr id="8" name="Text 9"/>
          <p:cNvSpPr/>
          <p:nvPr/>
        </p:nvSpPr>
        <p:spPr>
          <a:xfrm>
            <a:off x="990600" y="2260600"/>
            <a:ext cx="5505450" cy="2844800"/>
          </a:xfrm>
          <a:prstGeom prst="rect">
            <a:avLst/>
          </a:prstGeom>
          <a:noFill/>
          <a:ln/>
        </p:spPr>
        <p:txBody>
          <a:bodyPr wrap="square" lIns="0" tIns="0" rIns="0" bIns="0" rtlCol="0" anchor="t">
            <a:normAutofit/>
          </a:bodyPr>
          <a:lstStyle/>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def build_lab():</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lab = Lab(LAB_NAME)</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for name, device in DEVICES.items():</a:t>
            </a:r>
            <a:endParaRPr lang="it-IT" sz="1600" noProof="0" dirty="0"/>
          </a:p>
          <a:p>
            <a:pPr marL="0" indent="0" algn="l">
              <a:lnSpc>
                <a:spcPts val="1400"/>
              </a:lnSpc>
              <a:buNone/>
            </a:pPr>
            <a:r>
              <a:rPr lang="it-IT" sz="1100" noProof="0" dirty="0">
                <a:solidFill>
                  <a:srgbClr val="E1D368"/>
                </a:solidFill>
                <a:latin typeface="JetBrains Mono" pitchFamily="49" charset="0"/>
                <a:ea typeface="JetBrains Mono" pitchFamily="49" charset="-122"/>
                <a:cs typeface="JetBrains Mono" pitchFamily="49" charset="-120"/>
              </a:rPr>
              <a:t>        machine = lab.new_machine(name, image=IMAGE)</a:t>
            </a:r>
            <a:r>
              <a:rPr lang="it-IT" sz="1100" noProof="0" dirty="0">
                <a:solidFill>
                  <a:srgbClr val="8A8F96"/>
                </a:solidFill>
                <a:latin typeface="JetBrains Mono" pitchFamily="49" charset="0"/>
                <a:ea typeface="JetBrains Mono" pitchFamily="49" charset="-122"/>
                <a:cs typeface="JetBrains Mono" pitchFamily="49" charset="-120"/>
              </a:rPr>
              <a:t>  # 1</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startup = []</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for number, (domain, address) in enumerate(</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device["interfaces"]):</a:t>
            </a:r>
            <a:endParaRPr lang="it-IT" sz="1600" noProof="0" dirty="0"/>
          </a:p>
          <a:p>
            <a:pPr marL="0" indent="0" algn="l">
              <a:lnSpc>
                <a:spcPts val="1400"/>
              </a:lnSpc>
              <a:buNone/>
            </a:pPr>
            <a:r>
              <a:rPr lang="it-IT" sz="1100" noProof="0" dirty="0">
                <a:solidFill>
                  <a:srgbClr val="E1D368"/>
                </a:solidFill>
                <a:latin typeface="JetBrains Mono" pitchFamily="49" charset="0"/>
                <a:ea typeface="JetBrains Mono" pitchFamily="49" charset="-122"/>
                <a:cs typeface="JetBrains Mono" pitchFamily="49" charset="-120"/>
              </a:rPr>
              <a:t>            lab.connect_machine_to_link(</a:t>
            </a:r>
            <a:r>
              <a:rPr lang="it-IT" sz="1100" noProof="0" dirty="0">
                <a:solidFill>
                  <a:srgbClr val="8A8F96"/>
                </a:solidFill>
                <a:latin typeface="JetBrains Mono" pitchFamily="49" charset="0"/>
                <a:ea typeface="JetBrains Mono" pitchFamily="49" charset="-122"/>
                <a:cs typeface="JetBrains Mono" pitchFamily="49" charset="-120"/>
              </a:rPr>
              <a:t>  # 2</a:t>
            </a:r>
            <a:endParaRPr lang="it-IT" sz="1600" noProof="0" dirty="0"/>
          </a:p>
          <a:p>
            <a:pPr marL="0" indent="0" algn="l">
              <a:lnSpc>
                <a:spcPts val="1400"/>
              </a:lnSpc>
              <a:buNone/>
            </a:pPr>
            <a:r>
              <a:rPr lang="it-IT" sz="1100" noProof="0" dirty="0">
                <a:solidFill>
                  <a:srgbClr val="E1D368"/>
                </a:solidFill>
                <a:latin typeface="JetBrains Mono" pitchFamily="49" charset="0"/>
                <a:ea typeface="JetBrains Mono" pitchFamily="49" charset="-122"/>
                <a:cs typeface="JetBrains Mono" pitchFamily="49" charset="-120"/>
              </a:rPr>
              <a:t>                name, domain, machine_iface_number=number)</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startup.append(</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f"ip address add {address} dev eth{number}")</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startup += [f"ip route add {route}"</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for route in device["routes"]]</a:t>
            </a:r>
            <a:endParaRPr lang="it-IT" sz="1600" noProof="0" dirty="0"/>
          </a:p>
          <a:p>
            <a:pPr marL="0" indent="0" algn="l">
              <a:lnSpc>
                <a:spcPts val="1400"/>
              </a:lnSpc>
              <a:buNone/>
            </a:pPr>
            <a:r>
              <a:rPr lang="it-IT" sz="1100" noProof="0" dirty="0">
                <a:solidFill>
                  <a:srgbClr val="E1D368"/>
                </a:solidFill>
                <a:latin typeface="JetBrains Mono" pitchFamily="49" charset="0"/>
                <a:ea typeface="JetBrains Mono" pitchFamily="49" charset="-122"/>
                <a:cs typeface="JetBrains Mono" pitchFamily="49" charset="-120"/>
              </a:rPr>
              <a:t>        lab.create_startup_file_from_list(machine, startup)</a:t>
            </a:r>
            <a:r>
              <a:rPr lang="it-IT" sz="1100" noProof="0" dirty="0">
                <a:solidFill>
                  <a:srgbClr val="8A8F96"/>
                </a:solidFill>
                <a:latin typeface="JetBrains Mono" pitchFamily="49" charset="0"/>
                <a:ea typeface="JetBrains Mono" pitchFamily="49" charset="-122"/>
                <a:cs typeface="JetBrains Mono" pitchFamily="49" charset="-120"/>
              </a:rPr>
              <a:t>  # 3</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lab.check_integrity()</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return lab</a:t>
            </a:r>
            <a:endParaRPr lang="it-IT" sz="1600" noProof="0" dirty="0"/>
          </a:p>
        </p:txBody>
      </p:sp>
      <p:sp>
        <p:nvSpPr>
          <p:cNvPr id="9" name="Text 4"/>
          <p:cNvSpPr/>
          <p:nvPr/>
        </p:nvSpPr>
        <p:spPr>
          <a:xfrm>
            <a:off x="6699250" y="1841500"/>
            <a:ext cx="4679950" cy="254000"/>
          </a:xfrm>
          <a:prstGeom prst="rect">
            <a:avLst/>
          </a:prstGeom>
          <a:noFill/>
          <a:ln/>
        </p:spPr>
        <p:txBody>
          <a:bodyPr wrap="square" lIns="0" tIns="0" rIns="0" bIns="0" rtlCol="0" anchor="t">
            <a:normAutofit fontScale="25000" lnSpcReduction="20000"/>
          </a:bodyPr>
          <a:lstStyle/>
          <a:p>
            <a:pPr marL="0" indent="0" algn="l">
              <a:lnSpc>
                <a:spcPts val="2500"/>
              </a:lnSpc>
              <a:buNone/>
            </a:pPr>
            <a:r>
              <a:rPr lang="it-IT" sz="1600" b="1" noProof="0" dirty="0">
                <a:solidFill>
                  <a:srgbClr val="1B1D20"/>
                </a:solidFill>
                <a:latin typeface="IBM Plex Sans" pitchFamily="34" charset="0"/>
                <a:ea typeface="IBM Plex Sans" pitchFamily="34" charset="-122"/>
                <a:cs typeface="IBM Plex Sans" pitchFamily="34" charset="-120"/>
              </a:rPr>
              <a:t>main() · avvio, ping e pulizia</a:t>
            </a:r>
            <a:endParaRPr lang="it-IT" sz="2000" noProof="0" dirty="0"/>
          </a:p>
        </p:txBody>
      </p:sp>
      <p:sp>
        <p:nvSpPr>
          <p:cNvPr id="10" name="Shape 8"/>
          <p:cNvSpPr/>
          <p:nvPr/>
        </p:nvSpPr>
        <p:spPr>
          <a:xfrm>
            <a:off x="6699250" y="2133600"/>
            <a:ext cx="4679950" cy="3098800"/>
          </a:xfrm>
          <a:prstGeom prst="rect">
            <a:avLst/>
          </a:prstGeom>
          <a:solidFill>
            <a:srgbClr val="17191C"/>
          </a:solidFill>
          <a:ln/>
        </p:spPr>
        <p:txBody>
          <a:bodyPr/>
          <a:lstStyle/>
          <a:p>
            <a:endParaRPr lang="it-IT" noProof="0" dirty="0"/>
          </a:p>
        </p:txBody>
      </p:sp>
      <p:sp>
        <p:nvSpPr>
          <p:cNvPr id="11" name="Text 9"/>
          <p:cNvSpPr/>
          <p:nvPr/>
        </p:nvSpPr>
        <p:spPr>
          <a:xfrm>
            <a:off x="6877050" y="2260600"/>
            <a:ext cx="4451350" cy="2133600"/>
          </a:xfrm>
          <a:prstGeom prst="rect">
            <a:avLst/>
          </a:prstGeom>
          <a:noFill/>
          <a:ln/>
        </p:spPr>
        <p:txBody>
          <a:bodyPr wrap="square" lIns="0" tIns="0" rIns="0" bIns="0" rtlCol="0" anchor="t">
            <a:normAutofit/>
          </a:bodyPr>
          <a:lstStyle/>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def main():</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manager = Kathara.get_instance()</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lab = build_lab()</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manager.undeploy_lab(lab_name=LAB_NAME)</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try:</a:t>
            </a:r>
            <a:endParaRPr lang="it-IT" sz="1600" noProof="0" dirty="0"/>
          </a:p>
          <a:p>
            <a:pPr marL="0" indent="0" algn="l">
              <a:lnSpc>
                <a:spcPts val="1400"/>
              </a:lnSpc>
              <a:buNone/>
            </a:pPr>
            <a:r>
              <a:rPr lang="it-IT" sz="1100" noProof="0" dirty="0">
                <a:solidFill>
                  <a:srgbClr val="E1D368"/>
                </a:solidFill>
                <a:latin typeface="JetBrains Mono" pitchFamily="49" charset="0"/>
                <a:ea typeface="JetBrains Mono" pitchFamily="49" charset="-122"/>
                <a:cs typeface="JetBrains Mono" pitchFamily="49" charset="-120"/>
              </a:rPr>
              <a:t>        manager.deploy_lab(lab)</a:t>
            </a:r>
            <a:r>
              <a:rPr lang="it-IT" sz="1100" noProof="0" dirty="0">
                <a:solidFill>
                  <a:srgbClr val="8A8F96"/>
                </a:solidFill>
                <a:latin typeface="JetBrains Mono" pitchFamily="49" charset="0"/>
                <a:ea typeface="JetBrains Mono" pitchFamily="49" charset="-122"/>
                <a:cs typeface="JetBrains Mono" pitchFamily="49" charset="-120"/>
              </a:rPr>
              <a:t>  # 4</a:t>
            </a:r>
            <a:endParaRPr lang="it-IT" sz="1600" noProof="0" dirty="0"/>
          </a:p>
          <a:p>
            <a:pPr marL="0" indent="0" algn="l">
              <a:lnSpc>
                <a:spcPts val="1400"/>
              </a:lnSpc>
              <a:buNone/>
            </a:pPr>
            <a:r>
              <a:rPr lang="it-IT" sz="1100" noProof="0" dirty="0">
                <a:solidFill>
                  <a:srgbClr val="E1D368"/>
                </a:solidFill>
                <a:latin typeface="JetBrains Mono" pitchFamily="49" charset="0"/>
                <a:ea typeface="JetBrains Mono" pitchFamily="49" charset="-122"/>
                <a:cs typeface="JetBrains Mono" pitchFamily="49" charset="-120"/>
              </a:rPr>
              <a:t>        stdout, _, exit_code = manager.exec(</a:t>
            </a:r>
            <a:r>
              <a:rPr lang="it-IT" sz="1100" noProof="0" dirty="0">
                <a:solidFill>
                  <a:srgbClr val="8A8F96"/>
                </a:solidFill>
                <a:latin typeface="JetBrains Mono" pitchFamily="49" charset="0"/>
                <a:ea typeface="JetBrains Mono" pitchFamily="49" charset="-122"/>
                <a:cs typeface="JetBrains Mono" pitchFamily="49" charset="-120"/>
              </a:rPr>
              <a:t>  # 5</a:t>
            </a:r>
            <a:endParaRPr lang="it-IT" sz="1600" noProof="0" dirty="0"/>
          </a:p>
          <a:p>
            <a:pPr marL="0" indent="0" algn="l">
              <a:lnSpc>
                <a:spcPts val="1400"/>
              </a:lnSpc>
              <a:buNone/>
            </a:pPr>
            <a:r>
              <a:rPr lang="it-IT" sz="1100" noProof="0" dirty="0">
                <a:solidFill>
                  <a:srgbClr val="E1D368"/>
                </a:solidFill>
                <a:latin typeface="JetBrains Mono" pitchFamily="49" charset="0"/>
                <a:ea typeface="JetBrains Mono" pitchFamily="49" charset="-122"/>
                <a:cs typeface="JetBrains Mono" pitchFamily="49" charset="-120"/>
              </a:rPr>
              <a:t>            "pc1", "ping -c 3 192.168.2.10",</a:t>
            </a:r>
            <a:endParaRPr lang="it-IT" sz="1600" noProof="0" dirty="0"/>
          </a:p>
          <a:p>
            <a:pPr marL="0" indent="0" algn="l">
              <a:lnSpc>
                <a:spcPts val="1400"/>
              </a:lnSpc>
              <a:buNone/>
            </a:pPr>
            <a:r>
              <a:rPr lang="it-IT" sz="1100" noProof="0" dirty="0">
                <a:solidFill>
                  <a:srgbClr val="E1D368"/>
                </a:solidFill>
                <a:latin typeface="JetBrains Mono" pitchFamily="49" charset="0"/>
                <a:ea typeface="JetBrains Mono" pitchFamily="49" charset="-122"/>
                <a:cs typeface="JetBrains Mono" pitchFamily="49" charset="-120"/>
              </a:rPr>
              <a:t>            lab=lab, wait=True, stream=False)</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print((stdout or b"").decode())</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finally:</a:t>
            </a:r>
            <a:endParaRPr lang="it-IT" sz="1600" noProof="0" dirty="0"/>
          </a:p>
          <a:p>
            <a:pPr marL="0" indent="0" algn="l">
              <a:lnSpc>
                <a:spcPts val="1400"/>
              </a:lnSpc>
              <a:buNone/>
            </a:pPr>
            <a:r>
              <a:rPr lang="it-IT" sz="1100" noProof="0" dirty="0">
                <a:solidFill>
                  <a:srgbClr val="F2F1EC"/>
                </a:solidFill>
                <a:latin typeface="JetBrains Mono" pitchFamily="49" charset="0"/>
                <a:ea typeface="JetBrains Mono" pitchFamily="49" charset="-122"/>
                <a:cs typeface="JetBrains Mono" pitchFamily="49" charset="-120"/>
              </a:rPr>
              <a:t>        manager.undeploy_lab(lab=lab)</a:t>
            </a:r>
            <a:endParaRPr lang="it-IT" sz="1600" noProof="0" dirty="0"/>
          </a:p>
        </p:txBody>
      </p:sp>
      <p:sp>
        <p:nvSpPr>
          <p:cNvPr id="12" name="Text 5"/>
          <p:cNvSpPr/>
          <p:nvPr/>
        </p:nvSpPr>
        <p:spPr>
          <a:xfrm>
            <a:off x="812800" y="5384800"/>
            <a:ext cx="10566400" cy="29210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In giallo le cinque chiamate dei TODO. Non mostrati: import, LAB_NAME, IMAGE, DEVICES e le print.</a:t>
            </a:r>
            <a:endParaRPr lang="it-IT" sz="1600" noProof="0" dirty="0"/>
          </a:p>
        </p:txBody>
      </p:sp>
    </p:spTree>
    <p:extLst>
      <p:ext uri="{BB962C8B-B14F-4D97-AF65-F5344CB8AC3E}">
        <p14:creationId xmlns:p14="http://schemas.microsoft.com/office/powerpoint/2010/main" val="34837870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5">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Cosa vedremo: lo script completo</a:t>
            </a:r>
            <a:endParaRPr lang="it-IT" sz="4000" noProof="0" dirty="0"/>
          </a:p>
        </p:txBody>
      </p:sp>
      <p:pic>
        <p:nvPicPr>
          <p:cNvPr id="5" name="Image 0" descr="Terminale: output di primo_lab.py con modello pronto (4 dispositivi, 3 domini), lab avviato, ping da pc1 a pc2 con 0% packet loss, pc1 raggiunge pc2 e lab fermato"/>
          <p:cNvPicPr>
            <a:picLocks noChangeAspect="1"/>
          </p:cNvPicPr>
          <p:nvPr/>
        </p:nvPicPr>
        <p:blipFill>
          <a:blip r:embed="rId3"/>
          <a:srcRect t="-1338" b="-1338"/>
          <a:stretch/>
        </p:blipFill>
        <p:spPr>
          <a:xfrm>
            <a:off x="812800" y="1889770"/>
            <a:ext cx="7302500" cy="3873500"/>
          </a:xfrm>
          <a:prstGeom prst="rect">
            <a:avLst/>
          </a:prstGeom>
        </p:spPr>
      </p:pic>
      <p:sp>
        <p:nvSpPr>
          <p:cNvPr id="6" name="Text 3"/>
          <p:cNvSpPr/>
          <p:nvPr/>
        </p:nvSpPr>
        <p:spPr>
          <a:xfrm>
            <a:off x="8420100" y="1889770"/>
            <a:ext cx="3047873"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Modello pronto</a:t>
            </a:r>
            <a:endParaRPr lang="it-IT" sz="1800" noProof="0" dirty="0"/>
          </a:p>
        </p:txBody>
      </p:sp>
      <p:sp>
        <p:nvSpPr>
          <p:cNvPr id="7" name="Text 4"/>
          <p:cNvSpPr/>
          <p:nvPr/>
        </p:nvSpPr>
        <p:spPr>
          <a:xfrm>
            <a:off x="8420100" y="2214860"/>
            <a:ext cx="3047873"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4 dispositivi e 3 domini, in memoria.</a:t>
            </a:r>
            <a:endParaRPr lang="it-IT" sz="1600" noProof="0" dirty="0"/>
          </a:p>
        </p:txBody>
      </p:sp>
      <p:sp>
        <p:nvSpPr>
          <p:cNvPr id="8" name="Shape 5"/>
          <p:cNvSpPr/>
          <p:nvPr/>
        </p:nvSpPr>
        <p:spPr>
          <a:xfrm>
            <a:off x="8420100" y="2929235"/>
            <a:ext cx="2959100" cy="0"/>
          </a:xfrm>
          <a:prstGeom prst="line">
            <a:avLst/>
          </a:prstGeom>
          <a:noFill/>
          <a:ln w="6350">
            <a:solidFill>
              <a:srgbClr val="CFCCC4"/>
            </a:solidFill>
            <a:prstDash val="solid"/>
          </a:ln>
        </p:spPr>
        <p:txBody>
          <a:bodyPr/>
          <a:lstStyle/>
          <a:p>
            <a:endParaRPr lang="it-IT" noProof="0" dirty="0"/>
          </a:p>
        </p:txBody>
      </p:sp>
      <p:sp>
        <p:nvSpPr>
          <p:cNvPr id="9" name="Text 6"/>
          <p:cNvSpPr/>
          <p:nvPr/>
        </p:nvSpPr>
        <p:spPr>
          <a:xfrm>
            <a:off x="8420100" y="3110210"/>
            <a:ext cx="3047873"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0% </a:t>
            </a:r>
            <a:r>
              <a:rPr lang="it-IT" sz="1800" b="1" noProof="0" dirty="0" err="1">
                <a:solidFill>
                  <a:srgbClr val="1B1D20"/>
                </a:solidFill>
                <a:latin typeface="IBM Plex Sans" pitchFamily="34" charset="0"/>
                <a:ea typeface="IBM Plex Sans" pitchFamily="34" charset="-122"/>
                <a:cs typeface="IBM Plex Sans" pitchFamily="34" charset="-120"/>
              </a:rPr>
              <a:t>packet</a:t>
            </a:r>
            <a:r>
              <a:rPr lang="it-IT" sz="1800" b="1" noProof="0" dirty="0">
                <a:solidFill>
                  <a:srgbClr val="1B1D20"/>
                </a:solidFill>
                <a:latin typeface="IBM Plex Sans" pitchFamily="34" charset="0"/>
                <a:ea typeface="IBM Plex Sans" pitchFamily="34" charset="-122"/>
                <a:cs typeface="IBM Plex Sans" pitchFamily="34" charset="-120"/>
              </a:rPr>
              <a:t> </a:t>
            </a:r>
            <a:r>
              <a:rPr lang="it-IT" sz="1800" b="1" noProof="0" dirty="0" err="1">
                <a:solidFill>
                  <a:srgbClr val="1B1D20"/>
                </a:solidFill>
                <a:latin typeface="IBM Plex Sans" pitchFamily="34" charset="0"/>
                <a:ea typeface="IBM Plex Sans" pitchFamily="34" charset="-122"/>
                <a:cs typeface="IBM Plex Sans" pitchFamily="34" charset="-120"/>
              </a:rPr>
              <a:t>loss</a:t>
            </a:r>
            <a:endParaRPr lang="it-IT" sz="1800" noProof="0" dirty="0"/>
          </a:p>
        </p:txBody>
      </p:sp>
      <p:sp>
        <p:nvSpPr>
          <p:cNvPr id="10" name="Text 7"/>
          <p:cNvSpPr/>
          <p:nvPr/>
        </p:nvSpPr>
        <p:spPr>
          <a:xfrm>
            <a:off x="8420100" y="3435350"/>
            <a:ext cx="3047873"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Il Lab 1, ricreato da codice.</a:t>
            </a:r>
            <a:endParaRPr lang="it-IT" sz="1600" noProof="0" dirty="0"/>
          </a:p>
        </p:txBody>
      </p:sp>
      <p:sp>
        <p:nvSpPr>
          <p:cNvPr id="11" name="Shape 8"/>
          <p:cNvSpPr/>
          <p:nvPr/>
        </p:nvSpPr>
        <p:spPr>
          <a:xfrm>
            <a:off x="8420100" y="3883025"/>
            <a:ext cx="2959100" cy="0"/>
          </a:xfrm>
          <a:prstGeom prst="line">
            <a:avLst/>
          </a:prstGeom>
          <a:noFill/>
          <a:ln w="6350">
            <a:solidFill>
              <a:srgbClr val="CFCCC4"/>
            </a:solidFill>
            <a:prstDash val="solid"/>
          </a:ln>
        </p:spPr>
        <p:txBody>
          <a:bodyPr/>
          <a:lstStyle/>
          <a:p>
            <a:endParaRPr lang="it-IT" noProof="0" dirty="0"/>
          </a:p>
        </p:txBody>
      </p:sp>
      <p:sp>
        <p:nvSpPr>
          <p:cNvPr id="12" name="Text 9"/>
          <p:cNvSpPr/>
          <p:nvPr/>
        </p:nvSpPr>
        <p:spPr>
          <a:xfrm>
            <a:off x="8420100" y="4064000"/>
            <a:ext cx="3047873" cy="299720"/>
          </a:xfrm>
          <a:prstGeom prst="rect">
            <a:avLst/>
          </a:prstGeom>
          <a:noFill/>
          <a:ln/>
        </p:spPr>
        <p:txBody>
          <a:bodyPr wrap="square" lIns="0" tIns="0" rIns="0" bIns="0" rtlCol="0" anchor="t">
            <a:normAutofit/>
          </a:bodyPr>
          <a:lstStyle/>
          <a:p>
            <a:pPr marL="0" indent="0" algn="l">
              <a:lnSpc>
                <a:spcPts val="2250"/>
              </a:lnSpc>
              <a:buNone/>
            </a:pPr>
            <a:r>
              <a:rPr lang="it-IT" sz="1800" b="1" noProof="0" dirty="0">
                <a:solidFill>
                  <a:srgbClr val="1B1D20"/>
                </a:solidFill>
                <a:latin typeface="IBM Plex Sans" pitchFamily="34" charset="0"/>
                <a:ea typeface="IBM Plex Sans" pitchFamily="34" charset="-122"/>
                <a:cs typeface="IBM Plex Sans" pitchFamily="34" charset="-120"/>
              </a:rPr>
              <a:t>Lab fermato</a:t>
            </a:r>
            <a:endParaRPr lang="it-IT" sz="1800" noProof="0" dirty="0"/>
          </a:p>
        </p:txBody>
      </p:sp>
      <p:sp>
        <p:nvSpPr>
          <p:cNvPr id="13" name="Text 10"/>
          <p:cNvSpPr/>
          <p:nvPr/>
        </p:nvSpPr>
        <p:spPr>
          <a:xfrm>
            <a:off x="8420100" y="4389140"/>
            <a:ext cx="3047873"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Anche in caso di errore.</a:t>
            </a:r>
            <a:endParaRPr lang="it-IT" sz="1600" noProof="0" dirty="0"/>
          </a:p>
        </p:txBody>
      </p:sp>
    </p:spTree>
    <p:extLst>
      <p:ext uri="{BB962C8B-B14F-4D97-AF65-F5344CB8AC3E}">
        <p14:creationId xmlns:p14="http://schemas.microsoft.com/office/powerpoint/2010/main" val="10065320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a:bodyPr>
          <a:lstStyle/>
          <a:p>
            <a:pPr marL="0" indent="0" algn="l">
              <a:lnSpc>
                <a:spcPts val="4500"/>
              </a:lnSpc>
              <a:buNone/>
            </a:pPr>
            <a:r>
              <a:rPr lang="it-IT" sz="3600" b="1" noProof="0" dirty="0"/>
              <a:t>Testiamo la nostra rete OSPF</a:t>
            </a:r>
          </a:p>
        </p:txBody>
      </p:sp>
      <p:sp>
        <p:nvSpPr>
          <p:cNvPr id="5" name="Text 4"/>
          <p:cNvSpPr/>
          <p:nvPr/>
        </p:nvSpPr>
        <p:spPr>
          <a:xfrm>
            <a:off x="812800" y="1924050"/>
            <a:ext cx="558800"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01</a:t>
            </a:r>
            <a:endParaRPr lang="it-IT" sz="1600" noProof="0" dirty="0"/>
          </a:p>
        </p:txBody>
      </p:sp>
      <p:sp>
        <p:nvSpPr>
          <p:cNvPr id="6" name="Text 4"/>
          <p:cNvSpPr/>
          <p:nvPr/>
        </p:nvSpPr>
        <p:spPr>
          <a:xfrm>
            <a:off x="1473200" y="1892300"/>
            <a:ext cx="990600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In produzione non si può provare</a:t>
            </a:r>
            <a:endParaRPr lang="it-IT" sz="1600" noProof="0" dirty="0"/>
          </a:p>
        </p:txBody>
      </p:sp>
      <p:sp>
        <p:nvSpPr>
          <p:cNvPr id="7" name="Text 4"/>
          <p:cNvSpPr/>
          <p:nvPr/>
        </p:nvSpPr>
        <p:spPr>
          <a:xfrm>
            <a:off x="1473200" y="2247900"/>
            <a:ext cx="9906000" cy="55880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Staccare una fibra per vedere cosa succede significa creare un disservizio agli utenti.</a:t>
            </a:r>
            <a:endParaRPr lang="it-IT" sz="1600" noProof="0" dirty="0"/>
          </a:p>
        </p:txBody>
      </p:sp>
      <p:sp>
        <p:nvSpPr>
          <p:cNvPr id="8" name="Text 4"/>
          <p:cNvSpPr/>
          <p:nvPr/>
        </p:nvSpPr>
        <p:spPr>
          <a:xfrm>
            <a:off x="812800" y="3003550"/>
            <a:ext cx="558800"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02</a:t>
            </a:r>
            <a:endParaRPr lang="it-IT" sz="1600" noProof="0" dirty="0"/>
          </a:p>
        </p:txBody>
      </p:sp>
      <p:sp>
        <p:nvSpPr>
          <p:cNvPr id="9" name="Text 4"/>
          <p:cNvSpPr/>
          <p:nvPr/>
        </p:nvSpPr>
        <p:spPr>
          <a:xfrm>
            <a:off x="1473200" y="2971800"/>
            <a:ext cx="990600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Le domande però restano</a:t>
            </a:r>
            <a:endParaRPr lang="it-IT" sz="1600" noProof="0" dirty="0"/>
          </a:p>
        </p:txBody>
      </p:sp>
      <p:sp>
        <p:nvSpPr>
          <p:cNvPr id="10" name="Text 4"/>
          <p:cNvSpPr/>
          <p:nvPr/>
        </p:nvSpPr>
        <p:spPr>
          <a:xfrm>
            <a:off x="1473200" y="3327400"/>
            <a:ext cx="9906000" cy="55880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Se cade n12, quanto traffico perdiamo? Dopo quanto passa su r4? E cosa succede quando il link torna?</a:t>
            </a:r>
            <a:endParaRPr lang="it-IT" sz="1600" noProof="0" dirty="0"/>
          </a:p>
        </p:txBody>
      </p:sp>
      <p:sp>
        <p:nvSpPr>
          <p:cNvPr id="11" name="Text 4"/>
          <p:cNvSpPr/>
          <p:nvPr/>
        </p:nvSpPr>
        <p:spPr>
          <a:xfrm>
            <a:off x="812800" y="4083050"/>
            <a:ext cx="558800"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03</a:t>
            </a:r>
            <a:endParaRPr lang="it-IT" sz="1600" noProof="0" dirty="0"/>
          </a:p>
        </p:txBody>
      </p:sp>
      <p:sp>
        <p:nvSpPr>
          <p:cNvPr id="12" name="Text 4"/>
          <p:cNvSpPr/>
          <p:nvPr/>
        </p:nvSpPr>
        <p:spPr>
          <a:xfrm>
            <a:off x="1473200" y="4051300"/>
            <a:ext cx="9906000" cy="330200"/>
          </a:xfrm>
          <a:prstGeom prst="rect">
            <a:avLst/>
          </a:prstGeom>
          <a:noFill/>
          <a:ln/>
        </p:spPr>
        <p:txBody>
          <a:bodyPr wrap="square" lIns="0" tIns="0" rIns="0" bIns="0" rtlCol="0" anchor="t">
            <a:normAutofit/>
          </a:bodyPr>
          <a:lstStyle/>
          <a:p>
            <a:pPr marL="0" indent="0" algn="l">
              <a:lnSpc>
                <a:spcPct val="100000"/>
              </a:lnSpc>
              <a:buNone/>
            </a:pPr>
            <a:r>
              <a:rPr lang="it-IT" sz="2000" b="1" noProof="0" dirty="0">
                <a:solidFill>
                  <a:srgbClr val="1B1D20"/>
                </a:solidFill>
                <a:latin typeface="IBM Plex Sans" pitchFamily="34" charset="0"/>
                <a:ea typeface="IBM Plex Sans" pitchFamily="34" charset="-122"/>
                <a:cs typeface="IBM Plex Sans" pitchFamily="34" charset="-120"/>
              </a:rPr>
              <a:t>Facciamo un esperimento su Kathará</a:t>
            </a:r>
            <a:endParaRPr lang="it-IT" sz="1600" noProof="0" dirty="0"/>
          </a:p>
        </p:txBody>
      </p:sp>
      <p:sp>
        <p:nvSpPr>
          <p:cNvPr id="13" name="Text 4"/>
          <p:cNvSpPr/>
          <p:nvPr/>
        </p:nvSpPr>
        <p:spPr>
          <a:xfrm>
            <a:off x="1473200" y="4406900"/>
            <a:ext cx="9906000" cy="55880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Stessi demoni e stesse configurazioni della produzione: si rompe a comando, si misura, si ripete.</a:t>
            </a:r>
            <a:endParaRPr lang="it-IT" sz="1600" noProof="0" dirty="0"/>
          </a:p>
        </p:txBody>
      </p:sp>
      <p:sp>
        <p:nvSpPr>
          <p:cNvPr id="14" name="Shape 18"/>
          <p:cNvSpPr/>
          <p:nvPr/>
        </p:nvSpPr>
        <p:spPr>
          <a:xfrm>
            <a:off x="831850" y="5283200"/>
            <a:ext cx="0" cy="533400"/>
          </a:xfrm>
          <a:prstGeom prst="line">
            <a:avLst/>
          </a:prstGeom>
          <a:noFill/>
          <a:ln w="38100">
            <a:solidFill>
              <a:srgbClr val="E1D368"/>
            </a:solidFill>
            <a:prstDash val="solid"/>
          </a:ln>
        </p:spPr>
        <p:txBody>
          <a:bodyPr/>
          <a:lstStyle/>
          <a:p>
            <a:endParaRPr lang="it-IT" noProof="0" dirty="0"/>
          </a:p>
        </p:txBody>
      </p:sp>
      <p:sp>
        <p:nvSpPr>
          <p:cNvPr id="15" name="Text 4"/>
          <p:cNvSpPr/>
          <p:nvPr/>
        </p:nvSpPr>
        <p:spPr>
          <a:xfrm>
            <a:off x="984250" y="5409046"/>
            <a:ext cx="10375900" cy="311150"/>
          </a:xfrm>
          <a:prstGeom prst="rect">
            <a:avLst/>
          </a:prstGeom>
          <a:noFill/>
          <a:ln/>
        </p:spPr>
        <p:txBody>
          <a:bodyPr wrap="square" lIns="0" tIns="0" rIns="0" bIns="0" rtlCol="0" anchor="t">
            <a:normAutofit/>
          </a:bodyPr>
          <a:lstStyle/>
          <a:p>
            <a:pPr marL="0" indent="0" algn="l">
              <a:lnSpc>
                <a:spcPts val="2250"/>
              </a:lnSpc>
              <a:buNone/>
            </a:pPr>
            <a:r>
              <a:rPr lang="it-IT" sz="2000" b="1" noProof="0" dirty="0">
                <a:solidFill>
                  <a:srgbClr val="1B1D20"/>
                </a:solidFill>
                <a:latin typeface="+mj-lt"/>
                <a:ea typeface="JetBrains Mono" pitchFamily="34" charset="-122"/>
                <a:cs typeface="JetBrains Mono" pitchFamily="34" charset="-120"/>
              </a:rPr>
              <a:t>Usiamo uno script in Python </a:t>
            </a:r>
            <a:r>
              <a:rPr lang="it-IT" sz="2000" b="1" i="1" noProof="0" dirty="0">
                <a:solidFill>
                  <a:srgbClr val="1B1D20"/>
                </a:solidFill>
                <a:latin typeface="+mj-lt"/>
                <a:ea typeface="JetBrains Mono" pitchFamily="34" charset="-122"/>
                <a:cs typeface="JetBrains Mono" pitchFamily="34" charset="-120"/>
              </a:rPr>
              <a:t>(chaos.py)</a:t>
            </a:r>
            <a:r>
              <a:rPr lang="it-IT" sz="2000" b="1" noProof="0" dirty="0">
                <a:solidFill>
                  <a:srgbClr val="1B1D20"/>
                </a:solidFill>
                <a:latin typeface="+mj-lt"/>
                <a:ea typeface="JetBrains Mono" pitchFamily="34" charset="-122"/>
                <a:cs typeface="JetBrains Mono" pitchFamily="34" charset="-120"/>
              </a:rPr>
              <a:t> che fa partire il nostro laboratorio e lo testa live</a:t>
            </a:r>
            <a:endParaRPr lang="it-IT" sz="2000" noProof="0" dirty="0">
              <a:latin typeface="+mj-lt"/>
            </a:endParaRPr>
          </a:p>
        </p:txBody>
      </p:sp>
    </p:spTree>
    <p:extLst>
      <p:ext uri="{BB962C8B-B14F-4D97-AF65-F5344CB8AC3E}">
        <p14:creationId xmlns:p14="http://schemas.microsoft.com/office/powerpoint/2010/main" val="39737240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a:bodyPr>
          <a:lstStyle/>
          <a:p>
            <a:pPr marL="0" indent="0" algn="l">
              <a:lnSpc>
                <a:spcPts val="4500"/>
              </a:lnSpc>
              <a:buNone/>
            </a:pPr>
            <a:r>
              <a:rPr lang="it-IT" sz="3600" b="1" i="0" noProof="0" dirty="0">
                <a:solidFill>
                  <a:srgbClr val="1B1D20"/>
                </a:solidFill>
                <a:latin typeface="IBM Plex Sans" pitchFamily="34" charset="0"/>
                <a:ea typeface="IBM Plex Sans" pitchFamily="34" charset="-122"/>
                <a:cs typeface="IBM Plex Sans" pitchFamily="34" charset="-120"/>
              </a:rPr>
              <a:t>Cosa fa chaos.py, passo per passo</a:t>
            </a:r>
            <a:endParaRPr lang="it-IT" sz="3600" noProof="0" dirty="0"/>
          </a:p>
        </p:txBody>
      </p:sp>
      <p:sp>
        <p:nvSpPr>
          <p:cNvPr id="5" name="Text 4"/>
          <p:cNvSpPr/>
          <p:nvPr/>
        </p:nvSpPr>
        <p:spPr>
          <a:xfrm>
            <a:off x="812800" y="1924050"/>
            <a:ext cx="558800"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01</a:t>
            </a:r>
            <a:endParaRPr lang="it-IT" sz="1600" noProof="0" dirty="0"/>
          </a:p>
        </p:txBody>
      </p:sp>
      <p:sp>
        <p:nvSpPr>
          <p:cNvPr id="6" name="Text 4"/>
          <p:cNvSpPr/>
          <p:nvPr/>
        </p:nvSpPr>
        <p:spPr>
          <a:xfrm>
            <a:off x="1473200" y="1892300"/>
            <a:ext cx="990600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Prepara il twin</a:t>
            </a:r>
            <a:endParaRPr lang="it-IT" sz="1600" noProof="0" dirty="0"/>
          </a:p>
        </p:txBody>
      </p:sp>
      <p:sp>
        <p:nvSpPr>
          <p:cNvPr id="7" name="Text 4"/>
          <p:cNvSpPr/>
          <p:nvPr/>
        </p:nvSpPr>
        <p:spPr>
          <a:xfrm>
            <a:off x="1473200" y="2247900"/>
            <a:ext cx="9906000" cy="457200"/>
          </a:xfrm>
          <a:prstGeom prst="rect">
            <a:avLst/>
          </a:prstGeom>
          <a:noFill/>
          <a:ln/>
        </p:spPr>
        <p:txBody>
          <a:bodyPr wrap="square" lIns="0" tIns="0" rIns="0" bIns="0" rtlCol="0" anchor="t">
            <a:normAutofit/>
          </a:bodyPr>
          <a:lstStyle/>
          <a:p>
            <a:pPr marL="0" indent="0" algn="l">
              <a:lnSpc>
                <a:spcPts val="2250"/>
              </a:lnSpc>
              <a:buNone/>
            </a:pPr>
            <a:r>
              <a:rPr lang="it-IT" noProof="0" dirty="0">
                <a:solidFill>
                  <a:srgbClr val="5B5F66"/>
                </a:solidFill>
                <a:latin typeface="IBM Plex Sans" pitchFamily="34" charset="0"/>
                <a:ea typeface="IBM Plex Sans" pitchFamily="34" charset="-122"/>
                <a:cs typeface="IBM Plex Sans" pitchFamily="34" charset="-120"/>
              </a:rPr>
              <a:t>Legge la cartella del Lab 2 (default labs/lab2/ospf) e riavvia il lab da zero.</a:t>
            </a:r>
            <a:endParaRPr lang="it-IT" noProof="0" dirty="0"/>
          </a:p>
        </p:txBody>
      </p:sp>
      <p:sp>
        <p:nvSpPr>
          <p:cNvPr id="8" name="Text 4"/>
          <p:cNvSpPr/>
          <p:nvPr/>
        </p:nvSpPr>
        <p:spPr>
          <a:xfrm>
            <a:off x="812800" y="2736850"/>
            <a:ext cx="558800"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02</a:t>
            </a:r>
            <a:endParaRPr lang="it-IT" sz="1600" noProof="0" dirty="0"/>
          </a:p>
        </p:txBody>
      </p:sp>
      <p:sp>
        <p:nvSpPr>
          <p:cNvPr id="9" name="Text 4"/>
          <p:cNvSpPr/>
          <p:nvPr/>
        </p:nvSpPr>
        <p:spPr>
          <a:xfrm>
            <a:off x="1473200" y="2705100"/>
            <a:ext cx="990600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Aspetta la convergenza</a:t>
            </a:r>
            <a:endParaRPr lang="it-IT" sz="1600" noProof="0" dirty="0"/>
          </a:p>
        </p:txBody>
      </p:sp>
      <p:sp>
        <p:nvSpPr>
          <p:cNvPr id="10" name="Text 4"/>
          <p:cNvSpPr/>
          <p:nvPr/>
        </p:nvSpPr>
        <p:spPr>
          <a:xfrm>
            <a:off x="1473200" y="3060700"/>
            <a:ext cx="9906000" cy="431800"/>
          </a:xfrm>
          <a:prstGeom prst="rect">
            <a:avLst/>
          </a:prstGeom>
          <a:noFill/>
          <a:ln/>
        </p:spPr>
        <p:txBody>
          <a:bodyPr wrap="square" lIns="0" tIns="0" rIns="0" bIns="0" rtlCol="0" anchor="t">
            <a:normAutofit/>
          </a:bodyPr>
          <a:lstStyle/>
          <a:p>
            <a:pPr marL="0" indent="0" algn="l">
              <a:lnSpc>
                <a:spcPts val="2250"/>
              </a:lnSpc>
              <a:buNone/>
            </a:pPr>
            <a:r>
              <a:rPr lang="it-IT" noProof="0" dirty="0">
                <a:solidFill>
                  <a:srgbClr val="5B5F66"/>
                </a:solidFill>
                <a:latin typeface="IBM Plex Sans" pitchFamily="34" charset="0"/>
                <a:ea typeface="IBM Plex Sans" pitchFamily="34" charset="-122"/>
                <a:cs typeface="IBM Plex Sans" pitchFamily="34" charset="-120"/>
              </a:rPr>
              <a:t>Adiacenze OSPF Full su tutti i router, poi tabelle di routing stabili per 5 s.</a:t>
            </a:r>
            <a:endParaRPr lang="it-IT" noProof="0" dirty="0"/>
          </a:p>
        </p:txBody>
      </p:sp>
      <p:sp>
        <p:nvSpPr>
          <p:cNvPr id="11" name="Text 4"/>
          <p:cNvSpPr/>
          <p:nvPr/>
        </p:nvSpPr>
        <p:spPr>
          <a:xfrm>
            <a:off x="812800" y="3549650"/>
            <a:ext cx="558800"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03</a:t>
            </a:r>
            <a:endParaRPr lang="it-IT" sz="1600" noProof="0" dirty="0"/>
          </a:p>
        </p:txBody>
      </p:sp>
      <p:sp>
        <p:nvSpPr>
          <p:cNvPr id="12" name="Text 4"/>
          <p:cNvSpPr/>
          <p:nvPr/>
        </p:nvSpPr>
        <p:spPr>
          <a:xfrm>
            <a:off x="1473200" y="3517900"/>
            <a:ext cx="990600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Rompe e ripristina</a:t>
            </a:r>
            <a:endParaRPr lang="it-IT" sz="1600" noProof="0" dirty="0"/>
          </a:p>
        </p:txBody>
      </p:sp>
      <p:sp>
        <p:nvSpPr>
          <p:cNvPr id="13" name="Text 4"/>
          <p:cNvSpPr/>
          <p:nvPr/>
        </p:nvSpPr>
        <p:spPr>
          <a:xfrm>
            <a:off x="1473200" y="3873500"/>
            <a:ext cx="9906000" cy="497608"/>
          </a:xfrm>
          <a:prstGeom prst="rect">
            <a:avLst/>
          </a:prstGeom>
          <a:noFill/>
          <a:ln/>
        </p:spPr>
        <p:txBody>
          <a:bodyPr wrap="square" lIns="0" tIns="0" rIns="0" bIns="0" rtlCol="0" anchor="t">
            <a:normAutofit/>
          </a:bodyPr>
          <a:lstStyle/>
          <a:p>
            <a:pPr marL="0" indent="0" algn="l">
              <a:lnSpc>
                <a:spcPts val="2250"/>
              </a:lnSpc>
              <a:buNone/>
            </a:pPr>
            <a:r>
              <a:rPr lang="it-IT" noProof="0" dirty="0">
                <a:solidFill>
                  <a:srgbClr val="5B5F66"/>
                </a:solidFill>
                <a:latin typeface="IBM Plex Sans" pitchFamily="34" charset="0"/>
                <a:ea typeface="IBM Plex Sans" pitchFamily="34" charset="-122"/>
                <a:cs typeface="IBM Plex Sans" pitchFamily="34" charset="-120"/>
              </a:rPr>
              <a:t>Dopo 10 s abbatte n12 su entrambe le estremità; dopo 30 s (60 con --silent) lo ripristina.</a:t>
            </a:r>
            <a:endParaRPr lang="it-IT" noProof="0" dirty="0"/>
          </a:p>
        </p:txBody>
      </p:sp>
      <p:sp>
        <p:nvSpPr>
          <p:cNvPr id="14" name="Text 4"/>
          <p:cNvSpPr/>
          <p:nvPr/>
        </p:nvSpPr>
        <p:spPr>
          <a:xfrm>
            <a:off x="812800" y="4362450"/>
            <a:ext cx="558800" cy="31115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04</a:t>
            </a:r>
            <a:endParaRPr lang="it-IT" sz="1600" noProof="0" dirty="0"/>
          </a:p>
        </p:txBody>
      </p:sp>
      <p:sp>
        <p:nvSpPr>
          <p:cNvPr id="15" name="Text 4"/>
          <p:cNvSpPr/>
          <p:nvPr/>
        </p:nvSpPr>
        <p:spPr>
          <a:xfrm>
            <a:off x="1473200" y="4330700"/>
            <a:ext cx="990600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Osserva e fa il conto</a:t>
            </a:r>
            <a:endParaRPr lang="it-IT" sz="1600" noProof="0" dirty="0"/>
          </a:p>
        </p:txBody>
      </p:sp>
      <p:sp>
        <p:nvSpPr>
          <p:cNvPr id="16" name="Text 4"/>
          <p:cNvSpPr/>
          <p:nvPr/>
        </p:nvSpPr>
        <p:spPr>
          <a:xfrm>
            <a:off x="1473200" y="4686299"/>
            <a:ext cx="9906000" cy="599209"/>
          </a:xfrm>
          <a:prstGeom prst="rect">
            <a:avLst/>
          </a:prstGeom>
          <a:noFill/>
          <a:ln/>
        </p:spPr>
        <p:txBody>
          <a:bodyPr wrap="square" lIns="0" tIns="0" rIns="0" bIns="0" rtlCol="0" anchor="t">
            <a:normAutofit/>
          </a:bodyPr>
          <a:lstStyle/>
          <a:p>
            <a:pPr marL="0" indent="0" algn="l">
              <a:lnSpc>
                <a:spcPts val="2250"/>
              </a:lnSpc>
              <a:buNone/>
            </a:pPr>
            <a:r>
              <a:rPr lang="it-IT" noProof="0" dirty="0">
                <a:solidFill>
                  <a:srgbClr val="5B5F66"/>
                </a:solidFill>
                <a:latin typeface="IBM Plex Sans" pitchFamily="34" charset="0"/>
                <a:ea typeface="IBM Plex Sans" pitchFamily="34" charset="-122"/>
                <a:cs typeface="IBM Plex Sans" pitchFamily="34" charset="-120"/>
              </a:rPr>
              <a:t>Ancora 20 s di osservazione, poi ping inviati e persi. Il twin resta acceso.</a:t>
            </a:r>
            <a:endParaRPr lang="it-IT" noProof="0" dirty="0"/>
          </a:p>
        </p:txBody>
      </p:sp>
      <p:sp>
        <p:nvSpPr>
          <p:cNvPr id="17" name="Text 4"/>
          <p:cNvSpPr/>
          <p:nvPr/>
        </p:nvSpPr>
        <p:spPr>
          <a:xfrm>
            <a:off x="812799" y="5183908"/>
            <a:ext cx="10721105" cy="38100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1B1D20"/>
                </a:solidFill>
                <a:latin typeface="JetBrains Mono" pitchFamily="34" charset="0"/>
                <a:ea typeface="JetBrains Mono" pitchFamily="34" charset="-122"/>
                <a:cs typeface="JetBrains Mono" pitchFamily="34" charset="-120"/>
              </a:rPr>
              <a:t>--link n12|n23|n34|n41 · --down S · --wait S · --cycles N · --random · --silent</a:t>
            </a:r>
            <a:endParaRPr lang="it-IT" sz="1600" noProof="0" dirty="0"/>
          </a:p>
        </p:txBody>
      </p:sp>
      <p:sp>
        <p:nvSpPr>
          <p:cNvPr id="18" name="Shape 18"/>
          <p:cNvSpPr/>
          <p:nvPr/>
        </p:nvSpPr>
        <p:spPr>
          <a:xfrm>
            <a:off x="831850" y="5682672"/>
            <a:ext cx="0" cy="254000"/>
          </a:xfrm>
          <a:prstGeom prst="line">
            <a:avLst/>
          </a:prstGeom>
          <a:noFill/>
          <a:ln w="38100">
            <a:solidFill>
              <a:srgbClr val="E1D368"/>
            </a:solidFill>
            <a:prstDash val="solid"/>
          </a:ln>
        </p:spPr>
        <p:txBody>
          <a:bodyPr/>
          <a:lstStyle/>
          <a:p>
            <a:endParaRPr lang="it-IT" noProof="0" dirty="0"/>
          </a:p>
        </p:txBody>
      </p:sp>
      <p:sp>
        <p:nvSpPr>
          <p:cNvPr id="19" name="Text 4"/>
          <p:cNvSpPr/>
          <p:nvPr/>
        </p:nvSpPr>
        <p:spPr>
          <a:xfrm>
            <a:off x="1003300" y="5669972"/>
            <a:ext cx="10375900" cy="279400"/>
          </a:xfrm>
          <a:prstGeom prst="rect">
            <a:avLst/>
          </a:prstGeom>
          <a:noFill/>
          <a:ln/>
        </p:spPr>
        <p:txBody>
          <a:bodyPr wrap="square" lIns="0" tIns="0" rIns="0" bIns="0" rtlCol="0" anchor="t">
            <a:normAutofit/>
          </a:bodyPr>
          <a:lstStyle/>
          <a:p>
            <a:pPr marL="0" indent="0" algn="l">
              <a:lnSpc>
                <a:spcPts val="2250"/>
              </a:lnSpc>
              <a:buNone/>
            </a:pPr>
            <a:r>
              <a:rPr lang="it-IT" sz="1600" b="1" noProof="0" dirty="0">
                <a:solidFill>
                  <a:srgbClr val="1B1D20"/>
                </a:solidFill>
                <a:latin typeface="IBM Plex Sans" pitchFamily="34" charset="0"/>
                <a:ea typeface="IBM Plex Sans" pitchFamily="34" charset="-122"/>
                <a:cs typeface="IBM Plex Sans" pitchFamily="34" charset="-120"/>
              </a:rPr>
              <a:t>Ctrl+C ripristina sempre il link: il twin non resta mai rotto.</a:t>
            </a:r>
            <a:endParaRPr lang="it-IT" sz="1600" noProof="0" dirty="0"/>
          </a:p>
        </p:txBody>
      </p:sp>
    </p:spTree>
    <p:extLst>
      <p:ext uri="{BB962C8B-B14F-4D97-AF65-F5344CB8AC3E}">
        <p14:creationId xmlns:p14="http://schemas.microsoft.com/office/powerpoint/2010/main" val="21070933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6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a:bodyPr>
          <a:lstStyle/>
          <a:p>
            <a:pPr marL="0" indent="0" algn="l">
              <a:lnSpc>
                <a:spcPts val="4500"/>
              </a:lnSpc>
              <a:buNone/>
            </a:pPr>
            <a:r>
              <a:rPr lang="it-IT" sz="3600" b="1" i="0" noProof="0" dirty="0">
                <a:solidFill>
                  <a:srgbClr val="1B1D20"/>
                </a:solidFill>
                <a:latin typeface="IBM Plex Sans" pitchFamily="34" charset="0"/>
                <a:ea typeface="IBM Plex Sans" pitchFamily="34" charset="-122"/>
                <a:cs typeface="IBM Plex Sans" pitchFamily="34" charset="-120"/>
              </a:rPr>
              <a:t>Due modi di rompere un link</a:t>
            </a:r>
            <a:endParaRPr lang="it-IT" sz="3600" noProof="0" dirty="0"/>
          </a:p>
        </p:txBody>
      </p:sp>
      <p:sp>
        <p:nvSpPr>
          <p:cNvPr id="5" name="Shape 5"/>
          <p:cNvSpPr/>
          <p:nvPr/>
        </p:nvSpPr>
        <p:spPr>
          <a:xfrm>
            <a:off x="5994400" y="1841500"/>
            <a:ext cx="0" cy="3873500"/>
          </a:xfrm>
          <a:prstGeom prst="line">
            <a:avLst/>
          </a:prstGeom>
          <a:noFill/>
          <a:ln w="6350">
            <a:solidFill>
              <a:srgbClr val="CFCCC4"/>
            </a:solidFill>
            <a:prstDash val="solid"/>
          </a:ln>
        </p:spPr>
        <p:txBody>
          <a:bodyPr/>
          <a:lstStyle/>
          <a:p>
            <a:endParaRPr lang="it-IT" noProof="0" dirty="0"/>
          </a:p>
        </p:txBody>
      </p:sp>
      <p:sp>
        <p:nvSpPr>
          <p:cNvPr id="6" name="Text 4"/>
          <p:cNvSpPr/>
          <p:nvPr/>
        </p:nvSpPr>
        <p:spPr>
          <a:xfrm>
            <a:off x="812800" y="1841500"/>
            <a:ext cx="4927600" cy="330200"/>
          </a:xfrm>
          <a:prstGeom prst="rect">
            <a:avLst/>
          </a:prstGeom>
          <a:noFill/>
          <a:ln/>
        </p:spPr>
        <p:txBody>
          <a:bodyPr wrap="square" lIns="0" tIns="0" rIns="0" bIns="0" rtlCol="0" anchor="t">
            <a:normAutofit fontScale="92500"/>
          </a:bodyPr>
          <a:lstStyle/>
          <a:p>
            <a:pPr marL="0" indent="0" algn="l">
              <a:lnSpc>
                <a:spcPts val="2650"/>
              </a:lnSpc>
              <a:buNone/>
            </a:pPr>
            <a:r>
              <a:rPr lang="it-IT" sz="2200" b="1" noProof="0" dirty="0">
                <a:solidFill>
                  <a:srgbClr val="1B1D20"/>
                </a:solidFill>
                <a:latin typeface="IBM Plex Sans" pitchFamily="34" charset="0"/>
                <a:ea typeface="IBM Plex Sans" pitchFamily="34" charset="-122"/>
                <a:cs typeface="IBM Plex Sans" pitchFamily="34" charset="-120"/>
              </a:rPr>
              <a:t>Guasto pulito</a:t>
            </a:r>
            <a:endParaRPr lang="it-IT" sz="1600" noProof="0" dirty="0"/>
          </a:p>
        </p:txBody>
      </p:sp>
      <p:sp>
        <p:nvSpPr>
          <p:cNvPr id="7" name="Text 4"/>
          <p:cNvSpPr/>
          <p:nvPr/>
        </p:nvSpPr>
        <p:spPr>
          <a:xfrm>
            <a:off x="812800" y="2197100"/>
            <a:ext cx="4927600" cy="254000"/>
          </a:xfrm>
          <a:prstGeom prst="rect">
            <a:avLst/>
          </a:prstGeom>
          <a:noFill/>
          <a:ln/>
        </p:spPr>
        <p:txBody>
          <a:bodyPr wrap="square" lIns="0" tIns="0" rIns="0" bIns="0" rtlCol="0" anchor="t">
            <a:normAutofit fontScale="62500" lnSpcReduction="20000"/>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python lab3-api/chaos.py</a:t>
            </a:r>
            <a:endParaRPr lang="it-IT" sz="1600" noProof="0" dirty="0"/>
          </a:p>
        </p:txBody>
      </p:sp>
      <p:sp>
        <p:nvSpPr>
          <p:cNvPr id="8" name="Text 4"/>
          <p:cNvSpPr/>
          <p:nvPr/>
        </p:nvSpPr>
        <p:spPr>
          <a:xfrm>
            <a:off x="812800" y="2565400"/>
            <a:ext cx="4927600" cy="254000"/>
          </a:xfrm>
          <a:prstGeom prst="rect">
            <a:avLst/>
          </a:prstGeom>
          <a:noFill/>
          <a:ln/>
        </p:spPr>
        <p:txBody>
          <a:bodyPr wrap="square" lIns="0" tIns="0" rIns="0" bIns="0" rtlCol="0" anchor="t">
            <a:normAutofit/>
          </a:bodyPr>
          <a:lstStyle/>
          <a:p>
            <a:pPr marL="0" indent="0" algn="l">
              <a:lnSpc>
                <a:spcPts val="1950"/>
              </a:lnSpc>
              <a:buNone/>
            </a:pPr>
            <a:r>
              <a:rPr lang="it-IT" sz="1400" noProof="0" dirty="0">
                <a:solidFill>
                  <a:srgbClr val="8A8F96"/>
                </a:solidFill>
                <a:latin typeface="JetBrains Mono" pitchFamily="34" charset="0"/>
                <a:ea typeface="JetBrains Mono" pitchFamily="34" charset="-122"/>
                <a:cs typeface="JetBrains Mono" pitchFamily="34" charset="-120"/>
              </a:rPr>
              <a:t>nella realtà</a:t>
            </a:r>
            <a:endParaRPr lang="it-IT" sz="1600" noProof="0" dirty="0"/>
          </a:p>
        </p:txBody>
      </p:sp>
      <p:sp>
        <p:nvSpPr>
          <p:cNvPr id="9" name="Text 4"/>
          <p:cNvSpPr/>
          <p:nvPr/>
        </p:nvSpPr>
        <p:spPr>
          <a:xfrm>
            <a:off x="812800" y="2794000"/>
            <a:ext cx="4927600" cy="558800"/>
          </a:xfrm>
          <a:prstGeom prst="rect">
            <a:avLst/>
          </a:prstGeom>
          <a:noFill/>
          <a:ln/>
        </p:spPr>
        <p:txBody>
          <a:bodyPr wrap="square" lIns="0" tIns="0" rIns="0" bIns="0" rtlCol="0" anchor="t">
            <a:normAutofit fontScale="85000" lnSpcReduction="10000"/>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Fibra staccata o porta spenta: il link va giù e il router lo vede.</a:t>
            </a:r>
            <a:endParaRPr lang="it-IT" sz="1600" noProof="0" dirty="0"/>
          </a:p>
        </p:txBody>
      </p:sp>
      <p:sp>
        <p:nvSpPr>
          <p:cNvPr id="10" name="Text 4"/>
          <p:cNvSpPr/>
          <p:nvPr/>
        </p:nvSpPr>
        <p:spPr>
          <a:xfrm>
            <a:off x="812800" y="3429000"/>
            <a:ext cx="4927600" cy="254000"/>
          </a:xfrm>
          <a:prstGeom prst="rect">
            <a:avLst/>
          </a:prstGeom>
          <a:noFill/>
          <a:ln/>
        </p:spPr>
        <p:txBody>
          <a:bodyPr wrap="square" lIns="0" tIns="0" rIns="0" bIns="0" rtlCol="0" anchor="t">
            <a:normAutofit/>
          </a:bodyPr>
          <a:lstStyle/>
          <a:p>
            <a:pPr marL="0" indent="0" algn="l">
              <a:lnSpc>
                <a:spcPts val="1950"/>
              </a:lnSpc>
              <a:buNone/>
            </a:pPr>
            <a:r>
              <a:rPr lang="it-IT" sz="1400" noProof="0" dirty="0">
                <a:solidFill>
                  <a:srgbClr val="8A8F96"/>
                </a:solidFill>
                <a:latin typeface="JetBrains Mono" pitchFamily="34" charset="0"/>
                <a:ea typeface="JetBrains Mono" pitchFamily="34" charset="-122"/>
                <a:cs typeface="JetBrains Mono" pitchFamily="34" charset="-120"/>
              </a:rPr>
              <a:t>sul twin (r1:eth1 e r2:eth0)</a:t>
            </a:r>
            <a:endParaRPr lang="it-IT" sz="1600" noProof="0" dirty="0"/>
          </a:p>
        </p:txBody>
      </p:sp>
      <p:sp>
        <p:nvSpPr>
          <p:cNvPr id="11" name="Shape 11"/>
          <p:cNvSpPr/>
          <p:nvPr/>
        </p:nvSpPr>
        <p:spPr>
          <a:xfrm>
            <a:off x="812800" y="3683000"/>
            <a:ext cx="4927600" cy="736600"/>
          </a:xfrm>
          <a:prstGeom prst="rect">
            <a:avLst/>
          </a:prstGeom>
          <a:solidFill>
            <a:srgbClr val="17191C"/>
          </a:solidFill>
          <a:ln/>
        </p:spPr>
        <p:txBody>
          <a:bodyPr/>
          <a:lstStyle/>
          <a:p>
            <a:endParaRPr lang="it-IT" noProof="0" dirty="0"/>
          </a:p>
        </p:txBody>
      </p:sp>
      <p:sp>
        <p:nvSpPr>
          <p:cNvPr id="12" name="Text 4"/>
          <p:cNvSpPr/>
          <p:nvPr/>
        </p:nvSpPr>
        <p:spPr>
          <a:xfrm>
            <a:off x="965200" y="3771900"/>
            <a:ext cx="4724400" cy="558800"/>
          </a:xfrm>
          <a:prstGeom prst="rect">
            <a:avLst/>
          </a:prstGeom>
          <a:noFill/>
          <a:ln/>
        </p:spPr>
        <p:txBody>
          <a:bodyPr wrap="square" lIns="0" tIns="0" rIns="0" bIns="0" rtlCol="0" anchor="t">
            <a:normAutofit/>
          </a:bodyPr>
          <a:lstStyle/>
          <a:p>
            <a:pPr marL="0" indent="0" algn="l">
              <a:lnSpc>
                <a:spcPts val="2100"/>
              </a:lnSpc>
              <a:buNone/>
            </a:pPr>
            <a:r>
              <a:rPr lang="it-IT" sz="1400" noProof="0" dirty="0">
                <a:solidFill>
                  <a:srgbClr val="F2F1EC"/>
                </a:solidFill>
                <a:latin typeface="JetBrains Mono" pitchFamily="34" charset="0"/>
                <a:ea typeface="JetBrains Mono" pitchFamily="34" charset="-122"/>
                <a:cs typeface="JetBrains Mono" pitchFamily="34" charset="-120"/>
              </a:rPr>
              <a:t>ip link set eth1 down</a:t>
            </a:r>
            <a:endParaRPr lang="it-IT" sz="1600" noProof="0" dirty="0"/>
          </a:p>
          <a:p>
            <a:pPr marL="0" indent="0" algn="l">
              <a:lnSpc>
                <a:spcPts val="2100"/>
              </a:lnSpc>
              <a:buNone/>
            </a:pPr>
            <a:r>
              <a:rPr lang="it-IT" sz="1400" noProof="0" dirty="0">
                <a:solidFill>
                  <a:srgbClr val="F2F1EC"/>
                </a:solidFill>
                <a:latin typeface="JetBrains Mono" pitchFamily="34" charset="0"/>
                <a:ea typeface="JetBrains Mono" pitchFamily="34" charset="-122"/>
                <a:cs typeface="JetBrains Mono" pitchFamily="34" charset="-120"/>
              </a:rPr>
              <a:t>ip link set eth1 up</a:t>
            </a:r>
            <a:endParaRPr lang="it-IT" sz="1600" noProof="0" dirty="0"/>
          </a:p>
        </p:txBody>
      </p:sp>
      <p:sp>
        <p:nvSpPr>
          <p:cNvPr id="13" name="Text 4"/>
          <p:cNvSpPr/>
          <p:nvPr/>
        </p:nvSpPr>
        <p:spPr>
          <a:xfrm>
            <a:off x="812800" y="4521200"/>
            <a:ext cx="4927600" cy="254000"/>
          </a:xfrm>
          <a:prstGeom prst="rect">
            <a:avLst/>
          </a:prstGeom>
          <a:noFill/>
          <a:ln/>
        </p:spPr>
        <p:txBody>
          <a:bodyPr wrap="square" lIns="0" tIns="0" rIns="0" bIns="0" rtlCol="0" anchor="t">
            <a:normAutofit/>
          </a:bodyPr>
          <a:lstStyle/>
          <a:p>
            <a:pPr marL="0" indent="0" algn="l">
              <a:lnSpc>
                <a:spcPts val="1950"/>
              </a:lnSpc>
              <a:buNone/>
            </a:pPr>
            <a:r>
              <a:rPr lang="it-IT" sz="1400" noProof="0" dirty="0">
                <a:solidFill>
                  <a:srgbClr val="8A8F96"/>
                </a:solidFill>
                <a:latin typeface="JetBrains Mono" pitchFamily="34" charset="0"/>
                <a:ea typeface="JetBrains Mono" pitchFamily="34" charset="-122"/>
                <a:cs typeface="JetBrains Mono" pitchFamily="34" charset="-120"/>
              </a:rPr>
              <a:t>chi se ne accorge</a:t>
            </a:r>
            <a:endParaRPr lang="it-IT" sz="1600" noProof="0" dirty="0"/>
          </a:p>
        </p:txBody>
      </p:sp>
      <p:sp>
        <p:nvSpPr>
          <p:cNvPr id="14" name="Text 4"/>
          <p:cNvSpPr/>
          <p:nvPr/>
        </p:nvSpPr>
        <p:spPr>
          <a:xfrm>
            <a:off x="812800" y="4775200"/>
            <a:ext cx="4927600" cy="558800"/>
          </a:xfrm>
          <a:prstGeom prst="rect">
            <a:avLst/>
          </a:prstGeom>
          <a:noFill/>
          <a:ln/>
        </p:spPr>
        <p:txBody>
          <a:bodyPr wrap="square" lIns="0" tIns="0" rIns="0" bIns="0" rtlCol="0" anchor="t">
            <a:normAutofit fontScale="77500" lnSpcReduction="20000"/>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Subito: il kernel segnala l'interfaccia giù, FRR chiude l'adiacenza e ricalcola i percorsi.</a:t>
            </a:r>
            <a:endParaRPr lang="it-IT" sz="1600" noProof="0" dirty="0"/>
          </a:p>
        </p:txBody>
      </p:sp>
      <p:sp>
        <p:nvSpPr>
          <p:cNvPr id="15" name="Text 4"/>
          <p:cNvSpPr/>
          <p:nvPr/>
        </p:nvSpPr>
        <p:spPr>
          <a:xfrm>
            <a:off x="812800" y="5435600"/>
            <a:ext cx="4927600" cy="279400"/>
          </a:xfrm>
          <a:prstGeom prst="rect">
            <a:avLst/>
          </a:prstGeom>
          <a:noFill/>
          <a:ln/>
        </p:spPr>
        <p:txBody>
          <a:bodyPr wrap="square" lIns="0" tIns="0" rIns="0" bIns="0" rtlCol="0" anchor="t">
            <a:normAutofit/>
          </a:bodyPr>
          <a:lstStyle/>
          <a:p>
            <a:pPr marL="0" indent="0" algn="l">
              <a:lnSpc>
                <a:spcPts val="2250"/>
              </a:lnSpc>
              <a:buNone/>
            </a:pPr>
            <a:r>
              <a:rPr lang="it-IT" sz="1600" b="1" noProof="0" dirty="0">
                <a:solidFill>
                  <a:srgbClr val="1B1D20"/>
                </a:solidFill>
                <a:latin typeface="IBM Plex Sans" pitchFamily="34" charset="0"/>
                <a:ea typeface="IBM Plex Sans" pitchFamily="34" charset="-122"/>
                <a:cs typeface="IBM Plex Sans" pitchFamily="34" charset="-120"/>
              </a:rPr>
              <a:t>Guasto di 30 s</a:t>
            </a:r>
            <a:endParaRPr lang="it-IT" sz="1600" noProof="0" dirty="0"/>
          </a:p>
        </p:txBody>
      </p:sp>
      <p:sp>
        <p:nvSpPr>
          <p:cNvPr id="16" name="Text 4"/>
          <p:cNvSpPr/>
          <p:nvPr/>
        </p:nvSpPr>
        <p:spPr>
          <a:xfrm>
            <a:off x="6248400" y="1841500"/>
            <a:ext cx="5130800" cy="330200"/>
          </a:xfrm>
          <a:prstGeom prst="rect">
            <a:avLst/>
          </a:prstGeom>
          <a:noFill/>
          <a:ln/>
        </p:spPr>
        <p:txBody>
          <a:bodyPr wrap="square" lIns="0" tIns="0" rIns="0" bIns="0" rtlCol="0" anchor="t">
            <a:normAutofit fontScale="92500"/>
          </a:bodyPr>
          <a:lstStyle/>
          <a:p>
            <a:pPr marL="0" indent="0" algn="l">
              <a:lnSpc>
                <a:spcPts val="2650"/>
              </a:lnSpc>
              <a:buNone/>
            </a:pPr>
            <a:r>
              <a:rPr lang="it-IT" sz="2200" b="1" noProof="0" dirty="0">
                <a:solidFill>
                  <a:srgbClr val="1B1D20"/>
                </a:solidFill>
                <a:latin typeface="IBM Plex Sans" pitchFamily="34" charset="0"/>
                <a:ea typeface="IBM Plex Sans" pitchFamily="34" charset="-122"/>
                <a:cs typeface="IBM Plex Sans" pitchFamily="34" charset="-120"/>
              </a:rPr>
              <a:t>Guasto silenzioso</a:t>
            </a:r>
            <a:endParaRPr lang="it-IT" sz="1600" noProof="0" dirty="0"/>
          </a:p>
        </p:txBody>
      </p:sp>
      <p:sp>
        <p:nvSpPr>
          <p:cNvPr id="17" name="Text 4"/>
          <p:cNvSpPr/>
          <p:nvPr/>
        </p:nvSpPr>
        <p:spPr>
          <a:xfrm>
            <a:off x="6248400" y="2197100"/>
            <a:ext cx="5130800" cy="254000"/>
          </a:xfrm>
          <a:prstGeom prst="rect">
            <a:avLst/>
          </a:prstGeom>
          <a:noFill/>
          <a:ln/>
        </p:spPr>
        <p:txBody>
          <a:bodyPr wrap="square" lIns="0" tIns="0" rIns="0" bIns="0" rtlCol="0" anchor="t">
            <a:normAutofit fontScale="62500" lnSpcReduction="20000"/>
          </a:bodyPr>
          <a:lstStyle/>
          <a:p>
            <a:pPr marL="0" indent="0" algn="l">
              <a:lnSpc>
                <a:spcPts val="2250"/>
              </a:lnSpc>
              <a:buNone/>
            </a:pPr>
            <a:r>
              <a:rPr lang="it-IT" sz="1600" noProof="0" dirty="0">
                <a:solidFill>
                  <a:srgbClr val="857612"/>
                </a:solidFill>
                <a:latin typeface="JetBrains Mono" pitchFamily="34" charset="0"/>
                <a:ea typeface="JetBrains Mono" pitchFamily="34" charset="-122"/>
                <a:cs typeface="JetBrains Mono" pitchFamily="34" charset="-120"/>
              </a:rPr>
              <a:t>python lab3-api/chaos.py --silent</a:t>
            </a:r>
            <a:endParaRPr lang="it-IT" sz="1600" noProof="0" dirty="0"/>
          </a:p>
        </p:txBody>
      </p:sp>
      <p:sp>
        <p:nvSpPr>
          <p:cNvPr id="18" name="Text 4"/>
          <p:cNvSpPr/>
          <p:nvPr/>
        </p:nvSpPr>
        <p:spPr>
          <a:xfrm>
            <a:off x="6248400" y="2565400"/>
            <a:ext cx="5130800" cy="254000"/>
          </a:xfrm>
          <a:prstGeom prst="rect">
            <a:avLst/>
          </a:prstGeom>
          <a:noFill/>
          <a:ln/>
        </p:spPr>
        <p:txBody>
          <a:bodyPr wrap="square" lIns="0" tIns="0" rIns="0" bIns="0" rtlCol="0" anchor="t">
            <a:normAutofit/>
          </a:bodyPr>
          <a:lstStyle/>
          <a:p>
            <a:pPr marL="0" indent="0" algn="l">
              <a:lnSpc>
                <a:spcPts val="1950"/>
              </a:lnSpc>
              <a:buNone/>
            </a:pPr>
            <a:r>
              <a:rPr lang="it-IT" sz="1400" noProof="0" dirty="0">
                <a:solidFill>
                  <a:srgbClr val="8A8F96"/>
                </a:solidFill>
                <a:latin typeface="JetBrains Mono" pitchFamily="34" charset="0"/>
                <a:ea typeface="JetBrains Mono" pitchFamily="34" charset="-122"/>
                <a:cs typeface="JetBrains Mono" pitchFamily="34" charset="-120"/>
              </a:rPr>
              <a:t>nella realtà</a:t>
            </a:r>
            <a:endParaRPr lang="it-IT" sz="1600" noProof="0" dirty="0"/>
          </a:p>
        </p:txBody>
      </p:sp>
      <p:sp>
        <p:nvSpPr>
          <p:cNvPr id="19" name="Text 4"/>
          <p:cNvSpPr/>
          <p:nvPr/>
        </p:nvSpPr>
        <p:spPr>
          <a:xfrm>
            <a:off x="6248400" y="2794000"/>
            <a:ext cx="5130800" cy="558800"/>
          </a:xfrm>
          <a:prstGeom prst="rect">
            <a:avLst/>
          </a:prstGeom>
          <a:noFill/>
          <a:ln/>
        </p:spPr>
        <p:txBody>
          <a:bodyPr wrap="square" lIns="0" tIns="0" rIns="0" bIns="0" rtlCol="0" anchor="t">
            <a:normAutofit fontScale="77500" lnSpcReduction="20000"/>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Fibra degradata o apparato in mezzo guasto: il link resta up, ma non passa nulla.</a:t>
            </a:r>
            <a:endParaRPr lang="it-IT" sz="1600" noProof="0" dirty="0"/>
          </a:p>
        </p:txBody>
      </p:sp>
      <p:sp>
        <p:nvSpPr>
          <p:cNvPr id="20" name="Text 4"/>
          <p:cNvSpPr/>
          <p:nvPr/>
        </p:nvSpPr>
        <p:spPr>
          <a:xfrm>
            <a:off x="6248400" y="3429000"/>
            <a:ext cx="5130800" cy="254000"/>
          </a:xfrm>
          <a:prstGeom prst="rect">
            <a:avLst/>
          </a:prstGeom>
          <a:noFill/>
          <a:ln/>
        </p:spPr>
        <p:txBody>
          <a:bodyPr wrap="square" lIns="0" tIns="0" rIns="0" bIns="0" rtlCol="0" anchor="t">
            <a:normAutofit/>
          </a:bodyPr>
          <a:lstStyle/>
          <a:p>
            <a:pPr marL="0" indent="0" algn="l">
              <a:lnSpc>
                <a:spcPts val="1950"/>
              </a:lnSpc>
              <a:buNone/>
            </a:pPr>
            <a:r>
              <a:rPr lang="it-IT" sz="1400" noProof="0" dirty="0">
                <a:solidFill>
                  <a:srgbClr val="8A8F96"/>
                </a:solidFill>
                <a:latin typeface="JetBrains Mono" pitchFamily="34" charset="0"/>
                <a:ea typeface="JetBrains Mono" pitchFamily="34" charset="-122"/>
                <a:cs typeface="JetBrains Mono" pitchFamily="34" charset="-120"/>
              </a:rPr>
              <a:t>sul twin (r1:eth1 e r2:eth0)</a:t>
            </a:r>
            <a:endParaRPr lang="it-IT" sz="1600" noProof="0" dirty="0"/>
          </a:p>
        </p:txBody>
      </p:sp>
      <p:sp>
        <p:nvSpPr>
          <p:cNvPr id="21" name="Shape 11"/>
          <p:cNvSpPr/>
          <p:nvPr/>
        </p:nvSpPr>
        <p:spPr>
          <a:xfrm>
            <a:off x="6248400" y="3683000"/>
            <a:ext cx="5130800" cy="736600"/>
          </a:xfrm>
          <a:prstGeom prst="rect">
            <a:avLst/>
          </a:prstGeom>
          <a:solidFill>
            <a:srgbClr val="17191C"/>
          </a:solidFill>
          <a:ln/>
        </p:spPr>
        <p:txBody>
          <a:bodyPr/>
          <a:lstStyle/>
          <a:p>
            <a:endParaRPr lang="it-IT" noProof="0" dirty="0"/>
          </a:p>
        </p:txBody>
      </p:sp>
      <p:sp>
        <p:nvSpPr>
          <p:cNvPr id="22" name="Text 4"/>
          <p:cNvSpPr/>
          <p:nvPr/>
        </p:nvSpPr>
        <p:spPr>
          <a:xfrm>
            <a:off x="6400800" y="3771900"/>
            <a:ext cx="4927600" cy="558800"/>
          </a:xfrm>
          <a:prstGeom prst="rect">
            <a:avLst/>
          </a:prstGeom>
          <a:noFill/>
          <a:ln/>
        </p:spPr>
        <p:txBody>
          <a:bodyPr wrap="square" lIns="0" tIns="0" rIns="0" bIns="0" rtlCol="0" anchor="t">
            <a:normAutofit/>
          </a:bodyPr>
          <a:lstStyle/>
          <a:p>
            <a:pPr marL="0" indent="0" algn="l">
              <a:lnSpc>
                <a:spcPts val="2100"/>
              </a:lnSpc>
              <a:buNone/>
            </a:pPr>
            <a:r>
              <a:rPr lang="it-IT" sz="1400" noProof="0" dirty="0">
                <a:solidFill>
                  <a:srgbClr val="F2F1EC"/>
                </a:solidFill>
                <a:latin typeface="JetBrains Mono" pitchFamily="34" charset="0"/>
                <a:ea typeface="JetBrains Mono" pitchFamily="34" charset="-122"/>
                <a:cs typeface="JetBrains Mono" pitchFamily="34" charset="-120"/>
              </a:rPr>
              <a:t>tc qdisc add dev eth1 root netem loss 100%</a:t>
            </a:r>
            <a:endParaRPr lang="it-IT" sz="1600" noProof="0" dirty="0"/>
          </a:p>
          <a:p>
            <a:pPr marL="0" indent="0" algn="l">
              <a:lnSpc>
                <a:spcPts val="2100"/>
              </a:lnSpc>
              <a:buNone/>
            </a:pPr>
            <a:r>
              <a:rPr lang="it-IT" sz="1400" noProof="0" dirty="0">
                <a:solidFill>
                  <a:srgbClr val="F2F1EC"/>
                </a:solidFill>
                <a:latin typeface="JetBrains Mono" pitchFamily="34" charset="0"/>
                <a:ea typeface="JetBrains Mono" pitchFamily="34" charset="-122"/>
                <a:cs typeface="JetBrains Mono" pitchFamily="34" charset="-120"/>
              </a:rPr>
              <a:t>tc qdisc del dev eth1 root</a:t>
            </a:r>
            <a:endParaRPr lang="it-IT" sz="1600" noProof="0" dirty="0"/>
          </a:p>
        </p:txBody>
      </p:sp>
      <p:sp>
        <p:nvSpPr>
          <p:cNvPr id="23" name="Text 4"/>
          <p:cNvSpPr/>
          <p:nvPr/>
        </p:nvSpPr>
        <p:spPr>
          <a:xfrm>
            <a:off x="6248400" y="4521200"/>
            <a:ext cx="5130800" cy="254000"/>
          </a:xfrm>
          <a:prstGeom prst="rect">
            <a:avLst/>
          </a:prstGeom>
          <a:noFill/>
          <a:ln/>
        </p:spPr>
        <p:txBody>
          <a:bodyPr wrap="square" lIns="0" tIns="0" rIns="0" bIns="0" rtlCol="0" anchor="t">
            <a:normAutofit/>
          </a:bodyPr>
          <a:lstStyle/>
          <a:p>
            <a:pPr marL="0" indent="0" algn="l">
              <a:lnSpc>
                <a:spcPts val="1950"/>
              </a:lnSpc>
              <a:buNone/>
            </a:pPr>
            <a:r>
              <a:rPr lang="it-IT" sz="1400" noProof="0" dirty="0">
                <a:solidFill>
                  <a:srgbClr val="8A8F96"/>
                </a:solidFill>
                <a:latin typeface="JetBrains Mono" pitchFamily="34" charset="0"/>
                <a:ea typeface="JetBrains Mono" pitchFamily="34" charset="-122"/>
                <a:cs typeface="JetBrains Mono" pitchFamily="34" charset="-120"/>
              </a:rPr>
              <a:t>chi se ne accorge</a:t>
            </a:r>
            <a:endParaRPr lang="it-IT" sz="1600" noProof="0" dirty="0"/>
          </a:p>
        </p:txBody>
      </p:sp>
      <p:sp>
        <p:nvSpPr>
          <p:cNvPr id="24" name="Text 4"/>
          <p:cNvSpPr/>
          <p:nvPr/>
        </p:nvSpPr>
        <p:spPr>
          <a:xfrm>
            <a:off x="6248400" y="4775200"/>
            <a:ext cx="5130800" cy="558800"/>
          </a:xfrm>
          <a:prstGeom prst="rect">
            <a:avLst/>
          </a:prstGeom>
          <a:noFill/>
          <a:ln/>
        </p:spPr>
        <p:txBody>
          <a:bodyPr wrap="square" lIns="0" tIns="0" rIns="0" bIns="0" rtlCol="0" anchor="t">
            <a:normAutofit fontScale="77500" lnSpcReduction="20000"/>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Nessuno, all'inizio: OSPF se ne accorge solo quando scade il dead interval (40 s).</a:t>
            </a:r>
            <a:endParaRPr lang="it-IT" sz="1600" noProof="0" dirty="0"/>
          </a:p>
        </p:txBody>
      </p:sp>
      <p:sp>
        <p:nvSpPr>
          <p:cNvPr id="25" name="Text 4"/>
          <p:cNvSpPr/>
          <p:nvPr/>
        </p:nvSpPr>
        <p:spPr>
          <a:xfrm>
            <a:off x="6248400" y="5435600"/>
            <a:ext cx="5130800" cy="279400"/>
          </a:xfrm>
          <a:prstGeom prst="rect">
            <a:avLst/>
          </a:prstGeom>
          <a:noFill/>
          <a:ln/>
        </p:spPr>
        <p:txBody>
          <a:bodyPr wrap="square" lIns="0" tIns="0" rIns="0" bIns="0" rtlCol="0" anchor="t">
            <a:normAutofit/>
          </a:bodyPr>
          <a:lstStyle/>
          <a:p>
            <a:pPr marL="0" indent="0" algn="l">
              <a:lnSpc>
                <a:spcPts val="2250"/>
              </a:lnSpc>
              <a:buNone/>
            </a:pPr>
            <a:r>
              <a:rPr lang="it-IT" sz="1600" b="1" noProof="0" dirty="0">
                <a:solidFill>
                  <a:srgbClr val="1B1D20"/>
                </a:solidFill>
                <a:latin typeface="IBM Plex Sans" pitchFamily="34" charset="0"/>
                <a:ea typeface="IBM Plex Sans" pitchFamily="34" charset="-122"/>
                <a:cs typeface="IBM Plex Sans" pitchFamily="34" charset="-120"/>
              </a:rPr>
              <a:t>Guasto di 60 s: più del dead interval</a:t>
            </a:r>
            <a:endParaRPr lang="it-IT" sz="1600" noProof="0" dirty="0"/>
          </a:p>
        </p:txBody>
      </p:sp>
    </p:spTree>
    <p:extLst>
      <p:ext uri="{BB962C8B-B14F-4D97-AF65-F5344CB8AC3E}">
        <p14:creationId xmlns:p14="http://schemas.microsoft.com/office/powerpoint/2010/main" val="33750310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66">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a:bodyPr>
          <a:lstStyle/>
          <a:p>
            <a:pPr marL="0" indent="0" algn="l">
              <a:lnSpc>
                <a:spcPts val="4500"/>
              </a:lnSpc>
              <a:buNone/>
            </a:pPr>
            <a:r>
              <a:rPr lang="it-IT" sz="3600" b="1" i="0" noProof="0" dirty="0">
                <a:solidFill>
                  <a:srgbClr val="1B1D20"/>
                </a:solidFill>
                <a:latin typeface="IBM Plex Sans" pitchFamily="34" charset="0"/>
                <a:ea typeface="IBM Plex Sans" pitchFamily="34" charset="-122"/>
                <a:cs typeface="IBM Plex Sans" pitchFamily="34" charset="-120"/>
              </a:rPr>
              <a:t>Come misura: due monitor in parallelo</a:t>
            </a:r>
            <a:endParaRPr lang="it-IT" sz="3600" noProof="0" dirty="0"/>
          </a:p>
        </p:txBody>
      </p:sp>
      <p:sp>
        <p:nvSpPr>
          <p:cNvPr id="5" name="Shape 5"/>
          <p:cNvSpPr/>
          <p:nvPr/>
        </p:nvSpPr>
        <p:spPr>
          <a:xfrm>
            <a:off x="5994400" y="1784350"/>
            <a:ext cx="0" cy="2095500"/>
          </a:xfrm>
          <a:prstGeom prst="line">
            <a:avLst/>
          </a:prstGeom>
          <a:noFill/>
          <a:ln w="6350">
            <a:solidFill>
              <a:srgbClr val="CFCCC4"/>
            </a:solidFill>
            <a:prstDash val="solid"/>
          </a:ln>
        </p:spPr>
        <p:txBody>
          <a:bodyPr/>
          <a:lstStyle/>
          <a:p>
            <a:endParaRPr lang="it-IT" noProof="0" dirty="0"/>
          </a:p>
        </p:txBody>
      </p:sp>
      <p:pic>
        <p:nvPicPr>
          <p:cNvPr id="6" name="Image 0" descr="Activity"/>
          <p:cNvPicPr>
            <a:picLocks noChangeAspect="1"/>
          </p:cNvPicPr>
          <p:nvPr/>
        </p:nvPicPr>
        <p:blipFill>
          <a:blip r:embed="rId3"/>
          <a:srcRect/>
          <a:stretch/>
        </p:blipFill>
        <p:spPr>
          <a:xfrm>
            <a:off x="812800" y="1784350"/>
            <a:ext cx="279400" cy="279400"/>
          </a:xfrm>
          <a:prstGeom prst="rect">
            <a:avLst/>
          </a:prstGeom>
        </p:spPr>
      </p:pic>
      <p:sp>
        <p:nvSpPr>
          <p:cNvPr id="7" name="Text 4"/>
          <p:cNvSpPr/>
          <p:nvPr/>
        </p:nvSpPr>
        <p:spPr>
          <a:xfrm>
            <a:off x="812800" y="2127250"/>
            <a:ext cx="4927600" cy="298450"/>
          </a:xfrm>
          <a:prstGeom prst="rect">
            <a:avLst/>
          </a:prstGeom>
          <a:noFill/>
          <a:ln/>
        </p:spPr>
        <p:txBody>
          <a:bodyPr wrap="square" lIns="0" tIns="0" rIns="0" bIns="0" rtlCol="0" anchor="t">
            <a:normAutofit/>
          </a:bodyPr>
          <a:lstStyle/>
          <a:p>
            <a:pPr marL="0" indent="0" algn="l">
              <a:lnSpc>
                <a:spcPts val="2350"/>
              </a:lnSpc>
              <a:buNone/>
            </a:pPr>
            <a:r>
              <a:rPr lang="it-IT" sz="1800" b="1" noProof="0" dirty="0">
                <a:solidFill>
                  <a:srgbClr val="1B1D20"/>
                </a:solidFill>
                <a:latin typeface="IBM Plex Sans" pitchFamily="34" charset="0"/>
                <a:ea typeface="IBM Plex Sans" pitchFamily="34" charset="-122"/>
                <a:cs typeface="IBM Plex Sans" pitchFamily="34" charset="-120"/>
              </a:rPr>
              <a:t>Monitor del traffico</a:t>
            </a:r>
            <a:endParaRPr lang="it-IT" sz="1600" noProof="0" dirty="0"/>
          </a:p>
        </p:txBody>
      </p:sp>
      <p:sp>
        <p:nvSpPr>
          <p:cNvPr id="8" name="Shape 11"/>
          <p:cNvSpPr/>
          <p:nvPr/>
        </p:nvSpPr>
        <p:spPr>
          <a:xfrm>
            <a:off x="812800" y="2489200"/>
            <a:ext cx="4927600" cy="330200"/>
          </a:xfrm>
          <a:prstGeom prst="rect">
            <a:avLst/>
          </a:prstGeom>
          <a:solidFill>
            <a:srgbClr val="17191C"/>
          </a:solidFill>
          <a:ln/>
        </p:spPr>
        <p:txBody>
          <a:bodyPr/>
          <a:lstStyle/>
          <a:p>
            <a:endParaRPr lang="it-IT" noProof="0" dirty="0"/>
          </a:p>
        </p:txBody>
      </p:sp>
      <p:sp>
        <p:nvSpPr>
          <p:cNvPr id="9" name="Text 4"/>
          <p:cNvSpPr/>
          <p:nvPr/>
        </p:nvSpPr>
        <p:spPr>
          <a:xfrm>
            <a:off x="901700" y="2504478"/>
            <a:ext cx="4749800" cy="44068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A8DC6E"/>
                </a:solidFill>
                <a:latin typeface="JetBrains Mono" pitchFamily="34" charset="0"/>
                <a:ea typeface="JetBrains Mono" pitchFamily="34" charset="-122"/>
                <a:cs typeface="JetBrains Mono" pitchFamily="34" charset="-120"/>
              </a:rPr>
              <a:t>pc_a# </a:t>
            </a:r>
            <a:r>
              <a:rPr lang="it-IT" sz="1600" noProof="0" dirty="0">
                <a:solidFill>
                  <a:srgbClr val="F2F1EC"/>
                </a:solidFill>
                <a:latin typeface="JetBrains Mono" pitchFamily="34" charset="0"/>
                <a:ea typeface="JetBrains Mono" pitchFamily="34" charset="-122"/>
                <a:cs typeface="JetBrains Mono" pitchFamily="34" charset="-120"/>
              </a:rPr>
              <a:t>ping -c 1 -W 1 192.168.20.10</a:t>
            </a:r>
            <a:endParaRPr lang="it-IT" sz="1600" noProof="0" dirty="0"/>
          </a:p>
        </p:txBody>
      </p:sp>
      <p:sp>
        <p:nvSpPr>
          <p:cNvPr id="10" name="Text 4"/>
          <p:cNvSpPr/>
          <p:nvPr/>
        </p:nvSpPr>
        <p:spPr>
          <a:xfrm>
            <a:off x="812800" y="2921000"/>
            <a:ext cx="4927600" cy="1622124"/>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Un ping al secondo verso pc_b (timeout 1 s): OK se risponde, altrimenti PERSO. Ogni ping perso vale circa un secondo di interruzione.</a:t>
            </a:r>
            <a:endParaRPr lang="it-IT" sz="1600" noProof="0" dirty="0"/>
          </a:p>
        </p:txBody>
      </p:sp>
      <p:pic>
        <p:nvPicPr>
          <p:cNvPr id="11" name="Image 1" descr="Search"/>
          <p:cNvPicPr>
            <a:picLocks noChangeAspect="1"/>
          </p:cNvPicPr>
          <p:nvPr/>
        </p:nvPicPr>
        <p:blipFill>
          <a:blip r:embed="rId4"/>
          <a:srcRect/>
          <a:stretch/>
        </p:blipFill>
        <p:spPr>
          <a:xfrm>
            <a:off x="6248400" y="1784350"/>
            <a:ext cx="279400" cy="279400"/>
          </a:xfrm>
          <a:prstGeom prst="rect">
            <a:avLst/>
          </a:prstGeom>
        </p:spPr>
      </p:pic>
      <p:sp>
        <p:nvSpPr>
          <p:cNvPr id="12" name="Text 4"/>
          <p:cNvSpPr/>
          <p:nvPr/>
        </p:nvSpPr>
        <p:spPr>
          <a:xfrm>
            <a:off x="6248400" y="2127250"/>
            <a:ext cx="5130800" cy="298450"/>
          </a:xfrm>
          <a:prstGeom prst="rect">
            <a:avLst/>
          </a:prstGeom>
          <a:noFill/>
          <a:ln/>
        </p:spPr>
        <p:txBody>
          <a:bodyPr wrap="square" lIns="0" tIns="0" rIns="0" bIns="0" rtlCol="0" anchor="t">
            <a:normAutofit/>
          </a:bodyPr>
          <a:lstStyle/>
          <a:p>
            <a:pPr marL="0" indent="0" algn="l">
              <a:lnSpc>
                <a:spcPts val="2350"/>
              </a:lnSpc>
              <a:buNone/>
            </a:pPr>
            <a:r>
              <a:rPr lang="it-IT" sz="1800" b="1" noProof="0" dirty="0">
                <a:solidFill>
                  <a:srgbClr val="1B1D20"/>
                </a:solidFill>
                <a:latin typeface="IBM Plex Sans" pitchFamily="34" charset="0"/>
                <a:ea typeface="IBM Plex Sans" pitchFamily="34" charset="-122"/>
                <a:cs typeface="IBM Plex Sans" pitchFamily="34" charset="-120"/>
              </a:rPr>
              <a:t>Monitor della rotta</a:t>
            </a:r>
            <a:endParaRPr lang="it-IT" sz="1600" noProof="0" dirty="0"/>
          </a:p>
        </p:txBody>
      </p:sp>
      <p:sp>
        <p:nvSpPr>
          <p:cNvPr id="13" name="Shape 11"/>
          <p:cNvSpPr/>
          <p:nvPr/>
        </p:nvSpPr>
        <p:spPr>
          <a:xfrm>
            <a:off x="6248400" y="2489200"/>
            <a:ext cx="5130800" cy="330200"/>
          </a:xfrm>
          <a:prstGeom prst="rect">
            <a:avLst/>
          </a:prstGeom>
          <a:solidFill>
            <a:srgbClr val="17191C"/>
          </a:solidFill>
          <a:ln/>
        </p:spPr>
        <p:txBody>
          <a:bodyPr/>
          <a:lstStyle/>
          <a:p>
            <a:endParaRPr lang="it-IT" noProof="0" dirty="0"/>
          </a:p>
        </p:txBody>
      </p:sp>
      <p:sp>
        <p:nvSpPr>
          <p:cNvPr id="14" name="Text 4"/>
          <p:cNvSpPr/>
          <p:nvPr/>
        </p:nvSpPr>
        <p:spPr>
          <a:xfrm>
            <a:off x="6375400" y="2527300"/>
            <a:ext cx="4953000" cy="44068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A8DC6E"/>
                </a:solidFill>
                <a:latin typeface="JetBrains Mono" pitchFamily="34" charset="0"/>
                <a:ea typeface="JetBrains Mono" pitchFamily="34" charset="-122"/>
                <a:cs typeface="JetBrains Mono" pitchFamily="34" charset="-120"/>
              </a:rPr>
              <a:t>r1# </a:t>
            </a:r>
            <a:r>
              <a:rPr lang="it-IT" sz="1600" noProof="0" dirty="0">
                <a:solidFill>
                  <a:srgbClr val="F2F1EC"/>
                </a:solidFill>
                <a:latin typeface="JetBrains Mono" pitchFamily="34" charset="0"/>
                <a:ea typeface="JetBrains Mono" pitchFamily="34" charset="-122"/>
                <a:cs typeface="JetBrains Mono" pitchFamily="34" charset="-120"/>
              </a:rPr>
              <a:t>ip route get 192.168.20.10</a:t>
            </a:r>
            <a:endParaRPr lang="it-IT" sz="1600" noProof="0" dirty="0"/>
          </a:p>
        </p:txBody>
      </p:sp>
      <p:sp>
        <p:nvSpPr>
          <p:cNvPr id="15" name="Text 4"/>
          <p:cNvSpPr/>
          <p:nvPr/>
        </p:nvSpPr>
        <p:spPr>
          <a:xfrm>
            <a:off x="6248400" y="2882900"/>
            <a:ext cx="5447792" cy="1244600"/>
          </a:xfrm>
          <a:prstGeom prst="rect">
            <a:avLst/>
          </a:prstGeom>
          <a:noFill/>
          <a:ln/>
        </p:spPr>
        <p:txBody>
          <a:bodyPr wrap="square" lIns="0" tIns="0" rIns="0" bIns="0" rtlCol="0" anchor="t">
            <a:normAutofit/>
          </a:bodyPr>
          <a:lstStyle/>
          <a:p>
            <a:pPr marL="0" indent="0" algn="l">
              <a:lnSpc>
                <a:spcPts val="2250"/>
              </a:lnSpc>
              <a:buNone/>
            </a:pPr>
            <a:r>
              <a:rPr lang="it-IT" sz="1600" noProof="0" dirty="0">
                <a:solidFill>
                  <a:srgbClr val="5B5F66"/>
                </a:solidFill>
                <a:latin typeface="IBM Plex Sans" pitchFamily="34" charset="0"/>
                <a:ea typeface="IBM Plex Sans" pitchFamily="34" charset="-122"/>
                <a:cs typeface="IBM Plex Sans" pitchFamily="34" charset="-120"/>
              </a:rPr>
              <a:t>Ogni mezzo secondo legge il next-hop di r1 verso la sede B: 10.0.0.2 è r2 (primario), 10.0.0.13 è r4 (backup). Scrive una riga *** solo quando cambia.</a:t>
            </a:r>
            <a:endParaRPr lang="it-IT" sz="1600" noProof="0" dirty="0"/>
          </a:p>
        </p:txBody>
      </p:sp>
      <p:sp>
        <p:nvSpPr>
          <p:cNvPr id="16" name="Shape 11"/>
          <p:cNvSpPr/>
          <p:nvPr/>
        </p:nvSpPr>
        <p:spPr>
          <a:xfrm>
            <a:off x="812800" y="3937000"/>
            <a:ext cx="10566400" cy="1244600"/>
          </a:xfrm>
          <a:prstGeom prst="rect">
            <a:avLst/>
          </a:prstGeom>
          <a:solidFill>
            <a:srgbClr val="17191C"/>
          </a:solidFill>
          <a:ln/>
        </p:spPr>
        <p:txBody>
          <a:bodyPr/>
          <a:lstStyle/>
          <a:p>
            <a:endParaRPr lang="it-IT" noProof="0" dirty="0"/>
          </a:p>
        </p:txBody>
      </p:sp>
      <p:sp>
        <p:nvSpPr>
          <p:cNvPr id="17" name="Text 4"/>
          <p:cNvSpPr/>
          <p:nvPr/>
        </p:nvSpPr>
        <p:spPr>
          <a:xfrm>
            <a:off x="965200" y="4038600"/>
            <a:ext cx="10350500" cy="1079500"/>
          </a:xfrm>
          <a:prstGeom prst="rect">
            <a:avLst/>
          </a:prstGeom>
          <a:noFill/>
          <a:ln/>
        </p:spPr>
        <p:txBody>
          <a:bodyPr wrap="square" lIns="0" tIns="0" rIns="0" bIns="0" rtlCol="0" anchor="t">
            <a:normAutofit/>
          </a:bodyPr>
          <a:lstStyle/>
          <a:p>
            <a:pPr marL="0" indent="0" algn="l">
              <a:lnSpc>
                <a:spcPts val="2050"/>
              </a:lnSpc>
              <a:buNone/>
            </a:pPr>
            <a:r>
              <a:rPr lang="it-IT" sz="1600" noProof="0" dirty="0">
                <a:solidFill>
                  <a:srgbClr val="8A8F96"/>
                </a:solidFill>
                <a:latin typeface="JetBrains Mono" pitchFamily="34" charset="0"/>
                <a:ea typeface="JetBrains Mono" pitchFamily="34" charset="-122"/>
                <a:cs typeface="JetBrains Mono" pitchFamily="34" charset="-120"/>
              </a:rPr>
              <a:t>[  10.0s] </a:t>
            </a:r>
            <a:r>
              <a:rPr lang="it-IT" sz="1600" noProof="0" dirty="0">
                <a:solidFill>
                  <a:srgbClr val="E1D368"/>
                </a:solidFill>
                <a:latin typeface="JetBrains Mono" pitchFamily="34" charset="0"/>
                <a:ea typeface="JetBrains Mono" pitchFamily="34" charset="-122"/>
                <a:cs typeface="JetBrains Mono" pitchFamily="34" charset="-120"/>
              </a:rPr>
              <a:t>&gt;&gt;&gt;</a:t>
            </a:r>
            <a:r>
              <a:rPr lang="it-IT" sz="1600" noProof="0" dirty="0">
                <a:solidFill>
                  <a:srgbClr val="F2F1EC"/>
                </a:solidFill>
                <a:latin typeface="JetBrains Mono" pitchFamily="34" charset="0"/>
                <a:ea typeface="JetBrains Mono" pitchFamily="34" charset="-122"/>
                <a:cs typeface="JetBrains Mono" pitchFamily="34" charset="-120"/>
              </a:rPr>
              <a:t> GUASTO su n12 (r1:eth1, r2:eth0)</a:t>
            </a:r>
            <a:endParaRPr lang="it-IT" noProof="0" dirty="0"/>
          </a:p>
          <a:p>
            <a:pPr marL="0" indent="0" algn="l">
              <a:lnSpc>
                <a:spcPts val="2050"/>
              </a:lnSpc>
              <a:buNone/>
            </a:pPr>
            <a:r>
              <a:rPr lang="it-IT" sz="1600" noProof="0" dirty="0">
                <a:solidFill>
                  <a:srgbClr val="8A8F96"/>
                </a:solidFill>
                <a:latin typeface="JetBrains Mono" pitchFamily="34" charset="0"/>
                <a:ea typeface="JetBrains Mono" pitchFamily="34" charset="-122"/>
                <a:cs typeface="JetBrains Mono" pitchFamily="34" charset="-120"/>
              </a:rPr>
              <a:t>[  10.0s] </a:t>
            </a:r>
            <a:r>
              <a:rPr lang="it-IT" sz="1600" noProof="0" dirty="0">
                <a:solidFill>
                  <a:srgbClr val="E1D368"/>
                </a:solidFill>
                <a:latin typeface="JetBrains Mono" pitchFamily="34" charset="0"/>
                <a:ea typeface="JetBrains Mono" pitchFamily="34" charset="-122"/>
                <a:cs typeface="JetBrains Mono" pitchFamily="34" charset="-120"/>
              </a:rPr>
              <a:t>ping PERSO</a:t>
            </a:r>
            <a:r>
              <a:rPr lang="it-IT" sz="1600" noProof="0" dirty="0">
                <a:solidFill>
                  <a:srgbClr val="F2F1EC"/>
                </a:solidFill>
                <a:latin typeface="JetBrains Mono" pitchFamily="34" charset="0"/>
                <a:ea typeface="JetBrains Mono" pitchFamily="34" charset="-122"/>
                <a:cs typeface="JetBrains Mono" pitchFamily="34" charset="-120"/>
              </a:rPr>
              <a:t>  next-hop 10.0.0.2 (r2, primario)</a:t>
            </a:r>
            <a:endParaRPr lang="it-IT" noProof="0" dirty="0"/>
          </a:p>
          <a:p>
            <a:pPr marL="0" indent="0" algn="l">
              <a:lnSpc>
                <a:spcPts val="2050"/>
              </a:lnSpc>
              <a:buNone/>
            </a:pPr>
            <a:r>
              <a:rPr lang="it-IT" sz="1600" noProof="0" dirty="0">
                <a:solidFill>
                  <a:srgbClr val="8A8F96"/>
                </a:solidFill>
                <a:latin typeface="JetBrains Mono" pitchFamily="34" charset="0"/>
                <a:ea typeface="JetBrains Mono" pitchFamily="34" charset="-122"/>
                <a:cs typeface="JetBrains Mono" pitchFamily="34" charset="-120"/>
              </a:rPr>
              <a:t>[  10.1s] </a:t>
            </a:r>
            <a:r>
              <a:rPr lang="it-IT" sz="1600" noProof="0" dirty="0">
                <a:solidFill>
                  <a:srgbClr val="E1D368"/>
                </a:solidFill>
                <a:latin typeface="JetBrains Mono" pitchFamily="34" charset="0"/>
                <a:ea typeface="JetBrains Mono" pitchFamily="34" charset="-122"/>
                <a:cs typeface="JetBrains Mono" pitchFamily="34" charset="-120"/>
              </a:rPr>
              <a:t>***</a:t>
            </a:r>
            <a:r>
              <a:rPr lang="it-IT" sz="1600" noProof="0" dirty="0">
                <a:solidFill>
                  <a:srgbClr val="F2F1EC"/>
                </a:solidFill>
                <a:latin typeface="JetBrains Mono" pitchFamily="34" charset="0"/>
                <a:ea typeface="JetBrains Mono" pitchFamily="34" charset="-122"/>
                <a:cs typeface="JetBrains Mono" pitchFamily="34" charset="-120"/>
              </a:rPr>
              <a:t> next-hop di r1: 10.0.0.2 (r2, primario) -&gt; 10.0.0.13 (r4, backup)</a:t>
            </a:r>
            <a:endParaRPr lang="it-IT" noProof="0" dirty="0"/>
          </a:p>
          <a:p>
            <a:pPr marL="0" indent="0" algn="l">
              <a:lnSpc>
                <a:spcPts val="2050"/>
              </a:lnSpc>
              <a:buNone/>
            </a:pPr>
            <a:r>
              <a:rPr lang="it-IT" sz="1600" noProof="0" dirty="0">
                <a:solidFill>
                  <a:srgbClr val="8A8F96"/>
                </a:solidFill>
                <a:latin typeface="JetBrains Mono" pitchFamily="34" charset="0"/>
                <a:ea typeface="JetBrains Mono" pitchFamily="34" charset="-122"/>
                <a:cs typeface="JetBrains Mono" pitchFamily="34" charset="-120"/>
              </a:rPr>
              <a:t>[  11.1s] </a:t>
            </a:r>
            <a:r>
              <a:rPr lang="it-IT" sz="1600" noProof="0" dirty="0">
                <a:solidFill>
                  <a:srgbClr val="F2F1EC"/>
                </a:solidFill>
                <a:latin typeface="JetBrains Mono" pitchFamily="34" charset="0"/>
                <a:ea typeface="JetBrains Mono" pitchFamily="34" charset="-122"/>
                <a:cs typeface="JetBrains Mono" pitchFamily="34" charset="-120"/>
              </a:rPr>
              <a:t>ping OK     next-hop 10.0.0.13 (r4, backup)</a:t>
            </a:r>
            <a:endParaRPr lang="it-IT" noProof="0" dirty="0"/>
          </a:p>
        </p:txBody>
      </p:sp>
      <p:sp>
        <p:nvSpPr>
          <p:cNvPr id="18" name="Shape 18"/>
          <p:cNvSpPr/>
          <p:nvPr/>
        </p:nvSpPr>
        <p:spPr>
          <a:xfrm>
            <a:off x="831850" y="5346700"/>
            <a:ext cx="0" cy="533400"/>
          </a:xfrm>
          <a:prstGeom prst="line">
            <a:avLst/>
          </a:prstGeom>
          <a:noFill/>
          <a:ln w="38100">
            <a:solidFill>
              <a:srgbClr val="E1D368"/>
            </a:solidFill>
            <a:prstDash val="solid"/>
          </a:ln>
        </p:spPr>
        <p:txBody>
          <a:bodyPr/>
          <a:lstStyle/>
          <a:p>
            <a:endParaRPr lang="it-IT" noProof="0" dirty="0"/>
          </a:p>
        </p:txBody>
      </p:sp>
      <p:sp>
        <p:nvSpPr>
          <p:cNvPr id="19" name="Text 4"/>
          <p:cNvSpPr/>
          <p:nvPr/>
        </p:nvSpPr>
        <p:spPr>
          <a:xfrm>
            <a:off x="1003300" y="5334000"/>
            <a:ext cx="10375900" cy="838200"/>
          </a:xfrm>
          <a:prstGeom prst="rect">
            <a:avLst/>
          </a:prstGeom>
          <a:noFill/>
          <a:ln/>
        </p:spPr>
        <p:txBody>
          <a:bodyPr wrap="square" lIns="0" tIns="0" rIns="0" bIns="0" rtlCol="0" anchor="t">
            <a:normAutofit/>
          </a:bodyPr>
          <a:lstStyle/>
          <a:p>
            <a:pPr marL="0" indent="0" algn="l">
              <a:lnSpc>
                <a:spcPts val="2250"/>
              </a:lnSpc>
              <a:buNone/>
            </a:pPr>
            <a:r>
              <a:rPr lang="it-IT" b="1" noProof="0" dirty="0">
                <a:solidFill>
                  <a:srgbClr val="1B1D20"/>
                </a:solidFill>
                <a:latin typeface="IBM Plex Sans" pitchFamily="34" charset="0"/>
                <a:ea typeface="IBM Plex Sans" pitchFamily="34" charset="-122"/>
                <a:cs typeface="IBM Plex Sans" pitchFamily="34" charset="-120"/>
              </a:rPr>
              <a:t>Tempo di reroute</a:t>
            </a:r>
            <a:r>
              <a:rPr lang="it-IT" noProof="0" dirty="0">
                <a:solidFill>
                  <a:srgbClr val="1B1D20"/>
                </a:solidFill>
                <a:latin typeface="IBM Plex Sans" pitchFamily="34" charset="0"/>
                <a:ea typeface="IBM Plex Sans" pitchFamily="34" charset="-122"/>
                <a:cs typeface="IBM Plex Sans" pitchFamily="34" charset="-120"/>
              </a:rPr>
              <a:t>: da &gt;&gt;&gt; a ***. </a:t>
            </a:r>
            <a:r>
              <a:rPr lang="it-IT" b="1" noProof="0" dirty="0">
                <a:solidFill>
                  <a:srgbClr val="1B1D20"/>
                </a:solidFill>
                <a:latin typeface="IBM Plex Sans" pitchFamily="34" charset="0"/>
                <a:ea typeface="IBM Plex Sans" pitchFamily="34" charset="-122"/>
                <a:cs typeface="IBM Plex Sans" pitchFamily="34" charset="-120"/>
              </a:rPr>
              <a:t>Ping persi</a:t>
            </a:r>
            <a:r>
              <a:rPr lang="it-IT" noProof="0" dirty="0">
                <a:solidFill>
                  <a:srgbClr val="1B1D20"/>
                </a:solidFill>
                <a:latin typeface="IBM Plex Sans" pitchFamily="34" charset="0"/>
                <a:ea typeface="IBM Plex Sans" pitchFamily="34" charset="-122"/>
                <a:cs typeface="IBM Plex Sans" pitchFamily="34" charset="-120"/>
              </a:rPr>
              <a:t>: quanto è durata l'interruzione per gli utenti. Tutto via exec nei container, senza toccare la configurazione del twin.</a:t>
            </a:r>
            <a:endParaRPr lang="it-IT" noProof="0" dirty="0"/>
          </a:p>
        </p:txBody>
      </p:sp>
    </p:spTree>
    <p:extLst>
      <p:ext uri="{BB962C8B-B14F-4D97-AF65-F5344CB8AC3E}">
        <p14:creationId xmlns:p14="http://schemas.microsoft.com/office/powerpoint/2010/main" val="19873312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67">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La timeline di chaos.py</a:t>
            </a:r>
            <a:endParaRPr lang="it-IT" sz="4000" noProof="0" dirty="0"/>
          </a:p>
        </p:txBody>
      </p:sp>
      <p:pic>
        <p:nvPicPr>
          <p:cNvPr id="5" name="Image 0" descr="Terminale: python lab3-api/chaos.py legge la cartella, avvia il twin, attende le adiacenze Full e le tabelle stabili; poi guasto su n12 a 10 s, next-hop di r1 che passa a 10.0.0.13, ripristino a 40,1 s, ritorno a 10.0.0.2 a 50,7 s, 61 ping inviati e 1 perso"/>
          <p:cNvPicPr>
            <a:picLocks noChangeAspect="1"/>
          </p:cNvPicPr>
          <p:nvPr/>
        </p:nvPicPr>
        <p:blipFill>
          <a:blip r:embed="rId3"/>
          <a:srcRect l="-21916" r="-21916"/>
          <a:stretch/>
        </p:blipFill>
        <p:spPr>
          <a:xfrm>
            <a:off x="0" y="1713215"/>
            <a:ext cx="8073434" cy="4282430"/>
          </a:xfrm>
          <a:prstGeom prst="rect">
            <a:avLst/>
          </a:prstGeom>
        </p:spPr>
      </p:pic>
      <p:sp>
        <p:nvSpPr>
          <p:cNvPr id="6" name="Text 3"/>
          <p:cNvSpPr/>
          <p:nvPr/>
        </p:nvSpPr>
        <p:spPr>
          <a:xfrm>
            <a:off x="8420100" y="1889770"/>
            <a:ext cx="3047873" cy="25400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JetBrains Mono" pitchFamily="49" charset="0"/>
                <a:ea typeface="JetBrains Mono" pitchFamily="49" charset="-122"/>
                <a:cs typeface="JetBrains Mono" pitchFamily="49" charset="-120"/>
              </a:rPr>
              <a:t>&gt;&gt;&gt; e &lt;&lt;&lt;</a:t>
            </a:r>
            <a:endParaRPr lang="it-IT" sz="1600" noProof="0" dirty="0"/>
          </a:p>
        </p:txBody>
      </p:sp>
      <p:sp>
        <p:nvSpPr>
          <p:cNvPr id="7" name="Text 4"/>
          <p:cNvSpPr/>
          <p:nvPr/>
        </p:nvSpPr>
        <p:spPr>
          <a:xfrm>
            <a:off x="8420100" y="2169170"/>
            <a:ext cx="3047873"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Guasto e ripristino iniettati dallo script.</a:t>
            </a:r>
            <a:endParaRPr lang="it-IT" sz="1600" noProof="0" dirty="0"/>
          </a:p>
        </p:txBody>
      </p:sp>
      <p:sp>
        <p:nvSpPr>
          <p:cNvPr id="8" name="Shape 5"/>
          <p:cNvSpPr/>
          <p:nvPr/>
        </p:nvSpPr>
        <p:spPr>
          <a:xfrm>
            <a:off x="8420100" y="2883545"/>
            <a:ext cx="2959100" cy="0"/>
          </a:xfrm>
          <a:prstGeom prst="line">
            <a:avLst/>
          </a:prstGeom>
          <a:noFill/>
          <a:ln w="6350">
            <a:solidFill>
              <a:srgbClr val="CFCCC4"/>
            </a:solidFill>
            <a:prstDash val="solid"/>
          </a:ln>
        </p:spPr>
        <p:txBody>
          <a:bodyPr/>
          <a:lstStyle/>
          <a:p>
            <a:endParaRPr lang="it-IT" noProof="0" dirty="0"/>
          </a:p>
        </p:txBody>
      </p:sp>
      <p:sp>
        <p:nvSpPr>
          <p:cNvPr id="9" name="Text 6"/>
          <p:cNvSpPr/>
          <p:nvPr/>
        </p:nvSpPr>
        <p:spPr>
          <a:xfrm>
            <a:off x="8420100" y="3064520"/>
            <a:ext cx="3047873" cy="26924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857612"/>
                </a:solidFill>
                <a:latin typeface="IBM Plex Sans" pitchFamily="34" charset="0"/>
                <a:ea typeface="IBM Plex Sans" pitchFamily="34" charset="-122"/>
                <a:cs typeface="IBM Plex Sans" pitchFamily="34" charset="-120"/>
              </a:rPr>
              <a:t>***</a:t>
            </a:r>
            <a:r>
              <a:rPr lang="it-IT" sz="1600" b="1" noProof="0" dirty="0">
                <a:solidFill>
                  <a:srgbClr val="1B1D20"/>
                </a:solidFill>
                <a:latin typeface="IBM Plex Sans" pitchFamily="34" charset="0"/>
                <a:ea typeface="IBM Plex Sans" pitchFamily="34" charset="-122"/>
                <a:cs typeface="IBM Plex Sans" pitchFamily="34" charset="-120"/>
              </a:rPr>
              <a:t> il </a:t>
            </a:r>
            <a:r>
              <a:rPr lang="it-IT" sz="1600" b="1" noProof="0" dirty="0" err="1">
                <a:solidFill>
                  <a:srgbClr val="1B1D20"/>
                </a:solidFill>
                <a:latin typeface="IBM Plex Sans" pitchFamily="34" charset="0"/>
                <a:ea typeface="IBM Plex Sans" pitchFamily="34" charset="-122"/>
                <a:cs typeface="IBM Plex Sans" pitchFamily="34" charset="-120"/>
              </a:rPr>
              <a:t>next</a:t>
            </a:r>
            <a:r>
              <a:rPr lang="it-IT" sz="1600" b="1" noProof="0" dirty="0">
                <a:solidFill>
                  <a:srgbClr val="1B1D20"/>
                </a:solidFill>
                <a:latin typeface="IBM Plex Sans" pitchFamily="34" charset="0"/>
                <a:ea typeface="IBM Plex Sans" pitchFamily="34" charset="-122"/>
                <a:cs typeface="IBM Plex Sans" pitchFamily="34" charset="-120"/>
              </a:rPr>
              <a:t>-hop cambia</a:t>
            </a:r>
            <a:endParaRPr lang="it-IT" sz="1600" noProof="0" dirty="0"/>
          </a:p>
        </p:txBody>
      </p:sp>
      <p:sp>
        <p:nvSpPr>
          <p:cNvPr id="10" name="Text 7"/>
          <p:cNvSpPr/>
          <p:nvPr/>
        </p:nvSpPr>
        <p:spPr>
          <a:xfrm>
            <a:off x="8420100" y="3359150"/>
            <a:ext cx="3047873"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Su r4 dopo 0,1 s; di nuovo su r2 circa 10 s dopo il ripristino.</a:t>
            </a:r>
            <a:endParaRPr lang="it-IT" sz="1600" noProof="0" dirty="0"/>
          </a:p>
        </p:txBody>
      </p:sp>
      <p:sp>
        <p:nvSpPr>
          <p:cNvPr id="11" name="Shape 8"/>
          <p:cNvSpPr/>
          <p:nvPr/>
        </p:nvSpPr>
        <p:spPr>
          <a:xfrm>
            <a:off x="8420100" y="4073525"/>
            <a:ext cx="2959100" cy="0"/>
          </a:xfrm>
          <a:prstGeom prst="line">
            <a:avLst/>
          </a:prstGeom>
          <a:noFill/>
          <a:ln w="6350">
            <a:solidFill>
              <a:srgbClr val="CFCCC4"/>
            </a:solidFill>
            <a:prstDash val="solid"/>
          </a:ln>
        </p:spPr>
        <p:txBody>
          <a:bodyPr/>
          <a:lstStyle/>
          <a:p>
            <a:endParaRPr lang="it-IT" noProof="0" dirty="0"/>
          </a:p>
        </p:txBody>
      </p:sp>
      <p:sp>
        <p:nvSpPr>
          <p:cNvPr id="12" name="Text 9"/>
          <p:cNvSpPr/>
          <p:nvPr/>
        </p:nvSpPr>
        <p:spPr>
          <a:xfrm>
            <a:off x="8420100" y="4254500"/>
            <a:ext cx="3047873" cy="26924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Il conto finale</a:t>
            </a:r>
            <a:endParaRPr lang="it-IT" sz="1600" noProof="0" dirty="0"/>
          </a:p>
        </p:txBody>
      </p:sp>
      <p:sp>
        <p:nvSpPr>
          <p:cNvPr id="13" name="Text 10"/>
          <p:cNvSpPr/>
          <p:nvPr/>
        </p:nvSpPr>
        <p:spPr>
          <a:xfrm>
            <a:off x="8420100" y="4549130"/>
            <a:ext cx="3047873" cy="2921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Ping inviati e persi: qui 1 su 61.</a:t>
            </a:r>
            <a:endParaRPr lang="it-IT" sz="1600" noProof="0" dirty="0"/>
          </a:p>
        </p:txBody>
      </p:sp>
    </p:spTree>
    <p:extLst>
      <p:ext uri="{BB962C8B-B14F-4D97-AF65-F5344CB8AC3E}">
        <p14:creationId xmlns:p14="http://schemas.microsoft.com/office/powerpoint/2010/main" val="31478854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68">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Due guasti su n12, due risultati</a:t>
            </a:r>
            <a:endParaRPr lang="it-IT" sz="4000" noProof="0" dirty="0"/>
          </a:p>
        </p:txBody>
      </p:sp>
      <p:sp>
        <p:nvSpPr>
          <p:cNvPr id="5" name="Shape 3"/>
          <p:cNvSpPr/>
          <p:nvPr/>
        </p:nvSpPr>
        <p:spPr>
          <a:xfrm>
            <a:off x="812800" y="2134880"/>
            <a:ext cx="10566400" cy="0"/>
          </a:xfrm>
          <a:prstGeom prst="line">
            <a:avLst/>
          </a:prstGeom>
          <a:noFill/>
          <a:ln w="12700">
            <a:solidFill>
              <a:srgbClr val="1B1D20"/>
            </a:solidFill>
            <a:prstDash val="solid"/>
          </a:ln>
        </p:spPr>
        <p:txBody>
          <a:bodyPr/>
          <a:lstStyle/>
          <a:p>
            <a:endParaRPr lang="it-IT" noProof="0" dirty="0"/>
          </a:p>
        </p:txBody>
      </p:sp>
      <p:sp>
        <p:nvSpPr>
          <p:cNvPr id="6" name="Text 4"/>
          <p:cNvSpPr/>
          <p:nvPr/>
        </p:nvSpPr>
        <p:spPr>
          <a:xfrm>
            <a:off x="812800" y="1838970"/>
            <a:ext cx="3662680"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esperimento</a:t>
            </a:r>
            <a:endParaRPr lang="it-IT" sz="1600" noProof="0" dirty="0"/>
          </a:p>
        </p:txBody>
      </p:sp>
      <p:sp>
        <p:nvSpPr>
          <p:cNvPr id="7" name="Text 5"/>
          <p:cNvSpPr/>
          <p:nvPr/>
        </p:nvSpPr>
        <p:spPr>
          <a:xfrm>
            <a:off x="4368800" y="1838970"/>
            <a:ext cx="5650992"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tempo prima del </a:t>
            </a:r>
            <a:r>
              <a:rPr lang="it-IT" sz="1600" noProof="0" dirty="0" err="1">
                <a:solidFill>
                  <a:srgbClr val="5B5F66"/>
                </a:solidFill>
                <a:latin typeface="JetBrains Mono" pitchFamily="49" charset="0"/>
                <a:ea typeface="JetBrains Mono" pitchFamily="49" charset="-122"/>
                <a:cs typeface="JetBrains Mono" pitchFamily="49" charset="-120"/>
              </a:rPr>
              <a:t>reroute</a:t>
            </a:r>
            <a:endParaRPr lang="it-IT" sz="1600" noProof="0" dirty="0"/>
          </a:p>
        </p:txBody>
      </p:sp>
      <p:sp>
        <p:nvSpPr>
          <p:cNvPr id="8" name="Text 6"/>
          <p:cNvSpPr/>
          <p:nvPr/>
        </p:nvSpPr>
        <p:spPr>
          <a:xfrm>
            <a:off x="9804400" y="1838970"/>
            <a:ext cx="1574800" cy="238760"/>
          </a:xfrm>
          <a:prstGeom prst="rect">
            <a:avLst/>
          </a:prstGeom>
          <a:noFill/>
          <a:ln/>
        </p:spPr>
        <p:txBody>
          <a:bodyPr wrap="square" lIns="0" tIns="0" rIns="0" bIns="0" rtlCol="0" anchor="t">
            <a:normAutofit fontScale="77500" lnSpcReduction="20000"/>
          </a:bodyPr>
          <a:lstStyle/>
          <a:p>
            <a:pPr marL="0" indent="0" algn="r">
              <a:lnSpc>
                <a:spcPts val="2000"/>
              </a:lnSpc>
              <a:buNone/>
            </a:pPr>
            <a:r>
              <a:rPr lang="it-IT" sz="1600" noProof="0" dirty="0" err="1">
                <a:solidFill>
                  <a:srgbClr val="5B5F66"/>
                </a:solidFill>
                <a:latin typeface="JetBrains Mono" pitchFamily="49" charset="0"/>
                <a:ea typeface="JetBrains Mono" pitchFamily="49" charset="-122"/>
                <a:cs typeface="JetBrains Mono" pitchFamily="49" charset="-120"/>
              </a:rPr>
              <a:t>ping</a:t>
            </a:r>
            <a:r>
              <a:rPr lang="it-IT" sz="1600" noProof="0" dirty="0">
                <a:solidFill>
                  <a:srgbClr val="5B5F66"/>
                </a:solidFill>
                <a:latin typeface="JetBrains Mono" pitchFamily="49" charset="0"/>
                <a:ea typeface="JetBrains Mono" pitchFamily="49" charset="-122"/>
                <a:cs typeface="JetBrains Mono" pitchFamily="49" charset="-120"/>
              </a:rPr>
              <a:t> persi</a:t>
            </a:r>
            <a:endParaRPr lang="it-IT" sz="1600" noProof="0" dirty="0"/>
          </a:p>
        </p:txBody>
      </p:sp>
      <p:sp>
        <p:nvSpPr>
          <p:cNvPr id="9" name="Shape 7"/>
          <p:cNvSpPr/>
          <p:nvPr/>
        </p:nvSpPr>
        <p:spPr>
          <a:xfrm>
            <a:off x="812800" y="2926735"/>
            <a:ext cx="10566400" cy="0"/>
          </a:xfrm>
          <a:prstGeom prst="line">
            <a:avLst/>
          </a:prstGeom>
          <a:noFill/>
          <a:ln w="6350">
            <a:solidFill>
              <a:srgbClr val="CFCCC4"/>
            </a:solidFill>
            <a:prstDash val="solid"/>
          </a:ln>
        </p:spPr>
        <p:txBody>
          <a:bodyPr/>
          <a:lstStyle/>
          <a:p>
            <a:endParaRPr lang="it-IT" noProof="0" dirty="0"/>
          </a:p>
        </p:txBody>
      </p:sp>
      <p:sp>
        <p:nvSpPr>
          <p:cNvPr id="10" name="Text 8"/>
          <p:cNvSpPr/>
          <p:nvPr/>
        </p:nvSpPr>
        <p:spPr>
          <a:xfrm>
            <a:off x="812800" y="2242840"/>
            <a:ext cx="36626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Guasto pulito</a:t>
            </a:r>
            <a:endParaRPr lang="it-IT" sz="2000" noProof="0" dirty="0"/>
          </a:p>
        </p:txBody>
      </p:sp>
      <p:sp>
        <p:nvSpPr>
          <p:cNvPr id="11" name="Text 9"/>
          <p:cNvSpPr/>
          <p:nvPr/>
        </p:nvSpPr>
        <p:spPr>
          <a:xfrm>
            <a:off x="812800" y="2573040"/>
            <a:ext cx="366268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chaos.py</a:t>
            </a:r>
            <a:endParaRPr lang="it-IT" sz="1600" noProof="0" dirty="0"/>
          </a:p>
        </p:txBody>
      </p:sp>
      <p:sp>
        <p:nvSpPr>
          <p:cNvPr id="12" name="Shape 10"/>
          <p:cNvSpPr/>
          <p:nvPr/>
        </p:nvSpPr>
        <p:spPr>
          <a:xfrm>
            <a:off x="4368800" y="2379960"/>
            <a:ext cx="38100" cy="304800"/>
          </a:xfrm>
          <a:prstGeom prst="rect">
            <a:avLst/>
          </a:prstGeom>
          <a:solidFill>
            <a:srgbClr val="1B1D20"/>
          </a:solidFill>
          <a:ln/>
        </p:spPr>
        <p:txBody>
          <a:bodyPr/>
          <a:lstStyle/>
          <a:p>
            <a:endParaRPr lang="it-IT" noProof="0" dirty="0"/>
          </a:p>
        </p:txBody>
      </p:sp>
      <p:sp>
        <p:nvSpPr>
          <p:cNvPr id="13" name="Text 11"/>
          <p:cNvSpPr/>
          <p:nvPr/>
        </p:nvSpPr>
        <p:spPr>
          <a:xfrm>
            <a:off x="4508500" y="2372370"/>
            <a:ext cx="612902" cy="345440"/>
          </a:xfrm>
          <a:prstGeom prst="rect">
            <a:avLst/>
          </a:prstGeom>
          <a:noFill/>
          <a:ln/>
        </p:spPr>
        <p:txBody>
          <a:bodyPr wrap="square" lIns="0" tIns="0" rIns="0" bIns="0" rtlCol="0" anchor="t">
            <a:normAutofit/>
          </a:bodyPr>
          <a:lstStyle/>
          <a:p>
            <a:pPr marL="0" indent="0" algn="l">
              <a:lnSpc>
                <a:spcPts val="2520"/>
              </a:lnSpc>
              <a:buNone/>
            </a:pPr>
            <a:r>
              <a:rPr lang="it-IT" sz="1800" b="1" noProof="0" dirty="0">
                <a:solidFill>
                  <a:srgbClr val="1B1D20"/>
                </a:solidFill>
                <a:latin typeface="IBM Plex Sans" pitchFamily="34" charset="0"/>
                <a:ea typeface="IBM Plex Sans" pitchFamily="34" charset="-122"/>
                <a:cs typeface="IBM Plex Sans" pitchFamily="34" charset="-120"/>
              </a:rPr>
              <a:t>0,3 s</a:t>
            </a:r>
            <a:endParaRPr lang="it-IT" sz="1800" noProof="0" dirty="0"/>
          </a:p>
        </p:txBody>
      </p:sp>
      <p:sp>
        <p:nvSpPr>
          <p:cNvPr id="14" name="Text 12"/>
          <p:cNvSpPr/>
          <p:nvPr/>
        </p:nvSpPr>
        <p:spPr>
          <a:xfrm>
            <a:off x="9804400" y="2278360"/>
            <a:ext cx="1574800" cy="533400"/>
          </a:xfrm>
          <a:prstGeom prst="rect">
            <a:avLst/>
          </a:prstGeom>
          <a:noFill/>
          <a:ln/>
        </p:spPr>
        <p:txBody>
          <a:bodyPr wrap="square" lIns="0" tIns="0" rIns="0" bIns="0" rtlCol="0" anchor="t">
            <a:normAutofit fontScale="40000" lnSpcReduction="20000"/>
          </a:bodyPr>
          <a:lstStyle/>
          <a:p>
            <a:pPr marL="0" indent="0" algn="r">
              <a:lnSpc>
                <a:spcPts val="5000"/>
              </a:lnSpc>
              <a:buNone/>
            </a:pPr>
            <a:r>
              <a:rPr lang="it-IT" sz="4000" b="1" noProof="0" dirty="0">
                <a:solidFill>
                  <a:srgbClr val="1B1D20"/>
                </a:solidFill>
                <a:latin typeface="IBM Plex Sans" pitchFamily="34" charset="0"/>
                <a:ea typeface="IBM Plex Sans" pitchFamily="34" charset="-122"/>
                <a:cs typeface="IBM Plex Sans" pitchFamily="34" charset="-120"/>
              </a:rPr>
              <a:t>1</a:t>
            </a:r>
            <a:endParaRPr lang="it-IT" sz="4000" noProof="0" dirty="0"/>
          </a:p>
        </p:txBody>
      </p:sp>
      <p:sp>
        <p:nvSpPr>
          <p:cNvPr id="15" name="Shape 13"/>
          <p:cNvSpPr/>
          <p:nvPr/>
        </p:nvSpPr>
        <p:spPr>
          <a:xfrm>
            <a:off x="812800" y="3715375"/>
            <a:ext cx="10566400" cy="0"/>
          </a:xfrm>
          <a:prstGeom prst="line">
            <a:avLst/>
          </a:prstGeom>
          <a:noFill/>
          <a:ln w="6350">
            <a:solidFill>
              <a:srgbClr val="CFCCC4"/>
            </a:solidFill>
            <a:prstDash val="solid"/>
          </a:ln>
        </p:spPr>
        <p:txBody>
          <a:bodyPr/>
          <a:lstStyle/>
          <a:p>
            <a:endParaRPr lang="it-IT" noProof="0" dirty="0"/>
          </a:p>
        </p:txBody>
      </p:sp>
      <p:sp>
        <p:nvSpPr>
          <p:cNvPr id="16" name="Text 14"/>
          <p:cNvSpPr/>
          <p:nvPr/>
        </p:nvSpPr>
        <p:spPr>
          <a:xfrm>
            <a:off x="812800" y="3031480"/>
            <a:ext cx="3662680" cy="330200"/>
          </a:xfrm>
          <a:prstGeom prst="rect">
            <a:avLst/>
          </a:prstGeom>
          <a:noFill/>
          <a:ln/>
        </p:spPr>
        <p:txBody>
          <a:bodyPr wrap="square" lIns="0" tIns="0" rIns="0" bIns="0" rtlCol="0" anchor="t">
            <a:normAutofit/>
          </a:bodyPr>
          <a:lstStyle/>
          <a:p>
            <a:pPr marL="0" indent="0" algn="l">
              <a:lnSpc>
                <a:spcPts val="2500"/>
              </a:lnSpc>
              <a:buNone/>
            </a:pPr>
            <a:r>
              <a:rPr lang="it-IT" sz="2000" b="1" noProof="0" dirty="0">
                <a:solidFill>
                  <a:srgbClr val="1B1D20"/>
                </a:solidFill>
                <a:latin typeface="IBM Plex Sans" pitchFamily="34" charset="0"/>
                <a:ea typeface="IBM Plex Sans" pitchFamily="34" charset="-122"/>
                <a:cs typeface="IBM Plex Sans" pitchFamily="34" charset="-120"/>
              </a:rPr>
              <a:t>Guasto silenzioso</a:t>
            </a:r>
            <a:endParaRPr lang="it-IT" sz="2000" noProof="0" dirty="0"/>
          </a:p>
        </p:txBody>
      </p:sp>
      <p:sp>
        <p:nvSpPr>
          <p:cNvPr id="17" name="Text 15"/>
          <p:cNvSpPr/>
          <p:nvPr/>
        </p:nvSpPr>
        <p:spPr>
          <a:xfrm>
            <a:off x="812800" y="3361680"/>
            <a:ext cx="3662680" cy="27432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JetBrains Mono" pitchFamily="49" charset="0"/>
                <a:ea typeface="JetBrains Mono" pitchFamily="49" charset="-122"/>
                <a:cs typeface="JetBrains Mono" pitchFamily="49" charset="-120"/>
              </a:rPr>
              <a:t>chaos.py --</a:t>
            </a:r>
            <a:r>
              <a:rPr lang="it-IT" sz="1600" noProof="0" dirty="0" err="1">
                <a:solidFill>
                  <a:srgbClr val="5B5F66"/>
                </a:solidFill>
                <a:latin typeface="JetBrains Mono" pitchFamily="49" charset="0"/>
                <a:ea typeface="JetBrains Mono" pitchFamily="49" charset="-122"/>
                <a:cs typeface="JetBrains Mono" pitchFamily="49" charset="-120"/>
              </a:rPr>
              <a:t>silent</a:t>
            </a:r>
            <a:endParaRPr lang="it-IT" sz="1600" noProof="0" dirty="0"/>
          </a:p>
        </p:txBody>
      </p:sp>
      <p:sp>
        <p:nvSpPr>
          <p:cNvPr id="18" name="Shape 16"/>
          <p:cNvSpPr/>
          <p:nvPr/>
        </p:nvSpPr>
        <p:spPr>
          <a:xfrm>
            <a:off x="4368800" y="3168650"/>
            <a:ext cx="4318000" cy="304800"/>
          </a:xfrm>
          <a:prstGeom prst="rect">
            <a:avLst/>
          </a:prstGeom>
          <a:solidFill>
            <a:srgbClr val="E37E5F"/>
          </a:solidFill>
          <a:ln/>
        </p:spPr>
        <p:txBody>
          <a:bodyPr/>
          <a:lstStyle/>
          <a:p>
            <a:endParaRPr lang="it-IT" noProof="0" dirty="0"/>
          </a:p>
        </p:txBody>
      </p:sp>
      <p:sp>
        <p:nvSpPr>
          <p:cNvPr id="19" name="Text 17"/>
          <p:cNvSpPr/>
          <p:nvPr/>
        </p:nvSpPr>
        <p:spPr>
          <a:xfrm>
            <a:off x="8788400" y="3161010"/>
            <a:ext cx="530860" cy="345440"/>
          </a:xfrm>
          <a:prstGeom prst="rect">
            <a:avLst/>
          </a:prstGeom>
          <a:noFill/>
          <a:ln/>
        </p:spPr>
        <p:txBody>
          <a:bodyPr wrap="square" lIns="0" tIns="0" rIns="0" bIns="0" rtlCol="0" anchor="t">
            <a:normAutofit/>
          </a:bodyPr>
          <a:lstStyle/>
          <a:p>
            <a:pPr marL="0" indent="0" algn="l">
              <a:lnSpc>
                <a:spcPts val="2520"/>
              </a:lnSpc>
              <a:buNone/>
            </a:pPr>
            <a:r>
              <a:rPr lang="it-IT" sz="1800" b="1" noProof="0" dirty="0">
                <a:solidFill>
                  <a:srgbClr val="B4502E"/>
                </a:solidFill>
                <a:latin typeface="IBM Plex Sans" pitchFamily="34" charset="0"/>
                <a:ea typeface="IBM Plex Sans" pitchFamily="34" charset="-122"/>
                <a:cs typeface="IBM Plex Sans" pitchFamily="34" charset="-120"/>
              </a:rPr>
              <a:t>37 s</a:t>
            </a:r>
            <a:endParaRPr lang="it-IT" sz="1800" noProof="0" dirty="0"/>
          </a:p>
        </p:txBody>
      </p:sp>
      <p:sp>
        <p:nvSpPr>
          <p:cNvPr id="20" name="Text 18"/>
          <p:cNvSpPr/>
          <p:nvPr/>
        </p:nvSpPr>
        <p:spPr>
          <a:xfrm>
            <a:off x="9804400" y="3067050"/>
            <a:ext cx="1574800" cy="533400"/>
          </a:xfrm>
          <a:prstGeom prst="rect">
            <a:avLst/>
          </a:prstGeom>
          <a:noFill/>
          <a:ln/>
        </p:spPr>
        <p:txBody>
          <a:bodyPr wrap="square" lIns="0" tIns="0" rIns="0" bIns="0" rtlCol="0" anchor="t">
            <a:normAutofit fontScale="40000" lnSpcReduction="20000"/>
          </a:bodyPr>
          <a:lstStyle/>
          <a:p>
            <a:pPr marL="0" indent="0" algn="r">
              <a:lnSpc>
                <a:spcPts val="5000"/>
              </a:lnSpc>
              <a:buNone/>
            </a:pPr>
            <a:r>
              <a:rPr lang="it-IT" sz="4000" b="1" noProof="0" dirty="0">
                <a:solidFill>
                  <a:srgbClr val="B4502E"/>
                </a:solidFill>
                <a:latin typeface="IBM Plex Sans" pitchFamily="34" charset="0"/>
                <a:ea typeface="IBM Plex Sans" pitchFamily="34" charset="-122"/>
                <a:cs typeface="IBM Plex Sans" pitchFamily="34" charset="-120"/>
              </a:rPr>
              <a:t>34</a:t>
            </a:r>
            <a:endParaRPr lang="it-IT" sz="4000" noProof="0" dirty="0"/>
          </a:p>
        </p:txBody>
      </p:sp>
      <p:sp>
        <p:nvSpPr>
          <p:cNvPr id="27" name="Shape 25"/>
          <p:cNvSpPr/>
          <p:nvPr/>
        </p:nvSpPr>
        <p:spPr>
          <a:xfrm>
            <a:off x="831850" y="4361160"/>
            <a:ext cx="0" cy="359410"/>
          </a:xfrm>
          <a:prstGeom prst="line">
            <a:avLst/>
          </a:prstGeom>
          <a:noFill/>
          <a:ln w="38100">
            <a:solidFill>
              <a:srgbClr val="E1D368"/>
            </a:solidFill>
            <a:prstDash val="solid"/>
          </a:ln>
        </p:spPr>
        <p:txBody>
          <a:bodyPr/>
          <a:lstStyle/>
          <a:p>
            <a:endParaRPr lang="it-IT" noProof="0" dirty="0"/>
          </a:p>
        </p:txBody>
      </p:sp>
      <p:sp>
        <p:nvSpPr>
          <p:cNvPr id="28" name="Text 26"/>
          <p:cNvSpPr/>
          <p:nvPr/>
        </p:nvSpPr>
        <p:spPr>
          <a:xfrm>
            <a:off x="1054100" y="4386560"/>
            <a:ext cx="10634853" cy="334010"/>
          </a:xfrm>
          <a:prstGeom prst="rect">
            <a:avLst/>
          </a:prstGeom>
          <a:noFill/>
          <a:ln/>
        </p:spPr>
        <p:txBody>
          <a:bodyPr wrap="square" lIns="0" tIns="0" rIns="0" bIns="0" rtlCol="0" anchor="t">
            <a:normAutofit/>
          </a:bodyPr>
          <a:lstStyle/>
          <a:p>
            <a:pPr marL="0" indent="0" algn="l">
              <a:lnSpc>
                <a:spcPts val="2430"/>
              </a:lnSpc>
              <a:buNone/>
            </a:pPr>
            <a:r>
              <a:rPr lang="it-IT" sz="1800" noProof="0" dirty="0">
                <a:solidFill>
                  <a:srgbClr val="1B1D20"/>
                </a:solidFill>
                <a:latin typeface="IBM Plex Sans" pitchFamily="34" charset="0"/>
                <a:ea typeface="IBM Plex Sans" pitchFamily="34" charset="-122"/>
                <a:cs typeface="IBM Plex Sans" pitchFamily="34" charset="-120"/>
              </a:rPr>
              <a:t>Il guasto silenzioso aspetta il dead interval OSPF (40 s) prima del reroute.</a:t>
            </a:r>
            <a:endParaRPr lang="it-IT" sz="1800" noProof="0" dirty="0"/>
          </a:p>
        </p:txBody>
      </p:sp>
      <p:sp>
        <p:nvSpPr>
          <p:cNvPr id="29" name="Text 27"/>
          <p:cNvSpPr/>
          <p:nvPr/>
        </p:nvSpPr>
        <p:spPr>
          <a:xfrm>
            <a:off x="1054100" y="4822180"/>
            <a:ext cx="10634853" cy="25654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5B5F66"/>
                </a:solidFill>
                <a:latin typeface="IBM Plex Sans" pitchFamily="34" charset="0"/>
                <a:ea typeface="IBM Plex Sans" pitchFamily="34" charset="-122"/>
                <a:cs typeface="IBM Plex Sans" pitchFamily="34" charset="-120"/>
              </a:rPr>
              <a:t>I valori esatti cambiano da PC a PC.</a:t>
            </a:r>
            <a:endParaRPr lang="it-IT" sz="1600" noProof="0" dirty="0"/>
          </a:p>
        </p:txBody>
      </p:sp>
    </p:spTree>
    <p:extLst>
      <p:ext uri="{BB962C8B-B14F-4D97-AF65-F5344CB8AC3E}">
        <p14:creationId xmlns:p14="http://schemas.microsoft.com/office/powerpoint/2010/main" val="41542515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69">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D368"/>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Domande guida</a:t>
            </a:r>
            <a:endParaRPr lang="it-IT" sz="4000" noProof="0" dirty="0"/>
          </a:p>
        </p:txBody>
      </p:sp>
      <p:sp>
        <p:nvSpPr>
          <p:cNvPr id="5" name="Text 3"/>
          <p:cNvSpPr/>
          <p:nvPr/>
        </p:nvSpPr>
        <p:spPr>
          <a:xfrm>
            <a:off x="812800" y="1929457"/>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857612"/>
                </a:solidFill>
                <a:latin typeface="JetBrains Mono" pitchFamily="49" charset="0"/>
                <a:ea typeface="JetBrains Mono" pitchFamily="49" charset="-122"/>
                <a:cs typeface="JetBrains Mono" pitchFamily="49" charset="-120"/>
              </a:rPr>
              <a:t>01</a:t>
            </a:r>
            <a:endParaRPr lang="it-IT" sz="1600" noProof="0" dirty="0"/>
          </a:p>
        </p:txBody>
      </p:sp>
      <p:sp>
        <p:nvSpPr>
          <p:cNvPr id="6" name="Text 4"/>
          <p:cNvSpPr/>
          <p:nvPr/>
        </p:nvSpPr>
        <p:spPr>
          <a:xfrm>
            <a:off x="1473200" y="1889770"/>
            <a:ext cx="10203180" cy="351155"/>
          </a:xfrm>
          <a:prstGeom prst="rect">
            <a:avLst/>
          </a:prstGeom>
          <a:noFill/>
          <a:ln/>
        </p:spPr>
        <p:txBody>
          <a:bodyPr wrap="square" lIns="0" tIns="0" rIns="0" bIns="0" rtlCol="0" anchor="t">
            <a:normAutofit/>
          </a:bodyPr>
          <a:lstStyle/>
          <a:p>
            <a:pPr marL="0" indent="0" algn="l">
              <a:lnSpc>
                <a:spcPts val="2565"/>
              </a:lnSpc>
              <a:buNone/>
            </a:pPr>
            <a:r>
              <a:rPr lang="it-IT" sz="1900" noProof="0" dirty="0">
                <a:solidFill>
                  <a:srgbClr val="1B1D20"/>
                </a:solidFill>
                <a:latin typeface="IBM Plex Sans" pitchFamily="34" charset="0"/>
                <a:ea typeface="IBM Plex Sans" pitchFamily="34" charset="-122"/>
                <a:cs typeface="IBM Plex Sans" pitchFamily="34" charset="-120"/>
              </a:rPr>
              <a:t>Con il guasto pulito, quanti </a:t>
            </a:r>
            <a:r>
              <a:rPr lang="it-IT" sz="1900" noProof="0" dirty="0" err="1">
                <a:solidFill>
                  <a:srgbClr val="1B1D20"/>
                </a:solidFill>
                <a:latin typeface="IBM Plex Sans" pitchFamily="34" charset="0"/>
                <a:ea typeface="IBM Plex Sans" pitchFamily="34" charset="-122"/>
                <a:cs typeface="IBM Plex Sans" pitchFamily="34" charset="-120"/>
              </a:rPr>
              <a:t>ping</a:t>
            </a:r>
            <a:r>
              <a:rPr lang="it-IT" sz="1900" noProof="0" dirty="0">
                <a:solidFill>
                  <a:srgbClr val="1B1D20"/>
                </a:solidFill>
                <a:latin typeface="IBM Plex Sans" pitchFamily="34" charset="0"/>
                <a:ea typeface="IBM Plex Sans" pitchFamily="34" charset="-122"/>
                <a:cs typeface="IBM Plex Sans" pitchFamily="34" charset="-120"/>
              </a:rPr>
              <a:t> si perdono? Perché così pochi?</a:t>
            </a:r>
            <a:endParaRPr lang="it-IT" sz="1900" noProof="0" dirty="0"/>
          </a:p>
        </p:txBody>
      </p:sp>
      <p:sp>
        <p:nvSpPr>
          <p:cNvPr id="7" name="Text 5"/>
          <p:cNvSpPr/>
          <p:nvPr/>
        </p:nvSpPr>
        <p:spPr>
          <a:xfrm>
            <a:off x="812800" y="2432993"/>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857612"/>
                </a:solidFill>
                <a:latin typeface="JetBrains Mono" pitchFamily="49" charset="0"/>
                <a:ea typeface="JetBrains Mono" pitchFamily="49" charset="-122"/>
                <a:cs typeface="JetBrains Mono" pitchFamily="49" charset="-120"/>
              </a:rPr>
              <a:t>02</a:t>
            </a:r>
            <a:endParaRPr lang="it-IT" sz="1600" noProof="0" dirty="0"/>
          </a:p>
        </p:txBody>
      </p:sp>
      <p:sp>
        <p:nvSpPr>
          <p:cNvPr id="8" name="Text 6"/>
          <p:cNvSpPr/>
          <p:nvPr/>
        </p:nvSpPr>
        <p:spPr>
          <a:xfrm>
            <a:off x="1473200" y="2393305"/>
            <a:ext cx="10203180" cy="351155"/>
          </a:xfrm>
          <a:prstGeom prst="rect">
            <a:avLst/>
          </a:prstGeom>
          <a:noFill/>
          <a:ln/>
        </p:spPr>
        <p:txBody>
          <a:bodyPr wrap="square" lIns="0" tIns="0" rIns="0" bIns="0" rtlCol="0" anchor="t">
            <a:normAutofit/>
          </a:bodyPr>
          <a:lstStyle/>
          <a:p>
            <a:pPr marL="0" indent="0" algn="l">
              <a:lnSpc>
                <a:spcPts val="2565"/>
              </a:lnSpc>
              <a:buNone/>
            </a:pPr>
            <a:r>
              <a:rPr lang="it-IT" sz="1900" noProof="0" dirty="0">
                <a:solidFill>
                  <a:srgbClr val="1B1D20"/>
                </a:solidFill>
                <a:latin typeface="IBM Plex Sans" pitchFamily="34" charset="0"/>
                <a:ea typeface="IBM Plex Sans" pitchFamily="34" charset="-122"/>
                <a:cs typeface="IBM Plex Sans" pitchFamily="34" charset="-120"/>
              </a:rPr>
              <a:t>Dopo il ripristino, perché il traffico torna su r2 solo dopo circa 10 secondi?</a:t>
            </a:r>
            <a:endParaRPr lang="it-IT" sz="1900" noProof="0" dirty="0"/>
          </a:p>
        </p:txBody>
      </p:sp>
      <p:sp>
        <p:nvSpPr>
          <p:cNvPr id="9" name="Text 7"/>
          <p:cNvSpPr/>
          <p:nvPr/>
        </p:nvSpPr>
        <p:spPr>
          <a:xfrm>
            <a:off x="812800" y="2936577"/>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857612"/>
                </a:solidFill>
                <a:latin typeface="JetBrains Mono" pitchFamily="49" charset="0"/>
                <a:ea typeface="JetBrains Mono" pitchFamily="49" charset="-122"/>
                <a:cs typeface="JetBrains Mono" pitchFamily="49" charset="-120"/>
              </a:rPr>
              <a:t>03</a:t>
            </a:r>
            <a:endParaRPr lang="it-IT" sz="1600" noProof="0" dirty="0"/>
          </a:p>
        </p:txBody>
      </p:sp>
      <p:sp>
        <p:nvSpPr>
          <p:cNvPr id="10" name="Text 8"/>
          <p:cNvSpPr/>
          <p:nvPr/>
        </p:nvSpPr>
        <p:spPr>
          <a:xfrm>
            <a:off x="1473200" y="2896890"/>
            <a:ext cx="10203180" cy="351155"/>
          </a:xfrm>
          <a:prstGeom prst="rect">
            <a:avLst/>
          </a:prstGeom>
          <a:noFill/>
          <a:ln/>
        </p:spPr>
        <p:txBody>
          <a:bodyPr wrap="square" lIns="0" tIns="0" rIns="0" bIns="0" rtlCol="0" anchor="t">
            <a:normAutofit/>
          </a:bodyPr>
          <a:lstStyle/>
          <a:p>
            <a:pPr marL="0" indent="0" algn="l">
              <a:lnSpc>
                <a:spcPts val="2565"/>
              </a:lnSpc>
              <a:buNone/>
            </a:pPr>
            <a:r>
              <a:rPr lang="it-IT" sz="1900" noProof="0" dirty="0">
                <a:solidFill>
                  <a:srgbClr val="1B1D20"/>
                </a:solidFill>
                <a:latin typeface="IBM Plex Sans" pitchFamily="34" charset="0"/>
                <a:ea typeface="IBM Plex Sans" pitchFamily="34" charset="-122"/>
                <a:cs typeface="IBM Plex Sans" pitchFamily="34" charset="-120"/>
              </a:rPr>
              <a:t>Perché il guasto silenzioso è così lento? E se dura 20 secondi, meno del dead </a:t>
            </a:r>
            <a:r>
              <a:rPr lang="it-IT" sz="1900" noProof="0" dirty="0" err="1">
                <a:solidFill>
                  <a:srgbClr val="1B1D20"/>
                </a:solidFill>
                <a:latin typeface="IBM Plex Sans" pitchFamily="34" charset="0"/>
                <a:ea typeface="IBM Plex Sans" pitchFamily="34" charset="-122"/>
                <a:cs typeface="IBM Plex Sans" pitchFamily="34" charset="-120"/>
              </a:rPr>
              <a:t>interval</a:t>
            </a:r>
            <a:r>
              <a:rPr lang="it-IT" sz="1900" noProof="0" dirty="0">
                <a:solidFill>
                  <a:srgbClr val="1B1D20"/>
                </a:solidFill>
                <a:latin typeface="IBM Plex Sans" pitchFamily="34" charset="0"/>
                <a:ea typeface="IBM Plex Sans" pitchFamily="34" charset="-122"/>
                <a:cs typeface="IBM Plex Sans" pitchFamily="34" charset="-120"/>
              </a:rPr>
              <a:t>?</a:t>
            </a:r>
            <a:endParaRPr lang="it-IT" sz="1900" noProof="0" dirty="0"/>
          </a:p>
        </p:txBody>
      </p:sp>
      <p:sp>
        <p:nvSpPr>
          <p:cNvPr id="13" name="Text 11"/>
          <p:cNvSpPr/>
          <p:nvPr/>
        </p:nvSpPr>
        <p:spPr>
          <a:xfrm>
            <a:off x="812800" y="3440113"/>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857612"/>
                </a:solidFill>
                <a:latin typeface="JetBrains Mono" pitchFamily="49" charset="0"/>
                <a:ea typeface="JetBrains Mono" pitchFamily="49" charset="-122"/>
                <a:cs typeface="JetBrains Mono" pitchFamily="49" charset="-120"/>
              </a:rPr>
              <a:t>04</a:t>
            </a:r>
            <a:endParaRPr lang="it-IT" sz="1600" noProof="0" dirty="0"/>
          </a:p>
        </p:txBody>
      </p:sp>
      <p:sp>
        <p:nvSpPr>
          <p:cNvPr id="14" name="Text 12"/>
          <p:cNvSpPr/>
          <p:nvPr/>
        </p:nvSpPr>
        <p:spPr>
          <a:xfrm>
            <a:off x="1473200" y="3400425"/>
            <a:ext cx="10203180" cy="351155"/>
          </a:xfrm>
          <a:prstGeom prst="rect">
            <a:avLst/>
          </a:prstGeom>
          <a:noFill/>
          <a:ln/>
        </p:spPr>
        <p:txBody>
          <a:bodyPr wrap="square" lIns="0" tIns="0" rIns="0" bIns="0" rtlCol="0" anchor="t">
            <a:normAutofit/>
          </a:bodyPr>
          <a:lstStyle/>
          <a:p>
            <a:pPr marL="0" indent="0" algn="l">
              <a:lnSpc>
                <a:spcPts val="2565"/>
              </a:lnSpc>
              <a:buNone/>
            </a:pPr>
            <a:r>
              <a:rPr lang="it-IT" sz="1900" noProof="0" dirty="0">
                <a:solidFill>
                  <a:srgbClr val="1B1D20"/>
                </a:solidFill>
                <a:latin typeface="IBM Plex Sans" pitchFamily="34" charset="0"/>
                <a:ea typeface="IBM Plex Sans" pitchFamily="34" charset="-122"/>
                <a:cs typeface="IBM Plex Sans" pitchFamily="34" charset="-120"/>
              </a:rPr>
              <a:t>Abbattiamo n41: cambia qualcosa nella timeline? Perché?</a:t>
            </a:r>
            <a:endParaRPr lang="it-IT" sz="1900" noProof="0" dirty="0"/>
          </a:p>
        </p:txBody>
      </p:sp>
      <p:sp>
        <p:nvSpPr>
          <p:cNvPr id="15" name="Text 13"/>
          <p:cNvSpPr/>
          <p:nvPr/>
        </p:nvSpPr>
        <p:spPr>
          <a:xfrm>
            <a:off x="812800" y="3943648"/>
            <a:ext cx="55880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857612"/>
                </a:solidFill>
                <a:latin typeface="JetBrains Mono" pitchFamily="49" charset="0"/>
                <a:ea typeface="JetBrains Mono" pitchFamily="49" charset="-122"/>
                <a:cs typeface="JetBrains Mono" pitchFamily="49" charset="-120"/>
              </a:rPr>
              <a:t>05</a:t>
            </a:r>
            <a:endParaRPr lang="it-IT" sz="1600" noProof="0" dirty="0"/>
          </a:p>
        </p:txBody>
      </p:sp>
      <p:sp>
        <p:nvSpPr>
          <p:cNvPr id="16" name="Text 14"/>
          <p:cNvSpPr/>
          <p:nvPr/>
        </p:nvSpPr>
        <p:spPr>
          <a:xfrm>
            <a:off x="1473200" y="3903960"/>
            <a:ext cx="10203180" cy="351155"/>
          </a:xfrm>
          <a:prstGeom prst="rect">
            <a:avLst/>
          </a:prstGeom>
          <a:noFill/>
          <a:ln/>
        </p:spPr>
        <p:txBody>
          <a:bodyPr wrap="square" lIns="0" tIns="0" rIns="0" bIns="0" rtlCol="0" anchor="t">
            <a:normAutofit/>
          </a:bodyPr>
          <a:lstStyle/>
          <a:p>
            <a:pPr marL="0" indent="0" algn="l">
              <a:lnSpc>
                <a:spcPts val="2565"/>
              </a:lnSpc>
              <a:buNone/>
            </a:pPr>
            <a:r>
              <a:rPr lang="it-IT" sz="1900" noProof="0" dirty="0">
                <a:solidFill>
                  <a:srgbClr val="1B1D20"/>
                </a:solidFill>
                <a:latin typeface="IBM Plex Sans" pitchFamily="34" charset="0"/>
                <a:ea typeface="IBM Plex Sans" pitchFamily="34" charset="-122"/>
                <a:cs typeface="IBM Plex Sans" pitchFamily="34" charset="-120"/>
              </a:rPr>
              <a:t>Quali altri test automatizzereste sul twin prima di ogni </a:t>
            </a:r>
            <a:r>
              <a:rPr lang="it-IT" sz="1900" noProof="0" dirty="0" err="1">
                <a:solidFill>
                  <a:srgbClr val="1B1D20"/>
                </a:solidFill>
                <a:latin typeface="IBM Plex Sans" pitchFamily="34" charset="0"/>
                <a:ea typeface="IBM Plex Sans" pitchFamily="34" charset="-122"/>
                <a:cs typeface="IBM Plex Sans" pitchFamily="34" charset="-120"/>
              </a:rPr>
              <a:t>change</a:t>
            </a:r>
            <a:r>
              <a:rPr lang="it-IT" sz="1900" noProof="0" dirty="0">
                <a:solidFill>
                  <a:srgbClr val="1B1D20"/>
                </a:solidFill>
                <a:latin typeface="IBM Plex Sans" pitchFamily="34" charset="0"/>
                <a:ea typeface="IBM Plex Sans" pitchFamily="34" charset="-122"/>
                <a:cs typeface="IBM Plex Sans" pitchFamily="34" charset="-120"/>
              </a:rPr>
              <a:t>?</a:t>
            </a:r>
            <a:endParaRPr lang="it-IT" sz="1900" noProof="0" dirty="0"/>
          </a:p>
        </p:txBody>
      </p:sp>
    </p:spTree>
    <p:extLst>
      <p:ext uri="{BB962C8B-B14F-4D97-AF65-F5344CB8AC3E}">
        <p14:creationId xmlns:p14="http://schemas.microsoft.com/office/powerpoint/2010/main" val="16977214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59">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4500"/>
              </a:lnSpc>
              <a:buNone/>
            </a:pPr>
            <a:r>
              <a:rPr lang="it-IT" sz="3600" b="1" i="0" noProof="0" dirty="0">
                <a:solidFill>
                  <a:srgbClr val="1B1D20"/>
                </a:solidFill>
                <a:latin typeface="IBM Plex Sans" pitchFamily="34" charset="0"/>
                <a:ea typeface="IBM Plex Sans" pitchFamily="34" charset="-122"/>
                <a:cs typeface="IBM Plex Sans" pitchFamily="34" charset="-120"/>
              </a:rPr>
              <a:t>Come risolviamo il problema del guasto silenzioso?</a:t>
            </a:r>
            <a:endParaRPr lang="it-IT" sz="3600" noProof="0" dirty="0"/>
          </a:p>
        </p:txBody>
      </p:sp>
      <p:sp>
        <p:nvSpPr>
          <p:cNvPr id="5" name="Text 3"/>
          <p:cNvSpPr/>
          <p:nvPr/>
        </p:nvSpPr>
        <p:spPr>
          <a:xfrm>
            <a:off x="812800" y="1338585"/>
            <a:ext cx="10883392" cy="558800"/>
          </a:xfrm>
          <a:prstGeom prst="rect">
            <a:avLst/>
          </a:prstGeom>
          <a:noFill/>
          <a:ln/>
        </p:spPr>
        <p:txBody>
          <a:bodyPr wrap="square" lIns="0" tIns="0" rIns="0" bIns="0" rtlCol="0" anchor="t">
            <a:normAutofit/>
          </a:bodyPr>
          <a:lstStyle/>
          <a:p>
            <a:pPr>
              <a:lnSpc>
                <a:spcPts val="2100"/>
              </a:lnSpc>
            </a:pPr>
            <a:r>
              <a:rPr lang="it-IT" b="1" dirty="0">
                <a:solidFill>
                  <a:srgbClr val="1B1D20"/>
                </a:solidFill>
                <a:latin typeface="IBM Plex Sans" pitchFamily="34" charset="0"/>
                <a:ea typeface="IBM Plex Sans" pitchFamily="34" charset="-122"/>
                <a:cs typeface="IBM Plex Sans" pitchFamily="34" charset="-120"/>
              </a:rPr>
              <a:t>BFD – </a:t>
            </a:r>
            <a:r>
              <a:rPr lang="it-IT" b="1" dirty="0" err="1">
                <a:solidFill>
                  <a:srgbClr val="1B1D20"/>
                </a:solidFill>
                <a:latin typeface="IBM Plex Sans" pitchFamily="34" charset="0"/>
                <a:ea typeface="IBM Plex Sans" pitchFamily="34" charset="-122"/>
                <a:cs typeface="IBM Plex Sans" pitchFamily="34" charset="-120"/>
              </a:rPr>
              <a:t>Bidirectional</a:t>
            </a:r>
            <a:r>
              <a:rPr lang="it-IT" b="1" dirty="0">
                <a:solidFill>
                  <a:srgbClr val="1B1D20"/>
                </a:solidFill>
                <a:latin typeface="IBM Plex Sans" pitchFamily="34" charset="0"/>
                <a:ea typeface="IBM Plex Sans" pitchFamily="34" charset="-122"/>
                <a:cs typeface="IBM Plex Sans" pitchFamily="34" charset="-120"/>
              </a:rPr>
              <a:t> Forwarding </a:t>
            </a:r>
            <a:r>
              <a:rPr lang="it-IT" b="1" dirty="0" err="1">
                <a:solidFill>
                  <a:srgbClr val="1B1D20"/>
                </a:solidFill>
                <a:latin typeface="IBM Plex Sans" pitchFamily="34" charset="0"/>
                <a:ea typeface="IBM Plex Sans" pitchFamily="34" charset="-122"/>
                <a:cs typeface="IBM Plex Sans" pitchFamily="34" charset="-120"/>
              </a:rPr>
              <a:t>Detection</a:t>
            </a:r>
            <a:r>
              <a:rPr lang="it-IT" b="1" dirty="0">
                <a:solidFill>
                  <a:srgbClr val="1B1D20"/>
                </a:solidFill>
                <a:latin typeface="IBM Plex Sans" pitchFamily="34" charset="0"/>
                <a:ea typeface="IBM Plex Sans" pitchFamily="34" charset="-122"/>
                <a:cs typeface="IBM Plex Sans" pitchFamily="34" charset="-120"/>
              </a:rPr>
              <a:t> - </a:t>
            </a:r>
            <a:r>
              <a:rPr lang="it-IT" noProof="0" dirty="0">
                <a:solidFill>
                  <a:srgbClr val="5B5F66"/>
                </a:solidFill>
                <a:latin typeface="IBM Plex Sans" pitchFamily="34" charset="0"/>
                <a:ea typeface="IBM Plex Sans" pitchFamily="34" charset="-122"/>
                <a:cs typeface="IBM Plex Sans" pitchFamily="34" charset="-120"/>
              </a:rPr>
              <a:t>Protocollo leggero (RFC 5880) per rilevare guasti di link in tempi sub-secondo, prima che OSPF se ne accorga</a:t>
            </a:r>
            <a:endParaRPr lang="it-IT" noProof="0" dirty="0"/>
          </a:p>
        </p:txBody>
      </p:sp>
      <p:sp>
        <p:nvSpPr>
          <p:cNvPr id="6" name="Text 4"/>
          <p:cNvSpPr/>
          <p:nvPr/>
        </p:nvSpPr>
        <p:spPr>
          <a:xfrm>
            <a:off x="812800" y="2125985"/>
            <a:ext cx="6226556" cy="269240"/>
          </a:xfrm>
          <a:prstGeom prst="rect">
            <a:avLst/>
          </a:prstGeom>
          <a:noFill/>
          <a:ln/>
        </p:spPr>
        <p:txBody>
          <a:bodyPr wrap="square" lIns="0" tIns="0" rIns="0" bIns="0" rtlCol="0" anchor="t">
            <a:normAutofit/>
          </a:bodyPr>
          <a:lstStyle/>
          <a:p>
            <a:pPr marL="0" indent="0" algn="l">
              <a:lnSpc>
                <a:spcPts val="2000"/>
              </a:lnSpc>
              <a:buNone/>
            </a:pPr>
            <a:r>
              <a:rPr lang="it-IT" b="1" noProof="0" dirty="0">
                <a:solidFill>
                  <a:srgbClr val="B4502E"/>
                </a:solidFill>
                <a:latin typeface="IBM Plex Sans" pitchFamily="34" charset="0"/>
                <a:ea typeface="IBM Plex Sans" pitchFamily="34" charset="-122"/>
                <a:cs typeface="IBM Plex Sans" pitchFamily="34" charset="-120"/>
              </a:rPr>
              <a:t>Cos'è</a:t>
            </a:r>
            <a:endParaRPr lang="it-IT" noProof="0" dirty="0"/>
          </a:p>
        </p:txBody>
      </p:sp>
      <p:sp>
        <p:nvSpPr>
          <p:cNvPr id="7" name="Text 5"/>
          <p:cNvSpPr/>
          <p:nvPr/>
        </p:nvSpPr>
        <p:spPr>
          <a:xfrm>
            <a:off x="812800" y="2395215"/>
            <a:ext cx="6226556" cy="825500"/>
          </a:xfrm>
          <a:prstGeom prst="rect">
            <a:avLst/>
          </a:prstGeom>
          <a:noFill/>
          <a:ln/>
        </p:spPr>
        <p:txBody>
          <a:bodyPr wrap="square" lIns="0" tIns="0" rIns="0" bIns="0" rtlCol="0" anchor="t">
            <a:normAutofit/>
          </a:bodyPr>
          <a:lstStyle/>
          <a:p>
            <a:pPr marL="0" indent="0" algn="l">
              <a:lnSpc>
                <a:spcPts val="2100"/>
              </a:lnSpc>
              <a:buNone/>
            </a:pPr>
            <a:r>
              <a:rPr lang="it-IT" noProof="0" dirty="0">
                <a:solidFill>
                  <a:srgbClr val="1B1D20"/>
                </a:solidFill>
                <a:latin typeface="IBM Plex Sans" pitchFamily="34" charset="0"/>
                <a:ea typeface="IBM Plex Sans" pitchFamily="34" charset="-122"/>
                <a:cs typeface="IBM Plex Sans" pitchFamily="34" charset="-120"/>
              </a:rPr>
              <a:t>Una sessione di </a:t>
            </a:r>
            <a:r>
              <a:rPr lang="it-IT" b="1" noProof="0" dirty="0">
                <a:solidFill>
                  <a:srgbClr val="1B1D20"/>
                </a:solidFill>
                <a:latin typeface="IBM Plex Sans" pitchFamily="34" charset="0"/>
                <a:ea typeface="IBM Plex Sans" pitchFamily="34" charset="-122"/>
                <a:cs typeface="IBM Plex Sans" pitchFamily="34" charset="-120"/>
              </a:rPr>
              <a:t>hello </a:t>
            </a:r>
            <a:r>
              <a:rPr lang="it-IT" b="1" noProof="0" dirty="0" err="1">
                <a:solidFill>
                  <a:srgbClr val="1B1D20"/>
                </a:solidFill>
                <a:latin typeface="IBM Plex Sans" pitchFamily="34" charset="0"/>
                <a:ea typeface="IBM Plex Sans" pitchFamily="34" charset="-122"/>
                <a:cs typeface="IBM Plex Sans" pitchFamily="34" charset="-120"/>
              </a:rPr>
              <a:t>packet</a:t>
            </a:r>
            <a:r>
              <a:rPr lang="it-IT" noProof="0" dirty="0">
                <a:solidFill>
                  <a:srgbClr val="1B1D20"/>
                </a:solidFill>
                <a:latin typeface="IBM Plex Sans" pitchFamily="34" charset="0"/>
                <a:ea typeface="IBM Plex Sans" pitchFamily="34" charset="-122"/>
                <a:cs typeface="IBM Plex Sans" pitchFamily="34" charset="-120"/>
              </a:rPr>
              <a:t> tra due peer adiacenti. Non trasporta informazioni di routing: serve solo a rilevare guasti a livello </a:t>
            </a:r>
            <a:r>
              <a:rPr lang="it-IT" noProof="0" dirty="0" err="1">
                <a:solidFill>
                  <a:srgbClr val="1B1D20"/>
                </a:solidFill>
                <a:latin typeface="IBM Plex Sans" pitchFamily="34" charset="0"/>
                <a:ea typeface="IBM Plex Sans" pitchFamily="34" charset="-122"/>
                <a:cs typeface="IBM Plex Sans" pitchFamily="34" charset="-120"/>
              </a:rPr>
              <a:t>dataplane</a:t>
            </a:r>
            <a:r>
              <a:rPr lang="it-IT" noProof="0" dirty="0">
                <a:solidFill>
                  <a:srgbClr val="1B1D20"/>
                </a:solidFill>
                <a:latin typeface="IBM Plex Sans" pitchFamily="34" charset="0"/>
                <a:ea typeface="IBM Plex Sans" pitchFamily="34" charset="-122"/>
                <a:cs typeface="IBM Plex Sans" pitchFamily="34" charset="-120"/>
              </a:rPr>
              <a:t>, indipendentemente da OSPF o BGP.</a:t>
            </a:r>
            <a:endParaRPr lang="it-IT" noProof="0" dirty="0"/>
          </a:p>
        </p:txBody>
      </p:sp>
      <p:sp>
        <p:nvSpPr>
          <p:cNvPr id="8" name="Text 6"/>
          <p:cNvSpPr/>
          <p:nvPr/>
        </p:nvSpPr>
        <p:spPr>
          <a:xfrm>
            <a:off x="812800" y="3347715"/>
            <a:ext cx="6226556" cy="269240"/>
          </a:xfrm>
          <a:prstGeom prst="rect">
            <a:avLst/>
          </a:prstGeom>
          <a:noFill/>
          <a:ln/>
        </p:spPr>
        <p:txBody>
          <a:bodyPr wrap="square" lIns="0" tIns="0" rIns="0" bIns="0" rtlCol="0" anchor="t">
            <a:normAutofit/>
          </a:bodyPr>
          <a:lstStyle/>
          <a:p>
            <a:pPr marL="0" indent="0" algn="l">
              <a:lnSpc>
                <a:spcPts val="2000"/>
              </a:lnSpc>
              <a:buNone/>
            </a:pPr>
            <a:r>
              <a:rPr lang="it-IT" b="1" noProof="0" dirty="0">
                <a:solidFill>
                  <a:srgbClr val="B4502E"/>
                </a:solidFill>
                <a:latin typeface="IBM Plex Sans" pitchFamily="34" charset="0"/>
                <a:ea typeface="IBM Plex Sans" pitchFamily="34" charset="-122"/>
                <a:cs typeface="IBM Plex Sans" pitchFamily="34" charset="-120"/>
              </a:rPr>
              <a:t>Come funziona</a:t>
            </a:r>
            <a:endParaRPr lang="it-IT" noProof="0" dirty="0"/>
          </a:p>
        </p:txBody>
      </p:sp>
      <p:sp>
        <p:nvSpPr>
          <p:cNvPr id="9" name="Text 7"/>
          <p:cNvSpPr/>
          <p:nvPr/>
        </p:nvSpPr>
        <p:spPr>
          <a:xfrm>
            <a:off x="812800" y="3616970"/>
            <a:ext cx="6226556" cy="825500"/>
          </a:xfrm>
          <a:prstGeom prst="rect">
            <a:avLst/>
          </a:prstGeom>
          <a:noFill/>
          <a:ln/>
        </p:spPr>
        <p:txBody>
          <a:bodyPr wrap="square" lIns="0" tIns="0" rIns="0" bIns="0" rtlCol="0" anchor="t">
            <a:normAutofit/>
          </a:bodyPr>
          <a:lstStyle/>
          <a:p>
            <a:pPr marL="0" indent="0" algn="l">
              <a:lnSpc>
                <a:spcPts val="2100"/>
              </a:lnSpc>
              <a:buNone/>
            </a:pPr>
            <a:r>
              <a:rPr lang="it-IT" noProof="0" dirty="0">
                <a:solidFill>
                  <a:srgbClr val="1B1D20"/>
                </a:solidFill>
                <a:latin typeface="IBM Plex Sans" pitchFamily="34" charset="0"/>
                <a:ea typeface="IBM Plex Sans" pitchFamily="34" charset="-122"/>
                <a:cs typeface="IBM Plex Sans" pitchFamily="34" charset="-120"/>
              </a:rPr>
              <a:t>Ogni peer invia un pacchetto BFD ogni </a:t>
            </a:r>
            <a:r>
              <a:rPr lang="it-IT" b="1" noProof="0" dirty="0">
                <a:solidFill>
                  <a:srgbClr val="1B1D20"/>
                </a:solidFill>
                <a:latin typeface="IBM Plex Sans" pitchFamily="34" charset="0"/>
                <a:ea typeface="IBM Plex Sans" pitchFamily="34" charset="-122"/>
                <a:cs typeface="IBM Plex Sans" pitchFamily="34" charset="-120"/>
              </a:rPr>
              <a:t>300 </a:t>
            </a:r>
            <a:r>
              <a:rPr lang="it-IT" b="1" noProof="0" dirty="0" err="1">
                <a:solidFill>
                  <a:srgbClr val="1B1D20"/>
                </a:solidFill>
                <a:latin typeface="IBM Plex Sans" pitchFamily="34" charset="0"/>
                <a:ea typeface="IBM Plex Sans" pitchFamily="34" charset="-122"/>
                <a:cs typeface="IBM Plex Sans" pitchFamily="34" charset="-120"/>
              </a:rPr>
              <a:t>ms</a:t>
            </a:r>
            <a:r>
              <a:rPr lang="it-IT" noProof="0" dirty="0">
                <a:solidFill>
                  <a:srgbClr val="1B1D20"/>
                </a:solidFill>
                <a:latin typeface="IBM Plex Sans" pitchFamily="34" charset="0"/>
                <a:ea typeface="IBM Plex Sans" pitchFamily="34" charset="-122"/>
                <a:cs typeface="IBM Plex Sans" pitchFamily="34" charset="-120"/>
              </a:rPr>
              <a:t> (default FRR). Se </a:t>
            </a:r>
            <a:r>
              <a:rPr lang="it-IT" b="1" noProof="0" dirty="0">
                <a:solidFill>
                  <a:srgbClr val="1B1D20"/>
                </a:solidFill>
                <a:latin typeface="IBM Plex Sans" pitchFamily="34" charset="0"/>
                <a:ea typeface="IBM Plex Sans" pitchFamily="34" charset="-122"/>
                <a:cs typeface="IBM Plex Sans" pitchFamily="34" charset="-120"/>
              </a:rPr>
              <a:t>3 pacchetti consecutivi</a:t>
            </a:r>
            <a:r>
              <a:rPr lang="it-IT" noProof="0" dirty="0">
                <a:solidFill>
                  <a:srgbClr val="1B1D20"/>
                </a:solidFill>
                <a:latin typeface="IBM Plex Sans" pitchFamily="34" charset="0"/>
                <a:ea typeface="IBM Plex Sans" pitchFamily="34" charset="-122"/>
                <a:cs typeface="IBM Plex Sans" pitchFamily="34" charset="-120"/>
              </a:rPr>
              <a:t> non arrivano, il link è dichiarato down in meno di un secondo.</a:t>
            </a:r>
            <a:endParaRPr lang="it-IT" noProof="0" dirty="0"/>
          </a:p>
        </p:txBody>
      </p:sp>
      <p:sp>
        <p:nvSpPr>
          <p:cNvPr id="10" name="Text 8"/>
          <p:cNvSpPr/>
          <p:nvPr/>
        </p:nvSpPr>
        <p:spPr>
          <a:xfrm>
            <a:off x="812800" y="4569470"/>
            <a:ext cx="6226556" cy="269240"/>
          </a:xfrm>
          <a:prstGeom prst="rect">
            <a:avLst/>
          </a:prstGeom>
          <a:noFill/>
          <a:ln/>
        </p:spPr>
        <p:txBody>
          <a:bodyPr wrap="square" lIns="0" tIns="0" rIns="0" bIns="0" rtlCol="0" anchor="t">
            <a:normAutofit/>
          </a:bodyPr>
          <a:lstStyle/>
          <a:p>
            <a:pPr marL="0" indent="0" algn="l">
              <a:lnSpc>
                <a:spcPts val="2000"/>
              </a:lnSpc>
              <a:buNone/>
            </a:pPr>
            <a:r>
              <a:rPr lang="it-IT" b="1" noProof="0" dirty="0">
                <a:solidFill>
                  <a:srgbClr val="B4502E"/>
                </a:solidFill>
                <a:latin typeface="IBM Plex Sans" pitchFamily="34" charset="0"/>
                <a:ea typeface="IBM Plex Sans" pitchFamily="34" charset="-122"/>
                <a:cs typeface="IBM Plex Sans" pitchFamily="34" charset="-120"/>
              </a:rPr>
              <a:t>Notifica a OSPF</a:t>
            </a:r>
            <a:endParaRPr lang="it-IT" noProof="0" dirty="0"/>
          </a:p>
        </p:txBody>
      </p:sp>
      <p:sp>
        <p:nvSpPr>
          <p:cNvPr id="11" name="Text 9"/>
          <p:cNvSpPr/>
          <p:nvPr/>
        </p:nvSpPr>
        <p:spPr>
          <a:xfrm>
            <a:off x="812800" y="4838700"/>
            <a:ext cx="6226556" cy="825500"/>
          </a:xfrm>
          <a:prstGeom prst="rect">
            <a:avLst/>
          </a:prstGeom>
          <a:noFill/>
          <a:ln/>
        </p:spPr>
        <p:txBody>
          <a:bodyPr wrap="square" lIns="0" tIns="0" rIns="0" bIns="0" rtlCol="0" anchor="t">
            <a:normAutofit/>
          </a:bodyPr>
          <a:lstStyle/>
          <a:p>
            <a:pPr marL="0" indent="0" algn="l">
              <a:lnSpc>
                <a:spcPts val="2100"/>
              </a:lnSpc>
              <a:buNone/>
            </a:pPr>
            <a:r>
              <a:rPr lang="it-IT" noProof="0" dirty="0">
                <a:solidFill>
                  <a:srgbClr val="1B1D20"/>
                </a:solidFill>
                <a:latin typeface="IBM Plex Sans" pitchFamily="34" charset="0"/>
                <a:ea typeface="IBM Plex Sans" pitchFamily="34" charset="-122"/>
                <a:cs typeface="IBM Plex Sans" pitchFamily="34" charset="-120"/>
              </a:rPr>
              <a:t>Alla rilevazione del guasto, BFD notifica </a:t>
            </a:r>
            <a:r>
              <a:rPr lang="it-IT" b="1" noProof="0" dirty="0">
                <a:solidFill>
                  <a:srgbClr val="1B1D20"/>
                </a:solidFill>
                <a:latin typeface="IBM Plex Sans" pitchFamily="34" charset="0"/>
                <a:ea typeface="IBM Plex Sans" pitchFamily="34" charset="-122"/>
                <a:cs typeface="IBM Plex Sans" pitchFamily="34" charset="-120"/>
              </a:rPr>
              <a:t>immediatamente</a:t>
            </a:r>
            <a:r>
              <a:rPr lang="it-IT" noProof="0" dirty="0">
                <a:solidFill>
                  <a:srgbClr val="1B1D20"/>
                </a:solidFill>
                <a:latin typeface="IBM Plex Sans" pitchFamily="34" charset="0"/>
                <a:ea typeface="IBM Plex Sans" pitchFamily="34" charset="-122"/>
                <a:cs typeface="IBM Plex Sans" pitchFamily="34" charset="-120"/>
              </a:rPr>
              <a:t> OSPF, che rimuove la rotta e avvia la riconvergenza senza aspettare il dead </a:t>
            </a:r>
            <a:r>
              <a:rPr lang="it-IT" noProof="0" dirty="0" err="1">
                <a:solidFill>
                  <a:srgbClr val="1B1D20"/>
                </a:solidFill>
                <a:latin typeface="IBM Plex Sans" pitchFamily="34" charset="0"/>
                <a:ea typeface="IBM Plex Sans" pitchFamily="34" charset="-122"/>
                <a:cs typeface="IBM Plex Sans" pitchFamily="34" charset="-120"/>
              </a:rPr>
              <a:t>interval</a:t>
            </a:r>
            <a:r>
              <a:rPr lang="it-IT" noProof="0" dirty="0">
                <a:solidFill>
                  <a:srgbClr val="1B1D20"/>
                </a:solidFill>
                <a:latin typeface="IBM Plex Sans" pitchFamily="34" charset="0"/>
                <a:ea typeface="IBM Plex Sans" pitchFamily="34" charset="-122"/>
                <a:cs typeface="IBM Plex Sans" pitchFamily="34" charset="-120"/>
              </a:rPr>
              <a:t> di 40 s.</a:t>
            </a:r>
            <a:endParaRPr lang="it-IT" noProof="0" dirty="0"/>
          </a:p>
        </p:txBody>
      </p:sp>
      <p:sp>
        <p:nvSpPr>
          <p:cNvPr id="12" name="Shape 10"/>
          <p:cNvSpPr/>
          <p:nvPr/>
        </p:nvSpPr>
        <p:spPr>
          <a:xfrm>
            <a:off x="7165975" y="2125985"/>
            <a:ext cx="0" cy="3512820"/>
          </a:xfrm>
          <a:prstGeom prst="line">
            <a:avLst/>
          </a:prstGeom>
          <a:noFill/>
          <a:ln w="6350">
            <a:solidFill>
              <a:srgbClr val="CFCCC4"/>
            </a:solidFill>
            <a:prstDash val="solid"/>
          </a:ln>
        </p:spPr>
        <p:txBody>
          <a:bodyPr/>
          <a:lstStyle/>
          <a:p>
            <a:endParaRPr lang="it-IT" noProof="0" dirty="0"/>
          </a:p>
        </p:txBody>
      </p:sp>
      <p:sp>
        <p:nvSpPr>
          <p:cNvPr id="13" name="Text 11"/>
          <p:cNvSpPr/>
          <p:nvPr/>
        </p:nvSpPr>
        <p:spPr>
          <a:xfrm>
            <a:off x="7473950" y="2125985"/>
            <a:ext cx="4022408" cy="269240"/>
          </a:xfrm>
          <a:prstGeom prst="rect">
            <a:avLst/>
          </a:prstGeom>
          <a:noFill/>
          <a:ln/>
        </p:spPr>
        <p:txBody>
          <a:bodyPr wrap="square" lIns="0" tIns="0" rIns="0" bIns="0" rtlCol="0" anchor="t">
            <a:noAutofit/>
          </a:bodyPr>
          <a:lstStyle/>
          <a:p>
            <a:pPr marL="0" indent="0" algn="l">
              <a:lnSpc>
                <a:spcPts val="2000"/>
              </a:lnSpc>
              <a:buNone/>
            </a:pPr>
            <a:r>
              <a:rPr lang="it-IT" sz="2000" b="1" noProof="0" dirty="0">
                <a:solidFill>
                  <a:srgbClr val="1B1D20"/>
                </a:solidFill>
                <a:latin typeface="IBM Plex Sans" pitchFamily="34" charset="0"/>
                <a:ea typeface="IBM Plex Sans" pitchFamily="34" charset="-122"/>
                <a:cs typeface="IBM Plex Sans" pitchFamily="34" charset="-120"/>
              </a:rPr>
              <a:t>Tempo di rilevamento</a:t>
            </a:r>
            <a:endParaRPr lang="it-IT" sz="2000" noProof="0" dirty="0"/>
          </a:p>
        </p:txBody>
      </p:sp>
      <p:sp>
        <p:nvSpPr>
          <p:cNvPr id="14" name="Text 12"/>
          <p:cNvSpPr/>
          <p:nvPr/>
        </p:nvSpPr>
        <p:spPr>
          <a:xfrm>
            <a:off x="7473950" y="2496815"/>
            <a:ext cx="4022408" cy="238760"/>
          </a:xfrm>
          <a:prstGeom prst="rect">
            <a:avLst/>
          </a:prstGeom>
          <a:noFill/>
          <a:ln/>
        </p:spPr>
        <p:txBody>
          <a:bodyPr wrap="square" lIns="0" tIns="0" rIns="0" bIns="0" rtlCol="0" anchor="t">
            <a:noAutofit/>
          </a:bodyPr>
          <a:lstStyle/>
          <a:p>
            <a:pPr marL="0" indent="0" algn="l">
              <a:lnSpc>
                <a:spcPts val="2000"/>
              </a:lnSpc>
              <a:buNone/>
            </a:pPr>
            <a:r>
              <a:rPr lang="it-IT" noProof="0" dirty="0">
                <a:solidFill>
                  <a:srgbClr val="5B5F66"/>
                </a:solidFill>
                <a:latin typeface="JetBrains Mono" pitchFamily="49" charset="0"/>
                <a:ea typeface="JetBrains Mono" pitchFamily="49" charset="-122"/>
                <a:cs typeface="JetBrains Mono" pitchFamily="49" charset="-120"/>
              </a:rPr>
              <a:t>solo OSPF</a:t>
            </a:r>
            <a:endParaRPr lang="it-IT" noProof="0" dirty="0"/>
          </a:p>
        </p:txBody>
      </p:sp>
      <p:sp>
        <p:nvSpPr>
          <p:cNvPr id="15" name="Shape 13"/>
          <p:cNvSpPr/>
          <p:nvPr/>
        </p:nvSpPr>
        <p:spPr>
          <a:xfrm>
            <a:off x="7473950" y="2760985"/>
            <a:ext cx="3905250" cy="101600"/>
          </a:xfrm>
          <a:prstGeom prst="rect">
            <a:avLst/>
          </a:prstGeom>
          <a:solidFill>
            <a:srgbClr val="1B1D20"/>
          </a:solidFill>
          <a:ln/>
        </p:spPr>
        <p:txBody>
          <a:bodyPr/>
          <a:lstStyle/>
          <a:p>
            <a:endParaRPr lang="it-IT" sz="2400" noProof="0" dirty="0"/>
          </a:p>
        </p:txBody>
      </p:sp>
      <p:sp>
        <p:nvSpPr>
          <p:cNvPr id="16" name="Text 14"/>
          <p:cNvSpPr/>
          <p:nvPr/>
        </p:nvSpPr>
        <p:spPr>
          <a:xfrm>
            <a:off x="7473950" y="2913385"/>
            <a:ext cx="4022408" cy="299720"/>
          </a:xfrm>
          <a:prstGeom prst="rect">
            <a:avLst/>
          </a:prstGeom>
          <a:noFill/>
          <a:ln/>
        </p:spPr>
        <p:txBody>
          <a:bodyPr wrap="square" lIns="0" tIns="0" rIns="0" bIns="0" rtlCol="0" anchor="t">
            <a:noAutofit/>
          </a:bodyPr>
          <a:lstStyle/>
          <a:p>
            <a:pPr marL="0" indent="0" algn="l">
              <a:lnSpc>
                <a:spcPts val="2250"/>
              </a:lnSpc>
              <a:buNone/>
            </a:pPr>
            <a:r>
              <a:rPr lang="it-IT" sz="2400" b="1" noProof="0" dirty="0">
                <a:solidFill>
                  <a:srgbClr val="1B1D20"/>
                </a:solidFill>
                <a:latin typeface="IBM Plex Sans" pitchFamily="34" charset="0"/>
                <a:ea typeface="IBM Plex Sans" pitchFamily="34" charset="-122"/>
                <a:cs typeface="IBM Plex Sans" pitchFamily="34" charset="-120"/>
              </a:rPr>
              <a:t>40 secondi</a:t>
            </a:r>
            <a:endParaRPr lang="it-IT" sz="2400" noProof="0" dirty="0"/>
          </a:p>
        </p:txBody>
      </p:sp>
      <p:sp>
        <p:nvSpPr>
          <p:cNvPr id="17" name="Text 15"/>
          <p:cNvSpPr/>
          <p:nvPr/>
        </p:nvSpPr>
        <p:spPr>
          <a:xfrm>
            <a:off x="7473950" y="3238500"/>
            <a:ext cx="4022408" cy="238760"/>
          </a:xfrm>
          <a:prstGeom prst="rect">
            <a:avLst/>
          </a:prstGeom>
          <a:noFill/>
          <a:ln/>
        </p:spPr>
        <p:txBody>
          <a:bodyPr wrap="square" lIns="0" tIns="0" rIns="0" bIns="0" rtlCol="0" anchor="t">
            <a:noAutofit/>
          </a:bodyPr>
          <a:lstStyle/>
          <a:p>
            <a:pPr marL="0" indent="0" algn="l">
              <a:lnSpc>
                <a:spcPts val="2000"/>
              </a:lnSpc>
              <a:buNone/>
            </a:pPr>
            <a:r>
              <a:rPr lang="it-IT" noProof="0" dirty="0">
                <a:solidFill>
                  <a:srgbClr val="5B5F66"/>
                </a:solidFill>
                <a:latin typeface="IBM Plex Sans" pitchFamily="34" charset="0"/>
                <a:ea typeface="IBM Plex Sans" pitchFamily="34" charset="-122"/>
                <a:cs typeface="IBM Plex Sans" pitchFamily="34" charset="-120"/>
              </a:rPr>
              <a:t>dead </a:t>
            </a:r>
            <a:r>
              <a:rPr lang="it-IT" noProof="0" dirty="0" err="1">
                <a:solidFill>
                  <a:srgbClr val="5B5F66"/>
                </a:solidFill>
                <a:latin typeface="IBM Plex Sans" pitchFamily="34" charset="0"/>
                <a:ea typeface="IBM Plex Sans" pitchFamily="34" charset="-122"/>
                <a:cs typeface="IBM Plex Sans" pitchFamily="34" charset="-120"/>
              </a:rPr>
              <a:t>interval</a:t>
            </a:r>
            <a:r>
              <a:rPr lang="it-IT" noProof="0" dirty="0">
                <a:solidFill>
                  <a:srgbClr val="5B5F66"/>
                </a:solidFill>
                <a:latin typeface="IBM Plex Sans" pitchFamily="34" charset="0"/>
                <a:ea typeface="IBM Plex Sans" pitchFamily="34" charset="-122"/>
                <a:cs typeface="IBM Plex Sans" pitchFamily="34" charset="-120"/>
              </a:rPr>
              <a:t> = 4 × 10 s (default)</a:t>
            </a:r>
            <a:endParaRPr lang="it-IT" noProof="0" dirty="0"/>
          </a:p>
        </p:txBody>
      </p:sp>
      <p:sp>
        <p:nvSpPr>
          <p:cNvPr id="18" name="Text 16"/>
          <p:cNvSpPr/>
          <p:nvPr/>
        </p:nvSpPr>
        <p:spPr>
          <a:xfrm>
            <a:off x="7473950" y="3606578"/>
            <a:ext cx="4022408" cy="238760"/>
          </a:xfrm>
          <a:prstGeom prst="rect">
            <a:avLst/>
          </a:prstGeom>
          <a:noFill/>
          <a:ln/>
        </p:spPr>
        <p:txBody>
          <a:bodyPr wrap="square" lIns="0" tIns="0" rIns="0" bIns="0" rtlCol="0" anchor="t">
            <a:noAutofit/>
          </a:bodyPr>
          <a:lstStyle/>
          <a:p>
            <a:pPr marL="0" indent="0" algn="l">
              <a:lnSpc>
                <a:spcPts val="2000"/>
              </a:lnSpc>
              <a:buNone/>
            </a:pPr>
            <a:r>
              <a:rPr lang="it-IT" noProof="0" dirty="0">
                <a:solidFill>
                  <a:srgbClr val="B4502E"/>
                </a:solidFill>
                <a:latin typeface="JetBrains Mono" pitchFamily="49" charset="0"/>
                <a:ea typeface="JetBrains Mono" pitchFamily="49" charset="-122"/>
                <a:cs typeface="JetBrains Mono" pitchFamily="49" charset="-120"/>
              </a:rPr>
              <a:t>OSPF + BFD</a:t>
            </a:r>
            <a:endParaRPr lang="it-IT" noProof="0" dirty="0"/>
          </a:p>
        </p:txBody>
      </p:sp>
      <p:sp>
        <p:nvSpPr>
          <p:cNvPr id="20" name="Text 18"/>
          <p:cNvSpPr/>
          <p:nvPr/>
        </p:nvSpPr>
        <p:spPr>
          <a:xfrm>
            <a:off x="7473950" y="3995415"/>
            <a:ext cx="4120640" cy="266690"/>
          </a:xfrm>
          <a:prstGeom prst="rect">
            <a:avLst/>
          </a:prstGeom>
          <a:noFill/>
          <a:ln/>
        </p:spPr>
        <p:txBody>
          <a:bodyPr wrap="square" lIns="0" tIns="0" rIns="0" bIns="0" rtlCol="0" anchor="t">
            <a:noAutofit/>
          </a:bodyPr>
          <a:lstStyle/>
          <a:p>
            <a:pPr marL="0" indent="0" algn="l">
              <a:lnSpc>
                <a:spcPts val="2250"/>
              </a:lnSpc>
              <a:buNone/>
            </a:pPr>
            <a:r>
              <a:rPr lang="it-IT" sz="2400" b="1" noProof="0" dirty="0">
                <a:solidFill>
                  <a:srgbClr val="B4502E"/>
                </a:solidFill>
                <a:latin typeface="IBM Plex Sans" pitchFamily="34" charset="0"/>
                <a:ea typeface="IBM Plex Sans" pitchFamily="34" charset="-122"/>
                <a:cs typeface="IBM Plex Sans" pitchFamily="34" charset="-120"/>
              </a:rPr>
              <a:t>&lt; 1 secondo </a:t>
            </a:r>
            <a:r>
              <a:rPr lang="it-IT" sz="2400" b="1" noProof="0" dirty="0">
                <a:solidFill>
                  <a:srgbClr val="5B5F66"/>
                </a:solidFill>
                <a:latin typeface="IBM Plex Sans" pitchFamily="34" charset="0"/>
                <a:ea typeface="IBM Plex Sans" pitchFamily="34" charset="-122"/>
                <a:cs typeface="IBM Plex Sans" pitchFamily="34" charset="-120"/>
              </a:rPr>
              <a:t>· 40× più veloce</a:t>
            </a:r>
            <a:endParaRPr lang="it-IT" sz="2400" noProof="0" dirty="0"/>
          </a:p>
        </p:txBody>
      </p:sp>
      <p:sp>
        <p:nvSpPr>
          <p:cNvPr id="21" name="Text 19"/>
          <p:cNvSpPr/>
          <p:nvPr/>
        </p:nvSpPr>
        <p:spPr>
          <a:xfrm>
            <a:off x="7473950" y="4320530"/>
            <a:ext cx="4022408" cy="238760"/>
          </a:xfrm>
          <a:prstGeom prst="rect">
            <a:avLst/>
          </a:prstGeom>
          <a:noFill/>
          <a:ln/>
        </p:spPr>
        <p:txBody>
          <a:bodyPr wrap="square" lIns="0" tIns="0" rIns="0" bIns="0" rtlCol="0" anchor="t">
            <a:noAutofit/>
          </a:bodyPr>
          <a:lstStyle/>
          <a:p>
            <a:pPr marL="0" indent="0" algn="l">
              <a:lnSpc>
                <a:spcPts val="2000"/>
              </a:lnSpc>
              <a:buNone/>
            </a:pPr>
            <a:r>
              <a:rPr lang="it-IT" noProof="0" dirty="0">
                <a:solidFill>
                  <a:srgbClr val="5B5F66"/>
                </a:solidFill>
                <a:latin typeface="IBM Plex Sans" pitchFamily="34" charset="0"/>
                <a:ea typeface="IBM Plex Sans" pitchFamily="34" charset="-122"/>
                <a:cs typeface="IBM Plex Sans" pitchFamily="34" charset="-120"/>
              </a:rPr>
              <a:t>300 </a:t>
            </a:r>
            <a:r>
              <a:rPr lang="it-IT" noProof="0" dirty="0" err="1">
                <a:solidFill>
                  <a:srgbClr val="5B5F66"/>
                </a:solidFill>
                <a:latin typeface="IBM Plex Sans" pitchFamily="34" charset="0"/>
                <a:ea typeface="IBM Plex Sans" pitchFamily="34" charset="-122"/>
                <a:cs typeface="IBM Plex Sans" pitchFamily="34" charset="-120"/>
              </a:rPr>
              <a:t>ms</a:t>
            </a:r>
            <a:r>
              <a:rPr lang="it-IT" noProof="0" dirty="0">
                <a:solidFill>
                  <a:srgbClr val="5B5F66"/>
                </a:solidFill>
                <a:latin typeface="IBM Plex Sans" pitchFamily="34" charset="0"/>
                <a:ea typeface="IBM Plex Sans" pitchFamily="34" charset="-122"/>
                <a:cs typeface="IBM Plex Sans" pitchFamily="34" charset="-120"/>
              </a:rPr>
              <a:t> × 3 pacchetti mancati</a:t>
            </a:r>
            <a:endParaRPr lang="it-IT" noProof="0" dirty="0"/>
          </a:p>
        </p:txBody>
      </p:sp>
      <p:sp>
        <p:nvSpPr>
          <p:cNvPr id="23" name="Text 21"/>
          <p:cNvSpPr/>
          <p:nvPr/>
        </p:nvSpPr>
        <p:spPr>
          <a:xfrm>
            <a:off x="7524750" y="4704090"/>
            <a:ext cx="3826192" cy="273050"/>
          </a:xfrm>
          <a:prstGeom prst="rect">
            <a:avLst/>
          </a:prstGeom>
          <a:noFill/>
          <a:ln/>
        </p:spPr>
        <p:txBody>
          <a:bodyPr wrap="square" lIns="0" tIns="0" rIns="0" bIns="0" rtlCol="0" anchor="t">
            <a:noAutofit/>
          </a:bodyPr>
          <a:lstStyle/>
          <a:p>
            <a:pPr marL="0" indent="0" algn="l">
              <a:lnSpc>
                <a:spcPts val="2000"/>
              </a:lnSpc>
              <a:buNone/>
            </a:pPr>
            <a:r>
              <a:rPr lang="it-IT" sz="2000" b="1" noProof="0" dirty="0">
                <a:solidFill>
                  <a:srgbClr val="1B1D20"/>
                </a:solidFill>
                <a:latin typeface="IBM Plex Sans" pitchFamily="34" charset="0"/>
                <a:ea typeface="IBM Plex Sans" pitchFamily="34" charset="-122"/>
                <a:cs typeface="IBM Plex Sans" pitchFamily="34" charset="-120"/>
              </a:rPr>
              <a:t>Traffico perso: 40 s → &lt; 1 s</a:t>
            </a:r>
            <a:endParaRPr lang="it-IT" sz="2000" noProof="0" dirty="0"/>
          </a:p>
        </p:txBody>
      </p:sp>
      <p:sp>
        <p:nvSpPr>
          <p:cNvPr id="25" name="Text 23"/>
          <p:cNvSpPr/>
          <p:nvPr/>
        </p:nvSpPr>
        <p:spPr>
          <a:xfrm>
            <a:off x="812800" y="6238230"/>
            <a:ext cx="7848600" cy="238760"/>
          </a:xfrm>
          <a:prstGeom prst="rect">
            <a:avLst/>
          </a:prstGeom>
          <a:noFill/>
          <a:ln/>
        </p:spPr>
        <p:txBody>
          <a:bodyPr wrap="square" lIns="0" tIns="0" rIns="0" bIns="0" rtlCol="0" anchor="t">
            <a:normAutofit/>
          </a:bodyPr>
          <a:lstStyle/>
          <a:p>
            <a:pPr marL="0" indent="0" algn="l">
              <a:lnSpc>
                <a:spcPts val="1680"/>
              </a:lnSpc>
              <a:buNone/>
            </a:pPr>
            <a:r>
              <a:rPr lang="it-IT" sz="1200" noProof="0" dirty="0">
                <a:solidFill>
                  <a:srgbClr val="8A8F96"/>
                </a:solidFill>
                <a:latin typeface="JetBrains Mono" pitchFamily="49" charset="0"/>
                <a:ea typeface="JetBrains Mono" pitchFamily="49" charset="-122"/>
                <a:cs typeface="JetBrains Mono" pitchFamily="49" charset="-120"/>
              </a:rPr>
              <a:t>RFC 5880 · FRR bfdd daemon</a:t>
            </a:r>
            <a:endParaRPr lang="it-IT" sz="1200" noProof="0" dirty="0"/>
          </a:p>
        </p:txBody>
      </p:sp>
      <p:sp>
        <p:nvSpPr>
          <p:cNvPr id="28" name="Text 1">
            <a:extLst>
              <a:ext uri="{FF2B5EF4-FFF2-40B4-BE49-F238E27FC236}">
                <a16:creationId xmlns:a16="http://schemas.microsoft.com/office/drawing/2014/main" id="{D9BE4C7A-AFEE-4F18-EC50-23808F4FC236}"/>
              </a:ext>
            </a:extLst>
          </p:cNvPr>
          <p:cNvSpPr/>
          <p:nvPr/>
        </p:nvSpPr>
        <p:spPr>
          <a:xfrm>
            <a:off x="812800" y="496455"/>
            <a:ext cx="10883392" cy="238760"/>
          </a:xfrm>
          <a:prstGeom prst="rect">
            <a:avLst/>
          </a:prstGeom>
          <a:noFill/>
          <a:ln/>
        </p:spPr>
        <p:txBody>
          <a:bodyPr wrap="square" lIns="0" tIns="0" rIns="0" bIns="0" rtlCol="0" anchor="t">
            <a:normAutofit fontScale="77500" lnSpcReduction="20000"/>
          </a:bodyPr>
          <a:lstStyle/>
          <a:p>
            <a:pPr marL="0" indent="0" algn="l">
              <a:lnSpc>
                <a:spcPts val="2000"/>
              </a:lnSpc>
              <a:buNone/>
            </a:pPr>
            <a:r>
              <a:rPr lang="it-IT" sz="1600" b="1" noProof="0" dirty="0">
                <a:solidFill>
                  <a:schemeClr val="accent4"/>
                </a:solidFill>
                <a:latin typeface="JetBrains Mono" pitchFamily="49" charset="0"/>
                <a:cs typeface="JetBrains Mono" pitchFamily="49" charset="-120"/>
              </a:rPr>
              <a:t>Extra</a:t>
            </a:r>
            <a:endParaRPr lang="it-IT" sz="1600" b="1" noProof="0" dirty="0">
              <a:solidFill>
                <a:schemeClr val="accent4"/>
              </a:solidFill>
            </a:endParaRPr>
          </a:p>
        </p:txBody>
      </p:sp>
    </p:spTree>
    <p:extLst>
      <p:ext uri="{BB962C8B-B14F-4D97-AF65-F5344CB8AC3E}">
        <p14:creationId xmlns:p14="http://schemas.microsoft.com/office/powerpoint/2010/main" val="37878653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60">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a:bodyPr>
          <a:lstStyle/>
          <a:p>
            <a:pPr marL="0" indent="0" algn="l">
              <a:lnSpc>
                <a:spcPts val="4500"/>
              </a:lnSpc>
              <a:buNone/>
            </a:pPr>
            <a:r>
              <a:rPr lang="it-IT" sz="3600" b="1" i="0" noProof="0" dirty="0">
                <a:solidFill>
                  <a:srgbClr val="1B1D20"/>
                </a:solidFill>
                <a:latin typeface="IBM Plex Sans" pitchFamily="34" charset="0"/>
                <a:ea typeface="IBM Plex Sans" pitchFamily="34" charset="-122"/>
                <a:cs typeface="IBM Plex Sans" pitchFamily="34" charset="-120"/>
              </a:rPr>
              <a:t>Configurazione di BFD</a:t>
            </a:r>
            <a:endParaRPr lang="it-IT" sz="3600" noProof="0" dirty="0"/>
          </a:p>
        </p:txBody>
      </p:sp>
      <p:sp>
        <p:nvSpPr>
          <p:cNvPr id="5" name="Text 3"/>
          <p:cNvSpPr/>
          <p:nvPr/>
        </p:nvSpPr>
        <p:spPr>
          <a:xfrm>
            <a:off x="812800" y="1706885"/>
            <a:ext cx="10883392" cy="665480"/>
          </a:xfrm>
          <a:prstGeom prst="rect">
            <a:avLst/>
          </a:prstGeom>
          <a:noFill/>
          <a:ln/>
        </p:spPr>
        <p:txBody>
          <a:bodyPr wrap="square" lIns="0" tIns="0" rIns="0" bIns="0" rtlCol="0" anchor="t">
            <a:normAutofit/>
          </a:bodyPr>
          <a:lstStyle/>
          <a:p>
            <a:pPr marL="0" indent="0" algn="l">
              <a:lnSpc>
                <a:spcPts val="2520"/>
              </a:lnSpc>
              <a:buNone/>
            </a:pPr>
            <a:r>
              <a:rPr lang="it-IT" sz="1800" noProof="0" dirty="0">
                <a:solidFill>
                  <a:srgbClr val="1B1D20"/>
                </a:solidFill>
                <a:latin typeface="IBM Plex Sans" pitchFamily="34" charset="0"/>
                <a:ea typeface="IBM Plex Sans" pitchFamily="34" charset="-122"/>
                <a:cs typeface="IBM Plex Sans" pitchFamily="34" charset="-120"/>
              </a:rPr>
              <a:t>Su alcune fibre un guasto lascia l’interfaccia up, ma il traffico non passa più. OSPF se ne accorge solo allo scadere del dead </a:t>
            </a:r>
            <a:r>
              <a:rPr lang="it-IT" sz="1800" noProof="0" dirty="0" err="1">
                <a:solidFill>
                  <a:srgbClr val="1B1D20"/>
                </a:solidFill>
                <a:latin typeface="IBM Plex Sans" pitchFamily="34" charset="0"/>
                <a:ea typeface="IBM Plex Sans" pitchFamily="34" charset="-122"/>
                <a:cs typeface="IBM Plex Sans" pitchFamily="34" charset="-120"/>
              </a:rPr>
              <a:t>interval</a:t>
            </a:r>
            <a:r>
              <a:rPr lang="it-IT" sz="1800" noProof="0" dirty="0">
                <a:solidFill>
                  <a:srgbClr val="1B1D20"/>
                </a:solidFill>
                <a:latin typeface="IBM Plex Sans" pitchFamily="34" charset="0"/>
                <a:ea typeface="IBM Plex Sans" pitchFamily="34" charset="-122"/>
                <a:cs typeface="IBM Plex Sans" pitchFamily="34" charset="-120"/>
              </a:rPr>
              <a:t>: </a:t>
            </a:r>
            <a:r>
              <a:rPr lang="it-IT" sz="1800" b="1" noProof="0" dirty="0">
                <a:solidFill>
                  <a:srgbClr val="B4502E"/>
                </a:solidFill>
                <a:latin typeface="IBM Plex Sans" pitchFamily="34" charset="0"/>
                <a:ea typeface="IBM Plex Sans" pitchFamily="34" charset="-122"/>
                <a:cs typeface="IBM Plex Sans" pitchFamily="34" charset="-120"/>
              </a:rPr>
              <a:t>40 secondi di traffico perso</a:t>
            </a:r>
            <a:r>
              <a:rPr lang="it-IT" sz="1800" noProof="0" dirty="0">
                <a:solidFill>
                  <a:srgbClr val="1B1D20"/>
                </a:solidFill>
                <a:latin typeface="IBM Plex Sans" pitchFamily="34" charset="0"/>
                <a:ea typeface="IBM Plex Sans" pitchFamily="34" charset="-122"/>
                <a:cs typeface="IBM Plex Sans" pitchFamily="34" charset="-120"/>
              </a:rPr>
              <a:t>.</a:t>
            </a:r>
            <a:endParaRPr lang="it-IT" sz="1800" noProof="0" dirty="0"/>
          </a:p>
        </p:txBody>
      </p:sp>
      <p:sp>
        <p:nvSpPr>
          <p:cNvPr id="6" name="Text 4"/>
          <p:cNvSpPr/>
          <p:nvPr/>
        </p:nvSpPr>
        <p:spPr>
          <a:xfrm>
            <a:off x="812800" y="2651770"/>
            <a:ext cx="327461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B4502E"/>
                </a:solidFill>
                <a:latin typeface="JetBrains Mono" pitchFamily="49" charset="0"/>
                <a:ea typeface="JetBrains Mono" pitchFamily="49" charset="-122"/>
                <a:cs typeface="JetBrains Mono" pitchFamily="49" charset="-120"/>
              </a:rPr>
              <a:t>01</a:t>
            </a:r>
            <a:endParaRPr lang="it-IT" sz="1600" noProof="0" dirty="0"/>
          </a:p>
        </p:txBody>
      </p:sp>
      <p:sp>
        <p:nvSpPr>
          <p:cNvPr id="7" name="Text 5"/>
          <p:cNvSpPr/>
          <p:nvPr/>
        </p:nvSpPr>
        <p:spPr>
          <a:xfrm>
            <a:off x="812800" y="2987030"/>
            <a:ext cx="3274610" cy="355600"/>
          </a:xfrm>
          <a:prstGeom prst="rect">
            <a:avLst/>
          </a:prstGeom>
          <a:noFill/>
          <a:ln/>
        </p:spPr>
        <p:txBody>
          <a:bodyPr wrap="square" lIns="0" tIns="0" rIns="0" bIns="0" rtlCol="0" anchor="t">
            <a:normAutofit/>
          </a:bodyPr>
          <a:lstStyle/>
          <a:p>
            <a:pPr marL="0" indent="0" algn="l">
              <a:lnSpc>
                <a:spcPts val="2600"/>
              </a:lnSpc>
              <a:buNone/>
            </a:pPr>
            <a:r>
              <a:rPr lang="it-IT" sz="2000" b="1" noProof="0" dirty="0" err="1">
                <a:solidFill>
                  <a:srgbClr val="1B1D20"/>
                </a:solidFill>
                <a:latin typeface="JetBrains Mono" pitchFamily="49" charset="0"/>
                <a:ea typeface="JetBrains Mono" pitchFamily="49" charset="-122"/>
                <a:cs typeface="JetBrains Mono" pitchFamily="49" charset="-120"/>
              </a:rPr>
              <a:t>bfdd</a:t>
            </a:r>
            <a:r>
              <a:rPr lang="it-IT" sz="2000" b="1" noProof="0" dirty="0">
                <a:solidFill>
                  <a:srgbClr val="1B1D20"/>
                </a:solidFill>
                <a:latin typeface="JetBrains Mono" pitchFamily="49" charset="0"/>
                <a:ea typeface="JetBrains Mono" pitchFamily="49" charset="-122"/>
                <a:cs typeface="JetBrains Mono" pitchFamily="49" charset="-120"/>
              </a:rPr>
              <a:t>=yes</a:t>
            </a:r>
            <a:endParaRPr lang="it-IT" sz="2000" noProof="0" dirty="0"/>
          </a:p>
        </p:txBody>
      </p:sp>
      <p:sp>
        <p:nvSpPr>
          <p:cNvPr id="8" name="Text 6"/>
          <p:cNvSpPr/>
          <p:nvPr/>
        </p:nvSpPr>
        <p:spPr>
          <a:xfrm>
            <a:off x="812800" y="3368030"/>
            <a:ext cx="327461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nel file </a:t>
            </a:r>
            <a:r>
              <a:rPr lang="it-IT" sz="1600" noProof="0" dirty="0" err="1">
                <a:solidFill>
                  <a:srgbClr val="5B5F66"/>
                </a:solidFill>
                <a:latin typeface="IBM Plex Sans" pitchFamily="34" charset="0"/>
                <a:ea typeface="IBM Plex Sans" pitchFamily="34" charset="-122"/>
                <a:cs typeface="IBM Plex Sans" pitchFamily="34" charset="-120"/>
              </a:rPr>
              <a:t>daemons</a:t>
            </a:r>
            <a:r>
              <a:rPr lang="it-IT" sz="1600" noProof="0" dirty="0">
                <a:solidFill>
                  <a:srgbClr val="5B5F66"/>
                </a:solidFill>
                <a:latin typeface="IBM Plex Sans" pitchFamily="34" charset="0"/>
                <a:ea typeface="IBM Plex Sans" pitchFamily="34" charset="-122"/>
                <a:cs typeface="IBM Plex Sans" pitchFamily="34" charset="-120"/>
              </a:rPr>
              <a:t> di ogni router</a:t>
            </a:r>
            <a:endParaRPr lang="it-IT" sz="1600" noProof="0" dirty="0"/>
          </a:p>
        </p:txBody>
      </p:sp>
      <p:sp>
        <p:nvSpPr>
          <p:cNvPr id="9" name="Shape 7"/>
          <p:cNvSpPr/>
          <p:nvPr/>
        </p:nvSpPr>
        <p:spPr>
          <a:xfrm>
            <a:off x="4249208" y="2651770"/>
            <a:ext cx="0" cy="1000760"/>
          </a:xfrm>
          <a:prstGeom prst="line">
            <a:avLst/>
          </a:prstGeom>
          <a:noFill/>
          <a:ln w="6350">
            <a:solidFill>
              <a:srgbClr val="CFCCC4"/>
            </a:solidFill>
            <a:prstDash val="solid"/>
          </a:ln>
        </p:spPr>
        <p:txBody>
          <a:bodyPr/>
          <a:lstStyle/>
          <a:p>
            <a:endParaRPr lang="it-IT" noProof="0" dirty="0"/>
          </a:p>
        </p:txBody>
      </p:sp>
      <p:sp>
        <p:nvSpPr>
          <p:cNvPr id="10" name="Text 8"/>
          <p:cNvSpPr/>
          <p:nvPr/>
        </p:nvSpPr>
        <p:spPr>
          <a:xfrm>
            <a:off x="4506383" y="2651770"/>
            <a:ext cx="327461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B4502E"/>
                </a:solidFill>
                <a:latin typeface="JetBrains Mono" pitchFamily="49" charset="0"/>
                <a:ea typeface="JetBrains Mono" pitchFamily="49" charset="-122"/>
                <a:cs typeface="JetBrains Mono" pitchFamily="49" charset="-120"/>
              </a:rPr>
              <a:t>02</a:t>
            </a:r>
            <a:endParaRPr lang="it-IT" sz="1600" noProof="0" dirty="0"/>
          </a:p>
        </p:txBody>
      </p:sp>
      <p:sp>
        <p:nvSpPr>
          <p:cNvPr id="11" name="Text 9"/>
          <p:cNvSpPr/>
          <p:nvPr/>
        </p:nvSpPr>
        <p:spPr>
          <a:xfrm>
            <a:off x="4506383" y="2987030"/>
            <a:ext cx="3274610" cy="355600"/>
          </a:xfrm>
          <a:prstGeom prst="rect">
            <a:avLst/>
          </a:prstGeom>
          <a:noFill/>
          <a:ln/>
        </p:spPr>
        <p:txBody>
          <a:bodyPr wrap="square" lIns="0" tIns="0" rIns="0" bIns="0" rtlCol="0" anchor="t">
            <a:normAutofit/>
          </a:bodyPr>
          <a:lstStyle/>
          <a:p>
            <a:pPr marL="0" indent="0" algn="l">
              <a:lnSpc>
                <a:spcPts val="2600"/>
              </a:lnSpc>
              <a:buNone/>
            </a:pPr>
            <a:r>
              <a:rPr lang="it-IT" sz="2000" b="1" noProof="0" dirty="0" err="1">
                <a:solidFill>
                  <a:srgbClr val="1B1D20"/>
                </a:solidFill>
                <a:latin typeface="JetBrains Mono" pitchFamily="49" charset="0"/>
                <a:ea typeface="JetBrains Mono" pitchFamily="49" charset="-122"/>
                <a:cs typeface="JetBrains Mono" pitchFamily="49" charset="-120"/>
              </a:rPr>
              <a:t>ip</a:t>
            </a:r>
            <a:r>
              <a:rPr lang="it-IT" sz="2000" b="1" noProof="0" dirty="0">
                <a:solidFill>
                  <a:srgbClr val="1B1D20"/>
                </a:solidFill>
                <a:latin typeface="JetBrains Mono" pitchFamily="49" charset="0"/>
                <a:ea typeface="JetBrains Mono" pitchFamily="49" charset="-122"/>
                <a:cs typeface="JetBrains Mono" pitchFamily="49" charset="-120"/>
              </a:rPr>
              <a:t> </a:t>
            </a:r>
            <a:r>
              <a:rPr lang="it-IT" sz="2000" b="1" noProof="0" dirty="0" err="1">
                <a:solidFill>
                  <a:srgbClr val="1B1D20"/>
                </a:solidFill>
                <a:latin typeface="JetBrains Mono" pitchFamily="49" charset="0"/>
                <a:ea typeface="JetBrains Mono" pitchFamily="49" charset="-122"/>
                <a:cs typeface="JetBrains Mono" pitchFamily="49" charset="-120"/>
              </a:rPr>
              <a:t>ospf</a:t>
            </a:r>
            <a:r>
              <a:rPr lang="it-IT" sz="2000" b="1" noProof="0" dirty="0">
                <a:solidFill>
                  <a:srgbClr val="1B1D20"/>
                </a:solidFill>
                <a:latin typeface="JetBrains Mono" pitchFamily="49" charset="0"/>
                <a:ea typeface="JetBrains Mono" pitchFamily="49" charset="-122"/>
                <a:cs typeface="JetBrains Mono" pitchFamily="49" charset="-120"/>
              </a:rPr>
              <a:t> </a:t>
            </a:r>
            <a:r>
              <a:rPr lang="it-IT" sz="2000" b="1" noProof="0" dirty="0" err="1">
                <a:solidFill>
                  <a:srgbClr val="1B1D20"/>
                </a:solidFill>
                <a:latin typeface="JetBrains Mono" pitchFamily="49" charset="0"/>
                <a:ea typeface="JetBrains Mono" pitchFamily="49" charset="-122"/>
                <a:cs typeface="JetBrains Mono" pitchFamily="49" charset="-120"/>
              </a:rPr>
              <a:t>bfd</a:t>
            </a:r>
            <a:endParaRPr lang="it-IT" sz="2000" noProof="0" dirty="0"/>
          </a:p>
        </p:txBody>
      </p:sp>
      <p:sp>
        <p:nvSpPr>
          <p:cNvPr id="12" name="Text 10"/>
          <p:cNvSpPr/>
          <p:nvPr/>
        </p:nvSpPr>
        <p:spPr>
          <a:xfrm>
            <a:off x="4506383" y="3368030"/>
            <a:ext cx="327461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sulle interfacce di </a:t>
            </a:r>
            <a:r>
              <a:rPr lang="it-IT" sz="1600" noProof="0" dirty="0" err="1">
                <a:solidFill>
                  <a:srgbClr val="5B5F66"/>
                </a:solidFill>
                <a:latin typeface="IBM Plex Sans" pitchFamily="34" charset="0"/>
                <a:ea typeface="IBM Plex Sans" pitchFamily="34" charset="-122"/>
                <a:cs typeface="IBM Plex Sans" pitchFamily="34" charset="-120"/>
              </a:rPr>
              <a:t>backbone</a:t>
            </a:r>
            <a:endParaRPr lang="it-IT" sz="1600" noProof="0" dirty="0"/>
          </a:p>
        </p:txBody>
      </p:sp>
      <p:sp>
        <p:nvSpPr>
          <p:cNvPr id="13" name="Shape 11"/>
          <p:cNvSpPr/>
          <p:nvPr/>
        </p:nvSpPr>
        <p:spPr>
          <a:xfrm>
            <a:off x="7942792" y="2651770"/>
            <a:ext cx="0" cy="1000760"/>
          </a:xfrm>
          <a:prstGeom prst="line">
            <a:avLst/>
          </a:prstGeom>
          <a:noFill/>
          <a:ln w="6350">
            <a:solidFill>
              <a:srgbClr val="CFCCC4"/>
            </a:solidFill>
            <a:prstDash val="solid"/>
          </a:ln>
        </p:spPr>
        <p:txBody>
          <a:bodyPr/>
          <a:lstStyle/>
          <a:p>
            <a:endParaRPr lang="it-IT" noProof="0" dirty="0"/>
          </a:p>
        </p:txBody>
      </p:sp>
      <p:sp>
        <p:nvSpPr>
          <p:cNvPr id="14" name="Text 12"/>
          <p:cNvSpPr/>
          <p:nvPr/>
        </p:nvSpPr>
        <p:spPr>
          <a:xfrm>
            <a:off x="8199967" y="2651770"/>
            <a:ext cx="3274610" cy="309880"/>
          </a:xfrm>
          <a:prstGeom prst="rect">
            <a:avLst/>
          </a:prstGeom>
          <a:noFill/>
          <a:ln/>
        </p:spPr>
        <p:txBody>
          <a:bodyPr wrap="square" lIns="0" tIns="0" rIns="0" bIns="0" rtlCol="0" anchor="t">
            <a:normAutofit/>
          </a:bodyPr>
          <a:lstStyle/>
          <a:p>
            <a:pPr marL="0" indent="0" algn="l">
              <a:lnSpc>
                <a:spcPts val="2240"/>
              </a:lnSpc>
              <a:buNone/>
            </a:pPr>
            <a:r>
              <a:rPr lang="it-IT" sz="1600" b="1" noProof="0" dirty="0">
                <a:solidFill>
                  <a:srgbClr val="B4502E"/>
                </a:solidFill>
                <a:latin typeface="JetBrains Mono" pitchFamily="49" charset="0"/>
                <a:ea typeface="JetBrains Mono" pitchFamily="49" charset="-122"/>
                <a:cs typeface="JetBrains Mono" pitchFamily="49" charset="-120"/>
              </a:rPr>
              <a:t>03</a:t>
            </a:r>
            <a:endParaRPr lang="it-IT" sz="1600" noProof="0" dirty="0"/>
          </a:p>
        </p:txBody>
      </p:sp>
      <p:sp>
        <p:nvSpPr>
          <p:cNvPr id="15" name="Text 13"/>
          <p:cNvSpPr/>
          <p:nvPr/>
        </p:nvSpPr>
        <p:spPr>
          <a:xfrm>
            <a:off x="8199967" y="2987030"/>
            <a:ext cx="3274610" cy="355600"/>
          </a:xfrm>
          <a:prstGeom prst="rect">
            <a:avLst/>
          </a:prstGeom>
          <a:noFill/>
          <a:ln/>
        </p:spPr>
        <p:txBody>
          <a:bodyPr wrap="square" lIns="0" tIns="0" rIns="0" bIns="0" rtlCol="0" anchor="t">
            <a:normAutofit/>
          </a:bodyPr>
          <a:lstStyle/>
          <a:p>
            <a:pPr marL="0" indent="0" algn="l">
              <a:lnSpc>
                <a:spcPts val="2600"/>
              </a:lnSpc>
              <a:buNone/>
            </a:pPr>
            <a:r>
              <a:rPr lang="it-IT" sz="2000" b="1" noProof="0" dirty="0">
                <a:solidFill>
                  <a:srgbClr val="1B1D20"/>
                </a:solidFill>
                <a:latin typeface="JetBrains Mono" pitchFamily="49" charset="0"/>
                <a:ea typeface="JetBrains Mono" pitchFamily="49" charset="-122"/>
                <a:cs typeface="JetBrains Mono" pitchFamily="49" charset="-120"/>
              </a:rPr>
              <a:t>show </a:t>
            </a:r>
            <a:r>
              <a:rPr lang="it-IT" sz="2000" b="1" noProof="0" dirty="0" err="1">
                <a:solidFill>
                  <a:srgbClr val="1B1D20"/>
                </a:solidFill>
                <a:latin typeface="JetBrains Mono" pitchFamily="49" charset="0"/>
                <a:ea typeface="JetBrains Mono" pitchFamily="49" charset="-122"/>
                <a:cs typeface="JetBrains Mono" pitchFamily="49" charset="-120"/>
              </a:rPr>
              <a:t>bfd</a:t>
            </a:r>
            <a:r>
              <a:rPr lang="it-IT" sz="2000" b="1" noProof="0" dirty="0">
                <a:solidFill>
                  <a:srgbClr val="1B1D20"/>
                </a:solidFill>
                <a:latin typeface="JetBrains Mono" pitchFamily="49" charset="0"/>
                <a:ea typeface="JetBrains Mono" pitchFamily="49" charset="-122"/>
                <a:cs typeface="JetBrains Mono" pitchFamily="49" charset="-120"/>
              </a:rPr>
              <a:t> </a:t>
            </a:r>
            <a:r>
              <a:rPr lang="it-IT" sz="2000" b="1" noProof="0" dirty="0" err="1">
                <a:solidFill>
                  <a:srgbClr val="1B1D20"/>
                </a:solidFill>
                <a:latin typeface="JetBrains Mono" pitchFamily="49" charset="0"/>
                <a:ea typeface="JetBrains Mono" pitchFamily="49" charset="-122"/>
                <a:cs typeface="JetBrains Mono" pitchFamily="49" charset="-120"/>
              </a:rPr>
              <a:t>peers</a:t>
            </a:r>
            <a:endParaRPr lang="it-IT" sz="2000" noProof="0" dirty="0"/>
          </a:p>
        </p:txBody>
      </p:sp>
      <p:sp>
        <p:nvSpPr>
          <p:cNvPr id="16" name="Text 14"/>
          <p:cNvSpPr/>
          <p:nvPr/>
        </p:nvSpPr>
        <p:spPr>
          <a:xfrm>
            <a:off x="8199967" y="3368030"/>
            <a:ext cx="3274610" cy="309880"/>
          </a:xfrm>
          <a:prstGeom prst="rect">
            <a:avLst/>
          </a:prstGeom>
          <a:noFill/>
          <a:ln/>
        </p:spPr>
        <p:txBody>
          <a:bodyPr wrap="square" lIns="0" tIns="0" rIns="0" bIns="0" rtlCol="0" anchor="t">
            <a:normAutofit/>
          </a:bodyPr>
          <a:lstStyle/>
          <a:p>
            <a:pPr marL="0" indent="0" algn="l">
              <a:lnSpc>
                <a:spcPts val="2240"/>
              </a:lnSpc>
              <a:buNone/>
            </a:pPr>
            <a:r>
              <a:rPr lang="it-IT" sz="1600" noProof="0" dirty="0">
                <a:solidFill>
                  <a:srgbClr val="5B5F66"/>
                </a:solidFill>
                <a:latin typeface="IBM Plex Sans" pitchFamily="34" charset="0"/>
                <a:ea typeface="IBM Plex Sans" pitchFamily="34" charset="-122"/>
                <a:cs typeface="IBM Plex Sans" pitchFamily="34" charset="-120"/>
              </a:rPr>
              <a:t>in </a:t>
            </a:r>
            <a:r>
              <a:rPr lang="it-IT" sz="1600" noProof="0" dirty="0" err="1">
                <a:solidFill>
                  <a:srgbClr val="5B5F66"/>
                </a:solidFill>
                <a:latin typeface="IBM Plex Sans" pitchFamily="34" charset="0"/>
                <a:ea typeface="IBM Plex Sans" pitchFamily="34" charset="-122"/>
                <a:cs typeface="IBM Plex Sans" pitchFamily="34" charset="-120"/>
              </a:rPr>
              <a:t>vtysh</a:t>
            </a:r>
            <a:r>
              <a:rPr lang="it-IT" sz="1600" noProof="0" dirty="0">
                <a:solidFill>
                  <a:srgbClr val="5B5F66"/>
                </a:solidFill>
                <a:latin typeface="IBM Plex Sans" pitchFamily="34" charset="0"/>
                <a:ea typeface="IBM Plex Sans" pitchFamily="34" charset="-122"/>
                <a:cs typeface="IBM Plex Sans" pitchFamily="34" charset="-120"/>
              </a:rPr>
              <a:t>: tutte le sessioni up</a:t>
            </a:r>
            <a:endParaRPr lang="it-IT" sz="1600" noProof="0" dirty="0"/>
          </a:p>
        </p:txBody>
      </p:sp>
      <p:sp>
        <p:nvSpPr>
          <p:cNvPr id="17" name="Text 15"/>
          <p:cNvSpPr/>
          <p:nvPr/>
        </p:nvSpPr>
        <p:spPr>
          <a:xfrm>
            <a:off x="812800" y="3957315"/>
            <a:ext cx="10566400" cy="787400"/>
          </a:xfrm>
          <a:prstGeom prst="rect">
            <a:avLst/>
          </a:prstGeom>
          <a:solidFill>
            <a:srgbClr val="17191C"/>
          </a:solidFill>
          <a:ln/>
        </p:spPr>
        <p:txBody>
          <a:bodyPr wrap="square" lIns="177800" tIns="127000" rIns="0" bIns="101600" rtlCol="0" anchor="t">
            <a:normAutofit/>
          </a:bodyPr>
          <a:lstStyle/>
          <a:p>
            <a:pPr marL="0" indent="0" algn="l">
              <a:lnSpc>
                <a:spcPts val="2100"/>
              </a:lnSpc>
              <a:buNone/>
            </a:pPr>
            <a:r>
              <a:rPr lang="it-IT" sz="1600" noProof="0" dirty="0">
                <a:solidFill>
                  <a:srgbClr val="A8DC6E"/>
                </a:solidFill>
                <a:latin typeface="JetBrains Mono" pitchFamily="49" charset="0"/>
                <a:ea typeface="JetBrains Mono" pitchFamily="49" charset="-122"/>
                <a:cs typeface="JetBrains Mono" pitchFamily="49" charset="-120"/>
              </a:rPr>
              <a:t>$</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python</a:t>
            </a:r>
            <a:r>
              <a:rPr lang="it-IT" sz="1600" noProof="0" dirty="0">
                <a:solidFill>
                  <a:srgbClr val="F2F1EC"/>
                </a:solidFill>
                <a:latin typeface="JetBrains Mono" pitchFamily="49" charset="0"/>
                <a:ea typeface="JetBrains Mono" pitchFamily="49" charset="-122"/>
                <a:cs typeface="JetBrains Mono" pitchFamily="49" charset="-120"/>
              </a:rPr>
              <a:t> -m </a:t>
            </a:r>
            <a:r>
              <a:rPr lang="it-IT" sz="1600" noProof="0" dirty="0" err="1">
                <a:solidFill>
                  <a:srgbClr val="F2F1EC"/>
                </a:solidFill>
                <a:latin typeface="JetBrains Mono" pitchFamily="49" charset="0"/>
                <a:ea typeface="JetBrains Mono" pitchFamily="49" charset="-122"/>
                <a:cs typeface="JetBrains Mono" pitchFamily="49" charset="-120"/>
              </a:rPr>
              <a:t>kathara_lab_checker</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config</a:t>
            </a:r>
            <a:r>
              <a:rPr lang="it-IT" sz="1600" noProof="0" dirty="0">
                <a:solidFill>
                  <a:srgbClr val="F2F1EC"/>
                </a:solidFill>
                <a:latin typeface="JetBrains Mono" pitchFamily="49" charset="0"/>
                <a:ea typeface="JetBrains Mono" pitchFamily="49" charset="-122"/>
                <a:cs typeface="JetBrains Mono" pitchFamily="49" charset="-120"/>
              </a:rPr>
              <a:t> lab2-digital-twin/</a:t>
            </a:r>
            <a:r>
              <a:rPr lang="it-IT" sz="1600" noProof="0" dirty="0" err="1">
                <a:solidFill>
                  <a:srgbClr val="F2F1EC"/>
                </a:solidFill>
                <a:latin typeface="JetBrains Mono" pitchFamily="49" charset="0"/>
                <a:ea typeface="JetBrains Mono" pitchFamily="49" charset="-122"/>
                <a:cs typeface="JetBrains Mono" pitchFamily="49" charset="-120"/>
              </a:rPr>
              <a:t>checker</a:t>
            </a:r>
            <a:r>
              <a:rPr lang="it-IT" sz="1600" noProof="0" dirty="0">
                <a:solidFill>
                  <a:srgbClr val="F2F1EC"/>
                </a:solidFill>
                <a:latin typeface="JetBrains Mono" pitchFamily="49" charset="0"/>
                <a:ea typeface="JetBrains Mono" pitchFamily="49" charset="-122"/>
                <a:cs typeface="JetBrains Mono" pitchFamily="49" charset="-120"/>
              </a:rPr>
              <a:t>/</a:t>
            </a:r>
            <a:r>
              <a:rPr lang="it-IT" sz="1600" noProof="0" dirty="0" err="1">
                <a:solidFill>
                  <a:srgbClr val="E37E5F"/>
                </a:solidFill>
                <a:latin typeface="JetBrains Mono" pitchFamily="49" charset="0"/>
                <a:ea typeface="JetBrains Mono" pitchFamily="49" charset="-122"/>
                <a:cs typeface="JetBrains Mono" pitchFamily="49" charset="-120"/>
              </a:rPr>
              <a:t>correction-bfd.yaml</a:t>
            </a:r>
            <a:r>
              <a:rPr lang="it-IT" sz="1600" noProof="0" dirty="0">
                <a:solidFill>
                  <a:srgbClr val="F2F1EC"/>
                </a:solidFill>
                <a:latin typeface="JetBrains Mono" pitchFamily="49" charset="0"/>
                <a:ea typeface="JetBrains Mono" pitchFamily="49" charset="-122"/>
                <a:cs typeface="JetBrains Mono" pitchFamily="49" charset="-120"/>
              </a:rPr>
              <a:t> --lab labs/lab2/ospf --no-cache --report-</a:t>
            </a:r>
            <a:r>
              <a:rPr lang="it-IT" sz="1600" noProof="0" dirty="0" err="1">
                <a:solidFill>
                  <a:srgbClr val="F2F1EC"/>
                </a:solidFill>
                <a:latin typeface="JetBrains Mono" pitchFamily="49" charset="0"/>
                <a:ea typeface="JetBrains Mono" pitchFamily="49" charset="-122"/>
                <a:cs typeface="JetBrains Mono" pitchFamily="49" charset="-120"/>
              </a:rPr>
              <a:t>type</a:t>
            </a:r>
            <a:r>
              <a:rPr lang="it-IT" sz="1600" noProof="0" dirty="0">
                <a:solidFill>
                  <a:srgbClr val="F2F1EC"/>
                </a:solidFill>
                <a:latin typeface="JetBrains Mono" pitchFamily="49" charset="0"/>
                <a:ea typeface="JetBrains Mono" pitchFamily="49" charset="-122"/>
                <a:cs typeface="JetBrains Mono" pitchFamily="49" charset="-120"/>
              </a:rPr>
              <a:t> csv</a:t>
            </a:r>
            <a:endParaRPr lang="it-IT" sz="1600" noProof="0" dirty="0"/>
          </a:p>
        </p:txBody>
      </p:sp>
      <p:sp>
        <p:nvSpPr>
          <p:cNvPr id="18" name="Shape 16"/>
          <p:cNvSpPr/>
          <p:nvPr/>
        </p:nvSpPr>
        <p:spPr>
          <a:xfrm>
            <a:off x="831850" y="5471170"/>
            <a:ext cx="0" cy="370840"/>
          </a:xfrm>
          <a:prstGeom prst="line">
            <a:avLst/>
          </a:prstGeom>
          <a:noFill/>
          <a:ln w="38100">
            <a:solidFill>
              <a:srgbClr val="E37E5F"/>
            </a:solidFill>
            <a:prstDash val="solid"/>
          </a:ln>
        </p:spPr>
        <p:txBody>
          <a:bodyPr/>
          <a:lstStyle/>
          <a:p>
            <a:endParaRPr lang="it-IT" noProof="0" dirty="0"/>
          </a:p>
        </p:txBody>
      </p:sp>
      <p:sp>
        <p:nvSpPr>
          <p:cNvPr id="19" name="Text 17"/>
          <p:cNvSpPr/>
          <p:nvPr/>
        </p:nvSpPr>
        <p:spPr>
          <a:xfrm>
            <a:off x="1054100" y="5496570"/>
            <a:ext cx="10634853" cy="345440"/>
          </a:xfrm>
          <a:prstGeom prst="rect">
            <a:avLst/>
          </a:prstGeom>
          <a:noFill/>
          <a:ln/>
        </p:spPr>
        <p:txBody>
          <a:bodyPr wrap="square" lIns="0" tIns="0" rIns="0" bIns="0" rtlCol="0" anchor="t">
            <a:normAutofit/>
          </a:bodyPr>
          <a:lstStyle/>
          <a:p>
            <a:pPr marL="0" indent="0" algn="l">
              <a:lnSpc>
                <a:spcPts val="2520"/>
              </a:lnSpc>
              <a:buNone/>
            </a:pPr>
            <a:r>
              <a:rPr lang="it-IT" sz="1800" b="1" noProof="0" dirty="0">
                <a:solidFill>
                  <a:srgbClr val="1B1D20"/>
                </a:solidFill>
                <a:latin typeface="IBM Plex Sans" pitchFamily="34" charset="0"/>
                <a:ea typeface="IBM Plex Sans" pitchFamily="34" charset="-122"/>
                <a:cs typeface="IBM Plex Sans" pitchFamily="34" charset="-120"/>
              </a:rPr>
              <a:t>Poi rilanciamo chaos.py --silent e confrontiamo i tempi.</a:t>
            </a:r>
            <a:endParaRPr lang="it-IT" sz="1800" noProof="0" dirty="0"/>
          </a:p>
        </p:txBody>
      </p:sp>
    </p:spTree>
    <p:extLst>
      <p:ext uri="{BB962C8B-B14F-4D97-AF65-F5344CB8AC3E}">
        <p14:creationId xmlns:p14="http://schemas.microsoft.com/office/powerpoint/2010/main" val="32502183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61">
    <p:bg>
      <p:bgPr>
        <a:solidFill>
          <a:srgbClr val="FFFFFF">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37E5F"/>
          </a:solidFill>
          <a:ln/>
        </p:spPr>
        <p:txBody>
          <a:bodyPr/>
          <a:lstStyle/>
          <a:p>
            <a:endParaRPr lang="it-IT" noProof="0" dirty="0"/>
          </a:p>
        </p:txBody>
      </p:sp>
      <p:sp>
        <p:nvSpPr>
          <p:cNvPr id="4" name="Text 2"/>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sz="4000" b="1" i="0" noProof="0" dirty="0">
                <a:solidFill>
                  <a:srgbClr val="1B1D20"/>
                </a:solidFill>
                <a:latin typeface="IBM Plex Sans" pitchFamily="34" charset="0"/>
                <a:ea typeface="IBM Plex Sans" pitchFamily="34" charset="-122"/>
                <a:cs typeface="IBM Plex Sans" pitchFamily="34" charset="-120"/>
              </a:rPr>
              <a:t>BFD: cosa cambia nei file di r1</a:t>
            </a:r>
            <a:endParaRPr lang="it-IT" sz="4000" noProof="0" dirty="0"/>
          </a:p>
        </p:txBody>
      </p:sp>
      <p:sp>
        <p:nvSpPr>
          <p:cNvPr id="5" name="Shape 3"/>
          <p:cNvSpPr/>
          <p:nvPr/>
        </p:nvSpPr>
        <p:spPr>
          <a:xfrm>
            <a:off x="812800" y="1838970"/>
            <a:ext cx="6223000" cy="3949700"/>
          </a:xfrm>
          <a:prstGeom prst="rect">
            <a:avLst/>
          </a:prstGeom>
          <a:solidFill>
            <a:srgbClr val="17191C"/>
          </a:solidFill>
          <a:ln/>
        </p:spPr>
        <p:txBody>
          <a:bodyPr/>
          <a:lstStyle/>
          <a:p>
            <a:endParaRPr lang="it-IT" noProof="0" dirty="0"/>
          </a:p>
        </p:txBody>
      </p:sp>
      <p:sp>
        <p:nvSpPr>
          <p:cNvPr id="6" name="Text 4"/>
          <p:cNvSpPr/>
          <p:nvPr/>
        </p:nvSpPr>
        <p:spPr>
          <a:xfrm>
            <a:off x="990600" y="1965970"/>
            <a:ext cx="6043422" cy="240030"/>
          </a:xfrm>
          <a:prstGeom prst="rect">
            <a:avLst/>
          </a:prstGeom>
          <a:noFill/>
          <a:ln/>
        </p:spPr>
        <p:txBody>
          <a:bodyPr wrap="square" lIns="0" tIns="0" rIns="0" bIns="0" rtlCol="0" anchor="t">
            <a:normAutofit fontScale="85000" lnSpcReduction="10000"/>
          </a:bodyPr>
          <a:lstStyle/>
          <a:p>
            <a:pPr marL="0" indent="0" algn="l">
              <a:lnSpc>
                <a:spcPts val="2000"/>
              </a:lnSpc>
              <a:buNone/>
            </a:pPr>
            <a:r>
              <a:rPr lang="it-IT" sz="1600" b="1" noProof="0" dirty="0">
                <a:solidFill>
                  <a:srgbClr val="E37E5F"/>
                </a:solidFill>
                <a:latin typeface="JetBrains Mono" pitchFamily="49" charset="0"/>
                <a:ea typeface="JetBrains Mono" pitchFamily="49" charset="-122"/>
                <a:cs typeface="JetBrains Mono" pitchFamily="49" charset="-120"/>
              </a:rPr>
              <a:t>r1/</a:t>
            </a:r>
            <a:r>
              <a:rPr lang="it-IT" sz="1600" b="1" noProof="0" dirty="0" err="1">
                <a:solidFill>
                  <a:srgbClr val="E37E5F"/>
                </a:solidFill>
                <a:latin typeface="JetBrains Mono" pitchFamily="49" charset="0"/>
                <a:ea typeface="JetBrains Mono" pitchFamily="49" charset="-122"/>
                <a:cs typeface="JetBrains Mono" pitchFamily="49" charset="-120"/>
              </a:rPr>
              <a:t>etc</a:t>
            </a:r>
            <a:r>
              <a:rPr lang="it-IT" sz="1600" b="1" noProof="0" dirty="0">
                <a:solidFill>
                  <a:srgbClr val="E37E5F"/>
                </a:solidFill>
                <a:latin typeface="JetBrains Mono" pitchFamily="49" charset="0"/>
                <a:ea typeface="JetBrains Mono" pitchFamily="49" charset="-122"/>
                <a:cs typeface="JetBrains Mono" pitchFamily="49" charset="-120"/>
              </a:rPr>
              <a:t>/</a:t>
            </a:r>
            <a:r>
              <a:rPr lang="it-IT" sz="1600" b="1" noProof="0" dirty="0" err="1">
                <a:solidFill>
                  <a:srgbClr val="E37E5F"/>
                </a:solidFill>
                <a:latin typeface="JetBrains Mono" pitchFamily="49" charset="0"/>
                <a:ea typeface="JetBrains Mono" pitchFamily="49" charset="-122"/>
                <a:cs typeface="JetBrains Mono" pitchFamily="49" charset="-120"/>
              </a:rPr>
              <a:t>frr</a:t>
            </a:r>
            <a:r>
              <a:rPr lang="it-IT" sz="1600" b="1" noProof="0" dirty="0">
                <a:solidFill>
                  <a:srgbClr val="E37E5F"/>
                </a:solidFill>
                <a:latin typeface="JetBrains Mono" pitchFamily="49" charset="0"/>
                <a:ea typeface="JetBrains Mono" pitchFamily="49" charset="-122"/>
                <a:cs typeface="JetBrains Mono" pitchFamily="49" charset="-120"/>
              </a:rPr>
              <a:t>/</a:t>
            </a:r>
            <a:r>
              <a:rPr lang="it-IT" sz="1600" b="1" noProof="0" dirty="0" err="1">
                <a:solidFill>
                  <a:srgbClr val="E37E5F"/>
                </a:solidFill>
                <a:latin typeface="JetBrains Mono" pitchFamily="49" charset="0"/>
                <a:ea typeface="JetBrains Mono" pitchFamily="49" charset="-122"/>
                <a:cs typeface="JetBrains Mono" pitchFamily="49" charset="-120"/>
              </a:rPr>
              <a:t>frr.conf</a:t>
            </a:r>
            <a:endParaRPr lang="it-IT" sz="1600" noProof="0" dirty="0"/>
          </a:p>
        </p:txBody>
      </p:sp>
      <p:sp>
        <p:nvSpPr>
          <p:cNvPr id="7" name="Text 5"/>
          <p:cNvSpPr/>
          <p:nvPr/>
        </p:nvSpPr>
        <p:spPr>
          <a:xfrm>
            <a:off x="990600" y="2231380"/>
            <a:ext cx="6043422" cy="3454400"/>
          </a:xfrm>
          <a:prstGeom prst="rect">
            <a:avLst/>
          </a:prstGeom>
          <a:noFill/>
          <a:ln/>
        </p:spPr>
        <p:txBody>
          <a:bodyPr wrap="square" lIns="0" tIns="0" rIns="0" bIns="0" rtlCol="0" anchor="t">
            <a:noAutofit/>
          </a:bodyPr>
          <a:lstStyle/>
          <a:p>
            <a:pPr marL="0" indent="0" algn="l">
              <a:lnSpc>
                <a:spcPts val="1800"/>
              </a:lnSpc>
              <a:buNone/>
            </a:pPr>
            <a:r>
              <a:rPr lang="it-IT" sz="1600" noProof="0" dirty="0">
                <a:solidFill>
                  <a:srgbClr val="8A8F96"/>
                </a:solidFill>
                <a:latin typeface="JetBrains Mono" pitchFamily="49" charset="0"/>
                <a:ea typeface="JetBrains Mono" pitchFamily="49" charset="-122"/>
                <a:cs typeface="JetBrains Mono" pitchFamily="49" charset="-120"/>
              </a:rPr>
              <a:t>! LAN di sede: passiva, niente BFD</a:t>
            </a:r>
            <a:endParaRPr lang="it-IT" sz="1600" noProof="0" dirty="0"/>
          </a:p>
          <a:p>
            <a:pPr marL="0" indent="0" algn="l">
              <a:lnSpc>
                <a:spcPts val="1800"/>
              </a:lnSpc>
              <a:buNone/>
            </a:pPr>
            <a:r>
              <a:rPr lang="it-IT" sz="1600" noProof="0" dirty="0" err="1">
                <a:solidFill>
                  <a:srgbClr val="F2F1EC"/>
                </a:solidFill>
                <a:latin typeface="JetBrains Mono" pitchFamily="49" charset="0"/>
                <a:ea typeface="JetBrains Mono" pitchFamily="49" charset="-122"/>
                <a:cs typeface="JetBrains Mono" pitchFamily="49" charset="-120"/>
              </a:rPr>
              <a:t>interface</a:t>
            </a:r>
            <a:r>
              <a:rPr lang="it-IT" sz="1600" noProof="0" dirty="0">
                <a:solidFill>
                  <a:srgbClr val="F2F1EC"/>
                </a:solidFill>
                <a:latin typeface="JetBrains Mono" pitchFamily="49" charset="0"/>
                <a:ea typeface="JetBrains Mono" pitchFamily="49" charset="-122"/>
                <a:cs typeface="JetBrains Mono" pitchFamily="49" charset="-120"/>
              </a:rPr>
              <a:t> eth0</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ospf</a:t>
            </a:r>
            <a:r>
              <a:rPr lang="it-IT" sz="1600" noProof="0" dirty="0">
                <a:solidFill>
                  <a:srgbClr val="F2F1EC"/>
                </a:solidFill>
                <a:latin typeface="JetBrains Mono" pitchFamily="49" charset="0"/>
                <a:ea typeface="JetBrains Mono" pitchFamily="49" charset="-122"/>
                <a:cs typeface="JetBrains Mono" pitchFamily="49" charset="-120"/>
              </a:rPr>
              <a:t> passive</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a:t>
            </a:r>
            <a:endParaRPr lang="it-IT" sz="1600" noProof="0" dirty="0"/>
          </a:p>
          <a:p>
            <a:pPr marL="0" indent="0" algn="l">
              <a:lnSpc>
                <a:spcPts val="1800"/>
              </a:lnSpc>
              <a:buNone/>
            </a:pPr>
            <a:r>
              <a:rPr lang="it-IT" sz="1600" noProof="0" dirty="0">
                <a:solidFill>
                  <a:srgbClr val="8A8F96"/>
                </a:solidFill>
                <a:latin typeface="JetBrains Mono" pitchFamily="49" charset="0"/>
                <a:ea typeface="JetBrains Mono" pitchFamily="49" charset="-122"/>
                <a:cs typeface="JetBrains Mono" pitchFamily="49" charset="-120"/>
              </a:rPr>
              <a:t>! n12 verso r2</a:t>
            </a:r>
            <a:endParaRPr lang="it-IT" sz="1600" noProof="0" dirty="0"/>
          </a:p>
          <a:p>
            <a:pPr marL="0" indent="0" algn="l">
              <a:lnSpc>
                <a:spcPts val="1800"/>
              </a:lnSpc>
              <a:buNone/>
            </a:pPr>
            <a:r>
              <a:rPr lang="it-IT" sz="1600" noProof="0" dirty="0" err="1">
                <a:solidFill>
                  <a:srgbClr val="F2F1EC"/>
                </a:solidFill>
                <a:latin typeface="JetBrains Mono" pitchFamily="49" charset="0"/>
                <a:ea typeface="JetBrains Mono" pitchFamily="49" charset="-122"/>
                <a:cs typeface="JetBrains Mono" pitchFamily="49" charset="-120"/>
              </a:rPr>
              <a:t>interface</a:t>
            </a:r>
            <a:r>
              <a:rPr lang="it-IT" sz="1600" noProof="0" dirty="0">
                <a:solidFill>
                  <a:srgbClr val="F2F1EC"/>
                </a:solidFill>
                <a:latin typeface="JetBrains Mono" pitchFamily="49" charset="0"/>
                <a:ea typeface="JetBrains Mono" pitchFamily="49" charset="-122"/>
                <a:cs typeface="JetBrains Mono" pitchFamily="49" charset="-120"/>
              </a:rPr>
              <a:t> eth1</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ospf</a:t>
            </a:r>
            <a:r>
              <a:rPr lang="it-IT" sz="1600" noProof="0" dirty="0">
                <a:solidFill>
                  <a:srgbClr val="F2F1EC"/>
                </a:solidFill>
                <a:latin typeface="JetBrains Mono" pitchFamily="49" charset="0"/>
                <a:ea typeface="JetBrains Mono" pitchFamily="49" charset="-122"/>
                <a:cs typeface="JetBrains Mono" pitchFamily="49" charset="-120"/>
              </a:rPr>
              <a:t> network </a:t>
            </a:r>
            <a:r>
              <a:rPr lang="it-IT" sz="1600" noProof="0" dirty="0" err="1">
                <a:solidFill>
                  <a:srgbClr val="F2F1EC"/>
                </a:solidFill>
                <a:latin typeface="JetBrains Mono" pitchFamily="49" charset="0"/>
                <a:ea typeface="JetBrains Mono" pitchFamily="49" charset="-122"/>
                <a:cs typeface="JetBrains Mono" pitchFamily="49" charset="-120"/>
              </a:rPr>
              <a:t>point-to-point</a:t>
            </a:r>
            <a:endParaRPr lang="it-IT" sz="1600" noProof="0" dirty="0"/>
          </a:p>
          <a:p>
            <a:pPr marL="0" indent="0" algn="l">
              <a:lnSpc>
                <a:spcPts val="1800"/>
              </a:lnSpc>
              <a:buNone/>
            </a:pPr>
            <a:r>
              <a:rPr lang="it-IT" sz="1600" b="1" noProof="0" dirty="0">
                <a:solidFill>
                  <a:srgbClr val="E37E5F"/>
                </a:solidFill>
                <a:latin typeface="JetBrains Mono" pitchFamily="49" charset="0"/>
                <a:ea typeface="JetBrains Mono" pitchFamily="49" charset="-122"/>
                <a:cs typeface="JetBrains Mono" pitchFamily="49" charset="-120"/>
              </a:rPr>
              <a:t> </a:t>
            </a:r>
            <a:r>
              <a:rPr lang="it-IT" sz="1600" b="1" noProof="0" dirty="0" err="1">
                <a:solidFill>
                  <a:srgbClr val="E37E5F"/>
                </a:solidFill>
                <a:latin typeface="JetBrains Mono" pitchFamily="49" charset="0"/>
                <a:ea typeface="JetBrains Mono" pitchFamily="49" charset="-122"/>
                <a:cs typeface="JetBrains Mono" pitchFamily="49" charset="-120"/>
              </a:rPr>
              <a:t>ip</a:t>
            </a:r>
            <a:r>
              <a:rPr lang="it-IT" sz="1600" b="1" noProof="0" dirty="0">
                <a:solidFill>
                  <a:srgbClr val="E37E5F"/>
                </a:solidFill>
                <a:latin typeface="JetBrains Mono" pitchFamily="49" charset="0"/>
                <a:ea typeface="JetBrains Mono" pitchFamily="49" charset="-122"/>
                <a:cs typeface="JetBrains Mono" pitchFamily="49" charset="-120"/>
              </a:rPr>
              <a:t> </a:t>
            </a:r>
            <a:r>
              <a:rPr lang="it-IT" sz="1600" b="1" noProof="0" dirty="0" err="1">
                <a:solidFill>
                  <a:srgbClr val="E37E5F"/>
                </a:solidFill>
                <a:latin typeface="JetBrains Mono" pitchFamily="49" charset="0"/>
                <a:ea typeface="JetBrains Mono" pitchFamily="49" charset="-122"/>
                <a:cs typeface="JetBrains Mono" pitchFamily="49" charset="-120"/>
              </a:rPr>
              <a:t>ospf</a:t>
            </a:r>
            <a:r>
              <a:rPr lang="it-IT" sz="1600" b="1" noProof="0" dirty="0">
                <a:solidFill>
                  <a:srgbClr val="E37E5F"/>
                </a:solidFill>
                <a:latin typeface="JetBrains Mono" pitchFamily="49" charset="0"/>
                <a:ea typeface="JetBrains Mono" pitchFamily="49" charset="-122"/>
                <a:cs typeface="JetBrains Mono" pitchFamily="49" charset="-120"/>
              </a:rPr>
              <a:t> </a:t>
            </a:r>
            <a:r>
              <a:rPr lang="it-IT" sz="1600" b="1" noProof="0" dirty="0" err="1">
                <a:solidFill>
                  <a:srgbClr val="E37E5F"/>
                </a:solidFill>
                <a:latin typeface="JetBrains Mono" pitchFamily="49" charset="0"/>
                <a:ea typeface="JetBrains Mono" pitchFamily="49" charset="-122"/>
                <a:cs typeface="JetBrains Mono" pitchFamily="49" charset="-120"/>
              </a:rPr>
              <a:t>bfd</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ospf</a:t>
            </a:r>
            <a:r>
              <a:rPr lang="it-IT" sz="1600" noProof="0" dirty="0">
                <a:solidFill>
                  <a:srgbClr val="F2F1EC"/>
                </a:solidFill>
                <a:latin typeface="JetBrains Mono" pitchFamily="49" charset="0"/>
                <a:ea typeface="JetBrains Mono" pitchFamily="49" charset="-122"/>
                <a:cs typeface="JetBrains Mono" pitchFamily="49" charset="-120"/>
              </a:rPr>
              <a:t> cost 10</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a:t>
            </a:r>
            <a:endParaRPr lang="it-IT" sz="1600" noProof="0" dirty="0"/>
          </a:p>
          <a:p>
            <a:pPr marL="0" indent="0" algn="l">
              <a:lnSpc>
                <a:spcPts val="1800"/>
              </a:lnSpc>
              <a:buNone/>
            </a:pPr>
            <a:r>
              <a:rPr lang="it-IT" sz="1600" noProof="0" dirty="0">
                <a:solidFill>
                  <a:srgbClr val="8A8F96"/>
                </a:solidFill>
                <a:latin typeface="JetBrains Mono" pitchFamily="49" charset="0"/>
                <a:ea typeface="JetBrains Mono" pitchFamily="49" charset="-122"/>
                <a:cs typeface="JetBrains Mono" pitchFamily="49" charset="-120"/>
              </a:rPr>
              <a:t>! n41 verso r4</a:t>
            </a:r>
            <a:endParaRPr lang="it-IT" sz="1600" noProof="0" dirty="0"/>
          </a:p>
          <a:p>
            <a:pPr marL="0" indent="0" algn="l">
              <a:lnSpc>
                <a:spcPts val="1800"/>
              </a:lnSpc>
              <a:buNone/>
            </a:pPr>
            <a:r>
              <a:rPr lang="it-IT" sz="1600" noProof="0" dirty="0" err="1">
                <a:solidFill>
                  <a:srgbClr val="F2F1EC"/>
                </a:solidFill>
                <a:latin typeface="JetBrains Mono" pitchFamily="49" charset="0"/>
                <a:ea typeface="JetBrains Mono" pitchFamily="49" charset="-122"/>
                <a:cs typeface="JetBrains Mono" pitchFamily="49" charset="-120"/>
              </a:rPr>
              <a:t>interface</a:t>
            </a:r>
            <a:r>
              <a:rPr lang="it-IT" sz="1600" noProof="0" dirty="0">
                <a:solidFill>
                  <a:srgbClr val="F2F1EC"/>
                </a:solidFill>
                <a:latin typeface="JetBrains Mono" pitchFamily="49" charset="0"/>
                <a:ea typeface="JetBrains Mono" pitchFamily="49" charset="-122"/>
                <a:cs typeface="JetBrains Mono" pitchFamily="49" charset="-120"/>
              </a:rPr>
              <a:t> eth2</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ospf</a:t>
            </a:r>
            <a:r>
              <a:rPr lang="it-IT" sz="1600" noProof="0" dirty="0">
                <a:solidFill>
                  <a:srgbClr val="F2F1EC"/>
                </a:solidFill>
                <a:latin typeface="JetBrains Mono" pitchFamily="49" charset="0"/>
                <a:ea typeface="JetBrains Mono" pitchFamily="49" charset="-122"/>
                <a:cs typeface="JetBrains Mono" pitchFamily="49" charset="-120"/>
              </a:rPr>
              <a:t> network </a:t>
            </a:r>
            <a:r>
              <a:rPr lang="it-IT" sz="1600" noProof="0" dirty="0" err="1">
                <a:solidFill>
                  <a:srgbClr val="F2F1EC"/>
                </a:solidFill>
                <a:latin typeface="JetBrains Mono" pitchFamily="49" charset="0"/>
                <a:ea typeface="JetBrains Mono" pitchFamily="49" charset="-122"/>
                <a:cs typeface="JetBrains Mono" pitchFamily="49" charset="-120"/>
              </a:rPr>
              <a:t>point-to-point</a:t>
            </a:r>
            <a:endParaRPr lang="it-IT" sz="1600" noProof="0" dirty="0"/>
          </a:p>
          <a:p>
            <a:pPr marL="0" indent="0" algn="l">
              <a:lnSpc>
                <a:spcPts val="1800"/>
              </a:lnSpc>
              <a:buNone/>
            </a:pPr>
            <a:r>
              <a:rPr lang="it-IT" sz="1600" b="1" noProof="0" dirty="0">
                <a:solidFill>
                  <a:srgbClr val="E37E5F"/>
                </a:solidFill>
                <a:latin typeface="JetBrains Mono" pitchFamily="49" charset="0"/>
                <a:ea typeface="JetBrains Mono" pitchFamily="49" charset="-122"/>
                <a:cs typeface="JetBrains Mono" pitchFamily="49" charset="-120"/>
              </a:rPr>
              <a:t> </a:t>
            </a:r>
            <a:r>
              <a:rPr lang="it-IT" sz="1600" b="1" noProof="0" dirty="0" err="1">
                <a:solidFill>
                  <a:srgbClr val="E37E5F"/>
                </a:solidFill>
                <a:latin typeface="JetBrains Mono" pitchFamily="49" charset="0"/>
                <a:ea typeface="JetBrains Mono" pitchFamily="49" charset="-122"/>
                <a:cs typeface="JetBrains Mono" pitchFamily="49" charset="-120"/>
              </a:rPr>
              <a:t>ip</a:t>
            </a:r>
            <a:r>
              <a:rPr lang="it-IT" sz="1600" b="1" noProof="0" dirty="0">
                <a:solidFill>
                  <a:srgbClr val="E37E5F"/>
                </a:solidFill>
                <a:latin typeface="JetBrains Mono" pitchFamily="49" charset="0"/>
                <a:ea typeface="JetBrains Mono" pitchFamily="49" charset="-122"/>
                <a:cs typeface="JetBrains Mono" pitchFamily="49" charset="-120"/>
              </a:rPr>
              <a:t> </a:t>
            </a:r>
            <a:r>
              <a:rPr lang="it-IT" sz="1600" b="1" noProof="0" dirty="0" err="1">
                <a:solidFill>
                  <a:srgbClr val="E37E5F"/>
                </a:solidFill>
                <a:latin typeface="JetBrains Mono" pitchFamily="49" charset="0"/>
                <a:ea typeface="JetBrains Mono" pitchFamily="49" charset="-122"/>
                <a:cs typeface="JetBrains Mono" pitchFamily="49" charset="-120"/>
              </a:rPr>
              <a:t>ospf</a:t>
            </a:r>
            <a:r>
              <a:rPr lang="it-IT" sz="1600" b="1" noProof="0" dirty="0">
                <a:solidFill>
                  <a:srgbClr val="E37E5F"/>
                </a:solidFill>
                <a:latin typeface="JetBrains Mono" pitchFamily="49" charset="0"/>
                <a:ea typeface="JetBrains Mono" pitchFamily="49" charset="-122"/>
                <a:cs typeface="JetBrains Mono" pitchFamily="49" charset="-120"/>
              </a:rPr>
              <a:t> </a:t>
            </a:r>
            <a:r>
              <a:rPr lang="it-IT" sz="1600" b="1" noProof="0" dirty="0" err="1">
                <a:solidFill>
                  <a:srgbClr val="E37E5F"/>
                </a:solidFill>
                <a:latin typeface="JetBrains Mono" pitchFamily="49" charset="0"/>
                <a:ea typeface="JetBrains Mono" pitchFamily="49" charset="-122"/>
                <a:cs typeface="JetBrains Mono" pitchFamily="49" charset="-120"/>
              </a:rPr>
              <a:t>bfd</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ip</a:t>
            </a:r>
            <a:r>
              <a:rPr lang="it-IT" sz="1600" noProof="0" dirty="0">
                <a:solidFill>
                  <a:srgbClr val="F2F1EC"/>
                </a:solidFill>
                <a:latin typeface="JetBrains Mono" pitchFamily="49" charset="0"/>
                <a:ea typeface="JetBrains Mono" pitchFamily="49" charset="-122"/>
                <a:cs typeface="JetBrains Mono" pitchFamily="49" charset="-120"/>
              </a:rPr>
              <a:t> </a:t>
            </a:r>
            <a:r>
              <a:rPr lang="it-IT" sz="1600" noProof="0" dirty="0" err="1">
                <a:solidFill>
                  <a:srgbClr val="F2F1EC"/>
                </a:solidFill>
                <a:latin typeface="JetBrains Mono" pitchFamily="49" charset="0"/>
                <a:ea typeface="JetBrains Mono" pitchFamily="49" charset="-122"/>
                <a:cs typeface="JetBrains Mono" pitchFamily="49" charset="-120"/>
              </a:rPr>
              <a:t>ospf</a:t>
            </a:r>
            <a:r>
              <a:rPr lang="it-IT" sz="1600" noProof="0" dirty="0">
                <a:solidFill>
                  <a:srgbClr val="F2F1EC"/>
                </a:solidFill>
                <a:latin typeface="JetBrains Mono" pitchFamily="49" charset="0"/>
                <a:ea typeface="JetBrains Mono" pitchFamily="49" charset="-122"/>
                <a:cs typeface="JetBrains Mono" pitchFamily="49" charset="-120"/>
              </a:rPr>
              <a:t> cost 100</a:t>
            </a:r>
            <a:endParaRPr lang="it-IT" sz="1600" noProof="0" dirty="0"/>
          </a:p>
        </p:txBody>
      </p:sp>
      <p:sp>
        <p:nvSpPr>
          <p:cNvPr id="8" name="Text 6"/>
          <p:cNvSpPr/>
          <p:nvPr/>
        </p:nvSpPr>
        <p:spPr>
          <a:xfrm>
            <a:off x="7289800" y="1838970"/>
            <a:ext cx="4212082" cy="558800"/>
          </a:xfrm>
          <a:prstGeom prst="rect">
            <a:avLst/>
          </a:prstGeom>
          <a:noFill/>
          <a:ln/>
        </p:spPr>
        <p:txBody>
          <a:bodyPr wrap="square" lIns="0" tIns="0" rIns="0" bIns="0" rtlCol="0" anchor="t">
            <a:normAutofit/>
          </a:bodyPr>
          <a:lstStyle/>
          <a:p>
            <a:pPr marL="0" indent="0" algn="l">
              <a:lnSpc>
                <a:spcPts val="2100"/>
              </a:lnSpc>
              <a:buNone/>
            </a:pPr>
            <a:r>
              <a:rPr lang="it-IT" sz="1600" noProof="0" dirty="0">
                <a:solidFill>
                  <a:srgbClr val="5B5F66"/>
                </a:solidFill>
                <a:latin typeface="IBM Plex Sans" pitchFamily="34" charset="0"/>
                <a:ea typeface="IBM Plex Sans" pitchFamily="34" charset="-122"/>
                <a:cs typeface="IBM Plex Sans" pitchFamily="34" charset="-120"/>
              </a:rPr>
              <a:t>In arancione le righe da aggiungere. Stesso schema su r2, r3 e r4.</a:t>
            </a:r>
            <a:endParaRPr lang="it-IT" sz="1600" noProof="0" dirty="0"/>
          </a:p>
        </p:txBody>
      </p:sp>
      <p:sp>
        <p:nvSpPr>
          <p:cNvPr id="9" name="Shape 7"/>
          <p:cNvSpPr/>
          <p:nvPr/>
        </p:nvSpPr>
        <p:spPr>
          <a:xfrm>
            <a:off x="7289800" y="2524770"/>
            <a:ext cx="4089400" cy="2235200"/>
          </a:xfrm>
          <a:prstGeom prst="rect">
            <a:avLst/>
          </a:prstGeom>
          <a:solidFill>
            <a:srgbClr val="17191C"/>
          </a:solidFill>
          <a:ln/>
        </p:spPr>
        <p:txBody>
          <a:bodyPr/>
          <a:lstStyle/>
          <a:p>
            <a:endParaRPr lang="it-IT" noProof="0" dirty="0"/>
          </a:p>
        </p:txBody>
      </p:sp>
      <p:sp>
        <p:nvSpPr>
          <p:cNvPr id="10" name="Text 8"/>
          <p:cNvSpPr/>
          <p:nvPr/>
        </p:nvSpPr>
        <p:spPr>
          <a:xfrm>
            <a:off x="7467600" y="2651770"/>
            <a:ext cx="3845814" cy="240030"/>
          </a:xfrm>
          <a:prstGeom prst="rect">
            <a:avLst/>
          </a:prstGeom>
          <a:noFill/>
          <a:ln/>
        </p:spPr>
        <p:txBody>
          <a:bodyPr wrap="square" lIns="0" tIns="0" rIns="0" bIns="0" rtlCol="0" anchor="t">
            <a:normAutofit fontScale="85000" lnSpcReduction="10000"/>
          </a:bodyPr>
          <a:lstStyle/>
          <a:p>
            <a:pPr marL="0" indent="0" algn="l">
              <a:lnSpc>
                <a:spcPts val="2000"/>
              </a:lnSpc>
              <a:buNone/>
            </a:pPr>
            <a:r>
              <a:rPr lang="it-IT" sz="1600" b="1" noProof="0" dirty="0">
                <a:solidFill>
                  <a:srgbClr val="E37E5F"/>
                </a:solidFill>
                <a:latin typeface="JetBrains Mono" pitchFamily="49" charset="0"/>
                <a:ea typeface="JetBrains Mono" pitchFamily="49" charset="-122"/>
                <a:cs typeface="JetBrains Mono" pitchFamily="49" charset="-120"/>
              </a:rPr>
              <a:t>r1/</a:t>
            </a:r>
            <a:r>
              <a:rPr lang="it-IT" sz="1600" b="1" noProof="0" dirty="0" err="1">
                <a:solidFill>
                  <a:srgbClr val="E37E5F"/>
                </a:solidFill>
                <a:latin typeface="JetBrains Mono" pitchFamily="49" charset="0"/>
                <a:ea typeface="JetBrains Mono" pitchFamily="49" charset="-122"/>
                <a:cs typeface="JetBrains Mono" pitchFamily="49" charset="-120"/>
              </a:rPr>
              <a:t>etc</a:t>
            </a:r>
            <a:r>
              <a:rPr lang="it-IT" sz="1600" b="1" noProof="0" dirty="0">
                <a:solidFill>
                  <a:srgbClr val="E37E5F"/>
                </a:solidFill>
                <a:latin typeface="JetBrains Mono" pitchFamily="49" charset="0"/>
                <a:ea typeface="JetBrains Mono" pitchFamily="49" charset="-122"/>
                <a:cs typeface="JetBrains Mono" pitchFamily="49" charset="-120"/>
              </a:rPr>
              <a:t>/</a:t>
            </a:r>
            <a:r>
              <a:rPr lang="it-IT" sz="1600" b="1" noProof="0" dirty="0" err="1">
                <a:solidFill>
                  <a:srgbClr val="E37E5F"/>
                </a:solidFill>
                <a:latin typeface="JetBrains Mono" pitchFamily="49" charset="0"/>
                <a:ea typeface="JetBrains Mono" pitchFamily="49" charset="-122"/>
                <a:cs typeface="JetBrains Mono" pitchFamily="49" charset="-120"/>
              </a:rPr>
              <a:t>frr</a:t>
            </a:r>
            <a:r>
              <a:rPr lang="it-IT" sz="1600" b="1" noProof="0" dirty="0">
                <a:solidFill>
                  <a:srgbClr val="E37E5F"/>
                </a:solidFill>
                <a:latin typeface="JetBrains Mono" pitchFamily="49" charset="0"/>
                <a:ea typeface="JetBrains Mono" pitchFamily="49" charset="-122"/>
                <a:cs typeface="JetBrains Mono" pitchFamily="49" charset="-120"/>
              </a:rPr>
              <a:t>/</a:t>
            </a:r>
            <a:r>
              <a:rPr lang="it-IT" sz="1600" b="1" noProof="0" dirty="0" err="1">
                <a:solidFill>
                  <a:srgbClr val="E37E5F"/>
                </a:solidFill>
                <a:latin typeface="JetBrains Mono" pitchFamily="49" charset="0"/>
                <a:ea typeface="JetBrains Mono" pitchFamily="49" charset="-122"/>
                <a:cs typeface="JetBrains Mono" pitchFamily="49" charset="-120"/>
              </a:rPr>
              <a:t>daemons</a:t>
            </a:r>
            <a:endParaRPr lang="it-IT" sz="1600" noProof="0" dirty="0"/>
          </a:p>
        </p:txBody>
      </p:sp>
      <p:sp>
        <p:nvSpPr>
          <p:cNvPr id="11" name="Text 9"/>
          <p:cNvSpPr/>
          <p:nvPr/>
        </p:nvSpPr>
        <p:spPr>
          <a:xfrm>
            <a:off x="7467600" y="2917180"/>
            <a:ext cx="3845814" cy="1651000"/>
          </a:xfrm>
          <a:prstGeom prst="rect">
            <a:avLst/>
          </a:prstGeom>
          <a:noFill/>
          <a:ln/>
        </p:spPr>
        <p:txBody>
          <a:bodyPr wrap="square" lIns="0" tIns="0" rIns="0" bIns="0" rtlCol="0" anchor="t">
            <a:noAutofit/>
          </a:bodyPr>
          <a:lstStyle/>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zebra=yes</a:t>
            </a:r>
            <a:endParaRPr lang="it-IT" sz="1600" noProof="0" dirty="0"/>
          </a:p>
          <a:p>
            <a:pPr marL="0" indent="0" algn="l">
              <a:lnSpc>
                <a:spcPts val="1800"/>
              </a:lnSpc>
              <a:buNone/>
            </a:pPr>
            <a:r>
              <a:rPr lang="it-IT" sz="1600" noProof="0" dirty="0" err="1">
                <a:solidFill>
                  <a:srgbClr val="F2F1EC"/>
                </a:solidFill>
                <a:latin typeface="JetBrains Mono" pitchFamily="49" charset="0"/>
                <a:ea typeface="JetBrains Mono" pitchFamily="49" charset="-122"/>
                <a:cs typeface="JetBrains Mono" pitchFamily="49" charset="-120"/>
              </a:rPr>
              <a:t>ospfd</a:t>
            </a:r>
            <a:r>
              <a:rPr lang="it-IT" sz="1600" noProof="0" dirty="0">
                <a:solidFill>
                  <a:srgbClr val="F2F1EC"/>
                </a:solidFill>
                <a:latin typeface="JetBrains Mono" pitchFamily="49" charset="0"/>
                <a:ea typeface="JetBrains Mono" pitchFamily="49" charset="-122"/>
                <a:cs typeface="JetBrains Mono" pitchFamily="49" charset="-120"/>
              </a:rPr>
              <a:t>=yes</a:t>
            </a:r>
            <a:endParaRPr lang="it-IT" sz="1600" noProof="0" dirty="0"/>
          </a:p>
          <a:p>
            <a:pPr marL="0" indent="0" algn="l">
              <a:lnSpc>
                <a:spcPts val="1800"/>
              </a:lnSpc>
              <a:buNone/>
            </a:pPr>
            <a:r>
              <a:rPr lang="it-IT" sz="1600" b="1" noProof="0" dirty="0" err="1">
                <a:solidFill>
                  <a:srgbClr val="E37E5F"/>
                </a:solidFill>
                <a:latin typeface="JetBrains Mono" pitchFamily="49" charset="0"/>
                <a:ea typeface="JetBrains Mono" pitchFamily="49" charset="-122"/>
                <a:cs typeface="JetBrains Mono" pitchFamily="49" charset="-120"/>
              </a:rPr>
              <a:t>bfdd</a:t>
            </a:r>
            <a:r>
              <a:rPr lang="it-IT" sz="1600" b="1" noProof="0" dirty="0">
                <a:solidFill>
                  <a:srgbClr val="E37E5F"/>
                </a:solidFill>
                <a:latin typeface="JetBrains Mono" pitchFamily="49" charset="0"/>
                <a:ea typeface="JetBrains Mono" pitchFamily="49" charset="-122"/>
                <a:cs typeface="JetBrains Mono" pitchFamily="49" charset="-120"/>
              </a:rPr>
              <a:t>=yes</a:t>
            </a:r>
            <a:endParaRPr lang="it-IT" sz="1600" noProof="0" dirty="0"/>
          </a:p>
          <a:p>
            <a:pPr marL="0" indent="0" algn="l">
              <a:lnSpc>
                <a:spcPts val="1800"/>
              </a:lnSpc>
              <a:buNone/>
            </a:pPr>
            <a:r>
              <a:rPr lang="it-IT" sz="1600" noProof="0" dirty="0">
                <a:solidFill>
                  <a:srgbClr val="F2F1EC"/>
                </a:solidFill>
                <a:latin typeface="JetBrains Mono" pitchFamily="49" charset="0"/>
                <a:ea typeface="JetBrains Mono" pitchFamily="49" charset="-122"/>
                <a:cs typeface="JetBrains Mono" pitchFamily="49" charset="-120"/>
              </a:rPr>
              <a:t> </a:t>
            </a:r>
            <a:endParaRPr lang="it-IT" sz="1600" noProof="0" dirty="0"/>
          </a:p>
          <a:p>
            <a:pPr marL="0" indent="0" algn="l">
              <a:lnSpc>
                <a:spcPts val="1800"/>
              </a:lnSpc>
              <a:buNone/>
            </a:pPr>
            <a:r>
              <a:rPr lang="it-IT" sz="1600" noProof="0" dirty="0" err="1">
                <a:solidFill>
                  <a:srgbClr val="F2F1EC"/>
                </a:solidFill>
                <a:latin typeface="JetBrains Mono" pitchFamily="49" charset="0"/>
                <a:ea typeface="JetBrains Mono" pitchFamily="49" charset="-122"/>
                <a:cs typeface="JetBrains Mono" pitchFamily="49" charset="-120"/>
              </a:rPr>
              <a:t>vtysh_enable</a:t>
            </a:r>
            <a:r>
              <a:rPr lang="it-IT" sz="1600" noProof="0" dirty="0">
                <a:solidFill>
                  <a:srgbClr val="F2F1EC"/>
                </a:solidFill>
                <a:latin typeface="JetBrains Mono" pitchFamily="49" charset="0"/>
                <a:ea typeface="JetBrains Mono" pitchFamily="49" charset="-122"/>
                <a:cs typeface="JetBrains Mono" pitchFamily="49" charset="-120"/>
              </a:rPr>
              <a:t>=yes</a:t>
            </a:r>
            <a:endParaRPr lang="it-IT" sz="1600" noProof="0" dirty="0"/>
          </a:p>
          <a:p>
            <a:pPr marL="0" indent="0" algn="l">
              <a:lnSpc>
                <a:spcPts val="1800"/>
              </a:lnSpc>
              <a:buNone/>
            </a:pPr>
            <a:r>
              <a:rPr lang="it-IT" sz="1600" noProof="0" dirty="0">
                <a:solidFill>
                  <a:srgbClr val="8A8F96"/>
                </a:solidFill>
                <a:latin typeface="JetBrains Mono" pitchFamily="49" charset="0"/>
                <a:ea typeface="JetBrains Mono" pitchFamily="49" charset="-122"/>
                <a:cs typeface="JetBrains Mono" pitchFamily="49" charset="-120"/>
              </a:rPr>
              <a:t>...</a:t>
            </a:r>
            <a:endParaRPr lang="it-IT" sz="1600" noProof="0" dirty="0"/>
          </a:p>
          <a:p>
            <a:pPr marL="0" indent="0" algn="l">
              <a:lnSpc>
                <a:spcPts val="1800"/>
              </a:lnSpc>
              <a:buNone/>
            </a:pPr>
            <a:r>
              <a:rPr lang="it-IT" sz="1600" b="1" noProof="0" dirty="0" err="1">
                <a:solidFill>
                  <a:srgbClr val="E37E5F"/>
                </a:solidFill>
                <a:latin typeface="JetBrains Mono" pitchFamily="49" charset="0"/>
                <a:ea typeface="JetBrains Mono" pitchFamily="49" charset="-122"/>
                <a:cs typeface="JetBrains Mono" pitchFamily="49" charset="-120"/>
              </a:rPr>
              <a:t>bfdd_options</a:t>
            </a:r>
            <a:r>
              <a:rPr lang="it-IT" sz="1600" b="1" noProof="0" dirty="0">
                <a:solidFill>
                  <a:srgbClr val="E37E5F"/>
                </a:solidFill>
                <a:latin typeface="JetBrains Mono" pitchFamily="49" charset="0"/>
                <a:ea typeface="JetBrains Mono" pitchFamily="49" charset="-122"/>
                <a:cs typeface="JetBrains Mono" pitchFamily="49" charset="-120"/>
              </a:rPr>
              <a:t>="   -A 127.0.0.1"</a:t>
            </a:r>
            <a:endParaRPr lang="it-IT" sz="1600" noProof="0" dirty="0"/>
          </a:p>
        </p:txBody>
      </p:sp>
      <p:sp>
        <p:nvSpPr>
          <p:cNvPr id="12" name="Shape 10"/>
          <p:cNvSpPr/>
          <p:nvPr/>
        </p:nvSpPr>
        <p:spPr>
          <a:xfrm>
            <a:off x="7308850" y="4876800"/>
            <a:ext cx="0" cy="1070610"/>
          </a:xfrm>
          <a:prstGeom prst="line">
            <a:avLst/>
          </a:prstGeom>
          <a:noFill/>
          <a:ln w="38100">
            <a:solidFill>
              <a:srgbClr val="E37E5F"/>
            </a:solidFill>
            <a:prstDash val="solid"/>
          </a:ln>
        </p:spPr>
        <p:txBody>
          <a:bodyPr/>
          <a:lstStyle/>
          <a:p>
            <a:endParaRPr lang="it-IT" noProof="0" dirty="0"/>
          </a:p>
        </p:txBody>
      </p:sp>
      <p:sp>
        <p:nvSpPr>
          <p:cNvPr id="13" name="Text 11"/>
          <p:cNvSpPr/>
          <p:nvPr/>
        </p:nvSpPr>
        <p:spPr>
          <a:xfrm>
            <a:off x="7480300" y="4902200"/>
            <a:ext cx="4015867" cy="273050"/>
          </a:xfrm>
          <a:prstGeom prst="rect">
            <a:avLst/>
          </a:prstGeom>
          <a:noFill/>
          <a:ln/>
        </p:spPr>
        <p:txBody>
          <a:bodyPr wrap="square" lIns="0" tIns="0" rIns="0" bIns="0" rtlCol="0" anchor="t">
            <a:normAutofit/>
          </a:bodyPr>
          <a:lstStyle/>
          <a:p>
            <a:pPr marL="0" indent="0" algn="l">
              <a:lnSpc>
                <a:spcPts val="2000"/>
              </a:lnSpc>
              <a:buNone/>
            </a:pPr>
            <a:r>
              <a:rPr lang="it-IT" sz="1600" b="1" noProof="0" dirty="0">
                <a:solidFill>
                  <a:srgbClr val="1B1D20"/>
                </a:solidFill>
                <a:latin typeface="IBM Plex Sans" pitchFamily="34" charset="0"/>
                <a:ea typeface="IBM Plex Sans" pitchFamily="34" charset="-122"/>
                <a:cs typeface="IBM Plex Sans" pitchFamily="34" charset="-120"/>
              </a:rPr>
              <a:t>Solo sul </a:t>
            </a:r>
            <a:r>
              <a:rPr lang="it-IT" sz="1600" b="1" noProof="0" dirty="0" err="1">
                <a:solidFill>
                  <a:srgbClr val="1B1D20"/>
                </a:solidFill>
                <a:latin typeface="IBM Plex Sans" pitchFamily="34" charset="0"/>
                <a:ea typeface="IBM Plex Sans" pitchFamily="34" charset="-122"/>
                <a:cs typeface="IBM Plex Sans" pitchFamily="34" charset="-120"/>
              </a:rPr>
              <a:t>backbone</a:t>
            </a:r>
            <a:endParaRPr lang="it-IT" sz="1600" noProof="0" dirty="0"/>
          </a:p>
        </p:txBody>
      </p:sp>
      <p:sp>
        <p:nvSpPr>
          <p:cNvPr id="14" name="Text 12"/>
          <p:cNvSpPr/>
          <p:nvPr/>
        </p:nvSpPr>
        <p:spPr>
          <a:xfrm>
            <a:off x="7480300" y="5175250"/>
            <a:ext cx="4015867" cy="772160"/>
          </a:xfrm>
          <a:prstGeom prst="rect">
            <a:avLst/>
          </a:prstGeom>
          <a:noFill/>
          <a:ln/>
        </p:spPr>
        <p:txBody>
          <a:bodyPr wrap="square" lIns="0" tIns="0" rIns="0" bIns="0" rtlCol="0" anchor="t">
            <a:normAutofit/>
          </a:bodyPr>
          <a:lstStyle/>
          <a:p>
            <a:pPr marL="0" indent="0" algn="l">
              <a:lnSpc>
                <a:spcPts val="2000"/>
              </a:lnSpc>
              <a:buNone/>
            </a:pPr>
            <a:r>
              <a:rPr lang="it-IT" sz="1600" noProof="0" dirty="0">
                <a:solidFill>
                  <a:srgbClr val="1B1D20"/>
                </a:solidFill>
                <a:latin typeface="IBM Plex Sans" pitchFamily="34" charset="0"/>
                <a:ea typeface="IBM Plex Sans" pitchFamily="34" charset="-122"/>
                <a:cs typeface="IBM Plex Sans" pitchFamily="34" charset="-120"/>
              </a:rPr>
              <a:t>Le interfacce </a:t>
            </a:r>
            <a:r>
              <a:rPr lang="it-IT" sz="1600" b="1" noProof="0" dirty="0" err="1">
                <a:solidFill>
                  <a:srgbClr val="1B1D20"/>
                </a:solidFill>
                <a:latin typeface="IBM Plex Sans" pitchFamily="34" charset="0"/>
                <a:ea typeface="IBM Plex Sans" pitchFamily="34" charset="-122"/>
                <a:cs typeface="IBM Plex Sans" pitchFamily="34" charset="-120"/>
              </a:rPr>
              <a:t>point-to-point</a:t>
            </a:r>
            <a:r>
              <a:rPr lang="it-IT" sz="1600" noProof="0" dirty="0">
                <a:solidFill>
                  <a:srgbClr val="1B1D20"/>
                </a:solidFill>
                <a:latin typeface="IBM Plex Sans" pitchFamily="34" charset="0"/>
                <a:ea typeface="IBM Plex Sans" pitchFamily="34" charset="-122"/>
                <a:cs typeface="IBM Plex Sans" pitchFamily="34" charset="-120"/>
              </a:rPr>
              <a:t> con un vicino OSPF. Le LAN di sede sono passive: nessun peer, nessun BFD.</a:t>
            </a:r>
            <a:endParaRPr lang="it-IT" sz="1600" noProof="0" dirty="0"/>
          </a:p>
        </p:txBody>
      </p:sp>
    </p:spTree>
    <p:extLst>
      <p:ext uri="{BB962C8B-B14F-4D97-AF65-F5344CB8AC3E}">
        <p14:creationId xmlns:p14="http://schemas.microsoft.com/office/powerpoint/2010/main" val="17623949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48000" cy="101600"/>
          </a:xfrm>
          <a:prstGeom prst="rect">
            <a:avLst/>
          </a:prstGeom>
          <a:solidFill>
            <a:srgbClr val="60A5E3"/>
          </a:solidFill>
          <a:ln/>
        </p:spPr>
        <p:txBody>
          <a:bodyPr/>
          <a:lstStyle/>
          <a:p>
            <a:endParaRPr lang="it-IT" noProof="0" dirty="0"/>
          </a:p>
        </p:txBody>
      </p:sp>
      <p:sp>
        <p:nvSpPr>
          <p:cNvPr id="3" name="Shape 1"/>
          <p:cNvSpPr/>
          <p:nvPr/>
        </p:nvSpPr>
        <p:spPr>
          <a:xfrm>
            <a:off x="3048000" y="0"/>
            <a:ext cx="3048000" cy="101600"/>
          </a:xfrm>
          <a:prstGeom prst="rect">
            <a:avLst/>
          </a:prstGeom>
          <a:solidFill>
            <a:srgbClr val="E37E5F"/>
          </a:solidFill>
          <a:ln/>
        </p:spPr>
        <p:txBody>
          <a:bodyPr/>
          <a:lstStyle/>
          <a:p>
            <a:endParaRPr lang="it-IT" noProof="0" dirty="0"/>
          </a:p>
        </p:txBody>
      </p:sp>
      <p:sp>
        <p:nvSpPr>
          <p:cNvPr id="4" name="Shape 2"/>
          <p:cNvSpPr/>
          <p:nvPr/>
        </p:nvSpPr>
        <p:spPr>
          <a:xfrm>
            <a:off x="6096000" y="0"/>
            <a:ext cx="3048000" cy="101600"/>
          </a:xfrm>
          <a:prstGeom prst="rect">
            <a:avLst/>
          </a:prstGeom>
          <a:solidFill>
            <a:srgbClr val="A8DC6E"/>
          </a:solidFill>
          <a:ln/>
        </p:spPr>
        <p:txBody>
          <a:bodyPr/>
          <a:lstStyle/>
          <a:p>
            <a:endParaRPr lang="it-IT" noProof="0" dirty="0"/>
          </a:p>
        </p:txBody>
      </p:sp>
      <p:sp>
        <p:nvSpPr>
          <p:cNvPr id="5" name="Shape 3"/>
          <p:cNvSpPr/>
          <p:nvPr/>
        </p:nvSpPr>
        <p:spPr>
          <a:xfrm>
            <a:off x="9144000" y="0"/>
            <a:ext cx="3048000" cy="101600"/>
          </a:xfrm>
          <a:prstGeom prst="rect">
            <a:avLst/>
          </a:prstGeom>
          <a:solidFill>
            <a:srgbClr val="E1D368"/>
          </a:solidFill>
          <a:ln/>
        </p:spPr>
        <p:txBody>
          <a:bodyPr/>
          <a:lstStyle/>
          <a:p>
            <a:endParaRPr lang="it-IT" noProof="0" dirty="0"/>
          </a:p>
        </p:txBody>
      </p:sp>
      <p:sp>
        <p:nvSpPr>
          <p:cNvPr id="7" name="Text 5"/>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5000"/>
              </a:lnSpc>
              <a:buNone/>
            </a:pPr>
            <a:r>
              <a:rPr lang="it-IT" b="1" dirty="0"/>
              <a:t>Conclusioni</a:t>
            </a:r>
            <a:endParaRPr lang="it-IT" sz="4000" noProof="0" dirty="0"/>
          </a:p>
        </p:txBody>
      </p:sp>
      <p:sp>
        <p:nvSpPr>
          <p:cNvPr id="9" name="Text 6"/>
          <p:cNvSpPr/>
          <p:nvPr/>
        </p:nvSpPr>
        <p:spPr>
          <a:xfrm>
            <a:off x="1422400" y="1973585"/>
            <a:ext cx="9956800" cy="330200"/>
          </a:xfrm>
          <a:prstGeom prst="rect">
            <a:avLst/>
          </a:prstGeom>
          <a:noFill/>
          <a:ln/>
        </p:spPr>
        <p:txBody>
          <a:bodyPr wrap="square" lIns="0" tIns="0" rIns="0" bIns="0" rtlCol="0" anchor="t">
            <a:noAutofit/>
          </a:bodyPr>
          <a:lstStyle/>
          <a:p>
            <a:pPr marL="0" indent="0" algn="l">
              <a:lnSpc>
                <a:spcPts val="2400"/>
              </a:lnSpc>
              <a:buNone/>
            </a:pPr>
            <a:r>
              <a:rPr lang="it-IT" sz="1800" b="1" noProof="0" dirty="0">
                <a:solidFill>
                  <a:srgbClr val="1B1D20"/>
                </a:solidFill>
                <a:latin typeface="IBM Plex Sans" pitchFamily="34" charset="0"/>
                <a:ea typeface="IBM Plex Sans" pitchFamily="34" charset="-122"/>
                <a:cs typeface="IBM Plex Sans" pitchFamily="34" charset="-120"/>
              </a:rPr>
              <a:t>Kathará è un emulatore open-source che ci permette di emulare scenari di rete complessi.	</a:t>
            </a:r>
            <a:endParaRPr lang="it-IT" sz="1800" noProof="0" dirty="0"/>
          </a:p>
        </p:txBody>
      </p:sp>
      <p:sp>
        <p:nvSpPr>
          <p:cNvPr id="17" name="Text 12"/>
          <p:cNvSpPr/>
          <p:nvPr/>
        </p:nvSpPr>
        <p:spPr>
          <a:xfrm>
            <a:off x="812800" y="5689600"/>
            <a:ext cx="8890000" cy="406400"/>
          </a:xfrm>
          <a:prstGeom prst="rect">
            <a:avLst/>
          </a:prstGeom>
          <a:noFill/>
          <a:ln/>
        </p:spPr>
        <p:txBody>
          <a:bodyPr wrap="square" lIns="0" tIns="0" rIns="0" bIns="0" rtlCol="0" anchor="t">
            <a:noAutofit/>
          </a:bodyPr>
          <a:lstStyle/>
          <a:p>
            <a:pPr marL="0" indent="0" algn="l">
              <a:lnSpc>
                <a:spcPts val="3000"/>
              </a:lnSpc>
              <a:buNone/>
            </a:pPr>
            <a:r>
              <a:rPr lang="it-IT" sz="2400" b="1" noProof="0" dirty="0">
                <a:solidFill>
                  <a:srgbClr val="1B1D20"/>
                </a:solidFill>
                <a:latin typeface="IBM Plex Sans" pitchFamily="34" charset="0"/>
                <a:ea typeface="IBM Plex Sans" pitchFamily="34" charset="-122"/>
                <a:cs typeface="IBM Plex Sans" pitchFamily="34" charset="-120"/>
              </a:rPr>
              <a:t>Grazie! Domande?</a:t>
            </a:r>
            <a:endParaRPr lang="it-IT" sz="2400" noProof="0" dirty="0"/>
          </a:p>
        </p:txBody>
      </p:sp>
      <p:sp>
        <p:nvSpPr>
          <p:cNvPr id="20" name="Text 6">
            <a:extLst>
              <a:ext uri="{FF2B5EF4-FFF2-40B4-BE49-F238E27FC236}">
                <a16:creationId xmlns:a16="http://schemas.microsoft.com/office/drawing/2014/main" id="{A29005A2-C398-52DE-4C4F-2106B64E9066}"/>
              </a:ext>
            </a:extLst>
          </p:cNvPr>
          <p:cNvSpPr/>
          <p:nvPr/>
        </p:nvSpPr>
        <p:spPr>
          <a:xfrm>
            <a:off x="1422400" y="2641600"/>
            <a:ext cx="10412476" cy="629920"/>
          </a:xfrm>
          <a:prstGeom prst="rect">
            <a:avLst/>
          </a:prstGeom>
          <a:noFill/>
          <a:ln/>
        </p:spPr>
        <p:txBody>
          <a:bodyPr wrap="square" lIns="0" tIns="0" rIns="0" bIns="0" rtlCol="0" anchor="t">
            <a:noAutofit/>
          </a:bodyPr>
          <a:lstStyle/>
          <a:p>
            <a:pPr marL="0" indent="0" algn="l">
              <a:lnSpc>
                <a:spcPts val="2400"/>
              </a:lnSpc>
              <a:buNone/>
            </a:pPr>
            <a:r>
              <a:rPr lang="it-IT" sz="1800" b="1" noProof="0" dirty="0">
                <a:solidFill>
                  <a:srgbClr val="1B1D20"/>
                </a:solidFill>
                <a:latin typeface="IBM Plex Sans" pitchFamily="34" charset="0"/>
                <a:ea typeface="IBM Plex Sans" pitchFamily="34" charset="-122"/>
                <a:cs typeface="IBM Plex Sans" pitchFamily="34" charset="-120"/>
              </a:rPr>
              <a:t>API Python e lab-</a:t>
            </a:r>
            <a:r>
              <a:rPr lang="it-IT" sz="1800" b="1" noProof="0" dirty="0" err="1">
                <a:solidFill>
                  <a:srgbClr val="1B1D20"/>
                </a:solidFill>
                <a:latin typeface="IBM Plex Sans" pitchFamily="34" charset="0"/>
                <a:ea typeface="IBM Plex Sans" pitchFamily="34" charset="-122"/>
                <a:cs typeface="IBM Plex Sans" pitchFamily="34" charset="-120"/>
              </a:rPr>
              <a:t>checker</a:t>
            </a:r>
            <a:r>
              <a:rPr lang="it-IT" sz="1800" b="1" noProof="0" dirty="0">
                <a:solidFill>
                  <a:srgbClr val="1B1D20"/>
                </a:solidFill>
                <a:latin typeface="IBM Plex Sans" pitchFamily="34" charset="0"/>
                <a:ea typeface="IBM Plex Sans" pitchFamily="34" charset="-122"/>
                <a:cs typeface="IBM Plex Sans" pitchFamily="34" charset="-120"/>
              </a:rPr>
              <a:t> ci permettono di controllare la correttezza degli scenari di rete e delle configurazioni in maniera automatica</a:t>
            </a:r>
            <a:r>
              <a:rPr lang="it-IT" b="1" dirty="0">
                <a:solidFill>
                  <a:srgbClr val="1B1D20"/>
                </a:solidFill>
                <a:latin typeface="IBM Plex Sans" pitchFamily="34" charset="0"/>
                <a:ea typeface="IBM Plex Sans" pitchFamily="34" charset="-122"/>
                <a:cs typeface="IBM Plex Sans" pitchFamily="34" charset="-120"/>
              </a:rPr>
              <a:t>.</a:t>
            </a:r>
            <a:endParaRPr lang="it-IT" sz="1800" noProof="0" dirty="0"/>
          </a:p>
        </p:txBody>
      </p:sp>
      <p:sp>
        <p:nvSpPr>
          <p:cNvPr id="22" name="Text 6">
            <a:extLst>
              <a:ext uri="{FF2B5EF4-FFF2-40B4-BE49-F238E27FC236}">
                <a16:creationId xmlns:a16="http://schemas.microsoft.com/office/drawing/2014/main" id="{F0989413-DC6D-B32D-C8BA-81F644A7987B}"/>
              </a:ext>
            </a:extLst>
          </p:cNvPr>
          <p:cNvSpPr/>
          <p:nvPr/>
        </p:nvSpPr>
        <p:spPr>
          <a:xfrm>
            <a:off x="1422400" y="3611880"/>
            <a:ext cx="10412476" cy="629920"/>
          </a:xfrm>
          <a:prstGeom prst="rect">
            <a:avLst/>
          </a:prstGeom>
          <a:noFill/>
          <a:ln/>
        </p:spPr>
        <p:txBody>
          <a:bodyPr wrap="square" lIns="0" tIns="0" rIns="0" bIns="0" rtlCol="0" anchor="t">
            <a:noAutofit/>
          </a:bodyPr>
          <a:lstStyle/>
          <a:p>
            <a:pPr marL="0" indent="0" algn="l">
              <a:lnSpc>
                <a:spcPts val="2400"/>
              </a:lnSpc>
              <a:buNone/>
            </a:pPr>
            <a:r>
              <a:rPr lang="it-IT" sz="1800" b="1" noProof="0" dirty="0">
                <a:solidFill>
                  <a:srgbClr val="1B1D20"/>
                </a:solidFill>
                <a:latin typeface="IBM Plex Sans" pitchFamily="34" charset="0"/>
                <a:ea typeface="IBM Plex Sans" pitchFamily="34" charset="-122"/>
                <a:cs typeface="IBM Plex Sans" pitchFamily="34" charset="-120"/>
              </a:rPr>
              <a:t>Possiamo emulare guasti e verificare la resilienza della rete prima che accadano in produzione.</a:t>
            </a:r>
            <a:endParaRPr lang="it-IT" sz="1800" noProof="0" dirty="0"/>
          </a:p>
        </p:txBody>
      </p:sp>
      <p:sp>
        <p:nvSpPr>
          <p:cNvPr id="301" name="Num 1"/>
          <p:cNvSpPr txBox="1"/>
          <p:nvPr/>
        </p:nvSpPr>
        <p:spPr>
          <a:xfrm>
            <a:off x="812800" y="2032000"/>
            <a:ext cx="508000" cy="304800"/>
          </a:xfrm>
          <a:prstGeom prst="rect">
            <a:avLst/>
          </a:prstGeom>
          <a:noFill/>
        </p:spPr>
        <p:txBody>
          <a:bodyPr wrap="square" lIns="0" tIns="0" rIns="0" bIns="0" rtlCol="0" anchor="t">
            <a:noAutofit/>
          </a:bodyPr>
          <a:lstStyle/>
          <a:p>
            <a:pPr marL="0" indent="0" algn="l">
              <a:lnSpc>
                <a:spcPts val="2000"/>
              </a:lnSpc>
              <a:buNone/>
            </a:pPr>
            <a:r>
              <a:rPr lang="it-IT" sz="1800" dirty="0">
                <a:solidFill>
                  <a:srgbClr val="2B6CA3"/>
                </a:solidFill>
                <a:latin typeface="JetBrains Mono" pitchFamily="49" charset="0"/>
                <a:ea typeface="JetBrains Mono" pitchFamily="49" charset="-122"/>
                <a:cs typeface="JetBrains Mono" pitchFamily="49" charset="-120"/>
              </a:rPr>
              <a:t>01</a:t>
            </a:r>
          </a:p>
        </p:txBody>
      </p:sp>
      <p:sp>
        <p:nvSpPr>
          <p:cNvPr id="303" name="Num 2"/>
          <p:cNvSpPr txBox="1"/>
          <p:nvPr/>
        </p:nvSpPr>
        <p:spPr>
          <a:xfrm>
            <a:off x="812800" y="2692400"/>
            <a:ext cx="508000" cy="304800"/>
          </a:xfrm>
          <a:prstGeom prst="rect">
            <a:avLst/>
          </a:prstGeom>
          <a:noFill/>
        </p:spPr>
        <p:txBody>
          <a:bodyPr wrap="square" lIns="0" tIns="0" rIns="0" bIns="0" rtlCol="0" anchor="t">
            <a:noAutofit/>
          </a:bodyPr>
          <a:lstStyle/>
          <a:p>
            <a:pPr marL="0" indent="0" algn="l">
              <a:lnSpc>
                <a:spcPts val="2000"/>
              </a:lnSpc>
              <a:buNone/>
            </a:pPr>
            <a:r>
              <a:rPr lang="it-IT" sz="1800" dirty="0">
                <a:solidFill>
                  <a:schemeClr val="accent4"/>
                </a:solidFill>
                <a:latin typeface="JetBrains Mono" pitchFamily="49" charset="0"/>
                <a:ea typeface="JetBrains Mono" pitchFamily="49" charset="-122"/>
                <a:cs typeface="JetBrains Mono" pitchFamily="49" charset="-120"/>
              </a:rPr>
              <a:t>02</a:t>
            </a:r>
          </a:p>
        </p:txBody>
      </p:sp>
      <p:sp>
        <p:nvSpPr>
          <p:cNvPr id="305" name="Num 3"/>
          <p:cNvSpPr txBox="1"/>
          <p:nvPr/>
        </p:nvSpPr>
        <p:spPr>
          <a:xfrm>
            <a:off x="812800" y="3657600"/>
            <a:ext cx="508000" cy="304800"/>
          </a:xfrm>
          <a:prstGeom prst="rect">
            <a:avLst/>
          </a:prstGeom>
          <a:noFill/>
        </p:spPr>
        <p:txBody>
          <a:bodyPr wrap="square" lIns="0" tIns="0" rIns="0" bIns="0" rtlCol="0" anchor="t">
            <a:noAutofit/>
          </a:bodyPr>
          <a:lstStyle/>
          <a:p>
            <a:pPr marL="0" indent="0" algn="l">
              <a:lnSpc>
                <a:spcPts val="2000"/>
              </a:lnSpc>
              <a:buNone/>
            </a:pPr>
            <a:r>
              <a:rPr lang="it-IT" sz="1800" dirty="0">
                <a:solidFill>
                  <a:schemeClr val="accent6"/>
                </a:solidFill>
                <a:latin typeface="JetBrains Mono" pitchFamily="49" charset="0"/>
                <a:ea typeface="JetBrains Mono" pitchFamily="49" charset="-122"/>
                <a:cs typeface="JetBrains Mono" pitchFamily="49" charset="-120"/>
              </a:rPr>
              <a:t>03</a:t>
            </a:r>
          </a:p>
        </p:txBody>
      </p:sp>
      <p:sp>
        <p:nvSpPr>
          <p:cNvPr id="8" name="Text 6">
            <a:extLst>
              <a:ext uri="{FF2B5EF4-FFF2-40B4-BE49-F238E27FC236}">
                <a16:creationId xmlns:a16="http://schemas.microsoft.com/office/drawing/2014/main" id="{F87C936D-3144-74E2-C210-B09F24A29A67}"/>
              </a:ext>
            </a:extLst>
          </p:cNvPr>
          <p:cNvSpPr/>
          <p:nvPr/>
        </p:nvSpPr>
        <p:spPr>
          <a:xfrm>
            <a:off x="1422400" y="4577080"/>
            <a:ext cx="10412476" cy="629920"/>
          </a:xfrm>
          <a:prstGeom prst="rect">
            <a:avLst/>
          </a:prstGeom>
          <a:noFill/>
          <a:ln/>
        </p:spPr>
        <p:txBody>
          <a:bodyPr wrap="square" lIns="0" tIns="0" rIns="0" bIns="0" rtlCol="0" anchor="t">
            <a:noAutofit/>
          </a:bodyPr>
          <a:lstStyle/>
          <a:p>
            <a:pPr>
              <a:lnSpc>
                <a:spcPts val="2400"/>
              </a:lnSpc>
            </a:pPr>
            <a:r>
              <a:rPr lang="it-IT" sz="1800" b="1" noProof="0" dirty="0">
                <a:solidFill>
                  <a:srgbClr val="1B1D20"/>
                </a:solidFill>
                <a:latin typeface="IBM Plex Sans" pitchFamily="34" charset="0"/>
              </a:rPr>
              <a:t>Possiamo costruire Digital Twin della rete su cui</a:t>
            </a:r>
            <a:r>
              <a:rPr lang="it-IT" b="1" dirty="0">
                <a:solidFill>
                  <a:srgbClr val="1B1D20"/>
                </a:solidFill>
                <a:latin typeface="IBM Plex Sans" pitchFamily="34" charset="0"/>
              </a:rPr>
              <a:t> testare le configurazioni, i cambiamenti e i guasti in un ambiente isolato </a:t>
            </a:r>
            <a:r>
              <a:rPr lang="it-IT" b="1">
                <a:solidFill>
                  <a:srgbClr val="1B1D20"/>
                </a:solidFill>
                <a:latin typeface="IBM Plex Sans" pitchFamily="34" charset="0"/>
              </a:rPr>
              <a:t>e realistico.</a:t>
            </a:r>
            <a:endParaRPr lang="it-IT" b="1" dirty="0">
              <a:solidFill>
                <a:srgbClr val="1B1D20"/>
              </a:solidFill>
              <a:latin typeface="IBM Plex Sans" pitchFamily="34" charset="0"/>
            </a:endParaRPr>
          </a:p>
        </p:txBody>
      </p:sp>
      <p:sp>
        <p:nvSpPr>
          <p:cNvPr id="11" name="Num 3">
            <a:extLst>
              <a:ext uri="{FF2B5EF4-FFF2-40B4-BE49-F238E27FC236}">
                <a16:creationId xmlns:a16="http://schemas.microsoft.com/office/drawing/2014/main" id="{C1E5A3BB-E47D-B0DE-EAE1-F790686A3F01}"/>
              </a:ext>
            </a:extLst>
          </p:cNvPr>
          <p:cNvSpPr txBox="1"/>
          <p:nvPr/>
        </p:nvSpPr>
        <p:spPr>
          <a:xfrm>
            <a:off x="812800" y="4622800"/>
            <a:ext cx="508000" cy="304800"/>
          </a:xfrm>
          <a:prstGeom prst="rect">
            <a:avLst/>
          </a:prstGeom>
          <a:noFill/>
        </p:spPr>
        <p:txBody>
          <a:bodyPr wrap="square" lIns="0" tIns="0" rIns="0" bIns="0" rtlCol="0" anchor="t">
            <a:noAutofit/>
          </a:bodyPr>
          <a:lstStyle/>
          <a:p>
            <a:pPr marL="0" indent="0" algn="l">
              <a:lnSpc>
                <a:spcPts val="2000"/>
              </a:lnSpc>
              <a:buNone/>
            </a:pPr>
            <a:r>
              <a:rPr lang="it-IT" sz="1800" dirty="0">
                <a:solidFill>
                  <a:srgbClr val="E1D368"/>
                </a:solidFill>
                <a:latin typeface="JetBrains Mono" pitchFamily="49" charset="0"/>
                <a:ea typeface="JetBrains Mono" pitchFamily="49" charset="-122"/>
                <a:cs typeface="JetBrains Mono" pitchFamily="49" charset="-120"/>
              </a:rPr>
              <a:t>04</a:t>
            </a:r>
          </a:p>
        </p:txBody>
      </p:sp>
    </p:spTree>
    <p:extLst>
      <p:ext uri="{BB962C8B-B14F-4D97-AF65-F5344CB8AC3E}">
        <p14:creationId xmlns:p14="http://schemas.microsoft.com/office/powerpoint/2010/main" val="3103583018"/>
      </p:ext>
    </p:extLst>
  </p:cSld>
  <p:clrMapOvr>
    <a:masterClrMapping/>
  </p:clrMapOvr>
</p:sld>
</file>

<file path=ppt/theme/theme1.xml><?xml version="1.0" encoding="utf-8"?>
<a:theme xmlns:a="http://schemas.openxmlformats.org/drawingml/2006/main" name="Emulazione di scenari di rete e Digital Twin con Kathará [1793369234254]">
  <a:themeElements>
    <a:clrScheme name="Emulazione di scenari di rete e Digital Twin con Kathará">
      <a:dk1>
        <a:srgbClr val="1B1D20"/>
      </a:dk1>
      <a:lt1>
        <a:srgbClr val="FFFFFF"/>
      </a:lt1>
      <a:dk2>
        <a:srgbClr val="525355"/>
      </a:dk2>
      <a:lt2>
        <a:srgbClr val="E1E0DD"/>
      </a:lt2>
      <a:accent1>
        <a:srgbClr val="B4502E"/>
      </a:accent1>
      <a:accent2>
        <a:srgbClr val="2B6CA3"/>
      </a:accent2>
      <a:accent3>
        <a:srgbClr val="4A7F1C"/>
      </a:accent3>
      <a:accent4>
        <a:srgbClr val="E37E5F"/>
      </a:accent4>
      <a:accent5>
        <a:srgbClr val="60A5E3"/>
      </a:accent5>
      <a:accent6>
        <a:srgbClr val="A8DC6E"/>
      </a:accent6>
      <a:hlink>
        <a:srgbClr val="0563C1"/>
      </a:hlink>
      <a:folHlink>
        <a:srgbClr val="954F72"/>
      </a:folHlink>
    </a:clrScheme>
    <a:fontScheme name="Emulazione di scenari di rete e Digital Twin con Kathará">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70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8B518B7-2E9A-49D3-8C2E-5BFA2199D1E9}">
  <we:reference id="WA200010001" version="1.0.0.1" store="Omex" storeType="OMEX"/>
  <we:alternateReferences>
    <we:reference id="WA200010001" version="1.0.0.1" store="WA200010001" storeType="OMEX"/>
  </we:alternateReferences>
  <we:properties>
    <we:property name="claude.fileId" value="&quot;f8bd6660-ad1a-40dd-a841-30ac063f67c1&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2AF2AF2-8BE5-49DA-898B-112A90BB84CD}">
  <we:reference id="WA200010725" version="1.0.0.1" store="Omex" storeType="OMEX"/>
  <we:alternateReferences>
    <we:reference id="WA200010725" version="1.0.0.1" store="WA200010725" storeType="OMEX"/>
  </we:alternateReferences>
  <we:properties>
    <we:property name="claude.fileId" value="&quot;9867b5ff-3dcc-4e33-a58f-4dd4418daf9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907</TotalTime>
  <Words>8904</Words>
  <Application>Microsoft Office PowerPoint</Application>
  <PresentationFormat>Widescreen</PresentationFormat>
  <Paragraphs>1692</Paragraphs>
  <Slides>88</Slides>
  <Notes>88</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88</vt:i4>
      </vt:variant>
    </vt:vector>
  </HeadingPairs>
  <TitlesOfParts>
    <vt:vector size="93" baseType="lpstr">
      <vt:lpstr>IBM Plex Sans</vt:lpstr>
      <vt:lpstr>Roboto Light</vt:lpstr>
      <vt:lpstr>JetBrains Mono</vt:lpstr>
      <vt:lpstr>Arial</vt:lpstr>
      <vt:lpstr>Emulazione di scenari di rete e Digital Twin con Kathará [1793369234254]</vt:lpstr>
      <vt:lpstr>Emulazione di scenari di rete complessi e Digital Twin con Kathará</vt:lpstr>
      <vt:lpstr>Chi siamo</vt:lpstr>
      <vt:lpstr>Kathará: come funziona</vt:lpstr>
      <vt:lpstr>Le reti di calcolatori sono complesse</vt:lpstr>
      <vt:lpstr>Testare in produzione non è un’opzione</vt:lpstr>
      <vt:lpstr>Ambienti Virtuali</vt:lpstr>
      <vt:lpstr>Digital Twin della Rete</vt:lpstr>
      <vt:lpstr>Come ci aiuta Kathará?</vt:lpstr>
      <vt:lpstr>Ogni dispositivo è un container</vt:lpstr>
      <vt:lpstr>Container, non macchine virtuali</vt:lpstr>
      <vt:lpstr>Kathará orchestra, Docker esegue</vt:lpstr>
      <vt:lpstr>Le reti Docker standard non bastano</vt:lpstr>
      <vt:lpstr>katharanp: due implementazioni</vt:lpstr>
      <vt:lpstr>Due modalità di interazione</vt:lpstr>
      <vt:lpstr>CLI: tre famiglie di comandi</vt:lpstr>
      <vt:lpstr>v-commands: operano su un singolo device</vt:lpstr>
      <vt:lpstr>l-commands: operano su uno scenario di rete</vt:lpstr>
      <vt:lpstr>lab.conf: device e domini di collisione</vt:lpstr>
      <vt:lpstr>I file .startup configurano ogni device</vt:lpstr>
      <vt:lpstr>Cosa fa kathara lstart</vt:lpstr>
      <vt:lpstr>Cosa fa kathara lstart</vt:lpstr>
      <vt:lpstr>Dal lab agli oggetti Docker</vt:lpstr>
      <vt:lpstr>Con le Python API il lab diventa programmabile</vt:lpstr>
      <vt:lpstr>E se lo scenario di rete è troppo grande per un pc? </vt:lpstr>
      <vt:lpstr>Lo stesso lab su Kubernetes: Megalos</vt:lpstr>
      <vt:lpstr>Perché Kathará e non un altro emulatore?</vt:lpstr>
      <vt:lpstr>Kathará nella didattica e nella ricerca</vt:lpstr>
      <vt:lpstr>Kathará nei progetti reali</vt:lpstr>
      <vt:lpstr>IXP Digital Twin</vt:lpstr>
      <vt:lpstr>ROSE-T: testare MANRS prima dell’audit</vt:lpstr>
      <vt:lpstr>NIKA: un'arena per agenti AI</vt:lpstr>
      <vt:lpstr>Riferimenti utili</vt:lpstr>
      <vt:lpstr>Parte pratica</vt:lpstr>
      <vt:lpstr>Setup: repository ed editor</vt:lpstr>
      <vt:lpstr>Setup: virtual environment Python</vt:lpstr>
      <vt:lpstr>kathara-lab-checker: la correzione automatica</vt:lpstr>
      <vt:lpstr>Warmup: un semplice laboratorio</vt:lpstr>
      <vt:lpstr>La topologia: quattro dispositivi in linea</vt:lpstr>
      <vt:lpstr>Piano di indirizzamento</vt:lpstr>
      <vt:lpstr>Creiamo il lab da zero</vt:lpstr>
      <vt:lpstr>L’avvio del lab</vt:lpstr>
      <vt:lpstr>Il lab funziona: la prova da pc1</vt:lpstr>
      <vt:lpstr>Controlliamo con il checker</vt:lpstr>
      <vt:lpstr>Quando il checker trova un errore</vt:lpstr>
      <vt:lpstr>Errori frequenti</vt:lpstr>
      <vt:lpstr>Wireshark nei laboratori</vt:lpstr>
      <vt:lpstr>Extra: configuriamo delle VLAN per collegare i PC</vt:lpstr>
      <vt:lpstr>Piano delle VLAN</vt:lpstr>
      <vt:lpstr>VLAN e bridge: la sintassi</vt:lpstr>
      <vt:lpstr>Verifichiamo le VLAN</vt:lpstr>
      <vt:lpstr>Digital twin di una rete OSPF</vt:lpstr>
      <vt:lpstr>La rete: quattro router ad anello</vt:lpstr>
      <vt:lpstr>Come funziona OSPF, in quattro passi</vt:lpstr>
      <vt:lpstr>Hello: quattro adiacenze sul backbone</vt:lpstr>
      <vt:lpstr>LSA: quattro router, una sola mappa</vt:lpstr>
      <vt:lpstr>SPF: da r1 a r3, via r2 costa 20</vt:lpstr>
      <vt:lpstr>Guasto su n12: il traffico passa per r4</vt:lpstr>
      <vt:lpstr>Piano di indirizzamento, router per router</vt:lpstr>
      <vt:lpstr>Come è configurata la produzione</vt:lpstr>
      <vt:lpstr>La configurazione OSPF di r1</vt:lpstr>
      <vt:lpstr>Fase 1: avvio ed esplorazione del lab</vt:lpstr>
      <vt:lpstr>Su r1: le adiacenze OSPF</vt:lpstr>
      <vt:lpstr>Su r1: le rotte imparate da OSPF</vt:lpstr>
      <vt:lpstr>Prova di failover: abbattiamo n12</vt:lpstr>
      <vt:lpstr>Il failover, visto da pc_a</vt:lpstr>
      <vt:lpstr>Fase 2: il ticket</vt:lpstr>
      <vt:lpstr>Dopo la CR-042: la sede C su r4</vt:lpstr>
      <vt:lpstr>Fase 3: applichiamo il nuovo requisito</vt:lpstr>
      <vt:lpstr>Suggerimenti per il nuovo requisito</vt:lpstr>
      <vt:lpstr>Fase 4: verifichiamo il nuovo requisito</vt:lpstr>
      <vt:lpstr>Il collaudo con il checker</vt:lpstr>
      <vt:lpstr>Errori frequenti</vt:lpstr>
      <vt:lpstr>Il twin diventa codice</vt:lpstr>
      <vt:lpstr>Come funzionano le API </vt:lpstr>
      <vt:lpstr>Suggerimenti per i TODO</vt:lpstr>
      <vt:lpstr>La soluzione di primo_lab.py</vt:lpstr>
      <vt:lpstr>Cosa vedremo: lo script completo</vt:lpstr>
      <vt:lpstr>Testiamo la nostra rete OSPF</vt:lpstr>
      <vt:lpstr>Cosa fa chaos.py, passo per passo</vt:lpstr>
      <vt:lpstr>Due modi di rompere un link</vt:lpstr>
      <vt:lpstr>Come misura: due monitor in parallelo</vt:lpstr>
      <vt:lpstr>La timeline di chaos.py</vt:lpstr>
      <vt:lpstr>Due guasti su n12, due risultati</vt:lpstr>
      <vt:lpstr>Domande guida</vt:lpstr>
      <vt:lpstr>Come risolviamo il problema del guasto silenzioso?</vt:lpstr>
      <vt:lpstr>Configurazione di BFD</vt:lpstr>
      <vt:lpstr>BFD: cosa cambia nei file di r1</vt:lpstr>
      <vt:lpstr>Conclusioni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Emulazione di scenari di rete e Digital Twin con Kathará</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Tommaso Caiazzi</cp:lastModifiedBy>
  <cp:revision>31</cp:revision>
  <dcterms:created xsi:type="dcterms:W3CDTF">2026-10-28T11:25:29Z</dcterms:created>
  <dcterms:modified xsi:type="dcterms:W3CDTF">2026-10-30T19:06:30Z</dcterms:modified>
</cp:coreProperties>
</file>